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6" r:id="rId2"/>
    <p:sldId id="290" r:id="rId3"/>
    <p:sldId id="258" r:id="rId4"/>
    <p:sldId id="300" r:id="rId5"/>
    <p:sldId id="266" r:id="rId6"/>
    <p:sldId id="267" r:id="rId7"/>
    <p:sldId id="270" r:id="rId8"/>
    <p:sldId id="307" r:id="rId9"/>
    <p:sldId id="274" r:id="rId10"/>
    <p:sldId id="273" r:id="rId11"/>
    <p:sldId id="303" r:id="rId12"/>
    <p:sldId id="304" r:id="rId13"/>
    <p:sldId id="281" r:id="rId14"/>
    <p:sldId id="282" r:id="rId15"/>
    <p:sldId id="283" r:id="rId16"/>
    <p:sldId id="262" r:id="rId17"/>
    <p:sldId id="291" r:id="rId18"/>
    <p:sldId id="285" r:id="rId19"/>
    <p:sldId id="263" r:id="rId20"/>
    <p:sldId id="268" r:id="rId21"/>
    <p:sldId id="272" r:id="rId22"/>
    <p:sldId id="293" r:id="rId23"/>
    <p:sldId id="275" r:id="rId24"/>
    <p:sldId id="305" r:id="rId25"/>
    <p:sldId id="30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BAE2"/>
    <a:srgbClr val="FF7F0E"/>
    <a:srgbClr val="1F77B4"/>
    <a:srgbClr val="71A8DB"/>
    <a:srgbClr val="BDCA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0" autoAdjust="0"/>
    <p:restoredTop sz="78193" autoAdjust="0"/>
  </p:normalViewPr>
  <p:slideViewPr>
    <p:cSldViewPr snapToGrid="0">
      <p:cViewPr>
        <p:scale>
          <a:sx n="100" d="100"/>
          <a:sy n="100" d="100"/>
        </p:scale>
        <p:origin x="702" y="102"/>
      </p:cViewPr>
      <p:guideLst>
        <p:guide orient="horz" pos="2160"/>
        <p:guide pos="386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98" d="100"/>
          <a:sy n="98" d="100"/>
        </p:scale>
        <p:origin x="3594"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F77A16-7A8D-4146-9503-008F44166251}" type="doc">
      <dgm:prSet loTypeId="urn:microsoft.com/office/officeart/2005/8/layout/bProcess3" loCatId="process" qsTypeId="urn:microsoft.com/office/officeart/2005/8/quickstyle/simple1" qsCatId="simple" csTypeId="urn:microsoft.com/office/officeart/2005/8/colors/accent1_1" csCatId="accent1" phldr="1"/>
      <dgm:spPr/>
      <dgm:t>
        <a:bodyPr/>
        <a:lstStyle/>
        <a:p>
          <a:endParaRPr lang="en-US"/>
        </a:p>
      </dgm:t>
    </dgm:pt>
    <dgm:pt modelId="{6609CC95-D5F4-4471-B578-53001F619BF2}">
      <dgm:prSet/>
      <dgm:spPr/>
      <dgm:t>
        <a:bodyPr/>
        <a:lstStyle/>
        <a:p>
          <a:pPr>
            <a:lnSpc>
              <a:spcPct val="100000"/>
            </a:lnSpc>
          </a:pPr>
          <a:r>
            <a:rPr lang="en-US" b="0" dirty="0">
              <a:latin typeface="Arial" panose="020B0604020202020204" pitchFamily="34" charset="0"/>
              <a:cs typeface="Arial" panose="020B0604020202020204" pitchFamily="34" charset="0"/>
            </a:rPr>
            <a:t>Records identified </a:t>
          </a:r>
          <a:r>
            <a:rPr lang="en-US" b="1" dirty="0">
              <a:latin typeface="Arial" panose="020B0604020202020204" pitchFamily="34" charset="0"/>
              <a:cs typeface="Arial" panose="020B0604020202020204" pitchFamily="34" charset="0"/>
            </a:rPr>
            <a:t>(Scopus, ScienceDirect</a:t>
          </a:r>
          <a:r>
            <a:rPr lang="ru-RU" b="1"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Consensus)</a:t>
          </a:r>
          <a:endParaRPr lang="ru-RU" b="1" dirty="0">
            <a:latin typeface="Arial" panose="020B0604020202020204" pitchFamily="34" charset="0"/>
            <a:cs typeface="Arial" panose="020B0604020202020204" pitchFamily="34" charset="0"/>
          </a:endParaRPr>
        </a:p>
        <a:p>
          <a:pPr>
            <a:lnSpc>
              <a:spcPct val="100000"/>
            </a:lnSpc>
          </a:pPr>
          <a:r>
            <a:rPr lang="en-US" i="1" dirty="0">
              <a:latin typeface="Arial" panose="020B0604020202020204" pitchFamily="34" charset="0"/>
              <a:cs typeface="Arial" panose="020B0604020202020204" pitchFamily="34" charset="0"/>
            </a:rPr>
            <a:t>(n = </a:t>
          </a:r>
          <a:r>
            <a:rPr lang="en-US" b="1" i="1" dirty="0">
              <a:latin typeface="Arial" panose="020B0604020202020204" pitchFamily="34" charset="0"/>
              <a:cs typeface="Arial" panose="020B0604020202020204" pitchFamily="34" charset="0"/>
            </a:rPr>
            <a:t>3122</a:t>
          </a:r>
          <a:r>
            <a:rPr lang="en-US" i="1"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350F77CC-28D0-44A2-A1E1-DBCAE7D0AD7C}" type="parTrans" cxnId="{4834485D-253A-48F9-AF06-DD398EEDF9DF}">
      <dgm:prSet/>
      <dgm:spPr/>
      <dgm:t>
        <a:bodyPr/>
        <a:lstStyle/>
        <a:p>
          <a:endParaRPr lang="en-US"/>
        </a:p>
      </dgm:t>
    </dgm:pt>
    <dgm:pt modelId="{B2E39B3B-BAA3-4F7C-A532-4FE67F3EA8B0}" type="sibTrans" cxnId="{4834485D-253A-48F9-AF06-DD398EEDF9DF}">
      <dgm:prSet/>
      <dgm:spPr/>
      <dgm:t>
        <a:bodyPr/>
        <a:lstStyle/>
        <a:p>
          <a:endParaRPr lang="en-US"/>
        </a:p>
      </dgm:t>
    </dgm:pt>
    <dgm:pt modelId="{1D983B42-B5A7-4381-8E46-FDC16AF4C13E}">
      <dgm:prSet/>
      <dgm:spPr/>
      <dgm:t>
        <a:bodyPr/>
        <a:lstStyle/>
        <a:p>
          <a:pPr>
            <a:lnSpc>
              <a:spcPct val="100000"/>
            </a:lnSpc>
          </a:pPr>
          <a:r>
            <a:rPr lang="en-US" b="1" dirty="0">
              <a:latin typeface="Arial" panose="020B0604020202020204" pitchFamily="34" charset="0"/>
              <a:cs typeface="Arial" panose="020B0604020202020204" pitchFamily="34" charset="0"/>
            </a:rPr>
            <a:t>Excluded: </a:t>
          </a:r>
          <a:r>
            <a:rPr lang="en-US" b="0" dirty="0">
              <a:latin typeface="Arial" panose="020B0604020202020204" pitchFamily="34" charset="0"/>
              <a:cs typeface="Arial" panose="020B0604020202020204" pitchFamily="34" charset="0"/>
            </a:rPr>
            <a:t>irrelevant, duplicate, or lacking sufficient quality</a:t>
          </a:r>
          <a:endParaRPr lang="ru-RU" b="0" dirty="0">
            <a:latin typeface="Arial" panose="020B0604020202020204" pitchFamily="34" charset="0"/>
            <a:cs typeface="Arial" panose="020B0604020202020204" pitchFamily="34" charset="0"/>
          </a:endParaRPr>
        </a:p>
        <a:p>
          <a:pPr>
            <a:lnSpc>
              <a:spcPct val="100000"/>
            </a:lnSpc>
          </a:pPr>
          <a:r>
            <a:rPr lang="en-US" i="1" dirty="0">
              <a:latin typeface="Arial" panose="020B0604020202020204" pitchFamily="34" charset="0"/>
              <a:cs typeface="Arial" panose="020B0604020202020204" pitchFamily="34" charset="0"/>
            </a:rPr>
            <a:t>(n = </a:t>
          </a:r>
          <a:r>
            <a:rPr lang="ru-RU" b="1" i="1" dirty="0">
              <a:latin typeface="Arial" panose="020B0604020202020204" pitchFamily="34" charset="0"/>
              <a:cs typeface="Arial" panose="020B0604020202020204" pitchFamily="34" charset="0"/>
            </a:rPr>
            <a:t>3040</a:t>
          </a:r>
          <a:r>
            <a:rPr lang="en-US" i="1"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CA9F71D1-8AFF-4354-A970-A0E3E9272035}" type="parTrans" cxnId="{7605A389-3834-42C0-B202-1E3251861FB2}">
      <dgm:prSet/>
      <dgm:spPr/>
      <dgm:t>
        <a:bodyPr/>
        <a:lstStyle/>
        <a:p>
          <a:endParaRPr lang="en-US"/>
        </a:p>
      </dgm:t>
    </dgm:pt>
    <dgm:pt modelId="{A10A7152-5725-498B-A71D-9FB03A8A89E1}" type="sibTrans" cxnId="{7605A389-3834-42C0-B202-1E3251861FB2}">
      <dgm:prSet/>
      <dgm:spPr/>
      <dgm:t>
        <a:bodyPr/>
        <a:lstStyle/>
        <a:p>
          <a:endParaRPr lang="en-US"/>
        </a:p>
      </dgm:t>
    </dgm:pt>
    <dgm:pt modelId="{B1499B65-BBB0-4E6B-A35F-5419668E76ED}">
      <dgm:prSet/>
      <dgm:spPr/>
      <dgm:t>
        <a:bodyPr/>
        <a:lstStyle/>
        <a:p>
          <a:pPr>
            <a:lnSpc>
              <a:spcPct val="100000"/>
            </a:lnSpc>
          </a:pPr>
          <a:r>
            <a:rPr lang="en-US" b="0" dirty="0">
              <a:latin typeface="Arial" panose="020B0604020202020204" pitchFamily="34" charset="0"/>
              <a:cs typeface="Arial" panose="020B0604020202020204" pitchFamily="34" charset="0"/>
            </a:rPr>
            <a:t>Shortlisted for synthesis</a:t>
          </a:r>
          <a:endParaRPr lang="ru-RU" b="0" dirty="0">
            <a:latin typeface="Arial" panose="020B0604020202020204" pitchFamily="34" charset="0"/>
            <a:cs typeface="Arial" panose="020B0604020202020204" pitchFamily="34" charset="0"/>
          </a:endParaRPr>
        </a:p>
        <a:p>
          <a:pPr>
            <a:lnSpc>
              <a:spcPct val="100000"/>
            </a:lnSpc>
          </a:pPr>
          <a:r>
            <a:rPr lang="en-US" b="0" i="1" dirty="0">
              <a:latin typeface="Arial" panose="020B0604020202020204" pitchFamily="34" charset="0"/>
              <a:cs typeface="Arial" panose="020B0604020202020204" pitchFamily="34" charset="0"/>
            </a:rPr>
            <a:t>(n = 82)</a:t>
          </a:r>
          <a:endParaRPr lang="en-US" b="0" dirty="0">
            <a:latin typeface="Arial" panose="020B0604020202020204" pitchFamily="34" charset="0"/>
            <a:cs typeface="Arial" panose="020B0604020202020204" pitchFamily="34" charset="0"/>
          </a:endParaRPr>
        </a:p>
      </dgm:t>
    </dgm:pt>
    <dgm:pt modelId="{C561F03C-92AE-41CC-B753-9C793EB546A4}" type="parTrans" cxnId="{0FE01806-2810-4C56-8122-1BF15A875EFC}">
      <dgm:prSet/>
      <dgm:spPr/>
      <dgm:t>
        <a:bodyPr/>
        <a:lstStyle/>
        <a:p>
          <a:endParaRPr lang="en-US"/>
        </a:p>
      </dgm:t>
    </dgm:pt>
    <dgm:pt modelId="{3BC1C5A2-7315-496F-9391-FFAFF7A09BF3}" type="sibTrans" cxnId="{0FE01806-2810-4C56-8122-1BF15A875EFC}">
      <dgm:prSet/>
      <dgm:spPr/>
      <dgm:t>
        <a:bodyPr/>
        <a:lstStyle/>
        <a:p>
          <a:endParaRPr lang="en-US"/>
        </a:p>
      </dgm:t>
    </dgm:pt>
    <dgm:pt modelId="{72B51D6F-9356-436D-8AEC-82E51AD0225D}">
      <dgm:prSet/>
      <dgm:spPr/>
      <dgm:t>
        <a:bodyPr/>
        <a:lstStyle/>
        <a:p>
          <a:pPr>
            <a:lnSpc>
              <a:spcPct val="100000"/>
            </a:lnSpc>
          </a:pPr>
          <a:r>
            <a:rPr lang="en-US" b="1" dirty="0">
              <a:latin typeface="Arial" panose="020B0604020202020204" pitchFamily="34" charset="0"/>
              <a:cs typeface="Arial" panose="020B0604020202020204" pitchFamily="34" charset="0"/>
            </a:rPr>
            <a:t>I</a:t>
          </a:r>
          <a:r>
            <a:rPr lang="ru-RU" b="1" dirty="0">
              <a:latin typeface="Arial" panose="020B0604020202020204" pitchFamily="34" charset="0"/>
              <a:cs typeface="Arial" panose="020B0604020202020204" pitchFamily="34" charset="0"/>
            </a:rPr>
            <a:t>ncluded</a:t>
          </a:r>
          <a:r>
            <a:rPr lang="en-US" b="1" dirty="0">
              <a:latin typeface="Arial" panose="020B0604020202020204" pitchFamily="34" charset="0"/>
              <a:cs typeface="Arial" panose="020B0604020202020204" pitchFamily="34" charset="0"/>
            </a:rPr>
            <a:t> in the final research</a:t>
          </a:r>
          <a:endParaRPr lang="ru-RU" dirty="0">
            <a:latin typeface="Arial" panose="020B0604020202020204" pitchFamily="34" charset="0"/>
            <a:cs typeface="Arial" panose="020B0604020202020204" pitchFamily="34" charset="0"/>
          </a:endParaRPr>
        </a:p>
        <a:p>
          <a:pPr>
            <a:lnSpc>
              <a:spcPct val="100000"/>
            </a:lnSpc>
          </a:pPr>
          <a:r>
            <a:rPr lang="en-US" i="1" dirty="0">
              <a:latin typeface="Arial" panose="020B0604020202020204" pitchFamily="34" charset="0"/>
              <a:cs typeface="Arial" panose="020B0604020202020204" pitchFamily="34" charset="0"/>
            </a:rPr>
            <a:t>(n = </a:t>
          </a:r>
          <a:r>
            <a:rPr lang="en-US" b="1" i="1" dirty="0">
              <a:latin typeface="Arial" panose="020B0604020202020204" pitchFamily="34" charset="0"/>
              <a:cs typeface="Arial" panose="020B0604020202020204" pitchFamily="34" charset="0"/>
            </a:rPr>
            <a:t>6</a:t>
          </a:r>
          <a:r>
            <a:rPr lang="ru-RU" b="1" i="1" dirty="0">
              <a:latin typeface="Arial" panose="020B0604020202020204" pitchFamily="34" charset="0"/>
              <a:cs typeface="Arial" panose="020B0604020202020204" pitchFamily="34" charset="0"/>
            </a:rPr>
            <a:t>2</a:t>
          </a:r>
          <a:r>
            <a:rPr lang="en-US" i="1"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dgm:t>
    </dgm:pt>
    <dgm:pt modelId="{36B1D1BC-346C-4907-9613-AD061E509F34}" type="parTrans" cxnId="{01612C44-1E20-470A-A66D-0DED38B4B2BE}">
      <dgm:prSet/>
      <dgm:spPr/>
      <dgm:t>
        <a:bodyPr/>
        <a:lstStyle/>
        <a:p>
          <a:endParaRPr lang="en-US"/>
        </a:p>
      </dgm:t>
    </dgm:pt>
    <dgm:pt modelId="{7222C21F-74F4-4260-98CE-C5DFD4D9A756}" type="sibTrans" cxnId="{01612C44-1E20-470A-A66D-0DED38B4B2BE}">
      <dgm:prSet/>
      <dgm:spPr/>
      <dgm:t>
        <a:bodyPr/>
        <a:lstStyle/>
        <a:p>
          <a:endParaRPr lang="en-US"/>
        </a:p>
      </dgm:t>
    </dgm:pt>
    <dgm:pt modelId="{EFB65E02-22AA-4B0B-8750-1D6D07DBF032}">
      <dgm:prSet/>
      <dgm:spPr/>
      <dgm:t>
        <a:bodyPr/>
        <a:lstStyle/>
        <a:p>
          <a:pPr>
            <a:lnSpc>
              <a:spcPct val="100000"/>
            </a:lnSpc>
          </a:pPr>
          <a:r>
            <a:rPr lang="en-US" b="0" dirty="0">
              <a:latin typeface="Arial" panose="020B0604020202020204" pitchFamily="34" charset="0"/>
              <a:cs typeface="Arial" panose="020B0604020202020204" pitchFamily="34" charset="0"/>
            </a:rPr>
            <a:t>Excluded after evidence extraction</a:t>
          </a:r>
          <a:endParaRPr lang="ru-RU" b="0" dirty="0">
            <a:latin typeface="Arial" panose="020B0604020202020204" pitchFamily="34" charset="0"/>
            <a:cs typeface="Arial" panose="020B0604020202020204" pitchFamily="34" charset="0"/>
          </a:endParaRPr>
        </a:p>
        <a:p>
          <a:pPr>
            <a:lnSpc>
              <a:spcPct val="100000"/>
            </a:lnSpc>
          </a:pPr>
          <a:r>
            <a:rPr lang="en-US" b="0" i="1" dirty="0">
              <a:latin typeface="Arial" panose="020B0604020202020204" pitchFamily="34" charset="0"/>
              <a:cs typeface="Arial" panose="020B0604020202020204" pitchFamily="34" charset="0"/>
            </a:rPr>
            <a:t>(n = 22)</a:t>
          </a:r>
          <a:endParaRPr lang="en-US" b="0" dirty="0">
            <a:latin typeface="Arial" panose="020B0604020202020204" pitchFamily="34" charset="0"/>
            <a:cs typeface="Arial" panose="020B0604020202020204" pitchFamily="34" charset="0"/>
          </a:endParaRPr>
        </a:p>
      </dgm:t>
    </dgm:pt>
    <dgm:pt modelId="{E3E9DEA6-1C91-4C36-B1C8-887C30CCE520}" type="sibTrans" cxnId="{0967227A-DA93-4AB7-ABE7-8FD79AF35DED}">
      <dgm:prSet/>
      <dgm:spPr/>
      <dgm:t>
        <a:bodyPr/>
        <a:lstStyle/>
        <a:p>
          <a:endParaRPr lang="en-US"/>
        </a:p>
      </dgm:t>
    </dgm:pt>
    <dgm:pt modelId="{790BEE2B-D01C-460B-9E11-DA99F28B778B}" type="parTrans" cxnId="{0967227A-DA93-4AB7-ABE7-8FD79AF35DED}">
      <dgm:prSet/>
      <dgm:spPr/>
      <dgm:t>
        <a:bodyPr/>
        <a:lstStyle/>
        <a:p>
          <a:endParaRPr lang="en-US"/>
        </a:p>
      </dgm:t>
    </dgm:pt>
    <dgm:pt modelId="{D940DB2A-A8CC-4CB9-99F2-D650FD43201B}" type="pres">
      <dgm:prSet presAssocID="{87F77A16-7A8D-4146-9503-008F44166251}" presName="Name0" presStyleCnt="0">
        <dgm:presLayoutVars>
          <dgm:dir/>
          <dgm:resizeHandles val="exact"/>
        </dgm:presLayoutVars>
      </dgm:prSet>
      <dgm:spPr/>
    </dgm:pt>
    <dgm:pt modelId="{D9AD3875-D6B8-4C2A-AD93-FF028A8238EB}" type="pres">
      <dgm:prSet presAssocID="{6609CC95-D5F4-4471-B578-53001F619BF2}" presName="node" presStyleLbl="node1" presStyleIdx="0" presStyleCnt="5">
        <dgm:presLayoutVars>
          <dgm:bulletEnabled val="1"/>
        </dgm:presLayoutVars>
      </dgm:prSet>
      <dgm:spPr/>
    </dgm:pt>
    <dgm:pt modelId="{1BDD5383-6F71-4ACE-B4D3-90F2C11474D9}" type="pres">
      <dgm:prSet presAssocID="{B2E39B3B-BAA3-4F7C-A532-4FE67F3EA8B0}" presName="sibTrans" presStyleLbl="sibTrans1D1" presStyleIdx="0" presStyleCnt="4"/>
      <dgm:spPr/>
    </dgm:pt>
    <dgm:pt modelId="{28063FC6-8DA2-4745-9C45-69ACCFEB141B}" type="pres">
      <dgm:prSet presAssocID="{B2E39B3B-BAA3-4F7C-A532-4FE67F3EA8B0}" presName="connectorText" presStyleLbl="sibTrans1D1" presStyleIdx="0" presStyleCnt="4"/>
      <dgm:spPr/>
    </dgm:pt>
    <dgm:pt modelId="{EC20DA1E-C052-4018-A0EE-0744743532A4}" type="pres">
      <dgm:prSet presAssocID="{1D983B42-B5A7-4381-8E46-FDC16AF4C13E}" presName="node" presStyleLbl="node1" presStyleIdx="1" presStyleCnt="5">
        <dgm:presLayoutVars>
          <dgm:bulletEnabled val="1"/>
        </dgm:presLayoutVars>
      </dgm:prSet>
      <dgm:spPr/>
    </dgm:pt>
    <dgm:pt modelId="{4ABDE273-6994-432F-AA59-C03037319477}" type="pres">
      <dgm:prSet presAssocID="{A10A7152-5725-498B-A71D-9FB03A8A89E1}" presName="sibTrans" presStyleLbl="sibTrans1D1" presStyleIdx="1" presStyleCnt="4"/>
      <dgm:spPr/>
    </dgm:pt>
    <dgm:pt modelId="{6A63E99D-F70C-4B76-B159-7505CDC957FF}" type="pres">
      <dgm:prSet presAssocID="{A10A7152-5725-498B-A71D-9FB03A8A89E1}" presName="connectorText" presStyleLbl="sibTrans1D1" presStyleIdx="1" presStyleCnt="4"/>
      <dgm:spPr/>
    </dgm:pt>
    <dgm:pt modelId="{04981630-E09C-4E8F-985D-5EA82F94D6F3}" type="pres">
      <dgm:prSet presAssocID="{B1499B65-BBB0-4E6B-A35F-5419668E76ED}" presName="node" presStyleLbl="node1" presStyleIdx="2" presStyleCnt="5">
        <dgm:presLayoutVars>
          <dgm:bulletEnabled val="1"/>
        </dgm:presLayoutVars>
      </dgm:prSet>
      <dgm:spPr/>
    </dgm:pt>
    <dgm:pt modelId="{AA05B8B5-6C3D-4883-9D51-A6355CFEABFD}" type="pres">
      <dgm:prSet presAssocID="{3BC1C5A2-7315-496F-9391-FFAFF7A09BF3}" presName="sibTrans" presStyleLbl="sibTrans1D1" presStyleIdx="2" presStyleCnt="4"/>
      <dgm:spPr/>
    </dgm:pt>
    <dgm:pt modelId="{49B248E1-BEF0-4206-B5CF-5CAA2EB76C9F}" type="pres">
      <dgm:prSet presAssocID="{3BC1C5A2-7315-496F-9391-FFAFF7A09BF3}" presName="connectorText" presStyleLbl="sibTrans1D1" presStyleIdx="2" presStyleCnt="4"/>
      <dgm:spPr/>
    </dgm:pt>
    <dgm:pt modelId="{9E278BA0-C7DD-4DF8-9221-EBE5CEE73AF6}" type="pres">
      <dgm:prSet presAssocID="{EFB65E02-22AA-4B0B-8750-1D6D07DBF032}" presName="node" presStyleLbl="node1" presStyleIdx="3" presStyleCnt="5">
        <dgm:presLayoutVars>
          <dgm:bulletEnabled val="1"/>
        </dgm:presLayoutVars>
      </dgm:prSet>
      <dgm:spPr/>
    </dgm:pt>
    <dgm:pt modelId="{C42B2E81-102B-45BD-843D-FD7B46FF754C}" type="pres">
      <dgm:prSet presAssocID="{E3E9DEA6-1C91-4C36-B1C8-887C30CCE520}" presName="sibTrans" presStyleLbl="sibTrans1D1" presStyleIdx="3" presStyleCnt="4"/>
      <dgm:spPr/>
    </dgm:pt>
    <dgm:pt modelId="{3075D22E-9FDD-40E5-B202-F5D0404916B1}" type="pres">
      <dgm:prSet presAssocID="{E3E9DEA6-1C91-4C36-B1C8-887C30CCE520}" presName="connectorText" presStyleLbl="sibTrans1D1" presStyleIdx="3" presStyleCnt="4"/>
      <dgm:spPr/>
    </dgm:pt>
    <dgm:pt modelId="{2B465748-61A4-46F2-9C32-D3F7C81363CE}" type="pres">
      <dgm:prSet presAssocID="{72B51D6F-9356-436D-8AEC-82E51AD0225D}" presName="node" presStyleLbl="node1" presStyleIdx="4" presStyleCnt="5" custLinFactNeighborX="382" custLinFactNeighborY="123">
        <dgm:presLayoutVars>
          <dgm:bulletEnabled val="1"/>
        </dgm:presLayoutVars>
      </dgm:prSet>
      <dgm:spPr/>
    </dgm:pt>
  </dgm:ptLst>
  <dgm:cxnLst>
    <dgm:cxn modelId="{0FE01806-2810-4C56-8122-1BF15A875EFC}" srcId="{87F77A16-7A8D-4146-9503-008F44166251}" destId="{B1499B65-BBB0-4E6B-A35F-5419668E76ED}" srcOrd="2" destOrd="0" parTransId="{C561F03C-92AE-41CC-B753-9C793EB546A4}" sibTransId="{3BC1C5A2-7315-496F-9391-FFAFF7A09BF3}"/>
    <dgm:cxn modelId="{8DAAB718-E452-4E0E-8F3E-42056AED2C24}" type="presOf" srcId="{B2E39B3B-BAA3-4F7C-A532-4FE67F3EA8B0}" destId="{28063FC6-8DA2-4745-9C45-69ACCFEB141B}" srcOrd="1" destOrd="0" presId="urn:microsoft.com/office/officeart/2005/8/layout/bProcess3"/>
    <dgm:cxn modelId="{B7CB2831-8F68-4A2E-A0AF-5B570733BEF0}" type="presOf" srcId="{6609CC95-D5F4-4471-B578-53001F619BF2}" destId="{D9AD3875-D6B8-4C2A-AD93-FF028A8238EB}" srcOrd="0" destOrd="0" presId="urn:microsoft.com/office/officeart/2005/8/layout/bProcess3"/>
    <dgm:cxn modelId="{4834485D-253A-48F9-AF06-DD398EEDF9DF}" srcId="{87F77A16-7A8D-4146-9503-008F44166251}" destId="{6609CC95-D5F4-4471-B578-53001F619BF2}" srcOrd="0" destOrd="0" parTransId="{350F77CC-28D0-44A2-A1E1-DBCAE7D0AD7C}" sibTransId="{B2E39B3B-BAA3-4F7C-A532-4FE67F3EA8B0}"/>
    <dgm:cxn modelId="{01612C44-1E20-470A-A66D-0DED38B4B2BE}" srcId="{87F77A16-7A8D-4146-9503-008F44166251}" destId="{72B51D6F-9356-436D-8AEC-82E51AD0225D}" srcOrd="4" destOrd="0" parTransId="{36B1D1BC-346C-4907-9613-AD061E509F34}" sibTransId="{7222C21F-74F4-4260-98CE-C5DFD4D9A756}"/>
    <dgm:cxn modelId="{8D15896D-4156-4DCA-A174-615E94EB1D60}" type="presOf" srcId="{E3E9DEA6-1C91-4C36-B1C8-887C30CCE520}" destId="{C42B2E81-102B-45BD-843D-FD7B46FF754C}" srcOrd="0" destOrd="0" presId="urn:microsoft.com/office/officeart/2005/8/layout/bProcess3"/>
    <dgm:cxn modelId="{EE162957-D370-4F46-8439-EC47CD2CA91E}" type="presOf" srcId="{3BC1C5A2-7315-496F-9391-FFAFF7A09BF3}" destId="{AA05B8B5-6C3D-4883-9D51-A6355CFEABFD}" srcOrd="0" destOrd="0" presId="urn:microsoft.com/office/officeart/2005/8/layout/bProcess3"/>
    <dgm:cxn modelId="{0967227A-DA93-4AB7-ABE7-8FD79AF35DED}" srcId="{87F77A16-7A8D-4146-9503-008F44166251}" destId="{EFB65E02-22AA-4B0B-8750-1D6D07DBF032}" srcOrd="3" destOrd="0" parTransId="{790BEE2B-D01C-460B-9E11-DA99F28B778B}" sibTransId="{E3E9DEA6-1C91-4C36-B1C8-887C30CCE520}"/>
    <dgm:cxn modelId="{3037965A-7A2F-40EF-BB30-B952C3B985B9}" type="presOf" srcId="{72B51D6F-9356-436D-8AEC-82E51AD0225D}" destId="{2B465748-61A4-46F2-9C32-D3F7C81363CE}" srcOrd="0" destOrd="0" presId="urn:microsoft.com/office/officeart/2005/8/layout/bProcess3"/>
    <dgm:cxn modelId="{7605A389-3834-42C0-B202-1E3251861FB2}" srcId="{87F77A16-7A8D-4146-9503-008F44166251}" destId="{1D983B42-B5A7-4381-8E46-FDC16AF4C13E}" srcOrd="1" destOrd="0" parTransId="{CA9F71D1-8AFF-4354-A970-A0E3E9272035}" sibTransId="{A10A7152-5725-498B-A71D-9FB03A8A89E1}"/>
    <dgm:cxn modelId="{9090319A-D64B-40EB-9735-14AE7D5F66B2}" type="presOf" srcId="{E3E9DEA6-1C91-4C36-B1C8-887C30CCE520}" destId="{3075D22E-9FDD-40E5-B202-F5D0404916B1}" srcOrd="1" destOrd="0" presId="urn:microsoft.com/office/officeart/2005/8/layout/bProcess3"/>
    <dgm:cxn modelId="{CDE567B4-9515-4559-BDA1-816E9EC7020F}" type="presOf" srcId="{3BC1C5A2-7315-496F-9391-FFAFF7A09BF3}" destId="{49B248E1-BEF0-4206-B5CF-5CAA2EB76C9F}" srcOrd="1" destOrd="0" presId="urn:microsoft.com/office/officeart/2005/8/layout/bProcess3"/>
    <dgm:cxn modelId="{CB8065B8-64B8-4320-9A59-BD75DEBE50C5}" type="presOf" srcId="{A10A7152-5725-498B-A71D-9FB03A8A89E1}" destId="{6A63E99D-F70C-4B76-B159-7505CDC957FF}" srcOrd="1" destOrd="0" presId="urn:microsoft.com/office/officeart/2005/8/layout/bProcess3"/>
    <dgm:cxn modelId="{61DCBEBC-AAA6-4105-A6D7-228DB7A0A5CF}" type="presOf" srcId="{B1499B65-BBB0-4E6B-A35F-5419668E76ED}" destId="{04981630-E09C-4E8F-985D-5EA82F94D6F3}" srcOrd="0" destOrd="0" presId="urn:microsoft.com/office/officeart/2005/8/layout/bProcess3"/>
    <dgm:cxn modelId="{507889BF-EA6F-4871-9B97-D6BB6E8C5FE9}" type="presOf" srcId="{EFB65E02-22AA-4B0B-8750-1D6D07DBF032}" destId="{9E278BA0-C7DD-4DF8-9221-EBE5CEE73AF6}" srcOrd="0" destOrd="0" presId="urn:microsoft.com/office/officeart/2005/8/layout/bProcess3"/>
    <dgm:cxn modelId="{ECC98ECA-6733-4ADE-A65A-E96000B771DF}" type="presOf" srcId="{1D983B42-B5A7-4381-8E46-FDC16AF4C13E}" destId="{EC20DA1E-C052-4018-A0EE-0744743532A4}" srcOrd="0" destOrd="0" presId="urn:microsoft.com/office/officeart/2005/8/layout/bProcess3"/>
    <dgm:cxn modelId="{E72459CB-50AD-42EA-A892-39784A2C5D65}" type="presOf" srcId="{B2E39B3B-BAA3-4F7C-A532-4FE67F3EA8B0}" destId="{1BDD5383-6F71-4ACE-B4D3-90F2C11474D9}" srcOrd="0" destOrd="0" presId="urn:microsoft.com/office/officeart/2005/8/layout/bProcess3"/>
    <dgm:cxn modelId="{56F91CCE-AFE2-4344-8183-2126B789C048}" type="presOf" srcId="{87F77A16-7A8D-4146-9503-008F44166251}" destId="{D940DB2A-A8CC-4CB9-99F2-D650FD43201B}" srcOrd="0" destOrd="0" presId="urn:microsoft.com/office/officeart/2005/8/layout/bProcess3"/>
    <dgm:cxn modelId="{204A3ED2-5199-4140-8E5E-A4506C372802}" type="presOf" srcId="{A10A7152-5725-498B-A71D-9FB03A8A89E1}" destId="{4ABDE273-6994-432F-AA59-C03037319477}" srcOrd="0" destOrd="0" presId="urn:microsoft.com/office/officeart/2005/8/layout/bProcess3"/>
    <dgm:cxn modelId="{F7C0764C-21C5-4251-BE7C-595B67F30FFB}" type="presParOf" srcId="{D940DB2A-A8CC-4CB9-99F2-D650FD43201B}" destId="{D9AD3875-D6B8-4C2A-AD93-FF028A8238EB}" srcOrd="0" destOrd="0" presId="urn:microsoft.com/office/officeart/2005/8/layout/bProcess3"/>
    <dgm:cxn modelId="{2BBE29E7-4F6E-4B2A-960C-50CCA0912EBD}" type="presParOf" srcId="{D940DB2A-A8CC-4CB9-99F2-D650FD43201B}" destId="{1BDD5383-6F71-4ACE-B4D3-90F2C11474D9}" srcOrd="1" destOrd="0" presId="urn:microsoft.com/office/officeart/2005/8/layout/bProcess3"/>
    <dgm:cxn modelId="{CEBE1335-B760-4311-AF19-954895BB6AA7}" type="presParOf" srcId="{1BDD5383-6F71-4ACE-B4D3-90F2C11474D9}" destId="{28063FC6-8DA2-4745-9C45-69ACCFEB141B}" srcOrd="0" destOrd="0" presId="urn:microsoft.com/office/officeart/2005/8/layout/bProcess3"/>
    <dgm:cxn modelId="{67D86589-CAED-4613-AD1B-F32E5D7E4229}" type="presParOf" srcId="{D940DB2A-A8CC-4CB9-99F2-D650FD43201B}" destId="{EC20DA1E-C052-4018-A0EE-0744743532A4}" srcOrd="2" destOrd="0" presId="urn:microsoft.com/office/officeart/2005/8/layout/bProcess3"/>
    <dgm:cxn modelId="{BF28220F-09BB-46CE-9AA8-FB12FB413B65}" type="presParOf" srcId="{D940DB2A-A8CC-4CB9-99F2-D650FD43201B}" destId="{4ABDE273-6994-432F-AA59-C03037319477}" srcOrd="3" destOrd="0" presId="urn:microsoft.com/office/officeart/2005/8/layout/bProcess3"/>
    <dgm:cxn modelId="{9F2E21FD-F035-49DB-87F5-77F0F878885E}" type="presParOf" srcId="{4ABDE273-6994-432F-AA59-C03037319477}" destId="{6A63E99D-F70C-4B76-B159-7505CDC957FF}" srcOrd="0" destOrd="0" presId="urn:microsoft.com/office/officeart/2005/8/layout/bProcess3"/>
    <dgm:cxn modelId="{110D2F12-54D2-4C6D-9007-9D85A15CCBE2}" type="presParOf" srcId="{D940DB2A-A8CC-4CB9-99F2-D650FD43201B}" destId="{04981630-E09C-4E8F-985D-5EA82F94D6F3}" srcOrd="4" destOrd="0" presId="urn:microsoft.com/office/officeart/2005/8/layout/bProcess3"/>
    <dgm:cxn modelId="{B22CE781-D255-4FF7-9EB5-7448D56BBEE8}" type="presParOf" srcId="{D940DB2A-A8CC-4CB9-99F2-D650FD43201B}" destId="{AA05B8B5-6C3D-4883-9D51-A6355CFEABFD}" srcOrd="5" destOrd="0" presId="urn:microsoft.com/office/officeart/2005/8/layout/bProcess3"/>
    <dgm:cxn modelId="{0C14AE74-FFCA-404E-A5A7-405A0B140D1B}" type="presParOf" srcId="{AA05B8B5-6C3D-4883-9D51-A6355CFEABFD}" destId="{49B248E1-BEF0-4206-B5CF-5CAA2EB76C9F}" srcOrd="0" destOrd="0" presId="urn:microsoft.com/office/officeart/2005/8/layout/bProcess3"/>
    <dgm:cxn modelId="{67A14216-7B51-4843-9444-2160E5DFE63A}" type="presParOf" srcId="{D940DB2A-A8CC-4CB9-99F2-D650FD43201B}" destId="{9E278BA0-C7DD-4DF8-9221-EBE5CEE73AF6}" srcOrd="6" destOrd="0" presId="urn:microsoft.com/office/officeart/2005/8/layout/bProcess3"/>
    <dgm:cxn modelId="{03601BF2-6584-45A0-9D51-7575A00BCFBA}" type="presParOf" srcId="{D940DB2A-A8CC-4CB9-99F2-D650FD43201B}" destId="{C42B2E81-102B-45BD-843D-FD7B46FF754C}" srcOrd="7" destOrd="0" presId="urn:microsoft.com/office/officeart/2005/8/layout/bProcess3"/>
    <dgm:cxn modelId="{7F19A970-E8ED-407E-8FDF-18EB26A060A7}" type="presParOf" srcId="{C42B2E81-102B-45BD-843D-FD7B46FF754C}" destId="{3075D22E-9FDD-40E5-B202-F5D0404916B1}" srcOrd="0" destOrd="0" presId="urn:microsoft.com/office/officeart/2005/8/layout/bProcess3"/>
    <dgm:cxn modelId="{F5F0D73A-B762-451B-9BF8-6094FED42184}" type="presParOf" srcId="{D940DB2A-A8CC-4CB9-99F2-D650FD43201B}" destId="{2B465748-61A4-46F2-9C32-D3F7C81363CE}" srcOrd="8"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2CCD63-4BAC-4814-8C9E-183B3E945C34}" type="doc">
      <dgm:prSet loTypeId="urn:microsoft.com/office/officeart/2005/8/layout/bProcess3" loCatId="process" qsTypeId="urn:microsoft.com/office/officeart/2005/8/quickstyle/simple1" qsCatId="simple" csTypeId="urn:microsoft.com/office/officeart/2005/8/colors/accent1_1" csCatId="accent1" phldr="1"/>
      <dgm:spPr/>
      <dgm:t>
        <a:bodyPr/>
        <a:lstStyle/>
        <a:p>
          <a:endParaRPr lang="en-US"/>
        </a:p>
      </dgm:t>
    </dgm:pt>
    <dgm:pt modelId="{A300C341-6D7F-4EE1-9A83-B5FCEC9625DF}">
      <dgm:prSet custT="1"/>
      <dgm:spPr/>
      <dgm:t>
        <a:bodyPr anchor="ctr"/>
        <a:lstStyle/>
        <a:p>
          <a:pPr algn="l"/>
          <a:r>
            <a:rPr lang="en-US" sz="1150" b="1" dirty="0">
              <a:latin typeface="Arial" panose="020B0604020202020204" pitchFamily="34" charset="0"/>
              <a:cs typeface="Arial" panose="020B0604020202020204" pitchFamily="34" charset="0"/>
            </a:rPr>
            <a:t>1.</a:t>
          </a:r>
          <a:r>
            <a:rPr lang="ru-RU" sz="1150" b="1" dirty="0">
              <a:latin typeface="Arial" panose="020B0604020202020204" pitchFamily="34" charset="0"/>
              <a:cs typeface="Arial" panose="020B0604020202020204" pitchFamily="34" charset="0"/>
            </a:rPr>
            <a:t> </a:t>
          </a:r>
          <a:r>
            <a:rPr lang="en-US" sz="1150" b="1" dirty="0">
              <a:latin typeface="Arial" panose="020B0604020202020204" pitchFamily="34" charset="0"/>
              <a:cs typeface="Arial" panose="020B0604020202020204" pitchFamily="34" charset="0"/>
            </a:rPr>
            <a:t>Choosing a data synthesis method</a:t>
          </a:r>
        </a:p>
      </dgm:t>
    </dgm:pt>
    <dgm:pt modelId="{EF3EB9B1-205C-4C63-B032-5FB0230A9C0E}" type="parTrans" cxnId="{43608A56-A252-4B80-8B3E-6780830BD7E0}">
      <dgm:prSet/>
      <dgm:spPr/>
      <dgm:t>
        <a:bodyPr/>
        <a:lstStyle/>
        <a:p>
          <a:pPr algn="l"/>
          <a:endParaRPr lang="en-US" sz="1200">
            <a:latin typeface="Arial" panose="020B0604020202020204" pitchFamily="34" charset="0"/>
            <a:cs typeface="Arial" panose="020B0604020202020204" pitchFamily="34" charset="0"/>
          </a:endParaRPr>
        </a:p>
      </dgm:t>
    </dgm:pt>
    <dgm:pt modelId="{C7150A40-D0A5-4EAD-9CC7-AF82A4C2D2A9}" type="sibTrans" cxnId="{43608A56-A252-4B80-8B3E-6780830BD7E0}">
      <dgm:prSet/>
      <dgm:spPr/>
      <dgm:t>
        <a:bodyPr/>
        <a:lstStyle/>
        <a:p>
          <a:pPr algn="l"/>
          <a:endParaRPr lang="en-US" sz="1200">
            <a:latin typeface="Arial" panose="020B0604020202020204" pitchFamily="34" charset="0"/>
            <a:cs typeface="Arial" panose="020B0604020202020204" pitchFamily="34" charset="0"/>
          </a:endParaRPr>
        </a:p>
      </dgm:t>
    </dgm:pt>
    <dgm:pt modelId="{D5BD9C04-0EB5-44CF-8B2B-FD351CA1C719}">
      <dgm:prSet custT="1"/>
      <dgm:spPr/>
      <dgm:t>
        <a:bodyPr anchor="ctr"/>
        <a:lstStyle/>
        <a:p>
          <a:pPr algn="l"/>
          <a:r>
            <a:rPr lang="en-US" sz="1200" b="1" dirty="0">
              <a:latin typeface="Arial" panose="020B0604020202020204" pitchFamily="34" charset="0"/>
              <a:cs typeface="Arial" panose="020B0604020202020204" pitchFamily="34" charset="0"/>
            </a:rPr>
            <a:t>2. Scenario catalogue</a:t>
          </a:r>
        </a:p>
      </dgm:t>
    </dgm:pt>
    <dgm:pt modelId="{74FF1C83-8D83-4156-9D3E-A3E2E8496C89}" type="parTrans" cxnId="{B5382713-1A0C-4F03-ADE2-216AE0EF4A29}">
      <dgm:prSet/>
      <dgm:spPr/>
      <dgm:t>
        <a:bodyPr/>
        <a:lstStyle/>
        <a:p>
          <a:pPr algn="l"/>
          <a:endParaRPr lang="en-US" sz="1200">
            <a:latin typeface="Arial" panose="020B0604020202020204" pitchFamily="34" charset="0"/>
            <a:cs typeface="Arial" panose="020B0604020202020204" pitchFamily="34" charset="0"/>
          </a:endParaRPr>
        </a:p>
      </dgm:t>
    </dgm:pt>
    <dgm:pt modelId="{7CF6241E-67B5-4B87-A6AA-3A259E4C6258}" type="sibTrans" cxnId="{B5382713-1A0C-4F03-ADE2-216AE0EF4A29}">
      <dgm:prSet/>
      <dgm:spPr/>
      <dgm:t>
        <a:bodyPr/>
        <a:lstStyle/>
        <a:p>
          <a:pPr algn="l"/>
          <a:endParaRPr lang="en-US" sz="1200">
            <a:latin typeface="Arial" panose="020B0604020202020204" pitchFamily="34" charset="0"/>
            <a:cs typeface="Arial" panose="020B0604020202020204" pitchFamily="34" charset="0"/>
          </a:endParaRPr>
        </a:p>
      </dgm:t>
    </dgm:pt>
    <dgm:pt modelId="{45F0C061-5AFE-41E1-9705-76E848DAD045}">
      <dgm:prSet custT="1"/>
      <dgm:spPr/>
      <dgm:t>
        <a:bodyPr anchor="ctr"/>
        <a:lstStyle/>
        <a:p>
          <a:pPr algn="l"/>
          <a:r>
            <a:rPr lang="en-US" sz="1200" b="1" dirty="0">
              <a:latin typeface="Arial" panose="020B0604020202020204" pitchFamily="34" charset="0"/>
              <a:cs typeface="Arial" panose="020B0604020202020204" pitchFamily="34" charset="0"/>
            </a:rPr>
            <a:t>3. Data synthesis</a:t>
          </a:r>
        </a:p>
      </dgm:t>
    </dgm:pt>
    <dgm:pt modelId="{374CA495-1B27-454F-A510-5AD674526A7E}" type="parTrans" cxnId="{1BC5D61B-2267-40F7-80F9-95F4EC8EED03}">
      <dgm:prSet/>
      <dgm:spPr/>
      <dgm:t>
        <a:bodyPr/>
        <a:lstStyle/>
        <a:p>
          <a:pPr algn="l"/>
          <a:endParaRPr lang="en-US" sz="1200">
            <a:latin typeface="Arial" panose="020B0604020202020204" pitchFamily="34" charset="0"/>
            <a:cs typeface="Arial" panose="020B0604020202020204" pitchFamily="34" charset="0"/>
          </a:endParaRPr>
        </a:p>
      </dgm:t>
    </dgm:pt>
    <dgm:pt modelId="{8801628C-A0A5-4B4B-9682-976186FFA8F2}" type="sibTrans" cxnId="{1BC5D61B-2267-40F7-80F9-95F4EC8EED03}">
      <dgm:prSet/>
      <dgm:spPr/>
      <dgm:t>
        <a:bodyPr/>
        <a:lstStyle/>
        <a:p>
          <a:pPr algn="l"/>
          <a:endParaRPr lang="en-US" sz="1200">
            <a:latin typeface="Arial" panose="020B0604020202020204" pitchFamily="34" charset="0"/>
            <a:cs typeface="Arial" panose="020B0604020202020204" pitchFamily="34" charset="0"/>
          </a:endParaRPr>
        </a:p>
      </dgm:t>
    </dgm:pt>
    <dgm:pt modelId="{01C8452F-B675-494F-A8C0-13012232AE5C}">
      <dgm:prSet custT="1"/>
      <dgm:spPr/>
      <dgm:t>
        <a:bodyPr anchor="ctr"/>
        <a:lstStyle/>
        <a:p>
          <a:pPr algn="l"/>
          <a:r>
            <a:rPr lang="en-US" sz="1200" b="1" dirty="0">
              <a:latin typeface="Arial" panose="020B0604020202020204" pitchFamily="34" charset="0"/>
              <a:cs typeface="Arial" panose="020B0604020202020204" pitchFamily="34" charset="0"/>
            </a:rPr>
            <a:t>5. Class balance</a:t>
          </a:r>
        </a:p>
      </dgm:t>
    </dgm:pt>
    <dgm:pt modelId="{4ED301E1-1FD7-49AC-BFF9-6D2B0DB4CCC6}" type="parTrans" cxnId="{00E01936-7B67-4887-84D2-D8AFD1B95AB1}">
      <dgm:prSet/>
      <dgm:spPr/>
      <dgm:t>
        <a:bodyPr/>
        <a:lstStyle/>
        <a:p>
          <a:pPr algn="l"/>
          <a:endParaRPr lang="en-US" sz="1200">
            <a:latin typeface="Arial" panose="020B0604020202020204" pitchFamily="34" charset="0"/>
            <a:cs typeface="Arial" panose="020B0604020202020204" pitchFamily="34" charset="0"/>
          </a:endParaRPr>
        </a:p>
      </dgm:t>
    </dgm:pt>
    <dgm:pt modelId="{5D819E6C-73FD-41FA-AE04-FE056785328B}" type="sibTrans" cxnId="{00E01936-7B67-4887-84D2-D8AFD1B95AB1}">
      <dgm:prSet/>
      <dgm:spPr/>
      <dgm:t>
        <a:bodyPr/>
        <a:lstStyle/>
        <a:p>
          <a:pPr algn="l"/>
          <a:endParaRPr lang="en-US" sz="1200">
            <a:latin typeface="Arial" panose="020B0604020202020204" pitchFamily="34" charset="0"/>
            <a:cs typeface="Arial" panose="020B0604020202020204" pitchFamily="34" charset="0"/>
          </a:endParaRPr>
        </a:p>
      </dgm:t>
    </dgm:pt>
    <dgm:pt modelId="{49984DCD-54F7-4725-8F7A-8E05BBBDF231}">
      <dgm:prSet custT="1"/>
      <dgm:spPr/>
      <dgm:t>
        <a:bodyPr anchor="ctr"/>
        <a:lstStyle/>
        <a:p>
          <a:pPr algn="l"/>
          <a:r>
            <a:rPr lang="en-US" sz="1200" dirty="0">
              <a:latin typeface="Arial" panose="020B0604020202020204" pitchFamily="34" charset="0"/>
              <a:cs typeface="Arial" panose="020B0604020202020204" pitchFamily="34" charset="0"/>
            </a:rPr>
            <a:t>SMOTE / ADASYN / ROSE </a:t>
          </a:r>
        </a:p>
      </dgm:t>
    </dgm:pt>
    <dgm:pt modelId="{407D30A6-D446-428B-AD2B-9775201B84B9}" type="parTrans" cxnId="{BEE48A0D-9872-4D0E-A608-04D97962A8C3}">
      <dgm:prSet/>
      <dgm:spPr/>
      <dgm:t>
        <a:bodyPr/>
        <a:lstStyle/>
        <a:p>
          <a:pPr algn="l"/>
          <a:endParaRPr lang="en-US" sz="1200">
            <a:latin typeface="Arial" panose="020B0604020202020204" pitchFamily="34" charset="0"/>
            <a:cs typeface="Arial" panose="020B0604020202020204" pitchFamily="34" charset="0"/>
          </a:endParaRPr>
        </a:p>
      </dgm:t>
    </dgm:pt>
    <dgm:pt modelId="{41D583CF-2FD9-4CC4-8139-8BE04D9F6911}" type="sibTrans" cxnId="{BEE48A0D-9872-4D0E-A608-04D97962A8C3}">
      <dgm:prSet/>
      <dgm:spPr/>
      <dgm:t>
        <a:bodyPr/>
        <a:lstStyle/>
        <a:p>
          <a:pPr algn="l"/>
          <a:endParaRPr lang="en-US" sz="1200">
            <a:latin typeface="Arial" panose="020B0604020202020204" pitchFamily="34" charset="0"/>
            <a:cs typeface="Arial" panose="020B0604020202020204" pitchFamily="34" charset="0"/>
          </a:endParaRPr>
        </a:p>
      </dgm:t>
    </dgm:pt>
    <dgm:pt modelId="{33CCB47D-3E19-4A91-BB84-1C5129BDC816}">
      <dgm:prSet custT="1"/>
      <dgm:spPr/>
      <dgm:t>
        <a:bodyPr anchor="ctr"/>
        <a:lstStyle/>
        <a:p>
          <a:pPr algn="l"/>
          <a:r>
            <a:rPr lang="en-US" sz="1200" dirty="0">
              <a:latin typeface="Arial" panose="020B0604020202020204" pitchFamily="34" charset="0"/>
              <a:cs typeface="Arial" panose="020B0604020202020204" pitchFamily="34" charset="0"/>
            </a:rPr>
            <a:t>Class weights</a:t>
          </a:r>
        </a:p>
      </dgm:t>
    </dgm:pt>
    <dgm:pt modelId="{8028875E-FBDC-40F6-95BE-6EB1A6EF6BC6}" type="parTrans" cxnId="{7BC5A02B-B767-46AF-AA34-FD1A06B16F0E}">
      <dgm:prSet/>
      <dgm:spPr/>
      <dgm:t>
        <a:bodyPr/>
        <a:lstStyle/>
        <a:p>
          <a:pPr algn="l"/>
          <a:endParaRPr lang="en-US" sz="1200">
            <a:latin typeface="Arial" panose="020B0604020202020204" pitchFamily="34" charset="0"/>
            <a:cs typeface="Arial" panose="020B0604020202020204" pitchFamily="34" charset="0"/>
          </a:endParaRPr>
        </a:p>
      </dgm:t>
    </dgm:pt>
    <dgm:pt modelId="{8420C226-C616-4C58-92A4-ADCC064857D5}" type="sibTrans" cxnId="{7BC5A02B-B767-46AF-AA34-FD1A06B16F0E}">
      <dgm:prSet/>
      <dgm:spPr/>
      <dgm:t>
        <a:bodyPr/>
        <a:lstStyle/>
        <a:p>
          <a:pPr algn="l"/>
          <a:endParaRPr lang="en-US" sz="1200">
            <a:latin typeface="Arial" panose="020B0604020202020204" pitchFamily="34" charset="0"/>
            <a:cs typeface="Arial" panose="020B0604020202020204" pitchFamily="34" charset="0"/>
          </a:endParaRPr>
        </a:p>
      </dgm:t>
    </dgm:pt>
    <dgm:pt modelId="{EC62AF04-BB7F-42AB-B1F3-4ACE907B758A}">
      <dgm:prSet custT="1"/>
      <dgm:spPr/>
      <dgm:t>
        <a:bodyPr anchor="ctr"/>
        <a:lstStyle/>
        <a:p>
          <a:pPr algn="l"/>
          <a:r>
            <a:rPr lang="en-US" sz="1200" dirty="0">
              <a:latin typeface="Arial" panose="020B0604020202020204" pitchFamily="34" charset="0"/>
              <a:cs typeface="Arial" panose="020B0604020202020204" pitchFamily="34" charset="0"/>
            </a:rPr>
            <a:t>Focal loss</a:t>
          </a:r>
        </a:p>
      </dgm:t>
    </dgm:pt>
    <dgm:pt modelId="{26EA1CCC-2292-443B-A5DA-22AA73CBFF08}" type="parTrans" cxnId="{67869006-5472-473A-B3B6-14AF91B7E48D}">
      <dgm:prSet/>
      <dgm:spPr/>
      <dgm:t>
        <a:bodyPr/>
        <a:lstStyle/>
        <a:p>
          <a:pPr algn="l"/>
          <a:endParaRPr lang="en-US" sz="1200">
            <a:latin typeface="Arial" panose="020B0604020202020204" pitchFamily="34" charset="0"/>
            <a:cs typeface="Arial" panose="020B0604020202020204" pitchFamily="34" charset="0"/>
          </a:endParaRPr>
        </a:p>
      </dgm:t>
    </dgm:pt>
    <dgm:pt modelId="{9BA133C7-4C01-4EA0-B9A0-92820A84F6DC}" type="sibTrans" cxnId="{67869006-5472-473A-B3B6-14AF91B7E48D}">
      <dgm:prSet/>
      <dgm:spPr/>
      <dgm:t>
        <a:bodyPr/>
        <a:lstStyle/>
        <a:p>
          <a:pPr algn="l"/>
          <a:endParaRPr lang="en-US" sz="1200">
            <a:latin typeface="Arial" panose="020B0604020202020204" pitchFamily="34" charset="0"/>
            <a:cs typeface="Arial" panose="020B0604020202020204" pitchFamily="34" charset="0"/>
          </a:endParaRPr>
        </a:p>
      </dgm:t>
    </dgm:pt>
    <dgm:pt modelId="{D3C984F4-9A11-4513-825D-F26E65C086C2}">
      <dgm:prSet custT="1"/>
      <dgm:spPr/>
      <dgm:t>
        <a:bodyPr anchor="ctr"/>
        <a:lstStyle/>
        <a:p>
          <a:pPr algn="l"/>
          <a:r>
            <a:rPr lang="en-US" sz="1200" b="1" dirty="0">
              <a:latin typeface="Arial" panose="020B0604020202020204" pitchFamily="34" charset="0"/>
              <a:cs typeface="Arial" panose="020B0604020202020204" pitchFamily="34" charset="0"/>
            </a:rPr>
            <a:t>6. Model selection</a:t>
          </a:r>
        </a:p>
      </dgm:t>
    </dgm:pt>
    <dgm:pt modelId="{B9F91910-3154-49CB-B4CA-B7EEB9AD4A88}" type="parTrans" cxnId="{DC549519-2606-4451-B198-7F018246ECF3}">
      <dgm:prSet/>
      <dgm:spPr/>
      <dgm:t>
        <a:bodyPr/>
        <a:lstStyle/>
        <a:p>
          <a:pPr algn="l"/>
          <a:endParaRPr lang="en-US" sz="1200">
            <a:latin typeface="Arial" panose="020B0604020202020204" pitchFamily="34" charset="0"/>
            <a:cs typeface="Arial" panose="020B0604020202020204" pitchFamily="34" charset="0"/>
          </a:endParaRPr>
        </a:p>
      </dgm:t>
    </dgm:pt>
    <dgm:pt modelId="{267EC809-C2E3-4E4D-8A37-6E696A3CEEA6}" type="sibTrans" cxnId="{DC549519-2606-4451-B198-7F018246ECF3}">
      <dgm:prSet/>
      <dgm:spPr/>
      <dgm:t>
        <a:bodyPr/>
        <a:lstStyle/>
        <a:p>
          <a:pPr algn="l"/>
          <a:endParaRPr lang="en-US" sz="1200">
            <a:latin typeface="Arial" panose="020B0604020202020204" pitchFamily="34" charset="0"/>
            <a:cs typeface="Arial" panose="020B0604020202020204" pitchFamily="34" charset="0"/>
          </a:endParaRPr>
        </a:p>
      </dgm:t>
    </dgm:pt>
    <dgm:pt modelId="{8A14E80F-2ABF-4B99-97BD-B03ED6A5FE4E}">
      <dgm:prSet custT="1"/>
      <dgm:spPr/>
      <dgm:t>
        <a:bodyPr anchor="ctr"/>
        <a:lstStyle/>
        <a:p>
          <a:pPr algn="l"/>
          <a:r>
            <a:rPr lang="en-US" sz="1200" dirty="0">
              <a:latin typeface="Arial" panose="020B0604020202020204" pitchFamily="34" charset="0"/>
              <a:cs typeface="Arial" panose="020B0604020202020204" pitchFamily="34" charset="0"/>
            </a:rPr>
            <a:t>AutoML with feature analysis for ranking.</a:t>
          </a:r>
        </a:p>
      </dgm:t>
    </dgm:pt>
    <dgm:pt modelId="{65C9C1DC-52E4-44F9-9B5F-ACEB3EEF4C1E}" type="parTrans" cxnId="{CE83B7CF-D774-444E-82FC-6021F9C723CF}">
      <dgm:prSet/>
      <dgm:spPr/>
      <dgm:t>
        <a:bodyPr/>
        <a:lstStyle/>
        <a:p>
          <a:pPr algn="l"/>
          <a:endParaRPr lang="en-US" sz="1200">
            <a:latin typeface="Arial" panose="020B0604020202020204" pitchFamily="34" charset="0"/>
            <a:cs typeface="Arial" panose="020B0604020202020204" pitchFamily="34" charset="0"/>
          </a:endParaRPr>
        </a:p>
      </dgm:t>
    </dgm:pt>
    <dgm:pt modelId="{F7296D8F-FE11-4F62-9722-F1DB51C1E570}" type="sibTrans" cxnId="{CE83B7CF-D774-444E-82FC-6021F9C723CF}">
      <dgm:prSet/>
      <dgm:spPr/>
      <dgm:t>
        <a:bodyPr/>
        <a:lstStyle/>
        <a:p>
          <a:pPr algn="l"/>
          <a:endParaRPr lang="en-US" sz="1200">
            <a:latin typeface="Arial" panose="020B0604020202020204" pitchFamily="34" charset="0"/>
            <a:cs typeface="Arial" panose="020B0604020202020204" pitchFamily="34" charset="0"/>
          </a:endParaRPr>
        </a:p>
      </dgm:t>
    </dgm:pt>
    <dgm:pt modelId="{1426D504-3A21-41C1-997A-E5F8468E79B4}">
      <dgm:prSet custT="1"/>
      <dgm:spPr/>
      <dgm:t>
        <a:bodyPr anchor="ctr"/>
        <a:lstStyle/>
        <a:p>
          <a:pPr algn="l"/>
          <a:r>
            <a:rPr lang="en-US" sz="1200" dirty="0">
              <a:latin typeface="Arial" panose="020B0604020202020204" pitchFamily="34" charset="0"/>
              <a:cs typeface="Arial" panose="020B0604020202020204" pitchFamily="34" charset="0"/>
            </a:rPr>
            <a:t>Expert validation and shortlisting.</a:t>
          </a:r>
        </a:p>
      </dgm:t>
    </dgm:pt>
    <dgm:pt modelId="{5A710D7C-FF33-43A3-8E46-705B94469158}" type="parTrans" cxnId="{BF76DEEA-9303-40B8-B8CE-0F5019062A82}">
      <dgm:prSet/>
      <dgm:spPr/>
      <dgm:t>
        <a:bodyPr/>
        <a:lstStyle/>
        <a:p>
          <a:pPr algn="l"/>
          <a:endParaRPr lang="en-US" sz="1200">
            <a:latin typeface="Arial" panose="020B0604020202020204" pitchFamily="34" charset="0"/>
            <a:cs typeface="Arial" panose="020B0604020202020204" pitchFamily="34" charset="0"/>
          </a:endParaRPr>
        </a:p>
      </dgm:t>
    </dgm:pt>
    <dgm:pt modelId="{B869D6D3-C200-4000-BDE8-66D111C06DDE}" type="sibTrans" cxnId="{BF76DEEA-9303-40B8-B8CE-0F5019062A82}">
      <dgm:prSet/>
      <dgm:spPr/>
      <dgm:t>
        <a:bodyPr/>
        <a:lstStyle/>
        <a:p>
          <a:pPr algn="l"/>
          <a:endParaRPr lang="en-US" sz="1200">
            <a:latin typeface="Arial" panose="020B0604020202020204" pitchFamily="34" charset="0"/>
            <a:cs typeface="Arial" panose="020B0604020202020204" pitchFamily="34" charset="0"/>
          </a:endParaRPr>
        </a:p>
      </dgm:t>
    </dgm:pt>
    <dgm:pt modelId="{C444AB5D-4417-4AB6-BDD9-462C7169BC83}">
      <dgm:prSet custT="1"/>
      <dgm:spPr/>
      <dgm:t>
        <a:bodyPr anchor="ctr"/>
        <a:lstStyle/>
        <a:p>
          <a:pPr algn="l"/>
          <a:r>
            <a:rPr lang="en-US" sz="1200" b="1" dirty="0">
              <a:latin typeface="Arial" panose="020B0604020202020204" pitchFamily="34" charset="0"/>
              <a:cs typeface="Arial" panose="020B0604020202020204" pitchFamily="34" charset="0"/>
            </a:rPr>
            <a:t>7. Training mode</a:t>
          </a:r>
        </a:p>
      </dgm:t>
    </dgm:pt>
    <dgm:pt modelId="{B994E8F6-790A-466D-8914-55C3CA5D79DF}" type="parTrans" cxnId="{940D929C-4079-4D94-8615-2DDD67D4E30D}">
      <dgm:prSet/>
      <dgm:spPr/>
      <dgm:t>
        <a:bodyPr/>
        <a:lstStyle/>
        <a:p>
          <a:pPr algn="l"/>
          <a:endParaRPr lang="en-US" sz="1200">
            <a:latin typeface="Arial" panose="020B0604020202020204" pitchFamily="34" charset="0"/>
            <a:cs typeface="Arial" panose="020B0604020202020204" pitchFamily="34" charset="0"/>
          </a:endParaRPr>
        </a:p>
      </dgm:t>
    </dgm:pt>
    <dgm:pt modelId="{8FED7EE2-A99C-430A-A419-DBF79FD27512}" type="sibTrans" cxnId="{940D929C-4079-4D94-8615-2DDD67D4E30D}">
      <dgm:prSet/>
      <dgm:spPr/>
      <dgm:t>
        <a:bodyPr/>
        <a:lstStyle/>
        <a:p>
          <a:pPr algn="l"/>
          <a:endParaRPr lang="en-US" sz="1200">
            <a:latin typeface="Arial" panose="020B0604020202020204" pitchFamily="34" charset="0"/>
            <a:cs typeface="Arial" panose="020B0604020202020204" pitchFamily="34" charset="0"/>
          </a:endParaRPr>
        </a:p>
      </dgm:t>
    </dgm:pt>
    <dgm:pt modelId="{980E0362-9D0C-4BD1-BD1A-43330FD5187B}">
      <dgm:prSet custT="1"/>
      <dgm:spPr/>
      <dgm:t>
        <a:bodyPr anchor="ctr"/>
        <a:lstStyle/>
        <a:p>
          <a:pPr algn="l"/>
          <a:r>
            <a:rPr lang="en-US" sz="1200" dirty="0">
              <a:latin typeface="Arial" panose="020B0604020202020204" pitchFamily="34" charset="0"/>
              <a:cs typeface="Arial" panose="020B0604020202020204" pitchFamily="34" charset="0"/>
            </a:rPr>
            <a:t>Incremental/full retraining</a:t>
          </a:r>
        </a:p>
      </dgm:t>
    </dgm:pt>
    <dgm:pt modelId="{AC367A3E-CA24-4D2B-9F70-5EE610318893}" type="parTrans" cxnId="{C0A57F47-C2AE-4283-82E9-AA89493857AB}">
      <dgm:prSet/>
      <dgm:spPr/>
      <dgm:t>
        <a:bodyPr/>
        <a:lstStyle/>
        <a:p>
          <a:pPr algn="l"/>
          <a:endParaRPr lang="en-US" sz="1200">
            <a:latin typeface="Arial" panose="020B0604020202020204" pitchFamily="34" charset="0"/>
            <a:cs typeface="Arial" panose="020B0604020202020204" pitchFamily="34" charset="0"/>
          </a:endParaRPr>
        </a:p>
      </dgm:t>
    </dgm:pt>
    <dgm:pt modelId="{6ABA08D6-7445-4275-B2E4-32447D76A9CF}" type="sibTrans" cxnId="{C0A57F47-C2AE-4283-82E9-AA89493857AB}">
      <dgm:prSet/>
      <dgm:spPr/>
      <dgm:t>
        <a:bodyPr/>
        <a:lstStyle/>
        <a:p>
          <a:pPr algn="l"/>
          <a:endParaRPr lang="en-US" sz="1200">
            <a:latin typeface="Arial" panose="020B0604020202020204" pitchFamily="34" charset="0"/>
            <a:cs typeface="Arial" panose="020B0604020202020204" pitchFamily="34" charset="0"/>
          </a:endParaRPr>
        </a:p>
      </dgm:t>
    </dgm:pt>
    <dgm:pt modelId="{39C4B8E8-1FAF-4723-B5D1-C25238B58411}">
      <dgm:prSet custT="1"/>
      <dgm:spPr/>
      <dgm:t>
        <a:bodyPr anchor="ctr"/>
        <a:lstStyle/>
        <a:p>
          <a:pPr algn="l"/>
          <a:r>
            <a:rPr lang="en-US" sz="1200" dirty="0">
              <a:latin typeface="Arial" panose="020B0604020202020204" pitchFamily="34" charset="0"/>
              <a:cs typeface="Arial" panose="020B0604020202020204" pitchFamily="34" charset="0"/>
            </a:rPr>
            <a:t>Update rules, thresholds, and monitoring</a:t>
          </a:r>
        </a:p>
      </dgm:t>
    </dgm:pt>
    <dgm:pt modelId="{59F4CDD3-698C-4E1B-8A56-09734E1227D3}" type="parTrans" cxnId="{AB4D88A5-DCCC-4B48-A054-39025CCFB514}">
      <dgm:prSet/>
      <dgm:spPr/>
      <dgm:t>
        <a:bodyPr/>
        <a:lstStyle/>
        <a:p>
          <a:pPr algn="l"/>
          <a:endParaRPr lang="en-US" sz="1200">
            <a:latin typeface="Arial" panose="020B0604020202020204" pitchFamily="34" charset="0"/>
            <a:cs typeface="Arial" panose="020B0604020202020204" pitchFamily="34" charset="0"/>
          </a:endParaRPr>
        </a:p>
      </dgm:t>
    </dgm:pt>
    <dgm:pt modelId="{BA12CCE6-4750-49F9-B60D-E3AA275337B3}" type="sibTrans" cxnId="{AB4D88A5-DCCC-4B48-A054-39025CCFB514}">
      <dgm:prSet/>
      <dgm:spPr/>
      <dgm:t>
        <a:bodyPr/>
        <a:lstStyle/>
        <a:p>
          <a:pPr algn="l"/>
          <a:endParaRPr lang="en-US" sz="1200">
            <a:latin typeface="Arial" panose="020B0604020202020204" pitchFamily="34" charset="0"/>
            <a:cs typeface="Arial" panose="020B0604020202020204" pitchFamily="34" charset="0"/>
          </a:endParaRPr>
        </a:p>
      </dgm:t>
    </dgm:pt>
    <dgm:pt modelId="{1E650B1E-44F7-490E-ADA6-81E28363F292}">
      <dgm:prSet custT="1"/>
      <dgm:spPr/>
      <dgm:t>
        <a:bodyPr anchor="ctr"/>
        <a:lstStyle/>
        <a:p>
          <a:pPr algn="l"/>
          <a:r>
            <a:rPr lang="en-US" sz="1200" b="1" dirty="0">
              <a:latin typeface="Arial" panose="020B0604020202020204" pitchFamily="34" charset="0"/>
              <a:cs typeface="Arial" panose="020B0604020202020204" pitchFamily="34" charset="0"/>
            </a:rPr>
            <a:t>8. Adaptivity check</a:t>
          </a:r>
        </a:p>
      </dgm:t>
    </dgm:pt>
    <dgm:pt modelId="{1E2F341D-97C5-42D0-ACB4-14F968310C7B}" type="parTrans" cxnId="{8A3185FB-4FDF-42C8-80D2-1DA8A94F91E4}">
      <dgm:prSet/>
      <dgm:spPr/>
      <dgm:t>
        <a:bodyPr/>
        <a:lstStyle/>
        <a:p>
          <a:pPr algn="l"/>
          <a:endParaRPr lang="en-US" sz="1200">
            <a:latin typeface="Arial" panose="020B0604020202020204" pitchFamily="34" charset="0"/>
            <a:cs typeface="Arial" panose="020B0604020202020204" pitchFamily="34" charset="0"/>
          </a:endParaRPr>
        </a:p>
      </dgm:t>
    </dgm:pt>
    <dgm:pt modelId="{98E8F59E-7B18-45BF-A366-2D57E0A5A7C2}" type="sibTrans" cxnId="{8A3185FB-4FDF-42C8-80D2-1DA8A94F91E4}">
      <dgm:prSet/>
      <dgm:spPr/>
      <dgm:t>
        <a:bodyPr/>
        <a:lstStyle/>
        <a:p>
          <a:pPr algn="l"/>
          <a:endParaRPr lang="en-US" sz="1200">
            <a:latin typeface="Arial" panose="020B0604020202020204" pitchFamily="34" charset="0"/>
            <a:cs typeface="Arial" panose="020B0604020202020204" pitchFamily="34" charset="0"/>
          </a:endParaRPr>
        </a:p>
      </dgm:t>
    </dgm:pt>
    <dgm:pt modelId="{FD7A2281-0FCE-4B58-80ED-9FDB552802C6}">
      <dgm:prSet custT="1">
        <dgm:style>
          <a:lnRef idx="2">
            <a:schemeClr val="dk1"/>
          </a:lnRef>
          <a:fillRef idx="1">
            <a:schemeClr val="lt1"/>
          </a:fillRef>
          <a:effectRef idx="0">
            <a:schemeClr val="dk1"/>
          </a:effectRef>
          <a:fontRef idx="minor">
            <a:schemeClr val="dk1"/>
          </a:fontRef>
        </dgm:style>
      </dgm:prSet>
      <dgm:spPr/>
      <dgm:t>
        <a:bodyPr/>
        <a:lstStyle/>
        <a:p>
          <a:pPr algn="l"/>
          <a:r>
            <a:rPr lang="en-US" sz="1200" b="1" dirty="0">
              <a:latin typeface="Arial" panose="020B0604020202020204" pitchFamily="34" charset="0"/>
              <a:cs typeface="Arial" panose="020B0604020202020204" pitchFamily="34" charset="0"/>
            </a:rPr>
            <a:t>9. Conclusion </a:t>
          </a:r>
        </a:p>
      </dgm:t>
    </dgm:pt>
    <dgm:pt modelId="{D0A600D3-B7C2-4AE7-89F5-F337694BB5E6}" type="parTrans" cxnId="{FAF24A03-44EF-4ED3-89C7-015DF6A24D31}">
      <dgm:prSet/>
      <dgm:spPr/>
      <dgm:t>
        <a:bodyPr/>
        <a:lstStyle/>
        <a:p>
          <a:pPr algn="l"/>
          <a:endParaRPr lang="en-US" sz="1200">
            <a:latin typeface="Arial" panose="020B0604020202020204" pitchFamily="34" charset="0"/>
            <a:cs typeface="Arial" panose="020B0604020202020204" pitchFamily="34" charset="0"/>
          </a:endParaRPr>
        </a:p>
      </dgm:t>
    </dgm:pt>
    <dgm:pt modelId="{19705BFD-77A6-4DE1-A10B-A4DD12537116}" type="sibTrans" cxnId="{FAF24A03-44EF-4ED3-89C7-015DF6A24D31}">
      <dgm:prSet/>
      <dgm:spPr/>
      <dgm:t>
        <a:bodyPr/>
        <a:lstStyle/>
        <a:p>
          <a:pPr algn="l"/>
          <a:endParaRPr lang="en-US" sz="1200">
            <a:latin typeface="Arial" panose="020B0604020202020204" pitchFamily="34" charset="0"/>
            <a:cs typeface="Arial" panose="020B0604020202020204" pitchFamily="34" charset="0"/>
          </a:endParaRPr>
        </a:p>
      </dgm:t>
    </dgm:pt>
    <dgm:pt modelId="{CF7DA977-0447-469F-B766-3FB8B4CE81FE}">
      <dgm:prSet custT="1"/>
      <dgm:spPr/>
      <dgm:t>
        <a:bodyPr anchor="ctr"/>
        <a:lstStyle/>
        <a:p>
          <a:pPr algn="l"/>
          <a:r>
            <a:rPr lang="en-US" sz="1200" dirty="0">
              <a:latin typeface="Arial" panose="020B0604020202020204" pitchFamily="34" charset="0"/>
              <a:cs typeface="Arial" panose="020B0604020202020204" pitchFamily="34" charset="0"/>
            </a:rPr>
            <a:t>Model background + scenario "overlays"</a:t>
          </a:r>
        </a:p>
      </dgm:t>
    </dgm:pt>
    <dgm:pt modelId="{088AAC79-44F2-45C9-AA15-608249C185FF}" type="sibTrans" cxnId="{4C57B292-C9C9-451E-ADF5-D3F7D55FFAAE}">
      <dgm:prSet/>
      <dgm:spPr/>
      <dgm:t>
        <a:bodyPr/>
        <a:lstStyle/>
        <a:p>
          <a:pPr algn="l"/>
          <a:endParaRPr lang="en-US" sz="1200">
            <a:latin typeface="Arial" panose="020B0604020202020204" pitchFamily="34" charset="0"/>
            <a:cs typeface="Arial" panose="020B0604020202020204" pitchFamily="34" charset="0"/>
          </a:endParaRPr>
        </a:p>
      </dgm:t>
    </dgm:pt>
    <dgm:pt modelId="{DDFE4168-0150-4B37-89AA-0C93E9C24463}" type="parTrans" cxnId="{4C57B292-C9C9-451E-ADF5-D3F7D55FFAAE}">
      <dgm:prSet/>
      <dgm:spPr/>
      <dgm:t>
        <a:bodyPr/>
        <a:lstStyle/>
        <a:p>
          <a:pPr algn="l"/>
          <a:endParaRPr lang="en-US" sz="1200">
            <a:latin typeface="Arial" panose="020B0604020202020204" pitchFamily="34" charset="0"/>
            <a:cs typeface="Arial" panose="020B0604020202020204" pitchFamily="34" charset="0"/>
          </a:endParaRPr>
        </a:p>
      </dgm:t>
    </dgm:pt>
    <dgm:pt modelId="{74EFE6DB-C441-4F33-A5D8-EE596D39F6AB}">
      <dgm:prSet custT="1"/>
      <dgm:spPr/>
      <dgm:t>
        <a:bodyPr anchor="ctr"/>
        <a:lstStyle/>
        <a:p>
          <a:pPr algn="l"/>
          <a:r>
            <a:rPr lang="en-US" sz="1200" dirty="0">
              <a:latin typeface="Arial" panose="020B0604020202020204" pitchFamily="34" charset="0"/>
              <a:cs typeface="Arial" panose="020B0604020202020204" pitchFamily="34" charset="0"/>
            </a:rPr>
            <a:t>Rule-based simulation by specifications</a:t>
          </a:r>
        </a:p>
      </dgm:t>
    </dgm:pt>
    <dgm:pt modelId="{8FB9B9E0-E7A8-452E-AD71-E807D11DEEBE}" type="sibTrans" cxnId="{90313C94-7F13-46CB-B992-6E9880E4C98C}">
      <dgm:prSet/>
      <dgm:spPr/>
      <dgm:t>
        <a:bodyPr/>
        <a:lstStyle/>
        <a:p>
          <a:pPr algn="l"/>
          <a:endParaRPr lang="en-US" sz="1200">
            <a:latin typeface="Arial" panose="020B0604020202020204" pitchFamily="34" charset="0"/>
            <a:cs typeface="Arial" panose="020B0604020202020204" pitchFamily="34" charset="0"/>
          </a:endParaRPr>
        </a:p>
      </dgm:t>
    </dgm:pt>
    <dgm:pt modelId="{FE11C964-C61B-4047-B479-56873BD9F91B}" type="parTrans" cxnId="{90313C94-7F13-46CB-B992-6E9880E4C98C}">
      <dgm:prSet/>
      <dgm:spPr/>
      <dgm:t>
        <a:bodyPr/>
        <a:lstStyle/>
        <a:p>
          <a:pPr algn="l"/>
          <a:endParaRPr lang="en-US" sz="1200">
            <a:latin typeface="Arial" panose="020B0604020202020204" pitchFamily="34" charset="0"/>
            <a:cs typeface="Arial" panose="020B0604020202020204" pitchFamily="34" charset="0"/>
          </a:endParaRPr>
        </a:p>
      </dgm:t>
    </dgm:pt>
    <dgm:pt modelId="{B678BEFF-F111-4BA3-A6C2-3C77FADFD443}">
      <dgm:prSet custT="1"/>
      <dgm:spPr/>
      <dgm:t>
        <a:bodyPr anchor="ctr"/>
        <a:lstStyle/>
        <a:p>
          <a:pPr algn="l"/>
          <a:r>
            <a:rPr lang="en-US" sz="1200" dirty="0">
              <a:latin typeface="Arial" panose="020B0604020202020204" pitchFamily="34" charset="0"/>
              <a:cs typeface="Arial" panose="020B0604020202020204" pitchFamily="34" charset="0"/>
            </a:rPr>
            <a:t>Sources: FI guidelines and EU directives</a:t>
          </a:r>
        </a:p>
      </dgm:t>
    </dgm:pt>
    <dgm:pt modelId="{F4B0DBEF-0CD2-4746-A51B-1388FBE1F36F}" type="sibTrans" cxnId="{5AD434AE-9527-4496-81E0-49CE91128020}">
      <dgm:prSet/>
      <dgm:spPr/>
      <dgm:t>
        <a:bodyPr/>
        <a:lstStyle/>
        <a:p>
          <a:pPr algn="l"/>
          <a:endParaRPr lang="en-US" sz="1200">
            <a:latin typeface="Arial" panose="020B0604020202020204" pitchFamily="34" charset="0"/>
            <a:cs typeface="Arial" panose="020B0604020202020204" pitchFamily="34" charset="0"/>
          </a:endParaRPr>
        </a:p>
      </dgm:t>
    </dgm:pt>
    <dgm:pt modelId="{C4E2643A-2E35-45B4-A131-E83BCA46C7B1}" type="parTrans" cxnId="{5AD434AE-9527-4496-81E0-49CE91128020}">
      <dgm:prSet/>
      <dgm:spPr/>
      <dgm:t>
        <a:bodyPr/>
        <a:lstStyle/>
        <a:p>
          <a:pPr algn="l"/>
          <a:endParaRPr lang="en-US" sz="1200">
            <a:latin typeface="Arial" panose="020B0604020202020204" pitchFamily="34" charset="0"/>
            <a:cs typeface="Arial" panose="020B0604020202020204" pitchFamily="34" charset="0"/>
          </a:endParaRPr>
        </a:p>
      </dgm:t>
    </dgm:pt>
    <dgm:pt modelId="{204182B1-2493-4AFC-A2B7-8B3AD69EA352}">
      <dgm:prSet custT="1"/>
      <dgm:spPr/>
      <dgm:t>
        <a:bodyPr anchor="ctr"/>
        <a:lstStyle/>
        <a:p>
          <a:pPr algn="l"/>
          <a:r>
            <a:rPr lang="en-US" sz="1200" dirty="0">
              <a:latin typeface="Arial" panose="020B0604020202020204" pitchFamily="34" charset="0"/>
              <a:cs typeface="Arial" panose="020B0604020202020204" pitchFamily="34" charset="0"/>
            </a:rPr>
            <a:t>Grouping by mechanism; scenario parameters</a:t>
          </a:r>
        </a:p>
      </dgm:t>
    </dgm:pt>
    <dgm:pt modelId="{44187131-C94F-4317-8D8D-F0FBFD19C273}" type="sibTrans" cxnId="{D6B56144-3654-47D6-BAB4-CC607DBA63EE}">
      <dgm:prSet/>
      <dgm:spPr/>
      <dgm:t>
        <a:bodyPr/>
        <a:lstStyle/>
        <a:p>
          <a:pPr algn="l"/>
          <a:endParaRPr lang="en-US" sz="1200">
            <a:latin typeface="Arial" panose="020B0604020202020204" pitchFamily="34" charset="0"/>
            <a:cs typeface="Arial" panose="020B0604020202020204" pitchFamily="34" charset="0"/>
          </a:endParaRPr>
        </a:p>
      </dgm:t>
    </dgm:pt>
    <dgm:pt modelId="{B00239DE-6899-4E7B-9AC5-463791A63096}" type="parTrans" cxnId="{D6B56144-3654-47D6-BAB4-CC607DBA63EE}">
      <dgm:prSet/>
      <dgm:spPr/>
      <dgm:t>
        <a:bodyPr/>
        <a:lstStyle/>
        <a:p>
          <a:pPr algn="l"/>
          <a:endParaRPr lang="en-US" sz="1200">
            <a:latin typeface="Arial" panose="020B0604020202020204" pitchFamily="34" charset="0"/>
            <a:cs typeface="Arial" panose="020B0604020202020204" pitchFamily="34" charset="0"/>
          </a:endParaRPr>
        </a:p>
      </dgm:t>
    </dgm:pt>
    <dgm:pt modelId="{ECDAD4CF-F2CA-48DB-A45B-D5BEDA1FD9EF}">
      <dgm:prSet custT="1"/>
      <dgm:spPr/>
      <dgm:t>
        <a:bodyPr anchor="ctr"/>
        <a:lstStyle/>
        <a:p>
          <a:pPr algn="l"/>
          <a:r>
            <a:rPr lang="en-US" sz="1200" b="1" dirty="0">
              <a:latin typeface="Arial" panose="020B0604020202020204" pitchFamily="34" charset="0"/>
              <a:cs typeface="Arial" panose="020B0604020202020204" pitchFamily="34" charset="0"/>
            </a:rPr>
            <a:t>4. Data quality check</a:t>
          </a:r>
        </a:p>
      </dgm:t>
    </dgm:pt>
    <dgm:pt modelId="{44EC2C18-0A5B-479F-A364-F77E82062889}" type="sibTrans" cxnId="{E26381EB-BDD3-402E-9706-A14E6090C3CB}">
      <dgm:prSet/>
      <dgm:spPr/>
      <dgm:t>
        <a:bodyPr/>
        <a:lstStyle/>
        <a:p>
          <a:pPr algn="l"/>
          <a:endParaRPr lang="en-US" sz="1200">
            <a:latin typeface="Arial" panose="020B0604020202020204" pitchFamily="34" charset="0"/>
            <a:cs typeface="Arial" panose="020B0604020202020204" pitchFamily="34" charset="0"/>
          </a:endParaRPr>
        </a:p>
      </dgm:t>
    </dgm:pt>
    <dgm:pt modelId="{961555F5-6CE8-41E3-ADFB-99B165D33158}" type="parTrans" cxnId="{E26381EB-BDD3-402E-9706-A14E6090C3CB}">
      <dgm:prSet/>
      <dgm:spPr/>
      <dgm:t>
        <a:bodyPr/>
        <a:lstStyle/>
        <a:p>
          <a:pPr algn="l"/>
          <a:endParaRPr lang="en-US" sz="1200">
            <a:latin typeface="Arial" panose="020B0604020202020204" pitchFamily="34" charset="0"/>
            <a:cs typeface="Arial" panose="020B0604020202020204" pitchFamily="34" charset="0"/>
          </a:endParaRPr>
        </a:p>
      </dgm:t>
    </dgm:pt>
    <dgm:pt modelId="{F82574E2-9599-4413-8EA2-7DF40893FDC9}">
      <dgm:prSet custT="1"/>
      <dgm:spPr/>
      <dgm:t>
        <a:bodyPr anchor="ctr"/>
        <a:lstStyle/>
        <a:p>
          <a:pPr algn="l"/>
          <a:r>
            <a:rPr lang="en-US" sz="1200" dirty="0">
              <a:latin typeface="Arial" panose="020B0604020202020204" pitchFamily="34" charset="0"/>
              <a:cs typeface="Arial" panose="020B0604020202020204" pitchFamily="34" charset="0"/>
            </a:rPr>
            <a:t>Rule-based validation</a:t>
          </a:r>
        </a:p>
      </dgm:t>
    </dgm:pt>
    <dgm:pt modelId="{F0202F41-56A5-43E1-9BFD-799C5DA45348}" type="sibTrans" cxnId="{A7A953F9-2F2C-4BCC-A44C-6E2D680265A1}">
      <dgm:prSet/>
      <dgm:spPr/>
      <dgm:t>
        <a:bodyPr/>
        <a:lstStyle/>
        <a:p>
          <a:pPr algn="l"/>
          <a:endParaRPr lang="en-US" sz="1200">
            <a:latin typeface="Arial" panose="020B0604020202020204" pitchFamily="34" charset="0"/>
            <a:cs typeface="Arial" panose="020B0604020202020204" pitchFamily="34" charset="0"/>
          </a:endParaRPr>
        </a:p>
      </dgm:t>
    </dgm:pt>
    <dgm:pt modelId="{4FDB6A27-9242-4A5B-9A1F-629949C0CBDE}" type="parTrans" cxnId="{A7A953F9-2F2C-4BCC-A44C-6E2D680265A1}">
      <dgm:prSet/>
      <dgm:spPr/>
      <dgm:t>
        <a:bodyPr/>
        <a:lstStyle/>
        <a:p>
          <a:pPr algn="l"/>
          <a:endParaRPr lang="en-US" sz="1200">
            <a:latin typeface="Arial" panose="020B0604020202020204" pitchFamily="34" charset="0"/>
            <a:cs typeface="Arial" panose="020B0604020202020204" pitchFamily="34" charset="0"/>
          </a:endParaRPr>
        </a:p>
      </dgm:t>
    </dgm:pt>
    <dgm:pt modelId="{17EC738B-F315-4A0F-89FE-6D7703B33122}">
      <dgm:prSet custT="1"/>
      <dgm:spPr/>
      <dgm:t>
        <a:bodyPr anchor="ctr"/>
        <a:lstStyle/>
        <a:p>
          <a:pPr algn="l"/>
          <a:r>
            <a:rPr lang="en-US" sz="1200" dirty="0">
              <a:latin typeface="Arial" panose="020B0604020202020204" pitchFamily="34" charset="0"/>
              <a:cs typeface="Arial" panose="020B0604020202020204" pitchFamily="34" charset="0"/>
            </a:rPr>
            <a:t>Statistical feature profiling</a:t>
          </a:r>
        </a:p>
      </dgm:t>
    </dgm:pt>
    <dgm:pt modelId="{60238D8B-D292-4CB7-B305-B4FA15E559F6}" type="sibTrans" cxnId="{E978951C-3E4E-45E4-A88F-3EC8B78958D9}">
      <dgm:prSet/>
      <dgm:spPr/>
      <dgm:t>
        <a:bodyPr/>
        <a:lstStyle/>
        <a:p>
          <a:pPr algn="l"/>
          <a:endParaRPr lang="en-US" sz="1200">
            <a:latin typeface="Arial" panose="020B0604020202020204" pitchFamily="34" charset="0"/>
            <a:cs typeface="Arial" panose="020B0604020202020204" pitchFamily="34" charset="0"/>
          </a:endParaRPr>
        </a:p>
      </dgm:t>
    </dgm:pt>
    <dgm:pt modelId="{573AEC53-FB47-45DD-9563-1605B2A77B41}" type="parTrans" cxnId="{E978951C-3E4E-45E4-A88F-3EC8B78958D9}">
      <dgm:prSet/>
      <dgm:spPr/>
      <dgm:t>
        <a:bodyPr/>
        <a:lstStyle/>
        <a:p>
          <a:pPr algn="l"/>
          <a:endParaRPr lang="en-US" sz="1200">
            <a:latin typeface="Arial" panose="020B0604020202020204" pitchFamily="34" charset="0"/>
            <a:cs typeface="Arial" panose="020B0604020202020204" pitchFamily="34" charset="0"/>
          </a:endParaRPr>
        </a:p>
      </dgm:t>
    </dgm:pt>
    <dgm:pt modelId="{6B801C84-24E6-42A6-9A3A-9AF9774190FF}">
      <dgm:prSet custT="1"/>
      <dgm:spPr/>
      <dgm:t>
        <a:bodyPr anchor="ctr"/>
        <a:lstStyle/>
        <a:p>
          <a:pPr algn="l"/>
          <a:r>
            <a:rPr lang="en-US" sz="1150" dirty="0">
              <a:latin typeface="Arial" panose="020B0604020202020204" pitchFamily="34" charset="0"/>
              <a:cs typeface="Arial" panose="020B0604020202020204" pitchFamily="34" charset="0"/>
            </a:rPr>
            <a:t>Model and/or rule-based approach</a:t>
          </a:r>
        </a:p>
      </dgm:t>
    </dgm:pt>
    <dgm:pt modelId="{4EA2F36A-620F-40DE-A0E3-01D4A77563A8}" type="sibTrans" cxnId="{D59AC289-DCD4-4E9B-87EE-AF3C388B8C3D}">
      <dgm:prSet/>
      <dgm:spPr/>
      <dgm:t>
        <a:bodyPr/>
        <a:lstStyle/>
        <a:p>
          <a:pPr algn="l"/>
          <a:endParaRPr lang="en-US" sz="1200">
            <a:latin typeface="Arial" panose="020B0604020202020204" pitchFamily="34" charset="0"/>
            <a:cs typeface="Arial" panose="020B0604020202020204" pitchFamily="34" charset="0"/>
          </a:endParaRPr>
        </a:p>
      </dgm:t>
    </dgm:pt>
    <dgm:pt modelId="{3D4CAA40-B026-4631-893C-7FE1746B2311}" type="parTrans" cxnId="{D59AC289-DCD4-4E9B-87EE-AF3C388B8C3D}">
      <dgm:prSet/>
      <dgm:spPr/>
      <dgm:t>
        <a:bodyPr/>
        <a:lstStyle/>
        <a:p>
          <a:pPr algn="l"/>
          <a:endParaRPr lang="en-US" sz="1200">
            <a:latin typeface="Arial" panose="020B0604020202020204" pitchFamily="34" charset="0"/>
            <a:cs typeface="Arial" panose="020B0604020202020204" pitchFamily="34" charset="0"/>
          </a:endParaRPr>
        </a:p>
      </dgm:t>
    </dgm:pt>
    <dgm:pt modelId="{E6DCB418-19D9-4BB3-93C2-DF3C54487D88}">
      <dgm:prSet custT="1"/>
      <dgm:spPr/>
      <dgm:t>
        <a:bodyPr anchor="ctr"/>
        <a:lstStyle/>
        <a:p>
          <a:pPr algn="l"/>
          <a:r>
            <a:rPr lang="en-US" sz="1150" dirty="0">
              <a:latin typeface="Arial" panose="020B0604020202020204" pitchFamily="34" charset="0"/>
              <a:cs typeface="Arial" panose="020B0604020202020204" pitchFamily="34" charset="0"/>
            </a:rPr>
            <a:t>Limitation: up to &lt;</a:t>
          </a:r>
          <a:r>
            <a:rPr lang="ru-RU" sz="1150" dirty="0">
              <a:latin typeface="Arial" panose="020B0604020202020204" pitchFamily="34" charset="0"/>
              <a:cs typeface="Arial" panose="020B0604020202020204" pitchFamily="34" charset="0"/>
            </a:rPr>
            <a:t>500</a:t>
          </a:r>
          <a:r>
            <a:rPr lang="en-US" sz="1150" dirty="0">
              <a:latin typeface="Arial" panose="020B0604020202020204" pitchFamily="34" charset="0"/>
              <a:cs typeface="Arial" panose="020B0604020202020204" pitchFamily="34" charset="0"/>
            </a:rPr>
            <a:t> real rows</a:t>
          </a:r>
        </a:p>
      </dgm:t>
    </dgm:pt>
    <dgm:pt modelId="{F78AB0A8-0531-4EAE-96D2-231A5D67D436}" type="sibTrans" cxnId="{E0958A7C-A05E-4C54-94C8-625847AD67E1}">
      <dgm:prSet/>
      <dgm:spPr/>
      <dgm:t>
        <a:bodyPr/>
        <a:lstStyle/>
        <a:p>
          <a:pPr algn="l"/>
          <a:endParaRPr lang="en-US" sz="1200">
            <a:latin typeface="Arial" panose="020B0604020202020204" pitchFamily="34" charset="0"/>
            <a:cs typeface="Arial" panose="020B0604020202020204" pitchFamily="34" charset="0"/>
          </a:endParaRPr>
        </a:p>
      </dgm:t>
    </dgm:pt>
    <dgm:pt modelId="{6E0D232A-153B-468E-A81C-DCA31F0859F9}" type="parTrans" cxnId="{E0958A7C-A05E-4C54-94C8-625847AD67E1}">
      <dgm:prSet/>
      <dgm:spPr/>
      <dgm:t>
        <a:bodyPr/>
        <a:lstStyle/>
        <a:p>
          <a:pPr algn="l"/>
          <a:endParaRPr lang="en-US" sz="1200">
            <a:latin typeface="Arial" panose="020B0604020202020204" pitchFamily="34" charset="0"/>
            <a:cs typeface="Arial" panose="020B0604020202020204" pitchFamily="34" charset="0"/>
          </a:endParaRPr>
        </a:p>
      </dgm:t>
    </dgm:pt>
    <dgm:pt modelId="{6DAA58C2-6B15-465B-9EE4-C20F06560D9E}">
      <dgm:prSet custT="1"/>
      <dgm:spPr/>
      <dgm:t>
        <a:bodyPr anchor="ctr"/>
        <a:lstStyle/>
        <a:p>
          <a:pPr algn="l"/>
          <a:r>
            <a:rPr lang="en-US" sz="1150" dirty="0">
              <a:latin typeface="Arial" panose="020B0604020202020204" pitchFamily="34" charset="0"/>
              <a:cs typeface="Arial" panose="020B0604020202020204" pitchFamily="34" charset="0"/>
            </a:rPr>
            <a:t>Requirements: adaptable and updatable scenarios</a:t>
          </a:r>
        </a:p>
      </dgm:t>
    </dgm:pt>
    <dgm:pt modelId="{B7863C17-ABF7-47B9-8FD5-DDA739D142A1}" type="sibTrans" cxnId="{1247219C-4824-488D-AC3D-A788FEA52A8C}">
      <dgm:prSet/>
      <dgm:spPr/>
      <dgm:t>
        <a:bodyPr/>
        <a:lstStyle/>
        <a:p>
          <a:pPr algn="l"/>
          <a:endParaRPr lang="en-US" sz="1200">
            <a:latin typeface="Arial" panose="020B0604020202020204" pitchFamily="34" charset="0"/>
            <a:cs typeface="Arial" panose="020B0604020202020204" pitchFamily="34" charset="0"/>
          </a:endParaRPr>
        </a:p>
      </dgm:t>
    </dgm:pt>
    <dgm:pt modelId="{E44F1AEC-8B25-4534-A20B-ADA1494B0DDC}" type="parTrans" cxnId="{1247219C-4824-488D-AC3D-A788FEA52A8C}">
      <dgm:prSet/>
      <dgm:spPr/>
      <dgm:t>
        <a:bodyPr/>
        <a:lstStyle/>
        <a:p>
          <a:pPr algn="l"/>
          <a:endParaRPr lang="en-US" sz="1200">
            <a:latin typeface="Arial" panose="020B0604020202020204" pitchFamily="34" charset="0"/>
            <a:cs typeface="Arial" panose="020B0604020202020204" pitchFamily="34" charset="0"/>
          </a:endParaRPr>
        </a:p>
      </dgm:t>
    </dgm:pt>
    <dgm:pt modelId="{94480DF4-D1E2-4D2F-BBE5-1F0F966E7B4F}">
      <dgm:prSet custT="1"/>
      <dgm:spPr/>
      <dgm:t>
        <a:bodyPr anchor="ctr"/>
        <a:lstStyle/>
        <a:p>
          <a:pPr algn="l"/>
          <a:r>
            <a:rPr lang="en-US" sz="1200" b="0" dirty="0">
              <a:latin typeface="Arial" panose="020B0604020202020204" pitchFamily="34" charset="0"/>
              <a:cs typeface="Arial" panose="020B0604020202020204" pitchFamily="34" charset="0"/>
            </a:rPr>
            <a:t>Data Packages</a:t>
          </a:r>
        </a:p>
      </dgm:t>
    </dgm:pt>
    <dgm:pt modelId="{150407DB-A393-4DAF-9936-15B76DA02166}" type="parTrans" cxnId="{F6791FCB-EFE6-4C55-B172-1EC33EE745FF}">
      <dgm:prSet/>
      <dgm:spPr/>
      <dgm:t>
        <a:bodyPr/>
        <a:lstStyle/>
        <a:p>
          <a:endParaRPr lang="en-US"/>
        </a:p>
      </dgm:t>
    </dgm:pt>
    <dgm:pt modelId="{02E70A16-5598-4795-90A6-509473105ACC}" type="sibTrans" cxnId="{F6791FCB-EFE6-4C55-B172-1EC33EE745FF}">
      <dgm:prSet/>
      <dgm:spPr/>
      <dgm:t>
        <a:bodyPr/>
        <a:lstStyle/>
        <a:p>
          <a:endParaRPr lang="en-US"/>
        </a:p>
      </dgm:t>
    </dgm:pt>
    <dgm:pt modelId="{0C526C35-7FB0-41CD-9340-CE5B4DF99F94}">
      <dgm:prSet custT="1"/>
      <dgm:spPr/>
      <dgm:t>
        <a:bodyPr anchor="ctr"/>
        <a:lstStyle/>
        <a:p>
          <a:pPr algn="l"/>
          <a:r>
            <a:rPr lang="en-US" sz="1200" b="0" dirty="0">
              <a:latin typeface="Arial" panose="020B0604020202020204" pitchFamily="34" charset="0"/>
              <a:cs typeface="Arial" panose="020B0604020202020204" pitchFamily="34" charset="0"/>
            </a:rPr>
            <a:t>Evolving Scenarios</a:t>
          </a:r>
        </a:p>
      </dgm:t>
    </dgm:pt>
    <dgm:pt modelId="{D74C9617-E952-4FF8-967E-7D4FBEE55904}" type="parTrans" cxnId="{629305F9-F9F2-4FB9-9443-691237DCDC46}">
      <dgm:prSet/>
      <dgm:spPr/>
    </dgm:pt>
    <dgm:pt modelId="{E71FBB39-124B-42FA-82BA-EFC95767CFB7}" type="sibTrans" cxnId="{629305F9-F9F2-4FB9-9443-691237DCDC46}">
      <dgm:prSet/>
      <dgm:spPr/>
    </dgm:pt>
    <dgm:pt modelId="{3AFF1B0B-DD43-4D3B-980C-698034FAE8A7}" type="pres">
      <dgm:prSet presAssocID="{7A2CCD63-4BAC-4814-8C9E-183B3E945C34}" presName="Name0" presStyleCnt="0">
        <dgm:presLayoutVars>
          <dgm:dir/>
          <dgm:resizeHandles val="exact"/>
        </dgm:presLayoutVars>
      </dgm:prSet>
      <dgm:spPr/>
    </dgm:pt>
    <dgm:pt modelId="{722712FB-60DA-40BB-A4E9-3ABEB7401E7B}" type="pres">
      <dgm:prSet presAssocID="{A300C341-6D7F-4EE1-9A83-B5FCEC9625DF}" presName="node" presStyleLbl="node1" presStyleIdx="0" presStyleCnt="9">
        <dgm:presLayoutVars>
          <dgm:bulletEnabled val="1"/>
        </dgm:presLayoutVars>
      </dgm:prSet>
      <dgm:spPr/>
    </dgm:pt>
    <dgm:pt modelId="{63AF3522-AD90-4C40-9FBE-8A3F83545637}" type="pres">
      <dgm:prSet presAssocID="{C7150A40-D0A5-4EAD-9CC7-AF82A4C2D2A9}" presName="sibTrans" presStyleLbl="sibTrans1D1" presStyleIdx="0" presStyleCnt="8"/>
      <dgm:spPr/>
    </dgm:pt>
    <dgm:pt modelId="{D447D4F3-0868-4165-9472-0EA35CAC4F98}" type="pres">
      <dgm:prSet presAssocID="{C7150A40-D0A5-4EAD-9CC7-AF82A4C2D2A9}" presName="connectorText" presStyleLbl="sibTrans1D1" presStyleIdx="0" presStyleCnt="8"/>
      <dgm:spPr/>
    </dgm:pt>
    <dgm:pt modelId="{D51DFA4C-2BCD-4610-85FB-5CC136B9FC4E}" type="pres">
      <dgm:prSet presAssocID="{D5BD9C04-0EB5-44CF-8B2B-FD351CA1C719}" presName="node" presStyleLbl="node1" presStyleIdx="1" presStyleCnt="9">
        <dgm:presLayoutVars>
          <dgm:bulletEnabled val="1"/>
        </dgm:presLayoutVars>
      </dgm:prSet>
      <dgm:spPr/>
    </dgm:pt>
    <dgm:pt modelId="{E15A2C33-F328-4559-8701-025E1676208B}" type="pres">
      <dgm:prSet presAssocID="{7CF6241E-67B5-4B87-A6AA-3A259E4C6258}" presName="sibTrans" presStyleLbl="sibTrans1D1" presStyleIdx="1" presStyleCnt="8"/>
      <dgm:spPr/>
    </dgm:pt>
    <dgm:pt modelId="{576F685B-BB62-4234-BFB9-0710E5E67DE3}" type="pres">
      <dgm:prSet presAssocID="{7CF6241E-67B5-4B87-A6AA-3A259E4C6258}" presName="connectorText" presStyleLbl="sibTrans1D1" presStyleIdx="1" presStyleCnt="8"/>
      <dgm:spPr/>
    </dgm:pt>
    <dgm:pt modelId="{D0C3CFD9-0FFB-47F2-9573-176E18B48D7F}" type="pres">
      <dgm:prSet presAssocID="{45F0C061-5AFE-41E1-9705-76E848DAD045}" presName="node" presStyleLbl="node1" presStyleIdx="2" presStyleCnt="9">
        <dgm:presLayoutVars>
          <dgm:bulletEnabled val="1"/>
        </dgm:presLayoutVars>
      </dgm:prSet>
      <dgm:spPr/>
    </dgm:pt>
    <dgm:pt modelId="{5DDAF176-8072-451E-88E7-D9D537DC06ED}" type="pres">
      <dgm:prSet presAssocID="{8801628C-A0A5-4B4B-9682-976186FFA8F2}" presName="sibTrans" presStyleLbl="sibTrans1D1" presStyleIdx="2" presStyleCnt="8"/>
      <dgm:spPr/>
    </dgm:pt>
    <dgm:pt modelId="{7B7EAC92-447C-4746-9649-5EF518076CEF}" type="pres">
      <dgm:prSet presAssocID="{8801628C-A0A5-4B4B-9682-976186FFA8F2}" presName="connectorText" presStyleLbl="sibTrans1D1" presStyleIdx="2" presStyleCnt="8"/>
      <dgm:spPr/>
    </dgm:pt>
    <dgm:pt modelId="{11142FBB-1257-4F45-A790-C4CE41EE3D98}" type="pres">
      <dgm:prSet presAssocID="{ECDAD4CF-F2CA-48DB-A45B-D5BEDA1FD9EF}" presName="node" presStyleLbl="node1" presStyleIdx="3" presStyleCnt="9">
        <dgm:presLayoutVars>
          <dgm:bulletEnabled val="1"/>
        </dgm:presLayoutVars>
      </dgm:prSet>
      <dgm:spPr/>
    </dgm:pt>
    <dgm:pt modelId="{76AA6E31-AEE2-4862-BE31-26BF3856A784}" type="pres">
      <dgm:prSet presAssocID="{44EC2C18-0A5B-479F-A364-F77E82062889}" presName="sibTrans" presStyleLbl="sibTrans1D1" presStyleIdx="3" presStyleCnt="8"/>
      <dgm:spPr/>
    </dgm:pt>
    <dgm:pt modelId="{6AC09BB1-ECDF-48CA-8A03-F1D14D958988}" type="pres">
      <dgm:prSet presAssocID="{44EC2C18-0A5B-479F-A364-F77E82062889}" presName="connectorText" presStyleLbl="sibTrans1D1" presStyleIdx="3" presStyleCnt="8"/>
      <dgm:spPr/>
    </dgm:pt>
    <dgm:pt modelId="{15314814-EEF0-4781-A00E-6CF29482228D}" type="pres">
      <dgm:prSet presAssocID="{01C8452F-B675-494F-A8C0-13012232AE5C}" presName="node" presStyleLbl="node1" presStyleIdx="4" presStyleCnt="9">
        <dgm:presLayoutVars>
          <dgm:bulletEnabled val="1"/>
        </dgm:presLayoutVars>
      </dgm:prSet>
      <dgm:spPr/>
    </dgm:pt>
    <dgm:pt modelId="{F0DBD63C-1B17-4059-B649-656F3681DD87}" type="pres">
      <dgm:prSet presAssocID="{5D819E6C-73FD-41FA-AE04-FE056785328B}" presName="sibTrans" presStyleLbl="sibTrans1D1" presStyleIdx="4" presStyleCnt="8"/>
      <dgm:spPr/>
    </dgm:pt>
    <dgm:pt modelId="{0F4E4C54-69D9-4821-AE22-DB3E94D13207}" type="pres">
      <dgm:prSet presAssocID="{5D819E6C-73FD-41FA-AE04-FE056785328B}" presName="connectorText" presStyleLbl="sibTrans1D1" presStyleIdx="4" presStyleCnt="8"/>
      <dgm:spPr/>
    </dgm:pt>
    <dgm:pt modelId="{88C4BB30-992D-4CF3-984B-407B564238ED}" type="pres">
      <dgm:prSet presAssocID="{D3C984F4-9A11-4513-825D-F26E65C086C2}" presName="node" presStyleLbl="node1" presStyleIdx="5" presStyleCnt="9">
        <dgm:presLayoutVars>
          <dgm:bulletEnabled val="1"/>
        </dgm:presLayoutVars>
      </dgm:prSet>
      <dgm:spPr/>
    </dgm:pt>
    <dgm:pt modelId="{0D28249B-3705-4FA5-B13C-06A14FA1B280}" type="pres">
      <dgm:prSet presAssocID="{267EC809-C2E3-4E4D-8A37-6E696A3CEEA6}" presName="sibTrans" presStyleLbl="sibTrans1D1" presStyleIdx="5" presStyleCnt="8"/>
      <dgm:spPr/>
    </dgm:pt>
    <dgm:pt modelId="{58BD68DE-53FC-4283-BFA2-D7A5326E38BD}" type="pres">
      <dgm:prSet presAssocID="{267EC809-C2E3-4E4D-8A37-6E696A3CEEA6}" presName="connectorText" presStyleLbl="sibTrans1D1" presStyleIdx="5" presStyleCnt="8"/>
      <dgm:spPr/>
    </dgm:pt>
    <dgm:pt modelId="{28E4E868-22FB-4993-919C-8C23DB70CB7C}" type="pres">
      <dgm:prSet presAssocID="{C444AB5D-4417-4AB6-BDD9-462C7169BC83}" presName="node" presStyleLbl="node1" presStyleIdx="6" presStyleCnt="9">
        <dgm:presLayoutVars>
          <dgm:bulletEnabled val="1"/>
        </dgm:presLayoutVars>
      </dgm:prSet>
      <dgm:spPr/>
    </dgm:pt>
    <dgm:pt modelId="{B5A542A1-5B2B-4B8F-8D9F-D98091B785FA}" type="pres">
      <dgm:prSet presAssocID="{8FED7EE2-A99C-430A-A419-DBF79FD27512}" presName="sibTrans" presStyleLbl="sibTrans1D1" presStyleIdx="6" presStyleCnt="8"/>
      <dgm:spPr/>
    </dgm:pt>
    <dgm:pt modelId="{269BDF6D-B610-4E9E-ADB3-B9C4DFB27302}" type="pres">
      <dgm:prSet presAssocID="{8FED7EE2-A99C-430A-A419-DBF79FD27512}" presName="connectorText" presStyleLbl="sibTrans1D1" presStyleIdx="6" presStyleCnt="8"/>
      <dgm:spPr/>
    </dgm:pt>
    <dgm:pt modelId="{92049225-0B2A-4926-86AA-38F693276756}" type="pres">
      <dgm:prSet presAssocID="{1E650B1E-44F7-490E-ADA6-81E28363F292}" presName="node" presStyleLbl="node1" presStyleIdx="7" presStyleCnt="9">
        <dgm:presLayoutVars>
          <dgm:bulletEnabled val="1"/>
        </dgm:presLayoutVars>
      </dgm:prSet>
      <dgm:spPr/>
    </dgm:pt>
    <dgm:pt modelId="{628A3229-4CFA-42DB-B38C-C3FE99FDFE54}" type="pres">
      <dgm:prSet presAssocID="{98E8F59E-7B18-45BF-A366-2D57E0A5A7C2}" presName="sibTrans" presStyleLbl="sibTrans1D1" presStyleIdx="7" presStyleCnt="8"/>
      <dgm:spPr/>
    </dgm:pt>
    <dgm:pt modelId="{DF0547DA-633D-47C1-9AF6-80C04AAA97B1}" type="pres">
      <dgm:prSet presAssocID="{98E8F59E-7B18-45BF-A366-2D57E0A5A7C2}" presName="connectorText" presStyleLbl="sibTrans1D1" presStyleIdx="7" presStyleCnt="8"/>
      <dgm:spPr/>
    </dgm:pt>
    <dgm:pt modelId="{12C1549C-FB6E-401C-960D-1F848C8DC2C1}" type="pres">
      <dgm:prSet presAssocID="{FD7A2281-0FCE-4B58-80ED-9FDB552802C6}" presName="node" presStyleLbl="node1" presStyleIdx="8" presStyleCnt="9">
        <dgm:presLayoutVars>
          <dgm:bulletEnabled val="1"/>
        </dgm:presLayoutVars>
      </dgm:prSet>
      <dgm:spPr/>
    </dgm:pt>
  </dgm:ptLst>
  <dgm:cxnLst>
    <dgm:cxn modelId="{97607302-90E7-4B86-9D94-4C977AD66FDE}" type="presOf" srcId="{01C8452F-B675-494F-A8C0-13012232AE5C}" destId="{15314814-EEF0-4781-A00E-6CF29482228D}" srcOrd="0" destOrd="0" presId="urn:microsoft.com/office/officeart/2005/8/layout/bProcess3"/>
    <dgm:cxn modelId="{FAF24A03-44EF-4ED3-89C7-015DF6A24D31}" srcId="{7A2CCD63-4BAC-4814-8C9E-183B3E945C34}" destId="{FD7A2281-0FCE-4B58-80ED-9FDB552802C6}" srcOrd="8" destOrd="0" parTransId="{D0A600D3-B7C2-4AE7-89F5-F337694BB5E6}" sibTransId="{19705BFD-77A6-4DE1-A10B-A4DD12537116}"/>
    <dgm:cxn modelId="{67869006-5472-473A-B3B6-14AF91B7E48D}" srcId="{49984DCD-54F7-4725-8F7A-8E05BBBDF231}" destId="{EC62AF04-BB7F-42AB-B1F3-4ACE907B758A}" srcOrd="1" destOrd="0" parTransId="{26EA1CCC-2292-443B-A5DA-22AA73CBFF08}" sibTransId="{9BA133C7-4C01-4EA0-B9A0-92820A84F6DC}"/>
    <dgm:cxn modelId="{BEE48A0D-9872-4D0E-A608-04D97962A8C3}" srcId="{01C8452F-B675-494F-A8C0-13012232AE5C}" destId="{49984DCD-54F7-4725-8F7A-8E05BBBDF231}" srcOrd="0" destOrd="0" parTransId="{407D30A6-D446-428B-AD2B-9775201B84B9}" sibTransId="{41D583CF-2FD9-4CC4-8139-8BE04D9F6911}"/>
    <dgm:cxn modelId="{1B57A40D-0731-4959-945F-2C37F220B02C}" type="presOf" srcId="{267EC809-C2E3-4E4D-8A37-6E696A3CEEA6}" destId="{58BD68DE-53FC-4283-BFA2-D7A5326E38BD}" srcOrd="1" destOrd="0" presId="urn:microsoft.com/office/officeart/2005/8/layout/bProcess3"/>
    <dgm:cxn modelId="{131DB50F-949F-4562-979E-83E1AC484F9C}" type="presOf" srcId="{8801628C-A0A5-4B4B-9682-976186FFA8F2}" destId="{7B7EAC92-447C-4746-9649-5EF518076CEF}" srcOrd="1" destOrd="0" presId="urn:microsoft.com/office/officeart/2005/8/layout/bProcess3"/>
    <dgm:cxn modelId="{8400E60F-11EB-49A7-B05A-EFB49E02D45B}" type="presOf" srcId="{267EC809-C2E3-4E4D-8A37-6E696A3CEEA6}" destId="{0D28249B-3705-4FA5-B13C-06A14FA1B280}" srcOrd="0" destOrd="0" presId="urn:microsoft.com/office/officeart/2005/8/layout/bProcess3"/>
    <dgm:cxn modelId="{B5382713-1A0C-4F03-ADE2-216AE0EF4A29}" srcId="{7A2CCD63-4BAC-4814-8C9E-183B3E945C34}" destId="{D5BD9C04-0EB5-44CF-8B2B-FD351CA1C719}" srcOrd="1" destOrd="0" parTransId="{74FF1C83-8D83-4156-9D3E-A3E2E8496C89}" sibTransId="{7CF6241E-67B5-4B87-A6AA-3A259E4C6258}"/>
    <dgm:cxn modelId="{DC549519-2606-4451-B198-7F018246ECF3}" srcId="{7A2CCD63-4BAC-4814-8C9E-183B3E945C34}" destId="{D3C984F4-9A11-4513-825D-F26E65C086C2}" srcOrd="5" destOrd="0" parTransId="{B9F91910-3154-49CB-B4CA-B7EEB9AD4A88}" sibTransId="{267EC809-C2E3-4E4D-8A37-6E696A3CEEA6}"/>
    <dgm:cxn modelId="{1BC5D61B-2267-40F7-80F9-95F4EC8EED03}" srcId="{7A2CCD63-4BAC-4814-8C9E-183B3E945C34}" destId="{45F0C061-5AFE-41E1-9705-76E848DAD045}" srcOrd="2" destOrd="0" parTransId="{374CA495-1B27-454F-A510-5AD674526A7E}" sibTransId="{8801628C-A0A5-4B4B-9682-976186FFA8F2}"/>
    <dgm:cxn modelId="{E978951C-3E4E-45E4-A88F-3EC8B78958D9}" srcId="{ECDAD4CF-F2CA-48DB-A45B-D5BEDA1FD9EF}" destId="{17EC738B-F315-4A0F-89FE-6D7703B33122}" srcOrd="1" destOrd="0" parTransId="{573AEC53-FB47-45DD-9563-1605B2A77B41}" sibTransId="{60238D8B-D292-4CB7-B305-B4FA15E559F6}"/>
    <dgm:cxn modelId="{876A411F-EAC8-438B-9352-EEC260C02AAE}" type="presOf" srcId="{980E0362-9D0C-4BD1-BD1A-43330FD5187B}" destId="{28E4E868-22FB-4993-919C-8C23DB70CB7C}" srcOrd="0" destOrd="1" presId="urn:microsoft.com/office/officeart/2005/8/layout/bProcess3"/>
    <dgm:cxn modelId="{51AF0526-CE07-4385-A0B1-001DDBC39434}" type="presOf" srcId="{0C526C35-7FB0-41CD-9340-CE5B4DF99F94}" destId="{92049225-0B2A-4926-86AA-38F693276756}" srcOrd="0" destOrd="2" presId="urn:microsoft.com/office/officeart/2005/8/layout/bProcess3"/>
    <dgm:cxn modelId="{85AD0229-8C04-4132-82E2-3C87D4643EDC}" type="presOf" srcId="{8FED7EE2-A99C-430A-A419-DBF79FD27512}" destId="{269BDF6D-B610-4E9E-ADB3-B9C4DFB27302}" srcOrd="1" destOrd="0" presId="urn:microsoft.com/office/officeart/2005/8/layout/bProcess3"/>
    <dgm:cxn modelId="{BA7D152B-6865-4146-9FE5-6A99EBD1E158}" type="presOf" srcId="{C7150A40-D0A5-4EAD-9CC7-AF82A4C2D2A9}" destId="{D447D4F3-0868-4165-9472-0EA35CAC4F98}" srcOrd="1" destOrd="0" presId="urn:microsoft.com/office/officeart/2005/8/layout/bProcess3"/>
    <dgm:cxn modelId="{7BC5A02B-B767-46AF-AA34-FD1A06B16F0E}" srcId="{49984DCD-54F7-4725-8F7A-8E05BBBDF231}" destId="{33CCB47D-3E19-4A91-BB84-1C5129BDC816}" srcOrd="0" destOrd="0" parTransId="{8028875E-FBDC-40F6-95BE-6EB1A6EF6BC6}" sibTransId="{8420C226-C616-4C58-92A4-ADCC064857D5}"/>
    <dgm:cxn modelId="{88BA2C2C-7E4E-4ADB-9300-C75DFED4AC87}" type="presOf" srcId="{6DAA58C2-6B15-465B-9EE4-C20F06560D9E}" destId="{722712FB-60DA-40BB-A4E9-3ABEB7401E7B}" srcOrd="0" destOrd="3" presId="urn:microsoft.com/office/officeart/2005/8/layout/bProcess3"/>
    <dgm:cxn modelId="{41EA782D-D45B-4BC0-8CE7-D806E92E7830}" type="presOf" srcId="{5D819E6C-73FD-41FA-AE04-FE056785328B}" destId="{0F4E4C54-69D9-4821-AE22-DB3E94D13207}" srcOrd="1" destOrd="0" presId="urn:microsoft.com/office/officeart/2005/8/layout/bProcess3"/>
    <dgm:cxn modelId="{F7A5FC2E-3A3F-425A-AFF7-3EEEE027CCA1}" type="presOf" srcId="{FD7A2281-0FCE-4B58-80ED-9FDB552802C6}" destId="{12C1549C-FB6E-401C-960D-1F848C8DC2C1}" srcOrd="0" destOrd="0" presId="urn:microsoft.com/office/officeart/2005/8/layout/bProcess3"/>
    <dgm:cxn modelId="{DD4BD530-D868-4956-9748-176962F26BAA}" type="presOf" srcId="{7CF6241E-67B5-4B87-A6AA-3A259E4C6258}" destId="{E15A2C33-F328-4559-8701-025E1676208B}" srcOrd="0" destOrd="0" presId="urn:microsoft.com/office/officeart/2005/8/layout/bProcess3"/>
    <dgm:cxn modelId="{00E01936-7B67-4887-84D2-D8AFD1B95AB1}" srcId="{7A2CCD63-4BAC-4814-8C9E-183B3E945C34}" destId="{01C8452F-B675-494F-A8C0-13012232AE5C}" srcOrd="4" destOrd="0" parTransId="{4ED301E1-1FD7-49AC-BFF9-6D2B0DB4CCC6}" sibTransId="{5D819E6C-73FD-41FA-AE04-FE056785328B}"/>
    <dgm:cxn modelId="{950DCA60-85A3-4E04-AD45-74464C5047B9}" type="presOf" srcId="{A300C341-6D7F-4EE1-9A83-B5FCEC9625DF}" destId="{722712FB-60DA-40BB-A4E9-3ABEB7401E7B}" srcOrd="0" destOrd="0" presId="urn:microsoft.com/office/officeart/2005/8/layout/bProcess3"/>
    <dgm:cxn modelId="{D6B56144-3654-47D6-BAB4-CC607DBA63EE}" srcId="{D5BD9C04-0EB5-44CF-8B2B-FD351CA1C719}" destId="{204182B1-2493-4AFC-A2B7-8B3AD69EA352}" srcOrd="1" destOrd="0" parTransId="{B00239DE-6899-4E7B-9AC5-463791A63096}" sibTransId="{44187131-C94F-4317-8D8D-F0FBFD19C273}"/>
    <dgm:cxn modelId="{3DA05046-855C-4EB9-9F92-10ACE62D4229}" type="presOf" srcId="{98E8F59E-7B18-45BF-A366-2D57E0A5A7C2}" destId="{628A3229-4CFA-42DB-B38C-C3FE99FDFE54}" srcOrd="0" destOrd="0" presId="urn:microsoft.com/office/officeart/2005/8/layout/bProcess3"/>
    <dgm:cxn modelId="{5F8DAF66-EC22-4DC3-BFBF-FA65184563DA}" type="presOf" srcId="{D5BD9C04-0EB5-44CF-8B2B-FD351CA1C719}" destId="{D51DFA4C-2BCD-4610-85FB-5CC136B9FC4E}" srcOrd="0" destOrd="0" presId="urn:microsoft.com/office/officeart/2005/8/layout/bProcess3"/>
    <dgm:cxn modelId="{C0A57F47-C2AE-4283-82E9-AA89493857AB}" srcId="{C444AB5D-4417-4AB6-BDD9-462C7169BC83}" destId="{980E0362-9D0C-4BD1-BD1A-43330FD5187B}" srcOrd="0" destOrd="0" parTransId="{AC367A3E-CA24-4D2B-9F70-5EE610318893}" sibTransId="{6ABA08D6-7445-4275-B2E4-32447D76A9CF}"/>
    <dgm:cxn modelId="{28949347-5EAB-4095-82AF-B38863371F2E}" type="presOf" srcId="{39C4B8E8-1FAF-4723-B5D1-C25238B58411}" destId="{28E4E868-22FB-4993-919C-8C23DB70CB7C}" srcOrd="0" destOrd="2" presId="urn:microsoft.com/office/officeart/2005/8/layout/bProcess3"/>
    <dgm:cxn modelId="{48F43D48-6761-41BA-B0C1-369C049A992A}" type="presOf" srcId="{7CF6241E-67B5-4B87-A6AA-3A259E4C6258}" destId="{576F685B-BB62-4234-BFB9-0710E5E67DE3}" srcOrd="1" destOrd="0" presId="urn:microsoft.com/office/officeart/2005/8/layout/bProcess3"/>
    <dgm:cxn modelId="{1D119968-8F9C-4384-85E5-9DE1A66AB9A6}" type="presOf" srcId="{8A14E80F-2ABF-4B99-97BD-B03ED6A5FE4E}" destId="{88C4BB30-992D-4CF3-984B-407B564238ED}" srcOrd="0" destOrd="1" presId="urn:microsoft.com/office/officeart/2005/8/layout/bProcess3"/>
    <dgm:cxn modelId="{CC575270-DCC7-423D-BA0E-46FEB9BF5663}" type="presOf" srcId="{F82574E2-9599-4413-8EA2-7DF40893FDC9}" destId="{11142FBB-1257-4F45-A790-C4CE41EE3D98}" srcOrd="0" destOrd="1" presId="urn:microsoft.com/office/officeart/2005/8/layout/bProcess3"/>
    <dgm:cxn modelId="{671B1F52-BD53-469F-97CA-839D1A6B0ADE}" type="presOf" srcId="{204182B1-2493-4AFC-A2B7-8B3AD69EA352}" destId="{D51DFA4C-2BCD-4610-85FB-5CC136B9FC4E}" srcOrd="0" destOrd="2" presId="urn:microsoft.com/office/officeart/2005/8/layout/bProcess3"/>
    <dgm:cxn modelId="{DD97A773-CA7B-4AAC-8F45-80EA24070CFB}" type="presOf" srcId="{5D819E6C-73FD-41FA-AE04-FE056785328B}" destId="{F0DBD63C-1B17-4059-B649-656F3681DD87}" srcOrd="0" destOrd="0" presId="urn:microsoft.com/office/officeart/2005/8/layout/bProcess3"/>
    <dgm:cxn modelId="{43608A56-A252-4B80-8B3E-6780830BD7E0}" srcId="{7A2CCD63-4BAC-4814-8C9E-183B3E945C34}" destId="{A300C341-6D7F-4EE1-9A83-B5FCEC9625DF}" srcOrd="0" destOrd="0" parTransId="{EF3EB9B1-205C-4C63-B032-5FB0230A9C0E}" sibTransId="{C7150A40-D0A5-4EAD-9CC7-AF82A4C2D2A9}"/>
    <dgm:cxn modelId="{72453B77-6403-4A78-95CD-397E2FCDA953}" type="presOf" srcId="{1426D504-3A21-41C1-997A-E5F8468E79B4}" destId="{88C4BB30-992D-4CF3-984B-407B564238ED}" srcOrd="0" destOrd="2" presId="urn:microsoft.com/office/officeart/2005/8/layout/bProcess3"/>
    <dgm:cxn modelId="{E2607D58-34E0-4B2F-B4F8-3967982840E6}" type="presOf" srcId="{94480DF4-D1E2-4D2F-BBE5-1F0F966E7B4F}" destId="{92049225-0B2A-4926-86AA-38F693276756}" srcOrd="0" destOrd="1" presId="urn:microsoft.com/office/officeart/2005/8/layout/bProcess3"/>
    <dgm:cxn modelId="{D8BB1A79-A7F8-4C8F-A898-C99520673BEA}" type="presOf" srcId="{98E8F59E-7B18-45BF-A366-2D57E0A5A7C2}" destId="{DF0547DA-633D-47C1-9AF6-80C04AAA97B1}" srcOrd="1" destOrd="0" presId="urn:microsoft.com/office/officeart/2005/8/layout/bProcess3"/>
    <dgm:cxn modelId="{E0717459-99C9-44E9-B1C3-DCD147CE7030}" type="presOf" srcId="{EC62AF04-BB7F-42AB-B1F3-4ACE907B758A}" destId="{15314814-EEF0-4781-A00E-6CF29482228D}" srcOrd="0" destOrd="3" presId="urn:microsoft.com/office/officeart/2005/8/layout/bProcess3"/>
    <dgm:cxn modelId="{E0958A7C-A05E-4C54-94C8-625847AD67E1}" srcId="{6B801C84-24E6-42A6-9A3A-9AF9774190FF}" destId="{E6DCB418-19D9-4BB3-93C2-DF3C54487D88}" srcOrd="0" destOrd="0" parTransId="{6E0D232A-153B-468E-A81C-DCA31F0859F9}" sibTransId="{F78AB0A8-0531-4EAE-96D2-231A5D67D436}"/>
    <dgm:cxn modelId="{6C8CF587-9731-429C-AD14-2E49241E72BA}" type="presOf" srcId="{1E650B1E-44F7-490E-ADA6-81E28363F292}" destId="{92049225-0B2A-4926-86AA-38F693276756}" srcOrd="0" destOrd="0" presId="urn:microsoft.com/office/officeart/2005/8/layout/bProcess3"/>
    <dgm:cxn modelId="{21EC0A88-126A-45A2-B21D-CBEA888A9137}" type="presOf" srcId="{C444AB5D-4417-4AB6-BDD9-462C7169BC83}" destId="{28E4E868-22FB-4993-919C-8C23DB70CB7C}" srcOrd="0" destOrd="0" presId="urn:microsoft.com/office/officeart/2005/8/layout/bProcess3"/>
    <dgm:cxn modelId="{D59AC289-DCD4-4E9B-87EE-AF3C388B8C3D}" srcId="{A300C341-6D7F-4EE1-9A83-B5FCEC9625DF}" destId="{6B801C84-24E6-42A6-9A3A-9AF9774190FF}" srcOrd="0" destOrd="0" parTransId="{3D4CAA40-B026-4631-893C-7FE1746B2311}" sibTransId="{4EA2F36A-620F-40DE-A0E3-01D4A77563A8}"/>
    <dgm:cxn modelId="{4C57B292-C9C9-451E-ADF5-D3F7D55FFAAE}" srcId="{45F0C061-5AFE-41E1-9705-76E848DAD045}" destId="{CF7DA977-0447-469F-B766-3FB8B4CE81FE}" srcOrd="0" destOrd="0" parTransId="{DDFE4168-0150-4B37-89AA-0C93E9C24463}" sibTransId="{088AAC79-44F2-45C9-AA15-608249C185FF}"/>
    <dgm:cxn modelId="{90313C94-7F13-46CB-B992-6E9880E4C98C}" srcId="{45F0C061-5AFE-41E1-9705-76E848DAD045}" destId="{74EFE6DB-C441-4F33-A5D8-EE596D39F6AB}" srcOrd="1" destOrd="0" parTransId="{FE11C964-C61B-4047-B479-56873BD9F91B}" sibTransId="{8FB9B9E0-E7A8-452E-AD71-E807D11DEEBE}"/>
    <dgm:cxn modelId="{59F31298-462F-4E31-9170-84FDF2A52296}" type="presOf" srcId="{17EC738B-F315-4A0F-89FE-6D7703B33122}" destId="{11142FBB-1257-4F45-A790-C4CE41EE3D98}" srcOrd="0" destOrd="2" presId="urn:microsoft.com/office/officeart/2005/8/layout/bProcess3"/>
    <dgm:cxn modelId="{2FDA6299-B0A6-4463-9ACD-CD7E9105D88E}" type="presOf" srcId="{8FED7EE2-A99C-430A-A419-DBF79FD27512}" destId="{B5A542A1-5B2B-4B8F-8D9F-D98091B785FA}" srcOrd="0" destOrd="0" presId="urn:microsoft.com/office/officeart/2005/8/layout/bProcess3"/>
    <dgm:cxn modelId="{1247219C-4824-488D-AC3D-A788FEA52A8C}" srcId="{6B801C84-24E6-42A6-9A3A-9AF9774190FF}" destId="{6DAA58C2-6B15-465B-9EE4-C20F06560D9E}" srcOrd="1" destOrd="0" parTransId="{E44F1AEC-8B25-4534-A20B-ADA1494B0DDC}" sibTransId="{B7863C17-ABF7-47B9-8FD5-DDA739D142A1}"/>
    <dgm:cxn modelId="{940D929C-4079-4D94-8615-2DDD67D4E30D}" srcId="{7A2CCD63-4BAC-4814-8C9E-183B3E945C34}" destId="{C444AB5D-4417-4AB6-BDD9-462C7169BC83}" srcOrd="6" destOrd="0" parTransId="{B994E8F6-790A-466D-8914-55C3CA5D79DF}" sibTransId="{8FED7EE2-A99C-430A-A419-DBF79FD27512}"/>
    <dgm:cxn modelId="{AB4D88A5-DCCC-4B48-A054-39025CCFB514}" srcId="{C444AB5D-4417-4AB6-BDD9-462C7169BC83}" destId="{39C4B8E8-1FAF-4723-B5D1-C25238B58411}" srcOrd="1" destOrd="0" parTransId="{59F4CDD3-698C-4E1B-8A56-09734E1227D3}" sibTransId="{BA12CCE6-4750-49F9-B60D-E3AA275337B3}"/>
    <dgm:cxn modelId="{60A9E4A9-5DCB-4883-AC1D-94662318FB22}" type="presOf" srcId="{49984DCD-54F7-4725-8F7A-8E05BBBDF231}" destId="{15314814-EEF0-4781-A00E-6CF29482228D}" srcOrd="0" destOrd="1" presId="urn:microsoft.com/office/officeart/2005/8/layout/bProcess3"/>
    <dgm:cxn modelId="{5AD434AE-9527-4496-81E0-49CE91128020}" srcId="{D5BD9C04-0EB5-44CF-8B2B-FD351CA1C719}" destId="{B678BEFF-F111-4BA3-A6C2-3C77FADFD443}" srcOrd="0" destOrd="0" parTransId="{C4E2643A-2E35-45B4-A131-E83BCA46C7B1}" sibTransId="{F4B0DBEF-0CD2-4746-A51B-1388FBE1F36F}"/>
    <dgm:cxn modelId="{4704B7AE-F524-445A-B462-38CD2F7BD2E7}" type="presOf" srcId="{E6DCB418-19D9-4BB3-93C2-DF3C54487D88}" destId="{722712FB-60DA-40BB-A4E9-3ABEB7401E7B}" srcOrd="0" destOrd="2" presId="urn:microsoft.com/office/officeart/2005/8/layout/bProcess3"/>
    <dgm:cxn modelId="{E9B82EB3-AE76-4C85-84BE-3B4D1040BE07}" type="presOf" srcId="{B678BEFF-F111-4BA3-A6C2-3C77FADFD443}" destId="{D51DFA4C-2BCD-4610-85FB-5CC136B9FC4E}" srcOrd="0" destOrd="1" presId="urn:microsoft.com/office/officeart/2005/8/layout/bProcess3"/>
    <dgm:cxn modelId="{AD8F75B3-865B-4857-8E7E-D4569CC1FC56}" type="presOf" srcId="{C7150A40-D0A5-4EAD-9CC7-AF82A4C2D2A9}" destId="{63AF3522-AD90-4C40-9FBE-8A3F83545637}" srcOrd="0" destOrd="0" presId="urn:microsoft.com/office/officeart/2005/8/layout/bProcess3"/>
    <dgm:cxn modelId="{303432B6-B00B-41E9-B47A-AC1CCE3E038C}" type="presOf" srcId="{74EFE6DB-C441-4F33-A5D8-EE596D39F6AB}" destId="{D0C3CFD9-0FFB-47F2-9573-176E18B48D7F}" srcOrd="0" destOrd="2" presId="urn:microsoft.com/office/officeart/2005/8/layout/bProcess3"/>
    <dgm:cxn modelId="{45E2B5B9-8561-4DD8-9635-24ECE6986884}" type="presOf" srcId="{8801628C-A0A5-4B4B-9682-976186FFA8F2}" destId="{5DDAF176-8072-451E-88E7-D9D537DC06ED}" srcOrd="0" destOrd="0" presId="urn:microsoft.com/office/officeart/2005/8/layout/bProcess3"/>
    <dgm:cxn modelId="{095D86C8-42AF-477F-8996-AC747687FA2E}" type="presOf" srcId="{44EC2C18-0A5B-479F-A364-F77E82062889}" destId="{6AC09BB1-ECDF-48CA-8A03-F1D14D958988}" srcOrd="1" destOrd="0" presId="urn:microsoft.com/office/officeart/2005/8/layout/bProcess3"/>
    <dgm:cxn modelId="{DC4EF1CA-1F11-40F9-B395-A63ACD86FECC}" type="presOf" srcId="{6B801C84-24E6-42A6-9A3A-9AF9774190FF}" destId="{722712FB-60DA-40BB-A4E9-3ABEB7401E7B}" srcOrd="0" destOrd="1" presId="urn:microsoft.com/office/officeart/2005/8/layout/bProcess3"/>
    <dgm:cxn modelId="{F6791FCB-EFE6-4C55-B172-1EC33EE745FF}" srcId="{1E650B1E-44F7-490E-ADA6-81E28363F292}" destId="{94480DF4-D1E2-4D2F-BBE5-1F0F966E7B4F}" srcOrd="0" destOrd="0" parTransId="{150407DB-A393-4DAF-9936-15B76DA02166}" sibTransId="{02E70A16-5598-4795-90A6-509473105ACC}"/>
    <dgm:cxn modelId="{5B7908CD-9D28-4AA2-9E8E-E985774FEACE}" type="presOf" srcId="{CF7DA977-0447-469F-B766-3FB8B4CE81FE}" destId="{D0C3CFD9-0FFB-47F2-9573-176E18B48D7F}" srcOrd="0" destOrd="1" presId="urn:microsoft.com/office/officeart/2005/8/layout/bProcess3"/>
    <dgm:cxn modelId="{CE83B7CF-D774-444E-82FC-6021F9C723CF}" srcId="{D3C984F4-9A11-4513-825D-F26E65C086C2}" destId="{8A14E80F-2ABF-4B99-97BD-B03ED6A5FE4E}" srcOrd="0" destOrd="0" parTransId="{65C9C1DC-52E4-44F9-9B5F-ACEB3EEF4C1E}" sibTransId="{F7296D8F-FE11-4F62-9722-F1DB51C1E570}"/>
    <dgm:cxn modelId="{55E225DA-D777-490F-B975-3A1CB437926E}" type="presOf" srcId="{ECDAD4CF-F2CA-48DB-A45B-D5BEDA1FD9EF}" destId="{11142FBB-1257-4F45-A790-C4CE41EE3D98}" srcOrd="0" destOrd="0" presId="urn:microsoft.com/office/officeart/2005/8/layout/bProcess3"/>
    <dgm:cxn modelId="{030557E0-AE3D-46F4-BCC5-F6ACF94FA0CC}" type="presOf" srcId="{33CCB47D-3E19-4A91-BB84-1C5129BDC816}" destId="{15314814-EEF0-4781-A00E-6CF29482228D}" srcOrd="0" destOrd="2" presId="urn:microsoft.com/office/officeart/2005/8/layout/bProcess3"/>
    <dgm:cxn modelId="{24A5AEE5-61A8-43EC-8931-C785E8ACE898}" type="presOf" srcId="{7A2CCD63-4BAC-4814-8C9E-183B3E945C34}" destId="{3AFF1B0B-DD43-4D3B-980C-698034FAE8A7}" srcOrd="0" destOrd="0" presId="urn:microsoft.com/office/officeart/2005/8/layout/bProcess3"/>
    <dgm:cxn modelId="{424B8BE9-825C-4D76-A00F-D58E35E16BCF}" type="presOf" srcId="{45F0C061-5AFE-41E1-9705-76E848DAD045}" destId="{D0C3CFD9-0FFB-47F2-9573-176E18B48D7F}" srcOrd="0" destOrd="0" presId="urn:microsoft.com/office/officeart/2005/8/layout/bProcess3"/>
    <dgm:cxn modelId="{BF76DEEA-9303-40B8-B8CE-0F5019062A82}" srcId="{D3C984F4-9A11-4513-825D-F26E65C086C2}" destId="{1426D504-3A21-41C1-997A-E5F8468E79B4}" srcOrd="1" destOrd="0" parTransId="{5A710D7C-FF33-43A3-8E46-705B94469158}" sibTransId="{B869D6D3-C200-4000-BDE8-66D111C06DDE}"/>
    <dgm:cxn modelId="{E26381EB-BDD3-402E-9706-A14E6090C3CB}" srcId="{7A2CCD63-4BAC-4814-8C9E-183B3E945C34}" destId="{ECDAD4CF-F2CA-48DB-A45B-D5BEDA1FD9EF}" srcOrd="3" destOrd="0" parTransId="{961555F5-6CE8-41E3-ADFB-99B165D33158}" sibTransId="{44EC2C18-0A5B-479F-A364-F77E82062889}"/>
    <dgm:cxn modelId="{F4A84FEF-A1DF-4B0E-8C5D-059EB8C2BF55}" type="presOf" srcId="{44EC2C18-0A5B-479F-A364-F77E82062889}" destId="{76AA6E31-AEE2-4862-BE31-26BF3856A784}" srcOrd="0" destOrd="0" presId="urn:microsoft.com/office/officeart/2005/8/layout/bProcess3"/>
    <dgm:cxn modelId="{629305F9-F9F2-4FB9-9443-691237DCDC46}" srcId="{1E650B1E-44F7-490E-ADA6-81E28363F292}" destId="{0C526C35-7FB0-41CD-9340-CE5B4DF99F94}" srcOrd="1" destOrd="0" parTransId="{D74C9617-E952-4FF8-967E-7D4FBEE55904}" sibTransId="{E71FBB39-124B-42FA-82BA-EFC95767CFB7}"/>
    <dgm:cxn modelId="{A7A953F9-2F2C-4BCC-A44C-6E2D680265A1}" srcId="{ECDAD4CF-F2CA-48DB-A45B-D5BEDA1FD9EF}" destId="{F82574E2-9599-4413-8EA2-7DF40893FDC9}" srcOrd="0" destOrd="0" parTransId="{4FDB6A27-9242-4A5B-9A1F-629949C0CBDE}" sibTransId="{F0202F41-56A5-43E1-9BFD-799C5DA45348}"/>
    <dgm:cxn modelId="{AF2A57F9-63C0-47AD-A0E8-4881DB47B8B2}" type="presOf" srcId="{D3C984F4-9A11-4513-825D-F26E65C086C2}" destId="{88C4BB30-992D-4CF3-984B-407B564238ED}" srcOrd="0" destOrd="0" presId="urn:microsoft.com/office/officeart/2005/8/layout/bProcess3"/>
    <dgm:cxn modelId="{8A3185FB-4FDF-42C8-80D2-1DA8A94F91E4}" srcId="{7A2CCD63-4BAC-4814-8C9E-183B3E945C34}" destId="{1E650B1E-44F7-490E-ADA6-81E28363F292}" srcOrd="7" destOrd="0" parTransId="{1E2F341D-97C5-42D0-ACB4-14F968310C7B}" sibTransId="{98E8F59E-7B18-45BF-A366-2D57E0A5A7C2}"/>
    <dgm:cxn modelId="{C08E002A-FE9D-4B5C-866B-EB79C515F2FE}" type="presParOf" srcId="{3AFF1B0B-DD43-4D3B-980C-698034FAE8A7}" destId="{722712FB-60DA-40BB-A4E9-3ABEB7401E7B}" srcOrd="0" destOrd="0" presId="urn:microsoft.com/office/officeart/2005/8/layout/bProcess3"/>
    <dgm:cxn modelId="{18F25DF6-EE32-434E-A092-2AB83C223476}" type="presParOf" srcId="{3AFF1B0B-DD43-4D3B-980C-698034FAE8A7}" destId="{63AF3522-AD90-4C40-9FBE-8A3F83545637}" srcOrd="1" destOrd="0" presId="urn:microsoft.com/office/officeart/2005/8/layout/bProcess3"/>
    <dgm:cxn modelId="{27ECABF0-288E-4C19-B1EA-94B584A6A310}" type="presParOf" srcId="{63AF3522-AD90-4C40-9FBE-8A3F83545637}" destId="{D447D4F3-0868-4165-9472-0EA35CAC4F98}" srcOrd="0" destOrd="0" presId="urn:microsoft.com/office/officeart/2005/8/layout/bProcess3"/>
    <dgm:cxn modelId="{0CF0A5A3-33AB-49A1-9DEE-442B3F14FAAF}" type="presParOf" srcId="{3AFF1B0B-DD43-4D3B-980C-698034FAE8A7}" destId="{D51DFA4C-2BCD-4610-85FB-5CC136B9FC4E}" srcOrd="2" destOrd="0" presId="urn:microsoft.com/office/officeart/2005/8/layout/bProcess3"/>
    <dgm:cxn modelId="{F1673F39-F9CE-4D60-8680-AB88E6D6798A}" type="presParOf" srcId="{3AFF1B0B-DD43-4D3B-980C-698034FAE8A7}" destId="{E15A2C33-F328-4559-8701-025E1676208B}" srcOrd="3" destOrd="0" presId="urn:microsoft.com/office/officeart/2005/8/layout/bProcess3"/>
    <dgm:cxn modelId="{1E64A918-31C8-44FE-B809-92FE5CAB6E8C}" type="presParOf" srcId="{E15A2C33-F328-4559-8701-025E1676208B}" destId="{576F685B-BB62-4234-BFB9-0710E5E67DE3}" srcOrd="0" destOrd="0" presId="urn:microsoft.com/office/officeart/2005/8/layout/bProcess3"/>
    <dgm:cxn modelId="{C911FDD1-8F45-4EA9-81A0-809060EE3C92}" type="presParOf" srcId="{3AFF1B0B-DD43-4D3B-980C-698034FAE8A7}" destId="{D0C3CFD9-0FFB-47F2-9573-176E18B48D7F}" srcOrd="4" destOrd="0" presId="urn:microsoft.com/office/officeart/2005/8/layout/bProcess3"/>
    <dgm:cxn modelId="{F65E2E0E-5335-4297-B162-F019A9CC3A37}" type="presParOf" srcId="{3AFF1B0B-DD43-4D3B-980C-698034FAE8A7}" destId="{5DDAF176-8072-451E-88E7-D9D537DC06ED}" srcOrd="5" destOrd="0" presId="urn:microsoft.com/office/officeart/2005/8/layout/bProcess3"/>
    <dgm:cxn modelId="{BF733449-8CAA-4ECB-B8B3-EDDBDB0D8A4B}" type="presParOf" srcId="{5DDAF176-8072-451E-88E7-D9D537DC06ED}" destId="{7B7EAC92-447C-4746-9649-5EF518076CEF}" srcOrd="0" destOrd="0" presId="urn:microsoft.com/office/officeart/2005/8/layout/bProcess3"/>
    <dgm:cxn modelId="{E2272026-8764-462B-ABBA-F661BDBDBC4D}" type="presParOf" srcId="{3AFF1B0B-DD43-4D3B-980C-698034FAE8A7}" destId="{11142FBB-1257-4F45-A790-C4CE41EE3D98}" srcOrd="6" destOrd="0" presId="urn:microsoft.com/office/officeart/2005/8/layout/bProcess3"/>
    <dgm:cxn modelId="{F5218977-3D31-4150-B77E-02CD61E11108}" type="presParOf" srcId="{3AFF1B0B-DD43-4D3B-980C-698034FAE8A7}" destId="{76AA6E31-AEE2-4862-BE31-26BF3856A784}" srcOrd="7" destOrd="0" presId="urn:microsoft.com/office/officeart/2005/8/layout/bProcess3"/>
    <dgm:cxn modelId="{5D182247-407D-4E4E-85CD-3B01B1539BE3}" type="presParOf" srcId="{76AA6E31-AEE2-4862-BE31-26BF3856A784}" destId="{6AC09BB1-ECDF-48CA-8A03-F1D14D958988}" srcOrd="0" destOrd="0" presId="urn:microsoft.com/office/officeart/2005/8/layout/bProcess3"/>
    <dgm:cxn modelId="{24873A4F-9374-404D-A434-4ABA0DBEBCB1}" type="presParOf" srcId="{3AFF1B0B-DD43-4D3B-980C-698034FAE8A7}" destId="{15314814-EEF0-4781-A00E-6CF29482228D}" srcOrd="8" destOrd="0" presId="urn:microsoft.com/office/officeart/2005/8/layout/bProcess3"/>
    <dgm:cxn modelId="{FF4877CF-CB78-4D6F-94B9-6839282AB35F}" type="presParOf" srcId="{3AFF1B0B-DD43-4D3B-980C-698034FAE8A7}" destId="{F0DBD63C-1B17-4059-B649-656F3681DD87}" srcOrd="9" destOrd="0" presId="urn:microsoft.com/office/officeart/2005/8/layout/bProcess3"/>
    <dgm:cxn modelId="{ED10D95A-4C66-485A-BCD5-B1BABB36B72F}" type="presParOf" srcId="{F0DBD63C-1B17-4059-B649-656F3681DD87}" destId="{0F4E4C54-69D9-4821-AE22-DB3E94D13207}" srcOrd="0" destOrd="0" presId="urn:microsoft.com/office/officeart/2005/8/layout/bProcess3"/>
    <dgm:cxn modelId="{C6D2B493-2D2F-4A77-B427-424AB3193A4A}" type="presParOf" srcId="{3AFF1B0B-DD43-4D3B-980C-698034FAE8A7}" destId="{88C4BB30-992D-4CF3-984B-407B564238ED}" srcOrd="10" destOrd="0" presId="urn:microsoft.com/office/officeart/2005/8/layout/bProcess3"/>
    <dgm:cxn modelId="{5B42AE92-C3AD-4C29-87E0-D743BBCC613E}" type="presParOf" srcId="{3AFF1B0B-DD43-4D3B-980C-698034FAE8A7}" destId="{0D28249B-3705-4FA5-B13C-06A14FA1B280}" srcOrd="11" destOrd="0" presId="urn:microsoft.com/office/officeart/2005/8/layout/bProcess3"/>
    <dgm:cxn modelId="{545DEE5C-F49F-4CF9-8759-AD2ED3B2D584}" type="presParOf" srcId="{0D28249B-3705-4FA5-B13C-06A14FA1B280}" destId="{58BD68DE-53FC-4283-BFA2-D7A5326E38BD}" srcOrd="0" destOrd="0" presId="urn:microsoft.com/office/officeart/2005/8/layout/bProcess3"/>
    <dgm:cxn modelId="{61DEE9DF-FD8D-45CA-8EB9-F7913B2CB9AD}" type="presParOf" srcId="{3AFF1B0B-DD43-4D3B-980C-698034FAE8A7}" destId="{28E4E868-22FB-4993-919C-8C23DB70CB7C}" srcOrd="12" destOrd="0" presId="urn:microsoft.com/office/officeart/2005/8/layout/bProcess3"/>
    <dgm:cxn modelId="{9CFAB657-E122-43CC-A645-30D982ED4AB2}" type="presParOf" srcId="{3AFF1B0B-DD43-4D3B-980C-698034FAE8A7}" destId="{B5A542A1-5B2B-4B8F-8D9F-D98091B785FA}" srcOrd="13" destOrd="0" presId="urn:microsoft.com/office/officeart/2005/8/layout/bProcess3"/>
    <dgm:cxn modelId="{CBFC196E-EA19-4FCC-AFA4-83B0F88EAEE4}" type="presParOf" srcId="{B5A542A1-5B2B-4B8F-8D9F-D98091B785FA}" destId="{269BDF6D-B610-4E9E-ADB3-B9C4DFB27302}" srcOrd="0" destOrd="0" presId="urn:microsoft.com/office/officeart/2005/8/layout/bProcess3"/>
    <dgm:cxn modelId="{8DBB689B-C98A-4E8D-98B2-AC9DD8DA5984}" type="presParOf" srcId="{3AFF1B0B-DD43-4D3B-980C-698034FAE8A7}" destId="{92049225-0B2A-4926-86AA-38F693276756}" srcOrd="14" destOrd="0" presId="urn:microsoft.com/office/officeart/2005/8/layout/bProcess3"/>
    <dgm:cxn modelId="{1E22FC76-0DDF-42DA-AC57-030244688428}" type="presParOf" srcId="{3AFF1B0B-DD43-4D3B-980C-698034FAE8A7}" destId="{628A3229-4CFA-42DB-B38C-C3FE99FDFE54}" srcOrd="15" destOrd="0" presId="urn:microsoft.com/office/officeart/2005/8/layout/bProcess3"/>
    <dgm:cxn modelId="{5A6EB67C-D179-4222-B4F8-0AF3D4403933}" type="presParOf" srcId="{628A3229-4CFA-42DB-B38C-C3FE99FDFE54}" destId="{DF0547DA-633D-47C1-9AF6-80C04AAA97B1}" srcOrd="0" destOrd="0" presId="urn:microsoft.com/office/officeart/2005/8/layout/bProcess3"/>
    <dgm:cxn modelId="{D9E71F33-ED29-42A8-B468-02ABAA5EAB7B}" type="presParOf" srcId="{3AFF1B0B-DD43-4D3B-980C-698034FAE8A7}" destId="{12C1549C-FB6E-401C-960D-1F848C8DC2C1}" srcOrd="1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573C993-7D00-4772-B8EB-E2E78224D183}" type="doc">
      <dgm:prSet loTypeId="urn:microsoft.com/office/officeart/2005/8/layout/vList2" loCatId="list" qsTypeId="urn:microsoft.com/office/officeart/2005/8/quickstyle/simple1" qsCatId="simple" csTypeId="urn:microsoft.com/office/officeart/2005/8/colors/accent1_1" csCatId="accent1" phldr="1"/>
      <dgm:spPr/>
      <dgm:t>
        <a:bodyPr/>
        <a:lstStyle/>
        <a:p>
          <a:endParaRPr lang="en-US"/>
        </a:p>
      </dgm:t>
    </dgm:pt>
    <dgm:pt modelId="{0C7540FE-A5D7-4456-8F25-B17454F8CFD1}">
      <dgm:prSet custT="1"/>
      <dgm:spPr>
        <a:ln>
          <a:solidFill>
            <a:schemeClr val="accent5">
              <a:lumMod val="20000"/>
              <a:lumOff val="80000"/>
            </a:schemeClr>
          </a:solidFill>
        </a:ln>
      </dgm:spPr>
      <dgm:t>
        <a:bodyPr/>
        <a:lstStyle/>
        <a:p>
          <a:r>
            <a:rPr lang="en-US" sz="1600" dirty="0">
              <a:latin typeface="Arial" panose="020B0604020202020204" pitchFamily="34" charset="0"/>
              <a:cs typeface="Arial" panose="020B0604020202020204" pitchFamily="34" charset="0"/>
            </a:rPr>
            <a:t>GAN preserves categorical </a:t>
          </a:r>
          <a:r>
            <a:rPr lang="ru-RU" sz="1600" dirty="0">
              <a:latin typeface="Arial" panose="020B0604020202020204" pitchFamily="34" charset="0"/>
              <a:cs typeface="Arial" panose="020B0604020202020204" pitchFamily="34" charset="0"/>
            </a:rPr>
            <a:t>proportions but</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fails</a:t>
          </a:r>
          <a:r>
            <a:rPr lang="en-US" sz="1600" dirty="0">
              <a:latin typeface="Arial" panose="020B0604020202020204" pitchFamily="34" charset="0"/>
              <a:cs typeface="Arial" panose="020B0604020202020204" pitchFamily="34" charset="0"/>
            </a:rPr>
            <a:t> to reproduce heavy-tailed transaction amounts</a:t>
          </a:r>
        </a:p>
      </dgm:t>
    </dgm:pt>
    <dgm:pt modelId="{87F5CE7B-5E13-4C29-A812-7A77E3DAE2F4}" type="parTrans" cxnId="{647D8C74-0A3A-44A8-B458-21B89E108AF7}">
      <dgm:prSet/>
      <dgm:spPr/>
      <dgm:t>
        <a:bodyPr/>
        <a:lstStyle/>
        <a:p>
          <a:endParaRPr lang="en-US">
            <a:latin typeface="Arial" panose="020B0604020202020204" pitchFamily="34" charset="0"/>
            <a:cs typeface="Arial" panose="020B0604020202020204" pitchFamily="34" charset="0"/>
          </a:endParaRPr>
        </a:p>
      </dgm:t>
    </dgm:pt>
    <dgm:pt modelId="{D2D71B9F-1C10-40E0-84F9-D2C890B75F30}" type="sibTrans" cxnId="{647D8C74-0A3A-44A8-B458-21B89E108AF7}">
      <dgm:prSet/>
      <dgm:spPr/>
      <dgm:t>
        <a:bodyPr/>
        <a:lstStyle/>
        <a:p>
          <a:endParaRPr lang="en-US">
            <a:latin typeface="Arial" panose="020B0604020202020204" pitchFamily="34" charset="0"/>
            <a:cs typeface="Arial" panose="020B0604020202020204" pitchFamily="34" charset="0"/>
          </a:endParaRPr>
        </a:p>
      </dgm:t>
    </dgm:pt>
    <dgm:pt modelId="{1A87333A-E85E-4D2C-9575-71BCA83DBE80}">
      <dgm:prSet custT="1"/>
      <dgm:spPr/>
      <dgm:t>
        <a:bodyPr/>
        <a:lstStyle/>
        <a:p>
          <a:r>
            <a:rPr lang="en-US" sz="1400" dirty="0">
              <a:latin typeface="Arial" panose="020B0604020202020204" pitchFamily="34" charset="0"/>
              <a:cs typeface="Arial" panose="020B0604020202020204" pitchFamily="34" charset="0"/>
            </a:rPr>
            <a:t>Not suitable for fraud detection benchmarking</a:t>
          </a:r>
        </a:p>
      </dgm:t>
    </dgm:pt>
    <dgm:pt modelId="{620B527D-FD57-4633-8BCE-1676AC444BDE}" type="parTrans" cxnId="{DCD7E2AD-14A2-4B61-9A85-3204A82FF0F8}">
      <dgm:prSet/>
      <dgm:spPr/>
      <dgm:t>
        <a:bodyPr/>
        <a:lstStyle/>
        <a:p>
          <a:endParaRPr lang="en-US">
            <a:latin typeface="Arial" panose="020B0604020202020204" pitchFamily="34" charset="0"/>
            <a:cs typeface="Arial" panose="020B0604020202020204" pitchFamily="34" charset="0"/>
          </a:endParaRPr>
        </a:p>
      </dgm:t>
    </dgm:pt>
    <dgm:pt modelId="{2E62593A-2222-4187-B069-B86412D2819D}" type="sibTrans" cxnId="{DCD7E2AD-14A2-4B61-9A85-3204A82FF0F8}">
      <dgm:prSet/>
      <dgm:spPr/>
      <dgm:t>
        <a:bodyPr/>
        <a:lstStyle/>
        <a:p>
          <a:endParaRPr lang="en-US">
            <a:latin typeface="Arial" panose="020B0604020202020204" pitchFamily="34" charset="0"/>
            <a:cs typeface="Arial" panose="020B0604020202020204" pitchFamily="34" charset="0"/>
          </a:endParaRPr>
        </a:p>
      </dgm:t>
    </dgm:pt>
    <dgm:pt modelId="{080B8702-9A25-4720-9C29-C2BBA55A7B90}" type="pres">
      <dgm:prSet presAssocID="{0573C993-7D00-4772-B8EB-E2E78224D183}" presName="linear" presStyleCnt="0">
        <dgm:presLayoutVars>
          <dgm:animLvl val="lvl"/>
          <dgm:resizeHandles val="exact"/>
        </dgm:presLayoutVars>
      </dgm:prSet>
      <dgm:spPr/>
    </dgm:pt>
    <dgm:pt modelId="{FE1F54A6-E661-447E-B556-388F4B5BD720}" type="pres">
      <dgm:prSet presAssocID="{0C7540FE-A5D7-4456-8F25-B17454F8CFD1}" presName="parentText" presStyleLbl="node1" presStyleIdx="0" presStyleCnt="1" custScaleY="70523" custLinFactNeighborX="-2321" custLinFactNeighborY="-53135">
        <dgm:presLayoutVars>
          <dgm:chMax val="0"/>
          <dgm:bulletEnabled val="1"/>
        </dgm:presLayoutVars>
      </dgm:prSet>
      <dgm:spPr/>
    </dgm:pt>
    <dgm:pt modelId="{9CD7B445-1E5D-49F1-AA91-8FC776447BA2}" type="pres">
      <dgm:prSet presAssocID="{0C7540FE-A5D7-4456-8F25-B17454F8CFD1}" presName="childText" presStyleLbl="revTx" presStyleIdx="0" presStyleCnt="1" custScaleY="220367">
        <dgm:presLayoutVars>
          <dgm:bulletEnabled val="1"/>
        </dgm:presLayoutVars>
      </dgm:prSet>
      <dgm:spPr/>
    </dgm:pt>
  </dgm:ptLst>
  <dgm:cxnLst>
    <dgm:cxn modelId="{86ED590F-0D68-4F22-A570-CD94425B6111}" type="presOf" srcId="{0573C993-7D00-4772-B8EB-E2E78224D183}" destId="{080B8702-9A25-4720-9C29-C2BBA55A7B90}" srcOrd="0" destOrd="0" presId="urn:microsoft.com/office/officeart/2005/8/layout/vList2"/>
    <dgm:cxn modelId="{DE227A3D-3C43-45F5-A973-054DC99AE098}" type="presOf" srcId="{0C7540FE-A5D7-4456-8F25-B17454F8CFD1}" destId="{FE1F54A6-E661-447E-B556-388F4B5BD720}" srcOrd="0" destOrd="0" presId="urn:microsoft.com/office/officeart/2005/8/layout/vList2"/>
    <dgm:cxn modelId="{647D8C74-0A3A-44A8-B458-21B89E108AF7}" srcId="{0573C993-7D00-4772-B8EB-E2E78224D183}" destId="{0C7540FE-A5D7-4456-8F25-B17454F8CFD1}" srcOrd="0" destOrd="0" parTransId="{87F5CE7B-5E13-4C29-A812-7A77E3DAE2F4}" sibTransId="{D2D71B9F-1C10-40E0-84F9-D2C890B75F30}"/>
    <dgm:cxn modelId="{3057969A-C6F4-44B5-B68D-45C71E4FEBF6}" type="presOf" srcId="{1A87333A-E85E-4D2C-9575-71BCA83DBE80}" destId="{9CD7B445-1E5D-49F1-AA91-8FC776447BA2}" srcOrd="0" destOrd="0" presId="urn:microsoft.com/office/officeart/2005/8/layout/vList2"/>
    <dgm:cxn modelId="{DCD7E2AD-14A2-4B61-9A85-3204A82FF0F8}" srcId="{0C7540FE-A5D7-4456-8F25-B17454F8CFD1}" destId="{1A87333A-E85E-4D2C-9575-71BCA83DBE80}" srcOrd="0" destOrd="0" parTransId="{620B527D-FD57-4633-8BCE-1676AC444BDE}" sibTransId="{2E62593A-2222-4187-B069-B86412D2819D}"/>
    <dgm:cxn modelId="{2E89283F-65AC-4F30-A835-C7DDA69A0E68}" type="presParOf" srcId="{080B8702-9A25-4720-9C29-C2BBA55A7B90}" destId="{FE1F54A6-E661-447E-B556-388F4B5BD720}" srcOrd="0" destOrd="0" presId="urn:microsoft.com/office/officeart/2005/8/layout/vList2"/>
    <dgm:cxn modelId="{78B5DEF4-D38C-4D7D-BFCC-E652AE980A4C}" type="presParOf" srcId="{080B8702-9A25-4720-9C29-C2BBA55A7B90}" destId="{9CD7B445-1E5D-49F1-AA91-8FC776447BA2}" srcOrd="1"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8EC659D-C0CE-4C78-8156-797C27FFA19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EAD2EA2-D352-4FBD-8998-7F70120B6CB1}">
      <dgm:prSet custT="1"/>
      <dgm:spPr/>
      <dgm:t>
        <a:bodyPr/>
        <a:lstStyle/>
        <a:p>
          <a:r>
            <a:rPr lang="ru-RU" sz="700" dirty="0">
              <a:latin typeface="Arial" panose="020B0604020202020204" pitchFamily="34" charset="0"/>
              <a:cs typeface="Arial" panose="020B0604020202020204" pitchFamily="34" charset="0"/>
            </a:rPr>
            <a:t>1. </a:t>
          </a:r>
          <a:r>
            <a:rPr lang="en-US" sz="700" dirty="0">
              <a:latin typeface="Arial" panose="020B0604020202020204" pitchFamily="34" charset="0"/>
              <a:cs typeface="Arial" panose="020B0604020202020204" pitchFamily="34" charset="0"/>
            </a:rPr>
            <a:t>Transaction flow and velocity monitoring</a:t>
          </a:r>
          <a:endParaRPr lang="en-US" sz="700" dirty="0"/>
        </a:p>
      </dgm:t>
    </dgm:pt>
    <dgm:pt modelId="{C543DDEB-2A77-440E-9722-E8162F94AC0D}" type="parTrans" cxnId="{9CD1598B-FE66-4554-80E9-605D90155B2A}">
      <dgm:prSet/>
      <dgm:spPr/>
      <dgm:t>
        <a:bodyPr/>
        <a:lstStyle/>
        <a:p>
          <a:endParaRPr lang="en-US"/>
        </a:p>
      </dgm:t>
    </dgm:pt>
    <dgm:pt modelId="{107A22D8-B879-4025-AA06-F25A3FD955F0}" type="sibTrans" cxnId="{9CD1598B-FE66-4554-80E9-605D90155B2A}">
      <dgm:prSet/>
      <dgm:spPr/>
      <dgm:t>
        <a:bodyPr/>
        <a:lstStyle/>
        <a:p>
          <a:endParaRPr lang="en-US"/>
        </a:p>
      </dgm:t>
    </dgm:pt>
    <dgm:pt modelId="{20D7A589-B5A8-4282-94B3-21A4D4721372}">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Daily/Monthly Turnover Thresholds</a:t>
          </a:r>
        </a:p>
      </dgm:t>
    </dgm:pt>
    <dgm:pt modelId="{B5DE5A56-8A98-47CE-9139-4C5F0BC011CF}" type="parTrans" cxnId="{119BFB1E-D9B3-466B-867E-CCDEA2ADC3B3}">
      <dgm:prSet/>
      <dgm:spPr/>
      <dgm:t>
        <a:bodyPr/>
        <a:lstStyle/>
        <a:p>
          <a:endParaRPr lang="en-US"/>
        </a:p>
      </dgm:t>
    </dgm:pt>
    <dgm:pt modelId="{645FD615-6840-4ED4-80D3-8378B37FA486}" type="sibTrans" cxnId="{119BFB1E-D9B3-466B-867E-CCDEA2ADC3B3}">
      <dgm:prSet/>
      <dgm:spPr/>
      <dgm:t>
        <a:bodyPr/>
        <a:lstStyle/>
        <a:p>
          <a:endParaRPr lang="en-US"/>
        </a:p>
      </dgm:t>
    </dgm:pt>
    <dgm:pt modelId="{32135FAD-B4AA-40CF-94A3-8968007D0D71}">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Circular Money Flow</a:t>
          </a:r>
        </a:p>
      </dgm:t>
    </dgm:pt>
    <dgm:pt modelId="{4637416A-608F-4853-BE2B-C608E4539CD6}" type="parTrans" cxnId="{5A47CC34-2F70-4618-8595-4D52D753EEE5}">
      <dgm:prSet/>
      <dgm:spPr/>
      <dgm:t>
        <a:bodyPr/>
        <a:lstStyle/>
        <a:p>
          <a:endParaRPr lang="en-US"/>
        </a:p>
      </dgm:t>
    </dgm:pt>
    <dgm:pt modelId="{8D8176C9-4928-418A-9118-66ACEF50E8DD}" type="sibTrans" cxnId="{5A47CC34-2F70-4618-8595-4D52D753EEE5}">
      <dgm:prSet/>
      <dgm:spPr/>
      <dgm:t>
        <a:bodyPr/>
        <a:lstStyle/>
        <a:p>
          <a:endParaRPr lang="en-US"/>
        </a:p>
      </dgm:t>
    </dgm:pt>
    <dgm:pt modelId="{7A312F82-D44F-468D-9180-65FBA95E1074}">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Rapid Currency Conversion</a:t>
          </a:r>
        </a:p>
      </dgm:t>
    </dgm:pt>
    <dgm:pt modelId="{D31138D1-C553-4B57-82D8-9F5EFA6494E1}" type="parTrans" cxnId="{4E9621A2-042D-46E2-A0FD-0EA38552DE39}">
      <dgm:prSet/>
      <dgm:spPr/>
      <dgm:t>
        <a:bodyPr/>
        <a:lstStyle/>
        <a:p>
          <a:endParaRPr lang="en-US"/>
        </a:p>
      </dgm:t>
    </dgm:pt>
    <dgm:pt modelId="{5F931F65-8A21-450A-8981-832A22916464}" type="sibTrans" cxnId="{4E9621A2-042D-46E2-A0FD-0EA38552DE39}">
      <dgm:prSet/>
      <dgm:spPr/>
      <dgm:t>
        <a:bodyPr/>
        <a:lstStyle/>
        <a:p>
          <a:endParaRPr lang="en-US"/>
        </a:p>
      </dgm:t>
    </dgm:pt>
    <dgm:pt modelId="{F03C6D13-2DAF-4FE4-9504-179F9C2E9A40}">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Transaction Structuring</a:t>
          </a:r>
        </a:p>
      </dgm:t>
    </dgm:pt>
    <dgm:pt modelId="{681DD3AC-7907-4435-B993-018BB1C5E38E}" type="parTrans" cxnId="{4D71DCA4-1E58-4660-909D-9B96C32D72BB}">
      <dgm:prSet/>
      <dgm:spPr/>
      <dgm:t>
        <a:bodyPr/>
        <a:lstStyle/>
        <a:p>
          <a:endParaRPr lang="en-US"/>
        </a:p>
      </dgm:t>
    </dgm:pt>
    <dgm:pt modelId="{CDC32796-B9D7-45AD-9F54-59D9D6398B7B}" type="sibTrans" cxnId="{4D71DCA4-1E58-4660-909D-9B96C32D72BB}">
      <dgm:prSet/>
      <dgm:spPr/>
      <dgm:t>
        <a:bodyPr/>
        <a:lstStyle/>
        <a:p>
          <a:endParaRPr lang="en-US"/>
        </a:p>
      </dgm:t>
    </dgm:pt>
    <dgm:pt modelId="{9BA58B6E-AC07-47EC-B653-3EC014F72FD1}">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Sudden Activity After Dormancy</a:t>
          </a:r>
        </a:p>
      </dgm:t>
    </dgm:pt>
    <dgm:pt modelId="{DD484123-948A-4439-994B-4E1C6E401ED0}" type="parTrans" cxnId="{5531596D-C3D5-4A4B-AE7E-DDD9362D30AF}">
      <dgm:prSet/>
      <dgm:spPr/>
      <dgm:t>
        <a:bodyPr/>
        <a:lstStyle/>
        <a:p>
          <a:endParaRPr lang="en-US"/>
        </a:p>
      </dgm:t>
    </dgm:pt>
    <dgm:pt modelId="{BE5BF18F-9D79-4C3A-B72B-0CE1B5CE2331}" type="sibTrans" cxnId="{5531596D-C3D5-4A4B-AE7E-DDD9362D30AF}">
      <dgm:prSet/>
      <dgm:spPr/>
      <dgm:t>
        <a:bodyPr/>
        <a:lstStyle/>
        <a:p>
          <a:endParaRPr lang="en-US"/>
        </a:p>
      </dgm:t>
    </dgm:pt>
    <dgm:pt modelId="{D1694452-3E32-4989-A8D7-985F334C534E}">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Newly Incorporated Entity High Volume</a:t>
          </a:r>
        </a:p>
      </dgm:t>
    </dgm:pt>
    <dgm:pt modelId="{2691CC92-40B4-471F-B28C-A373ACAAAFC8}" type="parTrans" cxnId="{8093F756-FF85-429F-95CE-CF9A1F4A1751}">
      <dgm:prSet/>
      <dgm:spPr/>
      <dgm:t>
        <a:bodyPr/>
        <a:lstStyle/>
        <a:p>
          <a:endParaRPr lang="en-US"/>
        </a:p>
      </dgm:t>
    </dgm:pt>
    <dgm:pt modelId="{7B010B16-75B5-463B-B801-D6AD41293632}" type="sibTrans" cxnId="{8093F756-FF85-429F-95CE-CF9A1F4A1751}">
      <dgm:prSet/>
      <dgm:spPr/>
      <dgm:t>
        <a:bodyPr/>
        <a:lstStyle/>
        <a:p>
          <a:endParaRPr lang="en-US"/>
        </a:p>
      </dgm:t>
    </dgm:pt>
    <dgm:pt modelId="{726B243F-9F99-4B3B-9B9D-0D28D2FE498B}">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Unusual Transaction Speed</a:t>
          </a:r>
        </a:p>
      </dgm:t>
    </dgm:pt>
    <dgm:pt modelId="{81483E14-3B59-447A-8C88-47D7BC9439A3}" type="parTrans" cxnId="{A0039F86-41AC-4D16-A37F-F0B00E74C7BC}">
      <dgm:prSet/>
      <dgm:spPr/>
      <dgm:t>
        <a:bodyPr/>
        <a:lstStyle/>
        <a:p>
          <a:endParaRPr lang="en-US"/>
        </a:p>
      </dgm:t>
    </dgm:pt>
    <dgm:pt modelId="{2C277F28-583E-4302-B1FE-90F7106524DF}" type="sibTrans" cxnId="{A0039F86-41AC-4D16-A37F-F0B00E74C7BC}">
      <dgm:prSet/>
      <dgm:spPr/>
      <dgm:t>
        <a:bodyPr/>
        <a:lstStyle/>
        <a:p>
          <a:endParaRPr lang="en-US"/>
        </a:p>
      </dgm:t>
    </dgm:pt>
    <dgm:pt modelId="{0A585087-437F-4487-96EB-89B3853125FF}">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Identical Transaction Size</a:t>
          </a:r>
        </a:p>
      </dgm:t>
    </dgm:pt>
    <dgm:pt modelId="{8804CF8B-4496-4B34-96A6-B56D43BBF854}" type="parTrans" cxnId="{ED69E188-5D79-4E89-A971-43D6ED93C77A}">
      <dgm:prSet/>
      <dgm:spPr/>
      <dgm:t>
        <a:bodyPr/>
        <a:lstStyle/>
        <a:p>
          <a:endParaRPr lang="en-US"/>
        </a:p>
      </dgm:t>
    </dgm:pt>
    <dgm:pt modelId="{4C00AC79-5740-4AFE-A524-9D367F68D4C8}" type="sibTrans" cxnId="{ED69E188-5D79-4E89-A971-43D6ED93C77A}">
      <dgm:prSet/>
      <dgm:spPr/>
      <dgm:t>
        <a:bodyPr/>
        <a:lstStyle/>
        <a:p>
          <a:endParaRPr lang="en-US"/>
        </a:p>
      </dgm:t>
    </dgm:pt>
    <dgm:pt modelId="{09A19ACB-EE7F-4089-866A-DC8203B8DA4F}">
      <dgm:prSet custT="1"/>
      <dgm:spPr/>
      <dgm:t>
        <a:bodyPr/>
        <a:lstStyle/>
        <a:p>
          <a:r>
            <a:rPr lang="ru-RU" sz="700" dirty="0">
              <a:latin typeface="Arial" panose="020B0604020202020204" pitchFamily="34" charset="0"/>
              <a:cs typeface="Arial" panose="020B0604020202020204" pitchFamily="34" charset="0"/>
            </a:rPr>
            <a:t>2. </a:t>
          </a:r>
          <a:r>
            <a:rPr lang="en-US" sz="700" dirty="0">
              <a:latin typeface="Arial" panose="020B0604020202020204" pitchFamily="34" charset="0"/>
              <a:cs typeface="Arial" panose="020B0604020202020204" pitchFamily="34" charset="0"/>
            </a:rPr>
            <a:t>High-risk jurisdiction detection	</a:t>
          </a:r>
        </a:p>
      </dgm:t>
    </dgm:pt>
    <dgm:pt modelId="{EC2BB994-EF40-452D-8BC7-EB9FB87EEE9E}" type="parTrans" cxnId="{F6CE7020-2A0A-4451-BADB-E9DD1703C603}">
      <dgm:prSet/>
      <dgm:spPr/>
      <dgm:t>
        <a:bodyPr/>
        <a:lstStyle/>
        <a:p>
          <a:endParaRPr lang="en-US"/>
        </a:p>
      </dgm:t>
    </dgm:pt>
    <dgm:pt modelId="{2499B6F3-ED30-47B0-AC34-99A657F57409}" type="sibTrans" cxnId="{F6CE7020-2A0A-4451-BADB-E9DD1703C603}">
      <dgm:prSet/>
      <dgm:spPr/>
      <dgm:t>
        <a:bodyPr/>
        <a:lstStyle/>
        <a:p>
          <a:endParaRPr lang="en-US"/>
        </a:p>
      </dgm:t>
    </dgm:pt>
    <dgm:pt modelId="{DBA67485-329A-4C58-B5ED-F5A2D04D7F79}">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High-Risk Country Daily/Monthly Transactions</a:t>
          </a:r>
        </a:p>
      </dgm:t>
    </dgm:pt>
    <dgm:pt modelId="{7640F09E-EC71-4FDD-A0BE-2F924CB31C70}" type="parTrans" cxnId="{7F6F6418-C4EC-475F-A6A7-D8549B54AEA9}">
      <dgm:prSet/>
      <dgm:spPr/>
      <dgm:t>
        <a:bodyPr/>
        <a:lstStyle/>
        <a:p>
          <a:endParaRPr lang="en-US"/>
        </a:p>
      </dgm:t>
    </dgm:pt>
    <dgm:pt modelId="{DA579874-89C0-470E-A209-00F68F140833}" type="sibTrans" cxnId="{7F6F6418-C4EC-475F-A6A7-D8549B54AEA9}">
      <dgm:prSet/>
      <dgm:spPr/>
      <dgm:t>
        <a:bodyPr/>
        <a:lstStyle/>
        <a:p>
          <a:endParaRPr lang="en-US"/>
        </a:p>
      </dgm:t>
    </dgm:pt>
    <dgm:pt modelId="{04F41D11-C5EB-4B88-BD56-6235C4E79545}">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Very High-Risk Country Transactions</a:t>
          </a:r>
        </a:p>
      </dgm:t>
    </dgm:pt>
    <dgm:pt modelId="{54112812-10FF-4CC2-9B1B-FFA296B0FE11}" type="parTrans" cxnId="{ABE852C1-54E4-466F-9D41-F1DD7F7EE49F}">
      <dgm:prSet/>
      <dgm:spPr/>
      <dgm:t>
        <a:bodyPr/>
        <a:lstStyle/>
        <a:p>
          <a:endParaRPr lang="en-US"/>
        </a:p>
      </dgm:t>
    </dgm:pt>
    <dgm:pt modelId="{FF14F9CD-0C66-4407-A0E9-019E4FB3291A}" type="sibTrans" cxnId="{ABE852C1-54E4-466F-9D41-F1DD7F7EE49F}">
      <dgm:prSet/>
      <dgm:spPr/>
      <dgm:t>
        <a:bodyPr/>
        <a:lstStyle/>
        <a:p>
          <a:endParaRPr lang="en-US"/>
        </a:p>
      </dgm:t>
    </dgm:pt>
    <dgm:pt modelId="{71DD70F5-ED71-41A9-BA9B-12514692C639}">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First-Time High-Risk Country Activity</a:t>
          </a:r>
        </a:p>
      </dgm:t>
    </dgm:pt>
    <dgm:pt modelId="{A8B1E5AD-790F-458A-B28E-537EFEA17E69}" type="parTrans" cxnId="{12B0E8CC-74BC-4848-8C9B-E459B779015E}">
      <dgm:prSet/>
      <dgm:spPr/>
      <dgm:t>
        <a:bodyPr/>
        <a:lstStyle/>
        <a:p>
          <a:endParaRPr lang="en-US"/>
        </a:p>
      </dgm:t>
    </dgm:pt>
    <dgm:pt modelId="{A19333F2-D425-46A3-941D-5648775E2BE9}" type="sibTrans" cxnId="{12B0E8CC-74BC-4848-8C9B-E459B779015E}">
      <dgm:prSet/>
      <dgm:spPr/>
      <dgm:t>
        <a:bodyPr/>
        <a:lstStyle/>
        <a:p>
          <a:endParaRPr lang="en-US"/>
        </a:p>
      </dgm:t>
    </dgm:pt>
    <dgm:pt modelId="{5777C7E8-38DE-4822-9052-87C5A9210D24}">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Prohibited Country Transactions</a:t>
          </a:r>
        </a:p>
      </dgm:t>
    </dgm:pt>
    <dgm:pt modelId="{D98B3DE8-3265-432C-9B8C-E463B4D8A79C}" type="parTrans" cxnId="{8F492ABB-8C40-4052-A6D0-F3968BF490B2}">
      <dgm:prSet/>
      <dgm:spPr/>
      <dgm:t>
        <a:bodyPr/>
        <a:lstStyle/>
        <a:p>
          <a:endParaRPr lang="en-US"/>
        </a:p>
      </dgm:t>
    </dgm:pt>
    <dgm:pt modelId="{704EC90F-0B0F-47D3-80F5-27D2C99B386A}" type="sibTrans" cxnId="{8F492ABB-8C40-4052-A6D0-F3968BF490B2}">
      <dgm:prSet/>
      <dgm:spPr/>
      <dgm:t>
        <a:bodyPr/>
        <a:lstStyle/>
        <a:p>
          <a:endParaRPr lang="en-US"/>
        </a:p>
      </dgm:t>
    </dgm:pt>
    <dgm:pt modelId="{5CEA23B5-E8E7-46A0-8A5F-6A4BD634ACFA}">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Foreign Country Transaction Ratio</a:t>
          </a:r>
        </a:p>
      </dgm:t>
    </dgm:pt>
    <dgm:pt modelId="{43BF0245-A783-4B2D-B296-D16645062576}" type="parTrans" cxnId="{BDF05D13-C5E3-4ECC-A547-839B05A24694}">
      <dgm:prSet/>
      <dgm:spPr/>
      <dgm:t>
        <a:bodyPr/>
        <a:lstStyle/>
        <a:p>
          <a:endParaRPr lang="en-US"/>
        </a:p>
      </dgm:t>
    </dgm:pt>
    <dgm:pt modelId="{624925D4-88BD-459B-BC2F-21C7000236D7}" type="sibTrans" cxnId="{BDF05D13-C5E3-4ECC-A547-839B05A24694}">
      <dgm:prSet/>
      <dgm:spPr/>
      <dgm:t>
        <a:bodyPr/>
        <a:lstStyle/>
        <a:p>
          <a:endParaRPr lang="en-US"/>
        </a:p>
      </dgm:t>
    </dgm:pt>
    <dgm:pt modelId="{EAF107C4-B48F-496A-9412-7ABF2646C18E}">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Restricted Country Currency</a:t>
          </a:r>
        </a:p>
      </dgm:t>
    </dgm:pt>
    <dgm:pt modelId="{B537A041-5878-40AE-AB68-78E942E3D4ED}" type="parTrans" cxnId="{54DFC382-70A6-45F4-9B4A-6B758BB82708}">
      <dgm:prSet/>
      <dgm:spPr/>
      <dgm:t>
        <a:bodyPr/>
        <a:lstStyle/>
        <a:p>
          <a:endParaRPr lang="en-US"/>
        </a:p>
      </dgm:t>
    </dgm:pt>
    <dgm:pt modelId="{32E1B884-500B-4E02-BB42-B830AD57C6F3}" type="sibTrans" cxnId="{54DFC382-70A6-45F4-9B4A-6B758BB82708}">
      <dgm:prSet/>
      <dgm:spPr/>
      <dgm:t>
        <a:bodyPr/>
        <a:lstStyle/>
        <a:p>
          <a:endParaRPr lang="en-US"/>
        </a:p>
      </dgm:t>
    </dgm:pt>
    <dgm:pt modelId="{CBDC776D-EFDA-4FD0-B59C-6359F57EAAA1}">
      <dgm:prSet custT="1"/>
      <dgm:spPr/>
      <dgm:t>
        <a:bodyPr/>
        <a:lstStyle/>
        <a:p>
          <a:r>
            <a:rPr lang="ru-RU" sz="700" dirty="0">
              <a:latin typeface="Arial" panose="020B0604020202020204" pitchFamily="34" charset="0"/>
              <a:cs typeface="Arial" panose="020B0604020202020204" pitchFamily="34" charset="0"/>
            </a:rPr>
            <a:t>3. </a:t>
          </a:r>
          <a:r>
            <a:rPr lang="en-US" sz="700" dirty="0">
              <a:latin typeface="Arial" panose="020B0604020202020204" pitchFamily="34" charset="0"/>
              <a:cs typeface="Arial" panose="020B0604020202020204" pitchFamily="34" charset="0"/>
            </a:rPr>
            <a:t>Transaction pattern analysis	</a:t>
          </a:r>
        </a:p>
      </dgm:t>
    </dgm:pt>
    <dgm:pt modelId="{3F829D9A-75C0-4625-ABFA-DC8DEAEC661D}" type="parTrans" cxnId="{3E33A211-8089-420D-BB1E-BC378EB2F119}">
      <dgm:prSet/>
      <dgm:spPr/>
      <dgm:t>
        <a:bodyPr/>
        <a:lstStyle/>
        <a:p>
          <a:endParaRPr lang="en-US"/>
        </a:p>
      </dgm:t>
    </dgm:pt>
    <dgm:pt modelId="{1D399790-88F8-4AB9-865F-377B789C48BC}" type="sibTrans" cxnId="{3E33A211-8089-420D-BB1E-BC378EB2F119}">
      <dgm:prSet/>
      <dgm:spPr/>
      <dgm:t>
        <a:bodyPr/>
        <a:lstStyle/>
        <a:p>
          <a:endParaRPr lang="en-US"/>
        </a:p>
      </dgm:t>
    </dgm:pt>
    <dgm:pt modelId="{D54FFEA7-9BE8-4FF1-A64F-9AAC524E915D}">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Balanced Flow Analysis</a:t>
          </a:r>
        </a:p>
      </dgm:t>
    </dgm:pt>
    <dgm:pt modelId="{C2A5D874-776B-4000-8802-D32F55FF072C}" type="parTrans" cxnId="{94A5AF99-94C5-4521-A71E-F8D7F8BBA16A}">
      <dgm:prSet/>
      <dgm:spPr/>
      <dgm:t>
        <a:bodyPr/>
        <a:lstStyle/>
        <a:p>
          <a:endParaRPr lang="en-US"/>
        </a:p>
      </dgm:t>
    </dgm:pt>
    <dgm:pt modelId="{F57B0F26-9F4A-4498-B9FA-8BF3A84A6BE6}" type="sibTrans" cxnId="{94A5AF99-94C5-4521-A71E-F8D7F8BBA16A}">
      <dgm:prSet/>
      <dgm:spPr/>
      <dgm:t>
        <a:bodyPr/>
        <a:lstStyle/>
        <a:p>
          <a:endParaRPr lang="en-US"/>
        </a:p>
      </dgm:t>
    </dgm:pt>
    <dgm:pt modelId="{F58150D9-2FF5-422F-891B-BAEC2B2C7A7D}">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One-to-Many Pattern</a:t>
          </a:r>
        </a:p>
      </dgm:t>
    </dgm:pt>
    <dgm:pt modelId="{022C629F-3880-44BA-92B4-000F57B58E2B}" type="parTrans" cxnId="{F457B0CA-CE99-42D4-977D-8B3DF7FD9800}">
      <dgm:prSet/>
      <dgm:spPr/>
      <dgm:t>
        <a:bodyPr/>
        <a:lstStyle/>
        <a:p>
          <a:endParaRPr lang="en-US"/>
        </a:p>
      </dgm:t>
    </dgm:pt>
    <dgm:pt modelId="{B5E6F18B-FA30-470F-8608-6578FBB45B2E}" type="sibTrans" cxnId="{F457B0CA-CE99-42D4-977D-8B3DF7FD9800}">
      <dgm:prSet/>
      <dgm:spPr/>
      <dgm:t>
        <a:bodyPr/>
        <a:lstStyle/>
        <a:p>
          <a:endParaRPr lang="en-US"/>
        </a:p>
      </dgm:t>
    </dgm:pt>
    <dgm:pt modelId="{4EA0F72C-B02B-44ED-861E-B96936CDF14F}">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Many-to-One Pattern</a:t>
          </a:r>
        </a:p>
      </dgm:t>
    </dgm:pt>
    <dgm:pt modelId="{C46085CA-3184-4514-9586-B7F1A1C2627D}" type="parTrans" cxnId="{D54DF1E1-E3F8-4791-ADF0-0CD96FD133B2}">
      <dgm:prSet/>
      <dgm:spPr/>
      <dgm:t>
        <a:bodyPr/>
        <a:lstStyle/>
        <a:p>
          <a:endParaRPr lang="en-US"/>
        </a:p>
      </dgm:t>
    </dgm:pt>
    <dgm:pt modelId="{A4B2DE9C-460B-4D69-AAF2-DB74E81267A5}" type="sibTrans" cxnId="{D54DF1E1-E3F8-4791-ADF0-0CD96FD133B2}">
      <dgm:prSet/>
      <dgm:spPr/>
      <dgm:t>
        <a:bodyPr/>
        <a:lstStyle/>
        <a:p>
          <a:endParaRPr lang="en-US"/>
        </a:p>
      </dgm:t>
    </dgm:pt>
    <dgm:pt modelId="{803652F7-C333-4A24-AF4A-5D5108602787}">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Round Amount Transactions</a:t>
          </a:r>
        </a:p>
      </dgm:t>
    </dgm:pt>
    <dgm:pt modelId="{10169178-A61F-43CE-83C0-FCED2E9134FA}" type="parTrans" cxnId="{890CD127-17C3-4106-AF73-3290E690F5DB}">
      <dgm:prSet/>
      <dgm:spPr/>
      <dgm:t>
        <a:bodyPr/>
        <a:lstStyle/>
        <a:p>
          <a:endParaRPr lang="en-US"/>
        </a:p>
      </dgm:t>
    </dgm:pt>
    <dgm:pt modelId="{F842987B-7E53-4C44-ADF6-BD38D19CD916}" type="sibTrans" cxnId="{890CD127-17C3-4106-AF73-3290E690F5DB}">
      <dgm:prSet/>
      <dgm:spPr/>
      <dgm:t>
        <a:bodyPr/>
        <a:lstStyle/>
        <a:p>
          <a:endParaRPr lang="en-US"/>
        </a:p>
      </dgm:t>
    </dgm:pt>
    <dgm:pt modelId="{D5CB2BE1-1880-4AD0-B692-4CD275E022F4}">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Historical Transaction Spike</a:t>
          </a:r>
        </a:p>
      </dgm:t>
    </dgm:pt>
    <dgm:pt modelId="{89357681-423A-4607-8F2B-AE422C5DEFEC}" type="parTrans" cxnId="{8F9E5474-CF42-40EC-8486-AC9E238F6E30}">
      <dgm:prSet/>
      <dgm:spPr/>
      <dgm:t>
        <a:bodyPr/>
        <a:lstStyle/>
        <a:p>
          <a:endParaRPr lang="en-US"/>
        </a:p>
      </dgm:t>
    </dgm:pt>
    <dgm:pt modelId="{DF68293B-7F05-4726-86C3-FCFB731AE9BA}" type="sibTrans" cxnId="{8F9E5474-CF42-40EC-8486-AC9E238F6E30}">
      <dgm:prSet/>
      <dgm:spPr/>
      <dgm:t>
        <a:bodyPr/>
        <a:lstStyle/>
        <a:p>
          <a:endParaRPr lang="en-US"/>
        </a:p>
      </dgm:t>
    </dgm:pt>
    <dgm:pt modelId="{58C64081-4D88-4F79-B604-5CE25671CEFF}">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Unusual Increase in Turnover</a:t>
          </a:r>
        </a:p>
      </dgm:t>
    </dgm:pt>
    <dgm:pt modelId="{DDCDD139-4FAC-4D09-B9C8-E5B4C83D82B3}" type="parTrans" cxnId="{10595806-35B9-4F46-89F5-0D9AED619B94}">
      <dgm:prSet/>
      <dgm:spPr/>
      <dgm:t>
        <a:bodyPr/>
        <a:lstStyle/>
        <a:p>
          <a:endParaRPr lang="en-US"/>
        </a:p>
      </dgm:t>
    </dgm:pt>
    <dgm:pt modelId="{9430BAA0-3CBD-4248-81A9-2F6C67884673}" type="sibTrans" cxnId="{10595806-35B9-4F46-89F5-0D9AED619B94}">
      <dgm:prSet/>
      <dgm:spPr/>
      <dgm:t>
        <a:bodyPr/>
        <a:lstStyle/>
        <a:p>
          <a:endParaRPr lang="en-US"/>
        </a:p>
      </dgm:t>
    </dgm:pt>
    <dgm:pt modelId="{D44987DD-553B-40C1-94B1-6A55F19A133B}">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Foreign Currency First</a:t>
          </a:r>
        </a:p>
      </dgm:t>
    </dgm:pt>
    <dgm:pt modelId="{4E7BE1D2-1208-41E9-BF0D-527C87749FDE}" type="parTrans" cxnId="{093E8DA7-A518-4693-860B-A3200C29EDF8}">
      <dgm:prSet/>
      <dgm:spPr/>
      <dgm:t>
        <a:bodyPr/>
        <a:lstStyle/>
        <a:p>
          <a:endParaRPr lang="en-US"/>
        </a:p>
      </dgm:t>
    </dgm:pt>
    <dgm:pt modelId="{825460B8-9E45-45FA-B9A7-2DF9998B3E12}" type="sibTrans" cxnId="{093E8DA7-A518-4693-860B-A3200C29EDF8}">
      <dgm:prSet/>
      <dgm:spPr/>
      <dgm:t>
        <a:bodyPr/>
        <a:lstStyle/>
        <a:p>
          <a:endParaRPr lang="en-US"/>
        </a:p>
      </dgm:t>
    </dgm:pt>
    <dgm:pt modelId="{3477683D-72B4-4F6A-BBAD-AC9A5A59C6CB}">
      <dgm:prSet custT="1"/>
      <dgm:spPr/>
      <dgm:t>
        <a:bodyPr/>
        <a:lstStyle/>
        <a:p>
          <a:r>
            <a:rPr lang="ru-RU" sz="700" dirty="0">
              <a:latin typeface="Arial" panose="020B0604020202020204" pitchFamily="34" charset="0"/>
              <a:cs typeface="Arial" panose="020B0604020202020204" pitchFamily="34" charset="0"/>
            </a:rPr>
            <a:t>4. </a:t>
          </a:r>
          <a:r>
            <a:rPr lang="en-US" sz="700" dirty="0">
              <a:latin typeface="Arial" panose="020B0604020202020204" pitchFamily="34" charset="0"/>
              <a:cs typeface="Arial" panose="020B0604020202020204" pitchFamily="34" charset="0"/>
            </a:rPr>
            <a:t>Entity and relationship risk	</a:t>
          </a:r>
        </a:p>
      </dgm:t>
    </dgm:pt>
    <dgm:pt modelId="{80216888-F045-4272-8C60-8727A2F09F26}" type="parTrans" cxnId="{E8A2FA3D-9B28-48F6-A477-19670733A167}">
      <dgm:prSet/>
      <dgm:spPr/>
      <dgm:t>
        <a:bodyPr/>
        <a:lstStyle/>
        <a:p>
          <a:endParaRPr lang="en-US"/>
        </a:p>
      </dgm:t>
    </dgm:pt>
    <dgm:pt modelId="{983107BF-3666-441B-BEC0-2AAE22C07CB0}" type="sibTrans" cxnId="{E8A2FA3D-9B28-48F6-A477-19670733A167}">
      <dgm:prSet/>
      <dgm:spPr/>
      <dgm:t>
        <a:bodyPr/>
        <a:lstStyle/>
        <a:p>
          <a:endParaRPr lang="en-US"/>
        </a:p>
      </dgm:t>
    </dgm:pt>
    <dgm:pt modelId="{62CDACB8-ED96-452F-B220-675E2926C544}">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Shell Company Transactions</a:t>
          </a:r>
        </a:p>
      </dgm:t>
    </dgm:pt>
    <dgm:pt modelId="{9DCE1570-8F86-49A1-8445-22BC668E7B34}" type="parTrans" cxnId="{7F6FF4D7-81A4-4DE9-91CB-0306F5A539FC}">
      <dgm:prSet/>
      <dgm:spPr/>
      <dgm:t>
        <a:bodyPr/>
        <a:lstStyle/>
        <a:p>
          <a:endParaRPr lang="en-US"/>
        </a:p>
      </dgm:t>
    </dgm:pt>
    <dgm:pt modelId="{782096E5-408F-49B0-9BBC-F32D3960F99A}" type="sibTrans" cxnId="{7F6FF4D7-81A4-4DE9-91CB-0306F5A539FC}">
      <dgm:prSet/>
      <dgm:spPr/>
      <dgm:t>
        <a:bodyPr/>
        <a:lstStyle/>
        <a:p>
          <a:endParaRPr lang="en-US"/>
        </a:p>
      </dgm:t>
    </dgm:pt>
    <dgm:pt modelId="{44AA98C5-A1A6-4CE8-AFF4-BD2806B0C092}">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Multiple High-Risk Transactions</a:t>
          </a:r>
        </a:p>
      </dgm:t>
    </dgm:pt>
    <dgm:pt modelId="{965C5D95-33D3-4AE1-904F-3E33E28B0403}" type="parTrans" cxnId="{944789C6-0D50-4C11-BFAB-2170736576EE}">
      <dgm:prSet/>
      <dgm:spPr/>
      <dgm:t>
        <a:bodyPr/>
        <a:lstStyle/>
        <a:p>
          <a:endParaRPr lang="en-US"/>
        </a:p>
      </dgm:t>
    </dgm:pt>
    <dgm:pt modelId="{B96BF809-F385-4C25-8F4B-C657A0ED9834}" type="sibTrans" cxnId="{944789C6-0D50-4C11-BFAB-2170736576EE}">
      <dgm:prSet/>
      <dgm:spPr/>
      <dgm:t>
        <a:bodyPr/>
        <a:lstStyle/>
        <a:p>
          <a:endParaRPr lang="en-US"/>
        </a:p>
      </dgm:t>
    </dgm:pt>
    <dgm:pt modelId="{FC2EC1C5-B641-4448-8862-EAD8A7370F47}">
      <dgm:prSet custT="1"/>
      <dgm:spPr/>
      <dgm:t>
        <a:bodyPr/>
        <a:lstStyle/>
        <a:p>
          <a:r>
            <a:rPr lang="ru-RU" sz="700" dirty="0">
              <a:latin typeface="Arial" panose="020B0604020202020204" pitchFamily="34" charset="0"/>
              <a:cs typeface="Arial" panose="020B0604020202020204" pitchFamily="34" charset="0"/>
            </a:rPr>
            <a:t>5. </a:t>
          </a:r>
          <a:r>
            <a:rPr lang="en-US" sz="700" dirty="0">
              <a:latin typeface="Arial" panose="020B0604020202020204" pitchFamily="34" charset="0"/>
              <a:cs typeface="Arial" panose="020B0604020202020204" pitchFamily="34" charset="0"/>
            </a:rPr>
            <a:t>Contractual and documentation issues</a:t>
          </a:r>
        </a:p>
      </dgm:t>
    </dgm:pt>
    <dgm:pt modelId="{C01D905D-B900-445C-B905-A38B658B5164}" type="parTrans" cxnId="{B7B0C766-B27A-4079-BEC5-F0ABA83DB429}">
      <dgm:prSet/>
      <dgm:spPr/>
      <dgm:t>
        <a:bodyPr/>
        <a:lstStyle/>
        <a:p>
          <a:endParaRPr lang="en-US"/>
        </a:p>
      </dgm:t>
    </dgm:pt>
    <dgm:pt modelId="{8FC98D8A-63F6-4EAA-8EF0-F040C7779C45}" type="sibTrans" cxnId="{B7B0C766-B27A-4079-BEC5-F0ABA83DB429}">
      <dgm:prSet/>
      <dgm:spPr/>
      <dgm:t>
        <a:bodyPr/>
        <a:lstStyle/>
        <a:p>
          <a:endParaRPr lang="en-US"/>
        </a:p>
      </dgm:t>
    </dgm:pt>
    <dgm:pt modelId="{18F8A74C-D414-4ED9-819B-4A5D3921665C}">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Insufficient Transaction Description</a:t>
          </a:r>
        </a:p>
      </dgm:t>
    </dgm:pt>
    <dgm:pt modelId="{3D6A0A18-C9D6-4EC9-9083-134B4BC2B797}" type="parTrans" cxnId="{534B2C21-F9CF-4D5B-9202-B639DD4FC781}">
      <dgm:prSet/>
      <dgm:spPr/>
      <dgm:t>
        <a:bodyPr/>
        <a:lstStyle/>
        <a:p>
          <a:endParaRPr lang="en-US"/>
        </a:p>
      </dgm:t>
    </dgm:pt>
    <dgm:pt modelId="{C97E473B-0F7D-4F97-9C8A-84A8AC8E39C9}" type="sibTrans" cxnId="{534B2C21-F9CF-4D5B-9202-B639DD4FC781}">
      <dgm:prSet/>
      <dgm:spPr/>
      <dgm:t>
        <a:bodyPr/>
        <a:lstStyle/>
        <a:p>
          <a:endParaRPr lang="en-US"/>
        </a:p>
      </dgm:t>
    </dgm:pt>
    <dgm:pt modelId="{AC8990F6-FB47-4F7A-80DA-8FFFCC435BDE}">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Minimal Payment Details</a:t>
          </a:r>
        </a:p>
      </dgm:t>
    </dgm:pt>
    <dgm:pt modelId="{8F1D8C53-B8C8-4DD9-A853-AD65AD0CBEFB}" type="parTrans" cxnId="{47A1AD13-8885-445C-B7E8-E3E2AE19805D}">
      <dgm:prSet/>
      <dgm:spPr/>
      <dgm:t>
        <a:bodyPr/>
        <a:lstStyle/>
        <a:p>
          <a:endParaRPr lang="en-US"/>
        </a:p>
      </dgm:t>
    </dgm:pt>
    <dgm:pt modelId="{957B548A-8619-4013-94A8-4799E2D662EF}" type="sibTrans" cxnId="{47A1AD13-8885-445C-B7E8-E3E2AE19805D}">
      <dgm:prSet/>
      <dgm:spPr/>
      <dgm:t>
        <a:bodyPr/>
        <a:lstStyle/>
        <a:p>
          <a:endParaRPr lang="en-US"/>
        </a:p>
      </dgm:t>
    </dgm:pt>
    <dgm:pt modelId="{51002A19-49B1-4563-831E-63AB1A8CEE3C}">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Repetitive/Missing Reference Numbers</a:t>
          </a:r>
        </a:p>
      </dgm:t>
    </dgm:pt>
    <dgm:pt modelId="{0DCD992E-B46E-4757-85E0-FA309E9218FB}" type="parTrans" cxnId="{38195897-62C5-49E3-ADCC-BF0503E1AC14}">
      <dgm:prSet/>
      <dgm:spPr/>
      <dgm:t>
        <a:bodyPr/>
        <a:lstStyle/>
        <a:p>
          <a:endParaRPr lang="en-US"/>
        </a:p>
      </dgm:t>
    </dgm:pt>
    <dgm:pt modelId="{68A658AB-7723-4F86-A3D4-C26E95FA5109}" type="sibTrans" cxnId="{38195897-62C5-49E3-ADCC-BF0503E1AC14}">
      <dgm:prSet/>
      <dgm:spPr/>
      <dgm:t>
        <a:bodyPr/>
        <a:lstStyle/>
        <a:p>
          <a:endParaRPr lang="en-US"/>
        </a:p>
      </dgm:t>
    </dgm:pt>
    <dgm:pt modelId="{1A33A7C8-8468-4A48-8560-E686C4E10730}">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Inconsistent Business Activities</a:t>
          </a:r>
        </a:p>
      </dgm:t>
    </dgm:pt>
    <dgm:pt modelId="{5268419C-86C7-4F4E-98EE-F3D164CF576C}" type="parTrans" cxnId="{361E8EC8-6FFB-43D7-907B-4D20FDB237FD}">
      <dgm:prSet/>
      <dgm:spPr/>
      <dgm:t>
        <a:bodyPr/>
        <a:lstStyle/>
        <a:p>
          <a:endParaRPr lang="en-US"/>
        </a:p>
      </dgm:t>
    </dgm:pt>
    <dgm:pt modelId="{4A59242C-22A3-4E5B-B645-78F7C6E68CB5}" type="sibTrans" cxnId="{361E8EC8-6FFB-43D7-907B-4D20FDB237FD}">
      <dgm:prSet/>
      <dgm:spPr/>
      <dgm:t>
        <a:bodyPr/>
        <a:lstStyle/>
        <a:p>
          <a:endParaRPr lang="en-US"/>
        </a:p>
      </dgm:t>
    </dgm:pt>
    <dgm:pt modelId="{097ACD01-46B9-43C5-9EEC-4025FFDC9223}">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Fictitious Loan Transactions</a:t>
          </a:r>
        </a:p>
      </dgm:t>
    </dgm:pt>
    <dgm:pt modelId="{C7824C99-8D7E-45D9-AB40-969E58C0D560}" type="parTrans" cxnId="{05C8CD78-5709-446B-ACC4-C8B3291CC388}">
      <dgm:prSet/>
      <dgm:spPr/>
      <dgm:t>
        <a:bodyPr/>
        <a:lstStyle/>
        <a:p>
          <a:endParaRPr lang="en-US"/>
        </a:p>
      </dgm:t>
    </dgm:pt>
    <dgm:pt modelId="{58C8831E-D49C-4640-917F-DBA8DBA92CC0}" type="sibTrans" cxnId="{05C8CD78-5709-446B-ACC4-C8B3291CC388}">
      <dgm:prSet/>
      <dgm:spPr/>
      <dgm:t>
        <a:bodyPr/>
        <a:lstStyle/>
        <a:p>
          <a:endParaRPr lang="en-US"/>
        </a:p>
      </dgm:t>
    </dgm:pt>
    <dgm:pt modelId="{0281650D-E9A9-4B0F-A68D-2E4E88130DFE}">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Third-Party Financing</a:t>
          </a:r>
        </a:p>
      </dgm:t>
    </dgm:pt>
    <dgm:pt modelId="{4A2115E9-F303-4AA7-B440-8AB10A77EC1F}" type="parTrans" cxnId="{8984CC34-9869-4F40-82FE-F62959036A9E}">
      <dgm:prSet/>
      <dgm:spPr/>
      <dgm:t>
        <a:bodyPr/>
        <a:lstStyle/>
        <a:p>
          <a:endParaRPr lang="en-US"/>
        </a:p>
      </dgm:t>
    </dgm:pt>
    <dgm:pt modelId="{21901589-2EC7-459C-AF8A-EB8659BDB8B5}" type="sibTrans" cxnId="{8984CC34-9869-4F40-82FE-F62959036A9E}">
      <dgm:prSet/>
      <dgm:spPr/>
      <dgm:t>
        <a:bodyPr/>
        <a:lstStyle/>
        <a:p>
          <a:endParaRPr lang="en-US"/>
        </a:p>
      </dgm:t>
    </dgm:pt>
    <dgm:pt modelId="{06CF59E5-5757-4C26-95DF-A3A020A45E8C}">
      <dgm:prSet custT="1"/>
      <dgm:spPr/>
      <dgm:t>
        <a:bodyPr/>
        <a:lstStyle/>
        <a:p>
          <a:r>
            <a:rPr lang="ru-RU" sz="700" dirty="0">
              <a:latin typeface="Arial" panose="020B0604020202020204" pitchFamily="34" charset="0"/>
              <a:cs typeface="Arial" panose="020B0604020202020204" pitchFamily="34" charset="0"/>
            </a:rPr>
            <a:t>6. </a:t>
          </a:r>
          <a:r>
            <a:rPr lang="en-US" sz="700" dirty="0">
              <a:latin typeface="Arial" panose="020B0604020202020204" pitchFamily="34" charset="0"/>
              <a:cs typeface="Arial" panose="020B0604020202020204" pitchFamily="34" charset="0"/>
            </a:rPr>
            <a:t>Cash and currency operations</a:t>
          </a:r>
        </a:p>
      </dgm:t>
    </dgm:pt>
    <dgm:pt modelId="{43330DA2-669C-44F0-8811-B86D51CCFB08}" type="parTrans" cxnId="{FDCF8DFC-79FC-4F54-84C1-FD40F642920A}">
      <dgm:prSet/>
      <dgm:spPr/>
      <dgm:t>
        <a:bodyPr/>
        <a:lstStyle/>
        <a:p>
          <a:endParaRPr lang="en-US"/>
        </a:p>
      </dgm:t>
    </dgm:pt>
    <dgm:pt modelId="{45049B20-C779-4882-B131-A0A42AD052A2}" type="sibTrans" cxnId="{FDCF8DFC-79FC-4F54-84C1-FD40F642920A}">
      <dgm:prSet/>
      <dgm:spPr/>
      <dgm:t>
        <a:bodyPr/>
        <a:lstStyle/>
        <a:p>
          <a:endParaRPr lang="en-US"/>
        </a:p>
      </dgm:t>
    </dgm:pt>
    <dgm:pt modelId="{2394D785-7307-40E6-B7A0-72A28C778BAA}">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Large Cash Withdrawals</a:t>
          </a:r>
        </a:p>
      </dgm:t>
    </dgm:pt>
    <dgm:pt modelId="{7C41BAAB-0035-4080-9559-F59FA85A5A58}" type="parTrans" cxnId="{A2E58F2A-77D9-4AC4-95B4-30C9FED1BA34}">
      <dgm:prSet/>
      <dgm:spPr/>
      <dgm:t>
        <a:bodyPr/>
        <a:lstStyle/>
        <a:p>
          <a:endParaRPr lang="en-US"/>
        </a:p>
      </dgm:t>
    </dgm:pt>
    <dgm:pt modelId="{50CF4B83-7340-43CE-86F7-49A3183FA24D}" type="sibTrans" cxnId="{A2E58F2A-77D9-4AC4-95B4-30C9FED1BA34}">
      <dgm:prSet/>
      <dgm:spPr/>
      <dgm:t>
        <a:bodyPr/>
        <a:lstStyle/>
        <a:p>
          <a:endParaRPr lang="en-US"/>
        </a:p>
      </dgm:t>
    </dgm:pt>
    <dgm:pt modelId="{B32EF39A-B05A-4C1D-9916-F35FAF609501}">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Abnormal Cash Activity</a:t>
          </a:r>
        </a:p>
      </dgm:t>
    </dgm:pt>
    <dgm:pt modelId="{078C6328-2FF5-4A30-95CE-7032D66BD3F8}" type="parTrans" cxnId="{96BEA343-9828-4200-8C84-59A243DDB41D}">
      <dgm:prSet/>
      <dgm:spPr/>
      <dgm:t>
        <a:bodyPr/>
        <a:lstStyle/>
        <a:p>
          <a:endParaRPr lang="en-US"/>
        </a:p>
      </dgm:t>
    </dgm:pt>
    <dgm:pt modelId="{EA461D1C-7C0E-4104-8296-A07BCDBF0646}" type="sibTrans" cxnId="{96BEA343-9828-4200-8C84-59A243DDB41D}">
      <dgm:prSet/>
      <dgm:spPr/>
      <dgm:t>
        <a:bodyPr/>
        <a:lstStyle/>
        <a:p>
          <a:endParaRPr lang="en-US"/>
        </a:p>
      </dgm:t>
    </dgm:pt>
    <dgm:pt modelId="{9E113FEC-C097-471A-A800-14A65CB10604}">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Cash Withdrawal Pattern Changes</a:t>
          </a:r>
        </a:p>
      </dgm:t>
    </dgm:pt>
    <dgm:pt modelId="{867CFA24-D419-4FAD-AE3B-3D404A52FFF5}" type="parTrans" cxnId="{4945BFF1-14B7-4BB5-BD5A-4FB6CFDAE4B8}">
      <dgm:prSet/>
      <dgm:spPr/>
      <dgm:t>
        <a:bodyPr/>
        <a:lstStyle/>
        <a:p>
          <a:endParaRPr lang="en-US"/>
        </a:p>
      </dgm:t>
    </dgm:pt>
    <dgm:pt modelId="{62F21B4C-F85A-4FE4-892C-CDEC30CF254E}" type="sibTrans" cxnId="{4945BFF1-14B7-4BB5-BD5A-4FB6CFDAE4B8}">
      <dgm:prSet/>
      <dgm:spPr/>
      <dgm:t>
        <a:bodyPr/>
        <a:lstStyle/>
        <a:p>
          <a:endParaRPr lang="en-US"/>
        </a:p>
      </dgm:t>
    </dgm:pt>
    <dgm:pt modelId="{D9B0A1F1-0213-4B2F-BE2A-5EFA8766D00C}">
      <dgm:prSet custT="1">
        <dgm:style>
          <a:lnRef idx="2">
            <a:schemeClr val="accent5"/>
          </a:lnRef>
          <a:fillRef idx="1">
            <a:schemeClr val="lt1"/>
          </a:fillRef>
          <a:effectRef idx="0">
            <a:schemeClr val="accent5"/>
          </a:effectRef>
          <a:fontRef idx="minor">
            <a:schemeClr val="dk1"/>
          </a:fontRef>
        </dgm:style>
      </dgm:prSet>
      <dgm:spPr/>
      <dgm:t>
        <a:bodyPr/>
        <a:lstStyle/>
        <a:p>
          <a:r>
            <a:rPr lang="en-US" sz="700" dirty="0">
              <a:latin typeface="Arial" panose="020B0604020202020204" pitchFamily="34" charset="0"/>
              <a:cs typeface="Arial" panose="020B0604020202020204" pitchFamily="34" charset="0"/>
            </a:rPr>
            <a:t>Multiple Currency Transactions</a:t>
          </a:r>
        </a:p>
      </dgm:t>
    </dgm:pt>
    <dgm:pt modelId="{537005C6-AD3B-4EF3-A3F4-48A7AFBE01D7}" type="parTrans" cxnId="{F13D11AD-6EDF-44C3-B4D3-C9884DE3C167}">
      <dgm:prSet/>
      <dgm:spPr/>
      <dgm:t>
        <a:bodyPr/>
        <a:lstStyle/>
        <a:p>
          <a:endParaRPr lang="en-US"/>
        </a:p>
      </dgm:t>
    </dgm:pt>
    <dgm:pt modelId="{9750DDBA-9414-4E50-802D-F945818DEDF1}" type="sibTrans" cxnId="{F13D11AD-6EDF-44C3-B4D3-C9884DE3C167}">
      <dgm:prSet/>
      <dgm:spPr/>
      <dgm:t>
        <a:bodyPr/>
        <a:lstStyle/>
        <a:p>
          <a:endParaRPr lang="en-US"/>
        </a:p>
      </dgm:t>
    </dgm:pt>
    <dgm:pt modelId="{BF1E808E-F863-45A9-B015-BC87AB8CBB5A}">
      <dgm:prSet custT="1">
        <dgm:style>
          <a:lnRef idx="2">
            <a:schemeClr val="accent5"/>
          </a:lnRef>
          <a:fillRef idx="1">
            <a:schemeClr val="lt1"/>
          </a:fillRef>
          <a:effectRef idx="0">
            <a:schemeClr val="accent5"/>
          </a:effectRef>
          <a:fontRef idx="minor">
            <a:schemeClr val="dk1"/>
          </a:fontRef>
        </dgm:style>
      </dgm:prSet>
      <dgm:spPr/>
      <dgm:t>
        <a:bodyPr/>
        <a:lstStyle/>
        <a:p>
          <a:r>
            <a:rPr lang="en-US" sz="700">
              <a:latin typeface="Arial" panose="020B0604020202020204" pitchFamily="34" charset="0"/>
              <a:cs typeface="Arial" panose="020B0604020202020204" pitchFamily="34" charset="0"/>
            </a:rPr>
            <a:t>Transit Payments</a:t>
          </a:r>
          <a:endParaRPr lang="en-US" sz="700"/>
        </a:p>
      </dgm:t>
    </dgm:pt>
    <dgm:pt modelId="{8CD2188A-3E6D-49FB-B374-01CE7C68FCE5}" type="parTrans" cxnId="{EA86DD5A-B08B-4287-BF7A-3C4A4E85215F}">
      <dgm:prSet/>
      <dgm:spPr/>
      <dgm:t>
        <a:bodyPr/>
        <a:lstStyle/>
        <a:p>
          <a:endParaRPr lang="en-US"/>
        </a:p>
      </dgm:t>
    </dgm:pt>
    <dgm:pt modelId="{5343E90E-B24F-4B17-B5B0-126747D6CB4F}" type="sibTrans" cxnId="{EA86DD5A-B08B-4287-BF7A-3C4A4E85215F}">
      <dgm:prSet/>
      <dgm:spPr/>
      <dgm:t>
        <a:bodyPr/>
        <a:lstStyle/>
        <a:p>
          <a:endParaRPr lang="en-US"/>
        </a:p>
      </dgm:t>
    </dgm:pt>
    <dgm:pt modelId="{66DC65BE-B538-45AC-B51E-65FED7000A79}" type="pres">
      <dgm:prSet presAssocID="{C8EC659D-C0CE-4C78-8156-797C27FFA191}" presName="linear" presStyleCnt="0">
        <dgm:presLayoutVars>
          <dgm:animLvl val="lvl"/>
          <dgm:resizeHandles val="exact"/>
        </dgm:presLayoutVars>
      </dgm:prSet>
      <dgm:spPr/>
    </dgm:pt>
    <dgm:pt modelId="{9C698789-CDA8-4CD1-B51E-00F9921FDBE2}" type="pres">
      <dgm:prSet presAssocID="{3EAD2EA2-D352-4FBD-8998-7F70120B6CB1}" presName="parentText" presStyleLbl="node1" presStyleIdx="0" presStyleCnt="6" custScaleX="142857" custScaleY="95090">
        <dgm:presLayoutVars>
          <dgm:chMax val="0"/>
          <dgm:bulletEnabled val="1"/>
        </dgm:presLayoutVars>
      </dgm:prSet>
      <dgm:spPr/>
    </dgm:pt>
    <dgm:pt modelId="{932C102E-7EC2-4A60-A9C1-9473AE03541E}" type="pres">
      <dgm:prSet presAssocID="{3EAD2EA2-D352-4FBD-8998-7F70120B6CB1}" presName="childText" presStyleLbl="revTx" presStyleIdx="0" presStyleCnt="6">
        <dgm:presLayoutVars>
          <dgm:bulletEnabled val="1"/>
        </dgm:presLayoutVars>
      </dgm:prSet>
      <dgm:spPr/>
    </dgm:pt>
    <dgm:pt modelId="{5D323861-9AC0-4300-B351-07FC0993BBDE}" type="pres">
      <dgm:prSet presAssocID="{09A19ACB-EE7F-4089-866A-DC8203B8DA4F}" presName="parentText" presStyleLbl="node1" presStyleIdx="1" presStyleCnt="6">
        <dgm:presLayoutVars>
          <dgm:chMax val="0"/>
          <dgm:bulletEnabled val="1"/>
        </dgm:presLayoutVars>
      </dgm:prSet>
      <dgm:spPr/>
    </dgm:pt>
    <dgm:pt modelId="{10FF26DB-1BB3-457F-AF18-5E96151B5A06}" type="pres">
      <dgm:prSet presAssocID="{09A19ACB-EE7F-4089-866A-DC8203B8DA4F}" presName="childText" presStyleLbl="revTx" presStyleIdx="1" presStyleCnt="6">
        <dgm:presLayoutVars>
          <dgm:bulletEnabled val="1"/>
        </dgm:presLayoutVars>
      </dgm:prSet>
      <dgm:spPr/>
    </dgm:pt>
    <dgm:pt modelId="{C7C79B6E-8CB9-4E57-9FDF-21B1EB5AA8C9}" type="pres">
      <dgm:prSet presAssocID="{CBDC776D-EFDA-4FD0-B59C-6359F57EAAA1}" presName="parentText" presStyleLbl="node1" presStyleIdx="2" presStyleCnt="6">
        <dgm:presLayoutVars>
          <dgm:chMax val="0"/>
          <dgm:bulletEnabled val="1"/>
        </dgm:presLayoutVars>
      </dgm:prSet>
      <dgm:spPr/>
    </dgm:pt>
    <dgm:pt modelId="{367E5CD8-0C08-4B4C-A92B-D321B66C245D}" type="pres">
      <dgm:prSet presAssocID="{CBDC776D-EFDA-4FD0-B59C-6359F57EAAA1}" presName="childText" presStyleLbl="revTx" presStyleIdx="2" presStyleCnt="6">
        <dgm:presLayoutVars>
          <dgm:bulletEnabled val="1"/>
        </dgm:presLayoutVars>
      </dgm:prSet>
      <dgm:spPr/>
    </dgm:pt>
    <dgm:pt modelId="{07E2E188-F3AC-4DFE-B206-59BA55D791AB}" type="pres">
      <dgm:prSet presAssocID="{3477683D-72B4-4F6A-BBAD-AC9A5A59C6CB}" presName="parentText" presStyleLbl="node1" presStyleIdx="3" presStyleCnt="6">
        <dgm:presLayoutVars>
          <dgm:chMax val="0"/>
          <dgm:bulletEnabled val="1"/>
        </dgm:presLayoutVars>
      </dgm:prSet>
      <dgm:spPr/>
    </dgm:pt>
    <dgm:pt modelId="{77A3C912-FBD6-4E19-8DDE-DC051AEC92AF}" type="pres">
      <dgm:prSet presAssocID="{3477683D-72B4-4F6A-BBAD-AC9A5A59C6CB}" presName="childText" presStyleLbl="revTx" presStyleIdx="3" presStyleCnt="6">
        <dgm:presLayoutVars>
          <dgm:bulletEnabled val="1"/>
        </dgm:presLayoutVars>
      </dgm:prSet>
      <dgm:spPr/>
    </dgm:pt>
    <dgm:pt modelId="{27A88788-6B39-4AB4-ADCA-BA2FE1E23584}" type="pres">
      <dgm:prSet presAssocID="{FC2EC1C5-B641-4448-8862-EAD8A7370F47}" presName="parentText" presStyleLbl="node1" presStyleIdx="4" presStyleCnt="6">
        <dgm:presLayoutVars>
          <dgm:chMax val="0"/>
          <dgm:bulletEnabled val="1"/>
        </dgm:presLayoutVars>
      </dgm:prSet>
      <dgm:spPr/>
    </dgm:pt>
    <dgm:pt modelId="{3BD62343-27DF-4337-85F6-B833A6397E03}" type="pres">
      <dgm:prSet presAssocID="{FC2EC1C5-B641-4448-8862-EAD8A7370F47}" presName="childText" presStyleLbl="revTx" presStyleIdx="4" presStyleCnt="6">
        <dgm:presLayoutVars>
          <dgm:bulletEnabled val="1"/>
        </dgm:presLayoutVars>
      </dgm:prSet>
      <dgm:spPr/>
    </dgm:pt>
    <dgm:pt modelId="{B861E450-A0B0-4434-9839-29403835F8CD}" type="pres">
      <dgm:prSet presAssocID="{06CF59E5-5757-4C26-95DF-A3A020A45E8C}" presName="parentText" presStyleLbl="node1" presStyleIdx="5" presStyleCnt="6">
        <dgm:presLayoutVars>
          <dgm:chMax val="0"/>
          <dgm:bulletEnabled val="1"/>
        </dgm:presLayoutVars>
      </dgm:prSet>
      <dgm:spPr/>
    </dgm:pt>
    <dgm:pt modelId="{1F1BBC69-3D32-4589-B390-64F960222822}" type="pres">
      <dgm:prSet presAssocID="{06CF59E5-5757-4C26-95DF-A3A020A45E8C}" presName="childText" presStyleLbl="revTx" presStyleIdx="5" presStyleCnt="6">
        <dgm:presLayoutVars>
          <dgm:bulletEnabled val="1"/>
        </dgm:presLayoutVars>
      </dgm:prSet>
      <dgm:spPr/>
    </dgm:pt>
  </dgm:ptLst>
  <dgm:cxnLst>
    <dgm:cxn modelId="{761E2804-3461-4340-B145-CA47D304BD7C}" type="presOf" srcId="{097ACD01-46B9-43C5-9EEC-4025FFDC9223}" destId="{3BD62343-27DF-4337-85F6-B833A6397E03}" srcOrd="0" destOrd="4" presId="urn:microsoft.com/office/officeart/2005/8/layout/vList2"/>
    <dgm:cxn modelId="{10595806-35B9-4F46-89F5-0D9AED619B94}" srcId="{CBDC776D-EFDA-4FD0-B59C-6359F57EAAA1}" destId="{58C64081-4D88-4F79-B604-5CE25671CEFF}" srcOrd="5" destOrd="0" parTransId="{DDCDD139-4FAC-4D09-B9C8-E5B4C83D82B3}" sibTransId="{9430BAA0-3CBD-4248-81A9-2F6C67884673}"/>
    <dgm:cxn modelId="{F07B3D08-AEEB-4222-A1DE-26A23F504941}" type="presOf" srcId="{18F8A74C-D414-4ED9-819B-4A5D3921665C}" destId="{3BD62343-27DF-4337-85F6-B833A6397E03}" srcOrd="0" destOrd="0" presId="urn:microsoft.com/office/officeart/2005/8/layout/vList2"/>
    <dgm:cxn modelId="{3E33A211-8089-420D-BB1E-BC378EB2F119}" srcId="{C8EC659D-C0CE-4C78-8156-797C27FFA191}" destId="{CBDC776D-EFDA-4FD0-B59C-6359F57EAAA1}" srcOrd="2" destOrd="0" parTransId="{3F829D9A-75C0-4625-ABFA-DC8DEAEC661D}" sibTransId="{1D399790-88F8-4AB9-865F-377B789C48BC}"/>
    <dgm:cxn modelId="{BDF05D13-C5E3-4ECC-A547-839B05A24694}" srcId="{09A19ACB-EE7F-4089-866A-DC8203B8DA4F}" destId="{5CEA23B5-E8E7-46A0-8A5F-6A4BD634ACFA}" srcOrd="4" destOrd="0" parTransId="{43BF0245-A783-4B2D-B296-D16645062576}" sibTransId="{624925D4-88BD-459B-BC2F-21C7000236D7}"/>
    <dgm:cxn modelId="{47A1AD13-8885-445C-B7E8-E3E2AE19805D}" srcId="{FC2EC1C5-B641-4448-8862-EAD8A7370F47}" destId="{AC8990F6-FB47-4F7A-80DA-8FFFCC435BDE}" srcOrd="1" destOrd="0" parTransId="{8F1D8C53-B8C8-4DD9-A853-AD65AD0CBEFB}" sibTransId="{957B548A-8619-4013-94A8-4799E2D662EF}"/>
    <dgm:cxn modelId="{92A80515-5425-482B-B968-9626B67193B1}" type="presOf" srcId="{EAF107C4-B48F-496A-9412-7ABF2646C18E}" destId="{10FF26DB-1BB3-457F-AF18-5E96151B5A06}" srcOrd="0" destOrd="5" presId="urn:microsoft.com/office/officeart/2005/8/layout/vList2"/>
    <dgm:cxn modelId="{7F6F6418-C4EC-475F-A6A7-D8549B54AEA9}" srcId="{09A19ACB-EE7F-4089-866A-DC8203B8DA4F}" destId="{DBA67485-329A-4C58-B5ED-F5A2D04D7F79}" srcOrd="0" destOrd="0" parTransId="{7640F09E-EC71-4FDD-A0BE-2F924CB31C70}" sibTransId="{DA579874-89C0-470E-A209-00F68F140833}"/>
    <dgm:cxn modelId="{8DC0311B-042A-4D9C-8706-881F9E2B97FC}" type="presOf" srcId="{D9B0A1F1-0213-4B2F-BE2A-5EFA8766D00C}" destId="{1F1BBC69-3D32-4589-B390-64F960222822}" srcOrd="0" destOrd="3" presId="urn:microsoft.com/office/officeart/2005/8/layout/vList2"/>
    <dgm:cxn modelId="{119BFB1E-D9B3-466B-867E-CCDEA2ADC3B3}" srcId="{3EAD2EA2-D352-4FBD-8998-7F70120B6CB1}" destId="{20D7A589-B5A8-4282-94B3-21A4D4721372}" srcOrd="1" destOrd="0" parTransId="{B5DE5A56-8A98-47CE-9139-4C5F0BC011CF}" sibTransId="{645FD615-6840-4ED4-80D3-8378B37FA486}"/>
    <dgm:cxn modelId="{A4D9071F-43F4-422E-87F3-A959440F20A3}" type="presOf" srcId="{9E113FEC-C097-471A-A800-14A65CB10604}" destId="{1F1BBC69-3D32-4589-B390-64F960222822}" srcOrd="0" destOrd="2" presId="urn:microsoft.com/office/officeart/2005/8/layout/vList2"/>
    <dgm:cxn modelId="{F6CE7020-2A0A-4451-BADB-E9DD1703C603}" srcId="{C8EC659D-C0CE-4C78-8156-797C27FFA191}" destId="{09A19ACB-EE7F-4089-866A-DC8203B8DA4F}" srcOrd="1" destOrd="0" parTransId="{EC2BB994-EF40-452D-8BC7-EB9FB87EEE9E}" sibTransId="{2499B6F3-ED30-47B0-AC34-99A657F57409}"/>
    <dgm:cxn modelId="{534B2C21-F9CF-4D5B-9202-B639DD4FC781}" srcId="{FC2EC1C5-B641-4448-8862-EAD8A7370F47}" destId="{18F8A74C-D414-4ED9-819B-4A5D3921665C}" srcOrd="0" destOrd="0" parTransId="{3D6A0A18-C9D6-4EC9-9083-134B4BC2B797}" sibTransId="{C97E473B-0F7D-4F97-9C8A-84A8AC8E39C9}"/>
    <dgm:cxn modelId="{0FDFAF22-339F-474A-BFCB-D70123186674}" type="presOf" srcId="{DBA67485-329A-4C58-B5ED-F5A2D04D7F79}" destId="{10FF26DB-1BB3-457F-AF18-5E96151B5A06}" srcOrd="0" destOrd="0" presId="urn:microsoft.com/office/officeart/2005/8/layout/vList2"/>
    <dgm:cxn modelId="{7698F423-5083-4DE7-A963-DB039E4B0709}" type="presOf" srcId="{B32EF39A-B05A-4C1D-9916-F35FAF609501}" destId="{1F1BBC69-3D32-4589-B390-64F960222822}" srcOrd="0" destOrd="1" presId="urn:microsoft.com/office/officeart/2005/8/layout/vList2"/>
    <dgm:cxn modelId="{890CD127-17C3-4106-AF73-3290E690F5DB}" srcId="{CBDC776D-EFDA-4FD0-B59C-6359F57EAAA1}" destId="{803652F7-C333-4A24-AF4A-5D5108602787}" srcOrd="3" destOrd="0" parTransId="{10169178-A61F-43CE-83C0-FCED2E9134FA}" sibTransId="{F842987B-7E53-4C44-ADF6-BD38D19CD916}"/>
    <dgm:cxn modelId="{A2E58F2A-77D9-4AC4-95B4-30C9FED1BA34}" srcId="{06CF59E5-5757-4C26-95DF-A3A020A45E8C}" destId="{2394D785-7307-40E6-B7A0-72A28C778BAA}" srcOrd="0" destOrd="0" parTransId="{7C41BAAB-0035-4080-9559-F59FA85A5A58}" sibTransId="{50CF4B83-7340-43CE-86F7-49A3183FA24D}"/>
    <dgm:cxn modelId="{5A47CC34-2F70-4618-8595-4D52D753EEE5}" srcId="{3EAD2EA2-D352-4FBD-8998-7F70120B6CB1}" destId="{32135FAD-B4AA-40CF-94A3-8968007D0D71}" srcOrd="2" destOrd="0" parTransId="{4637416A-608F-4853-BE2B-C608E4539CD6}" sibTransId="{8D8176C9-4928-418A-9118-66ACEF50E8DD}"/>
    <dgm:cxn modelId="{8984CC34-9869-4F40-82FE-F62959036A9E}" srcId="{FC2EC1C5-B641-4448-8862-EAD8A7370F47}" destId="{0281650D-E9A9-4B0F-A68D-2E4E88130DFE}" srcOrd="5" destOrd="0" parTransId="{4A2115E9-F303-4AA7-B440-8AB10A77EC1F}" sibTransId="{21901589-2EC7-459C-AF8A-EB8659BDB8B5}"/>
    <dgm:cxn modelId="{4FF4E335-F023-45DB-9FC0-61E9178ED432}" type="presOf" srcId="{51002A19-49B1-4563-831E-63AB1A8CEE3C}" destId="{3BD62343-27DF-4337-85F6-B833A6397E03}" srcOrd="0" destOrd="2" presId="urn:microsoft.com/office/officeart/2005/8/layout/vList2"/>
    <dgm:cxn modelId="{F47FC63B-DF3C-4A37-AE41-8D3641814C48}" type="presOf" srcId="{06CF59E5-5757-4C26-95DF-A3A020A45E8C}" destId="{B861E450-A0B0-4434-9839-29403835F8CD}" srcOrd="0" destOrd="0" presId="urn:microsoft.com/office/officeart/2005/8/layout/vList2"/>
    <dgm:cxn modelId="{E8A2FA3D-9B28-48F6-A477-19670733A167}" srcId="{C8EC659D-C0CE-4C78-8156-797C27FFA191}" destId="{3477683D-72B4-4F6A-BBAD-AC9A5A59C6CB}" srcOrd="3" destOrd="0" parTransId="{80216888-F045-4272-8C60-8727A2F09F26}" sibTransId="{983107BF-3666-441B-BEC0-2AAE22C07CB0}"/>
    <dgm:cxn modelId="{6CDC5A40-EE2A-46BC-AC28-D740CA2D578D}" type="presOf" srcId="{71DD70F5-ED71-41A9-BA9B-12514692C639}" destId="{10FF26DB-1BB3-457F-AF18-5E96151B5A06}" srcOrd="0" destOrd="2" presId="urn:microsoft.com/office/officeart/2005/8/layout/vList2"/>
    <dgm:cxn modelId="{1F94C75C-0AF9-492B-A9A0-495CD5DA4544}" type="presOf" srcId="{20D7A589-B5A8-4282-94B3-21A4D4721372}" destId="{932C102E-7EC2-4A60-A9C1-9473AE03541E}" srcOrd="0" destOrd="1" presId="urn:microsoft.com/office/officeart/2005/8/layout/vList2"/>
    <dgm:cxn modelId="{96BEA343-9828-4200-8C84-59A243DDB41D}" srcId="{06CF59E5-5757-4C26-95DF-A3A020A45E8C}" destId="{B32EF39A-B05A-4C1D-9916-F35FAF609501}" srcOrd="1" destOrd="0" parTransId="{078C6328-2FF5-4A30-95CE-7032D66BD3F8}" sibTransId="{EA461D1C-7C0E-4104-8296-A07BCDBF0646}"/>
    <dgm:cxn modelId="{9E69D145-FD15-4B3B-8921-91DB93193930}" type="presOf" srcId="{D44987DD-553B-40C1-94B1-6A55F19A133B}" destId="{367E5CD8-0C08-4B4C-A92B-D321B66C245D}" srcOrd="0" destOrd="6" presId="urn:microsoft.com/office/officeart/2005/8/layout/vList2"/>
    <dgm:cxn modelId="{B7B0C766-B27A-4079-BEC5-F0ABA83DB429}" srcId="{C8EC659D-C0CE-4C78-8156-797C27FFA191}" destId="{FC2EC1C5-B641-4448-8862-EAD8A7370F47}" srcOrd="4" destOrd="0" parTransId="{C01D905D-B900-445C-B905-A38B658B5164}" sibTransId="{8FC98D8A-63F6-4EAA-8EF0-F040C7779C45}"/>
    <dgm:cxn modelId="{FC8AF668-CE97-48D5-B9E7-431C8FD27E02}" type="presOf" srcId="{BF1E808E-F863-45A9-B015-BC87AB8CBB5A}" destId="{932C102E-7EC2-4A60-A9C1-9473AE03541E}" srcOrd="0" destOrd="0" presId="urn:microsoft.com/office/officeart/2005/8/layout/vList2"/>
    <dgm:cxn modelId="{5531596D-C3D5-4A4B-AE7E-DDD9362D30AF}" srcId="{3EAD2EA2-D352-4FBD-8998-7F70120B6CB1}" destId="{9BA58B6E-AC07-47EC-B653-3EC014F72FD1}" srcOrd="5" destOrd="0" parTransId="{DD484123-948A-4439-994B-4E1C6E401ED0}" sibTransId="{BE5BF18F-9D79-4C3A-B72B-0CE1B5CE2331}"/>
    <dgm:cxn modelId="{8F9E5474-CF42-40EC-8486-AC9E238F6E30}" srcId="{CBDC776D-EFDA-4FD0-B59C-6359F57EAAA1}" destId="{D5CB2BE1-1880-4AD0-B692-4CD275E022F4}" srcOrd="4" destOrd="0" parTransId="{89357681-423A-4607-8F2B-AE422C5DEFEC}" sibTransId="{DF68293B-7F05-4726-86C3-FCFB731AE9BA}"/>
    <dgm:cxn modelId="{70D8F474-43CE-480B-8811-8DD4F5CB5341}" type="presOf" srcId="{3477683D-72B4-4F6A-BBAD-AC9A5A59C6CB}" destId="{07E2E188-F3AC-4DFE-B206-59BA55D791AB}" srcOrd="0" destOrd="0" presId="urn:microsoft.com/office/officeart/2005/8/layout/vList2"/>
    <dgm:cxn modelId="{8093F756-FF85-429F-95CE-CF9A1F4A1751}" srcId="{3EAD2EA2-D352-4FBD-8998-7F70120B6CB1}" destId="{D1694452-3E32-4989-A8D7-985F334C534E}" srcOrd="6" destOrd="0" parTransId="{2691CC92-40B4-471F-B28C-A373ACAAAFC8}" sibTransId="{7B010B16-75B5-463B-B801-D6AD41293632}"/>
    <dgm:cxn modelId="{05642158-BF9F-4307-9B33-956E06A5A85D}" type="presOf" srcId="{0A585087-437F-4487-96EB-89B3853125FF}" destId="{932C102E-7EC2-4A60-A9C1-9473AE03541E}" srcOrd="0" destOrd="8" presId="urn:microsoft.com/office/officeart/2005/8/layout/vList2"/>
    <dgm:cxn modelId="{05C8CD78-5709-446B-ACC4-C8B3291CC388}" srcId="{FC2EC1C5-B641-4448-8862-EAD8A7370F47}" destId="{097ACD01-46B9-43C5-9EEC-4025FFDC9223}" srcOrd="4" destOrd="0" parTransId="{C7824C99-8D7E-45D9-AB40-969E58C0D560}" sibTransId="{58C8831E-D49C-4640-917F-DBA8DBA92CC0}"/>
    <dgm:cxn modelId="{7EE79759-43C6-4FF6-BAB5-64C489086A75}" type="presOf" srcId="{F58150D9-2FF5-422F-891B-BAEC2B2C7A7D}" destId="{367E5CD8-0C08-4B4C-A92B-D321B66C245D}" srcOrd="0" destOrd="1" presId="urn:microsoft.com/office/officeart/2005/8/layout/vList2"/>
    <dgm:cxn modelId="{EA86DD5A-B08B-4287-BF7A-3C4A4E85215F}" srcId="{3EAD2EA2-D352-4FBD-8998-7F70120B6CB1}" destId="{BF1E808E-F863-45A9-B015-BC87AB8CBB5A}" srcOrd="0" destOrd="0" parTransId="{8CD2188A-3E6D-49FB-B374-01CE7C68FCE5}" sibTransId="{5343E90E-B24F-4B17-B5B0-126747D6CB4F}"/>
    <dgm:cxn modelId="{54DFC382-70A6-45F4-9B4A-6B758BB82708}" srcId="{09A19ACB-EE7F-4089-866A-DC8203B8DA4F}" destId="{EAF107C4-B48F-496A-9412-7ABF2646C18E}" srcOrd="5" destOrd="0" parTransId="{B537A041-5878-40AE-AB68-78E942E3D4ED}" sibTransId="{32E1B884-500B-4E02-BB42-B830AD57C6F3}"/>
    <dgm:cxn modelId="{8587A083-CD91-46A9-9DFB-7310BAC81430}" type="presOf" srcId="{D5CB2BE1-1880-4AD0-B692-4CD275E022F4}" destId="{367E5CD8-0C08-4B4C-A92B-D321B66C245D}" srcOrd="0" destOrd="4" presId="urn:microsoft.com/office/officeart/2005/8/layout/vList2"/>
    <dgm:cxn modelId="{A0039F86-41AC-4D16-A37F-F0B00E74C7BC}" srcId="{3EAD2EA2-D352-4FBD-8998-7F70120B6CB1}" destId="{726B243F-9F99-4B3B-9B9D-0D28D2FE498B}" srcOrd="7" destOrd="0" parTransId="{81483E14-3B59-447A-8C88-47D7BC9439A3}" sibTransId="{2C277F28-583E-4302-B1FE-90F7106524DF}"/>
    <dgm:cxn modelId="{475D0388-CE41-4EFE-807B-E691AF44783F}" type="presOf" srcId="{726B243F-9F99-4B3B-9B9D-0D28D2FE498B}" destId="{932C102E-7EC2-4A60-A9C1-9473AE03541E}" srcOrd="0" destOrd="7" presId="urn:microsoft.com/office/officeart/2005/8/layout/vList2"/>
    <dgm:cxn modelId="{ED69E188-5D79-4E89-A971-43D6ED93C77A}" srcId="{3EAD2EA2-D352-4FBD-8998-7F70120B6CB1}" destId="{0A585087-437F-4487-96EB-89B3853125FF}" srcOrd="8" destOrd="0" parTransId="{8804CF8B-4496-4B34-96A6-B56D43BBF854}" sibTransId="{4C00AC79-5740-4AFE-A524-9D367F68D4C8}"/>
    <dgm:cxn modelId="{455A418B-9778-4029-9F50-5D142107DFD2}" type="presOf" srcId="{C8EC659D-C0CE-4C78-8156-797C27FFA191}" destId="{66DC65BE-B538-45AC-B51E-65FED7000A79}" srcOrd="0" destOrd="0" presId="urn:microsoft.com/office/officeart/2005/8/layout/vList2"/>
    <dgm:cxn modelId="{9CD1598B-FE66-4554-80E9-605D90155B2A}" srcId="{C8EC659D-C0CE-4C78-8156-797C27FFA191}" destId="{3EAD2EA2-D352-4FBD-8998-7F70120B6CB1}" srcOrd="0" destOrd="0" parTransId="{C543DDEB-2A77-440E-9722-E8162F94AC0D}" sibTransId="{107A22D8-B879-4025-AA06-F25A3FD955F0}"/>
    <dgm:cxn modelId="{DE557693-B51D-4088-8676-4ABB036776BD}" type="presOf" srcId="{D54FFEA7-9BE8-4FF1-A64F-9AAC524E915D}" destId="{367E5CD8-0C08-4B4C-A92B-D321B66C245D}" srcOrd="0" destOrd="0" presId="urn:microsoft.com/office/officeart/2005/8/layout/vList2"/>
    <dgm:cxn modelId="{EAD48094-1BCE-4473-A9E7-AD77E95367E6}" type="presOf" srcId="{FC2EC1C5-B641-4448-8862-EAD8A7370F47}" destId="{27A88788-6B39-4AB4-ADCA-BA2FE1E23584}" srcOrd="0" destOrd="0" presId="urn:microsoft.com/office/officeart/2005/8/layout/vList2"/>
    <dgm:cxn modelId="{38195897-62C5-49E3-ADCC-BF0503E1AC14}" srcId="{FC2EC1C5-B641-4448-8862-EAD8A7370F47}" destId="{51002A19-49B1-4563-831E-63AB1A8CEE3C}" srcOrd="2" destOrd="0" parTransId="{0DCD992E-B46E-4757-85E0-FA309E9218FB}" sibTransId="{68A658AB-7723-4F86-A3D4-C26E95FA5109}"/>
    <dgm:cxn modelId="{94A5AF99-94C5-4521-A71E-F8D7F8BBA16A}" srcId="{CBDC776D-EFDA-4FD0-B59C-6359F57EAAA1}" destId="{D54FFEA7-9BE8-4FF1-A64F-9AAC524E915D}" srcOrd="0" destOrd="0" parTransId="{C2A5D874-776B-4000-8802-D32F55FF072C}" sibTransId="{F57B0F26-9F4A-4498-B9FA-8BF3A84A6BE6}"/>
    <dgm:cxn modelId="{F8CD8A9A-441C-4E9B-8D18-4AA129999C81}" type="presOf" srcId="{62CDACB8-ED96-452F-B220-675E2926C544}" destId="{77A3C912-FBD6-4E19-8DDE-DC051AEC92AF}" srcOrd="0" destOrd="0" presId="urn:microsoft.com/office/officeart/2005/8/layout/vList2"/>
    <dgm:cxn modelId="{4E9621A2-042D-46E2-A0FD-0EA38552DE39}" srcId="{3EAD2EA2-D352-4FBD-8998-7F70120B6CB1}" destId="{7A312F82-D44F-468D-9180-65FBA95E1074}" srcOrd="3" destOrd="0" parTransId="{D31138D1-C553-4B57-82D8-9F5EFA6494E1}" sibTransId="{5F931F65-8A21-450A-8981-832A22916464}"/>
    <dgm:cxn modelId="{4D71DCA4-1E58-4660-909D-9B96C32D72BB}" srcId="{3EAD2EA2-D352-4FBD-8998-7F70120B6CB1}" destId="{F03C6D13-2DAF-4FE4-9504-179F9C2E9A40}" srcOrd="4" destOrd="0" parTransId="{681DD3AC-7907-4435-B993-018BB1C5E38E}" sibTransId="{CDC32796-B9D7-45AD-9F54-59D9D6398B7B}"/>
    <dgm:cxn modelId="{B1AF24A6-814A-4BB3-9649-4F37421D13F8}" type="presOf" srcId="{44AA98C5-A1A6-4CE8-AFF4-BD2806B0C092}" destId="{77A3C912-FBD6-4E19-8DDE-DC051AEC92AF}" srcOrd="0" destOrd="1" presId="urn:microsoft.com/office/officeart/2005/8/layout/vList2"/>
    <dgm:cxn modelId="{F10048A6-8F34-4010-81D6-4E238CDE6887}" type="presOf" srcId="{5777C7E8-38DE-4822-9052-87C5A9210D24}" destId="{10FF26DB-1BB3-457F-AF18-5E96151B5A06}" srcOrd="0" destOrd="3" presId="urn:microsoft.com/office/officeart/2005/8/layout/vList2"/>
    <dgm:cxn modelId="{093E8DA7-A518-4693-860B-A3200C29EDF8}" srcId="{CBDC776D-EFDA-4FD0-B59C-6359F57EAAA1}" destId="{D44987DD-553B-40C1-94B1-6A55F19A133B}" srcOrd="6" destOrd="0" parTransId="{4E7BE1D2-1208-41E9-BF0D-527C87749FDE}" sibTransId="{825460B8-9E45-45FA-B9A7-2DF9998B3E12}"/>
    <dgm:cxn modelId="{F13D11AD-6EDF-44C3-B4D3-C9884DE3C167}" srcId="{06CF59E5-5757-4C26-95DF-A3A020A45E8C}" destId="{D9B0A1F1-0213-4B2F-BE2A-5EFA8766D00C}" srcOrd="3" destOrd="0" parTransId="{537005C6-AD3B-4EF3-A3F4-48A7AFBE01D7}" sibTransId="{9750DDBA-9414-4E50-802D-F945818DEDF1}"/>
    <dgm:cxn modelId="{5A16A2AD-4312-41C2-9F27-8F4F0F6BF79E}" type="presOf" srcId="{803652F7-C333-4A24-AF4A-5D5108602787}" destId="{367E5CD8-0C08-4B4C-A92B-D321B66C245D}" srcOrd="0" destOrd="3" presId="urn:microsoft.com/office/officeart/2005/8/layout/vList2"/>
    <dgm:cxn modelId="{545C56B6-79D3-46BB-809F-43F6F966C922}" type="presOf" srcId="{5CEA23B5-E8E7-46A0-8A5F-6A4BD634ACFA}" destId="{10FF26DB-1BB3-457F-AF18-5E96151B5A06}" srcOrd="0" destOrd="4" presId="urn:microsoft.com/office/officeart/2005/8/layout/vList2"/>
    <dgm:cxn modelId="{8F492ABB-8C40-4052-A6D0-F3968BF490B2}" srcId="{09A19ACB-EE7F-4089-866A-DC8203B8DA4F}" destId="{5777C7E8-38DE-4822-9052-87C5A9210D24}" srcOrd="3" destOrd="0" parTransId="{D98B3DE8-3265-432C-9B8C-E463B4D8A79C}" sibTransId="{704EC90F-0B0F-47D3-80F5-27D2C99B386A}"/>
    <dgm:cxn modelId="{04FFAABC-EA54-4B27-987E-2EE2143AE333}" type="presOf" srcId="{9BA58B6E-AC07-47EC-B653-3EC014F72FD1}" destId="{932C102E-7EC2-4A60-A9C1-9473AE03541E}" srcOrd="0" destOrd="5" presId="urn:microsoft.com/office/officeart/2005/8/layout/vList2"/>
    <dgm:cxn modelId="{D9AB50BD-B6D1-4554-827B-DD0356AB7EDA}" type="presOf" srcId="{04F41D11-C5EB-4B88-BD56-6235C4E79545}" destId="{10FF26DB-1BB3-457F-AF18-5E96151B5A06}" srcOrd="0" destOrd="1" presId="urn:microsoft.com/office/officeart/2005/8/layout/vList2"/>
    <dgm:cxn modelId="{ABE852C1-54E4-466F-9D41-F1DD7F7EE49F}" srcId="{09A19ACB-EE7F-4089-866A-DC8203B8DA4F}" destId="{04F41D11-C5EB-4B88-BD56-6235C4E79545}" srcOrd="1" destOrd="0" parTransId="{54112812-10FF-4CC2-9B1B-FFA296B0FE11}" sibTransId="{FF14F9CD-0C66-4407-A0E9-019E4FB3291A}"/>
    <dgm:cxn modelId="{488467C4-40F4-4E7B-A56A-B0A1FFD191B6}" type="presOf" srcId="{7A312F82-D44F-468D-9180-65FBA95E1074}" destId="{932C102E-7EC2-4A60-A9C1-9473AE03541E}" srcOrd="0" destOrd="3" presId="urn:microsoft.com/office/officeart/2005/8/layout/vList2"/>
    <dgm:cxn modelId="{944789C6-0D50-4C11-BFAB-2170736576EE}" srcId="{3477683D-72B4-4F6A-BBAD-AC9A5A59C6CB}" destId="{44AA98C5-A1A6-4CE8-AFF4-BD2806B0C092}" srcOrd="1" destOrd="0" parTransId="{965C5D95-33D3-4AE1-904F-3E33E28B0403}" sibTransId="{B96BF809-F385-4C25-8F4B-C657A0ED9834}"/>
    <dgm:cxn modelId="{361E8EC8-6FFB-43D7-907B-4D20FDB237FD}" srcId="{FC2EC1C5-B641-4448-8862-EAD8A7370F47}" destId="{1A33A7C8-8468-4A48-8560-E686C4E10730}" srcOrd="3" destOrd="0" parTransId="{5268419C-86C7-4F4E-98EE-F3D164CF576C}" sibTransId="{4A59242C-22A3-4E5B-B645-78F7C6E68CB5}"/>
    <dgm:cxn modelId="{FB8E27C9-9BD0-4E98-BA53-522D6AF70F81}" type="presOf" srcId="{32135FAD-B4AA-40CF-94A3-8968007D0D71}" destId="{932C102E-7EC2-4A60-A9C1-9473AE03541E}" srcOrd="0" destOrd="2" presId="urn:microsoft.com/office/officeart/2005/8/layout/vList2"/>
    <dgm:cxn modelId="{F457B0CA-CE99-42D4-977D-8B3DF7FD9800}" srcId="{CBDC776D-EFDA-4FD0-B59C-6359F57EAAA1}" destId="{F58150D9-2FF5-422F-891B-BAEC2B2C7A7D}" srcOrd="1" destOrd="0" parTransId="{022C629F-3880-44BA-92B4-000F57B58E2B}" sibTransId="{B5E6F18B-FA30-470F-8608-6578FBB45B2E}"/>
    <dgm:cxn modelId="{12B0E8CC-74BC-4848-8C9B-E459B779015E}" srcId="{09A19ACB-EE7F-4089-866A-DC8203B8DA4F}" destId="{71DD70F5-ED71-41A9-BA9B-12514692C639}" srcOrd="2" destOrd="0" parTransId="{A8B1E5AD-790F-458A-B28E-537EFEA17E69}" sibTransId="{A19333F2-D425-46A3-941D-5648775E2BE9}"/>
    <dgm:cxn modelId="{D5ECD2D7-700A-43EE-B76B-05B5330F9573}" type="presOf" srcId="{2394D785-7307-40E6-B7A0-72A28C778BAA}" destId="{1F1BBC69-3D32-4589-B390-64F960222822}" srcOrd="0" destOrd="0" presId="urn:microsoft.com/office/officeart/2005/8/layout/vList2"/>
    <dgm:cxn modelId="{7F6FF4D7-81A4-4DE9-91CB-0306F5A539FC}" srcId="{3477683D-72B4-4F6A-BBAD-AC9A5A59C6CB}" destId="{62CDACB8-ED96-452F-B220-675E2926C544}" srcOrd="0" destOrd="0" parTransId="{9DCE1570-8F86-49A1-8445-22BC668E7B34}" sibTransId="{782096E5-408F-49B0-9BBC-F32D3960F99A}"/>
    <dgm:cxn modelId="{CE2A56D8-2F30-4B38-AD22-A7FD0F736C0B}" type="presOf" srcId="{F03C6D13-2DAF-4FE4-9504-179F9C2E9A40}" destId="{932C102E-7EC2-4A60-A9C1-9473AE03541E}" srcOrd="0" destOrd="4" presId="urn:microsoft.com/office/officeart/2005/8/layout/vList2"/>
    <dgm:cxn modelId="{A94EFCD8-CE66-4096-8153-E7FDC48F42A0}" type="presOf" srcId="{CBDC776D-EFDA-4FD0-B59C-6359F57EAAA1}" destId="{C7C79B6E-8CB9-4E57-9FDF-21B1EB5AA8C9}" srcOrd="0" destOrd="0" presId="urn:microsoft.com/office/officeart/2005/8/layout/vList2"/>
    <dgm:cxn modelId="{54864DE0-F4AC-4E9B-B6E2-0E0E74F5EB7E}" type="presOf" srcId="{58C64081-4D88-4F79-B604-5CE25671CEFF}" destId="{367E5CD8-0C08-4B4C-A92B-D321B66C245D}" srcOrd="0" destOrd="5" presId="urn:microsoft.com/office/officeart/2005/8/layout/vList2"/>
    <dgm:cxn modelId="{710F47E1-387B-49DA-A57D-F6149C92DECC}" type="presOf" srcId="{1A33A7C8-8468-4A48-8560-E686C4E10730}" destId="{3BD62343-27DF-4337-85F6-B833A6397E03}" srcOrd="0" destOrd="3" presId="urn:microsoft.com/office/officeart/2005/8/layout/vList2"/>
    <dgm:cxn modelId="{D54DF1E1-E3F8-4791-ADF0-0CD96FD133B2}" srcId="{CBDC776D-EFDA-4FD0-B59C-6359F57EAAA1}" destId="{4EA0F72C-B02B-44ED-861E-B96936CDF14F}" srcOrd="2" destOrd="0" parTransId="{C46085CA-3184-4514-9586-B7F1A1C2627D}" sibTransId="{A4B2DE9C-460B-4D69-AAF2-DB74E81267A5}"/>
    <dgm:cxn modelId="{9ECAA7E8-FF11-40A7-A720-3EBE987A488B}" type="presOf" srcId="{0281650D-E9A9-4B0F-A68D-2E4E88130DFE}" destId="{3BD62343-27DF-4337-85F6-B833A6397E03}" srcOrd="0" destOrd="5" presId="urn:microsoft.com/office/officeart/2005/8/layout/vList2"/>
    <dgm:cxn modelId="{ABCA3DEA-3EE2-4625-AABB-BEB107FDC9AD}" type="presOf" srcId="{AC8990F6-FB47-4F7A-80DA-8FFFCC435BDE}" destId="{3BD62343-27DF-4337-85F6-B833A6397E03}" srcOrd="0" destOrd="1" presId="urn:microsoft.com/office/officeart/2005/8/layout/vList2"/>
    <dgm:cxn modelId="{BFDFD0ED-0904-466A-807E-E7C759C7925A}" type="presOf" srcId="{09A19ACB-EE7F-4089-866A-DC8203B8DA4F}" destId="{5D323861-9AC0-4300-B351-07FC0993BBDE}" srcOrd="0" destOrd="0" presId="urn:microsoft.com/office/officeart/2005/8/layout/vList2"/>
    <dgm:cxn modelId="{4945BFF1-14B7-4BB5-BD5A-4FB6CFDAE4B8}" srcId="{06CF59E5-5757-4C26-95DF-A3A020A45E8C}" destId="{9E113FEC-C097-471A-A800-14A65CB10604}" srcOrd="2" destOrd="0" parTransId="{867CFA24-D419-4FAD-AE3B-3D404A52FFF5}" sibTransId="{62F21B4C-F85A-4FE4-892C-CDEC30CF254E}"/>
    <dgm:cxn modelId="{400157F3-AFEC-408C-856F-3FB5B1C987BC}" type="presOf" srcId="{4EA0F72C-B02B-44ED-861E-B96936CDF14F}" destId="{367E5CD8-0C08-4B4C-A92B-D321B66C245D}" srcOrd="0" destOrd="2" presId="urn:microsoft.com/office/officeart/2005/8/layout/vList2"/>
    <dgm:cxn modelId="{AB43A0FA-605E-4D56-9D12-B0E59F5505EC}" type="presOf" srcId="{3EAD2EA2-D352-4FBD-8998-7F70120B6CB1}" destId="{9C698789-CDA8-4CD1-B51E-00F9921FDBE2}" srcOrd="0" destOrd="0" presId="urn:microsoft.com/office/officeart/2005/8/layout/vList2"/>
    <dgm:cxn modelId="{D63751FC-5BAF-4E34-83D0-D72B10D28BC3}" type="presOf" srcId="{D1694452-3E32-4989-A8D7-985F334C534E}" destId="{932C102E-7EC2-4A60-A9C1-9473AE03541E}" srcOrd="0" destOrd="6" presId="urn:microsoft.com/office/officeart/2005/8/layout/vList2"/>
    <dgm:cxn modelId="{FDCF8DFC-79FC-4F54-84C1-FD40F642920A}" srcId="{C8EC659D-C0CE-4C78-8156-797C27FFA191}" destId="{06CF59E5-5757-4C26-95DF-A3A020A45E8C}" srcOrd="5" destOrd="0" parTransId="{43330DA2-669C-44F0-8811-B86D51CCFB08}" sibTransId="{45049B20-C779-4882-B131-A0A42AD052A2}"/>
    <dgm:cxn modelId="{1E31EC62-74B3-4F94-A9A7-05F53DD9FA52}" type="presParOf" srcId="{66DC65BE-B538-45AC-B51E-65FED7000A79}" destId="{9C698789-CDA8-4CD1-B51E-00F9921FDBE2}" srcOrd="0" destOrd="0" presId="urn:microsoft.com/office/officeart/2005/8/layout/vList2"/>
    <dgm:cxn modelId="{10E3EB40-56FD-44B1-945C-8DF5CBDFA1B2}" type="presParOf" srcId="{66DC65BE-B538-45AC-B51E-65FED7000A79}" destId="{932C102E-7EC2-4A60-A9C1-9473AE03541E}" srcOrd="1" destOrd="0" presId="urn:microsoft.com/office/officeart/2005/8/layout/vList2"/>
    <dgm:cxn modelId="{AB53D64F-6DE3-4AC8-B331-0DB9A892A199}" type="presParOf" srcId="{66DC65BE-B538-45AC-B51E-65FED7000A79}" destId="{5D323861-9AC0-4300-B351-07FC0993BBDE}" srcOrd="2" destOrd="0" presId="urn:microsoft.com/office/officeart/2005/8/layout/vList2"/>
    <dgm:cxn modelId="{D2D7E5C0-F951-46FE-B749-D90495FA7EA6}" type="presParOf" srcId="{66DC65BE-B538-45AC-B51E-65FED7000A79}" destId="{10FF26DB-1BB3-457F-AF18-5E96151B5A06}" srcOrd="3" destOrd="0" presId="urn:microsoft.com/office/officeart/2005/8/layout/vList2"/>
    <dgm:cxn modelId="{1407E251-F2ED-47CD-8EDF-1B5D3E480263}" type="presParOf" srcId="{66DC65BE-B538-45AC-B51E-65FED7000A79}" destId="{C7C79B6E-8CB9-4E57-9FDF-21B1EB5AA8C9}" srcOrd="4" destOrd="0" presId="urn:microsoft.com/office/officeart/2005/8/layout/vList2"/>
    <dgm:cxn modelId="{E49676FE-130B-4072-896E-869DCEF8A73D}" type="presParOf" srcId="{66DC65BE-B538-45AC-B51E-65FED7000A79}" destId="{367E5CD8-0C08-4B4C-A92B-D321B66C245D}" srcOrd="5" destOrd="0" presId="urn:microsoft.com/office/officeart/2005/8/layout/vList2"/>
    <dgm:cxn modelId="{CBA3ECA6-1573-47FA-914B-60A152F826C9}" type="presParOf" srcId="{66DC65BE-B538-45AC-B51E-65FED7000A79}" destId="{07E2E188-F3AC-4DFE-B206-59BA55D791AB}" srcOrd="6" destOrd="0" presId="urn:microsoft.com/office/officeart/2005/8/layout/vList2"/>
    <dgm:cxn modelId="{D13DBD36-A9B2-47B9-A8F5-7F0908D65129}" type="presParOf" srcId="{66DC65BE-B538-45AC-B51E-65FED7000A79}" destId="{77A3C912-FBD6-4E19-8DDE-DC051AEC92AF}" srcOrd="7" destOrd="0" presId="urn:microsoft.com/office/officeart/2005/8/layout/vList2"/>
    <dgm:cxn modelId="{055383E5-418B-45D9-A174-8B8F18CBB07F}" type="presParOf" srcId="{66DC65BE-B538-45AC-B51E-65FED7000A79}" destId="{27A88788-6B39-4AB4-ADCA-BA2FE1E23584}" srcOrd="8" destOrd="0" presId="urn:microsoft.com/office/officeart/2005/8/layout/vList2"/>
    <dgm:cxn modelId="{8556962D-844A-44C8-B5ED-00FE74D7FAC3}" type="presParOf" srcId="{66DC65BE-B538-45AC-B51E-65FED7000A79}" destId="{3BD62343-27DF-4337-85F6-B833A6397E03}" srcOrd="9" destOrd="0" presId="urn:microsoft.com/office/officeart/2005/8/layout/vList2"/>
    <dgm:cxn modelId="{D17F8EE0-0346-403A-AF64-F50F1FBFEA20}" type="presParOf" srcId="{66DC65BE-B538-45AC-B51E-65FED7000A79}" destId="{B861E450-A0B0-4434-9839-29403835F8CD}" srcOrd="10" destOrd="0" presId="urn:microsoft.com/office/officeart/2005/8/layout/vList2"/>
    <dgm:cxn modelId="{8C89EC87-C624-4589-A85C-79B324ED22DF}" type="presParOf" srcId="{66DC65BE-B538-45AC-B51E-65FED7000A79}" destId="{1F1BBC69-3D32-4589-B390-64F960222822}" srcOrd="11"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F8A890C-BEAA-45F9-BF2E-3C71DE173113}" type="doc">
      <dgm:prSet loTypeId="urn:microsoft.com/office/officeart/2005/8/layout/bProcess3" loCatId="process" qsTypeId="urn:microsoft.com/office/officeart/2005/8/quickstyle/simple1" qsCatId="simple" csTypeId="urn:microsoft.com/office/officeart/2005/8/colors/accent1_1" csCatId="accent1" phldr="1"/>
      <dgm:spPr/>
      <dgm:t>
        <a:bodyPr/>
        <a:lstStyle/>
        <a:p>
          <a:endParaRPr lang="en-US"/>
        </a:p>
      </dgm:t>
    </dgm:pt>
    <dgm:pt modelId="{BED51EAC-D7FD-4F0D-BD59-DD387983869A}">
      <dgm:prSet custT="1"/>
      <dgm:spPr/>
      <dgm:t>
        <a:bodyPr/>
        <a:lstStyle/>
        <a:p>
          <a:r>
            <a:rPr lang="en-US" sz="1400" dirty="0">
              <a:latin typeface="Arial" panose="020B0604020202020204" pitchFamily="34" charset="0"/>
              <a:cs typeface="Arial" panose="020B0604020202020204" pitchFamily="34" charset="0"/>
            </a:rPr>
            <a:t>1. Divide the data into training and testing sets </a:t>
          </a:r>
          <a:r>
            <a:rPr lang="en-US" sz="1400" b="1" dirty="0">
              <a:latin typeface="Arial" panose="020B0604020202020204" pitchFamily="34" charset="0"/>
              <a:cs typeface="Arial" panose="020B0604020202020204" pitchFamily="34" charset="0"/>
            </a:rPr>
            <a:t>(B1–B5; Syn100/Syn500)</a:t>
          </a:r>
          <a:endParaRPr lang="en-US" sz="1400" dirty="0">
            <a:latin typeface="Arial" panose="020B0604020202020204" pitchFamily="34" charset="0"/>
            <a:cs typeface="Arial" panose="020B0604020202020204" pitchFamily="34" charset="0"/>
          </a:endParaRPr>
        </a:p>
      </dgm:t>
    </dgm:pt>
    <dgm:pt modelId="{0C9B3AC3-A52F-4598-90C8-5D84749D04A3}" type="parTrans" cxnId="{6FB07EEF-8BBB-471D-9035-685B12025949}">
      <dgm:prSet/>
      <dgm:spPr/>
      <dgm:t>
        <a:bodyPr/>
        <a:lstStyle/>
        <a:p>
          <a:endParaRPr lang="en-US" sz="2000">
            <a:latin typeface="Arial" panose="020B0604020202020204" pitchFamily="34" charset="0"/>
            <a:cs typeface="Arial" panose="020B0604020202020204" pitchFamily="34" charset="0"/>
          </a:endParaRPr>
        </a:p>
      </dgm:t>
    </dgm:pt>
    <dgm:pt modelId="{B1C5B628-5EE4-49CA-9915-346FA77E1B4E}" type="sibTrans" cxnId="{6FB07EEF-8BBB-471D-9035-685B12025949}">
      <dgm:prSet custT="1"/>
      <dgm:spPr/>
      <dgm:t>
        <a:bodyPr/>
        <a:lstStyle/>
        <a:p>
          <a:endParaRPr lang="en-US" sz="600">
            <a:latin typeface="Arial" panose="020B0604020202020204" pitchFamily="34" charset="0"/>
            <a:cs typeface="Arial" panose="020B0604020202020204" pitchFamily="34" charset="0"/>
          </a:endParaRPr>
        </a:p>
      </dgm:t>
    </dgm:pt>
    <dgm:pt modelId="{9DF0ACE5-453D-46FC-92E4-3F2EDB94DB3E}">
      <dgm:prSet custT="1"/>
      <dgm:spPr/>
      <dgm:t>
        <a:bodyPr/>
        <a:lstStyle/>
        <a:p>
          <a:r>
            <a:rPr lang="en-US" sz="1400" dirty="0">
              <a:latin typeface="Arial" panose="020B0604020202020204" pitchFamily="34" charset="0"/>
              <a:cs typeface="Arial" panose="020B0604020202020204" pitchFamily="34" charset="0"/>
            </a:rPr>
            <a:t>2. Baseline, SMOTE, ADASYN, and ROSE techniques </a:t>
          </a:r>
          <a:r>
            <a:rPr lang="en-US" sz="1400" b="1" dirty="0">
              <a:latin typeface="Arial" panose="020B0604020202020204" pitchFamily="34" charset="0"/>
              <a:cs typeface="Arial" panose="020B0604020202020204" pitchFamily="34" charset="0"/>
            </a:rPr>
            <a:t>(train-only; after TF-IDF)</a:t>
          </a:r>
          <a:r>
            <a:rPr lang="en-US" sz="1400" dirty="0">
              <a:latin typeface="Arial" panose="020B0604020202020204" pitchFamily="34" charset="0"/>
              <a:cs typeface="Arial" panose="020B0604020202020204" pitchFamily="34" charset="0"/>
            </a:rPr>
            <a:t>.</a:t>
          </a:r>
        </a:p>
      </dgm:t>
    </dgm:pt>
    <dgm:pt modelId="{423A7F99-60E8-4649-8382-CCFC342B4060}" type="parTrans" cxnId="{5C2053A4-C493-4953-ABF1-79038C9B374C}">
      <dgm:prSet/>
      <dgm:spPr/>
      <dgm:t>
        <a:bodyPr/>
        <a:lstStyle/>
        <a:p>
          <a:endParaRPr lang="en-US" sz="2000">
            <a:latin typeface="Arial" panose="020B0604020202020204" pitchFamily="34" charset="0"/>
            <a:cs typeface="Arial" panose="020B0604020202020204" pitchFamily="34" charset="0"/>
          </a:endParaRPr>
        </a:p>
      </dgm:t>
    </dgm:pt>
    <dgm:pt modelId="{AAA56347-8A40-4095-9548-52CC234249F1}" type="sibTrans" cxnId="{5C2053A4-C493-4953-ABF1-79038C9B374C}">
      <dgm:prSet custT="1"/>
      <dgm:spPr/>
      <dgm:t>
        <a:bodyPr/>
        <a:lstStyle/>
        <a:p>
          <a:endParaRPr lang="en-US" sz="600">
            <a:latin typeface="Arial" panose="020B0604020202020204" pitchFamily="34" charset="0"/>
            <a:cs typeface="Arial" panose="020B0604020202020204" pitchFamily="34" charset="0"/>
          </a:endParaRPr>
        </a:p>
      </dgm:t>
    </dgm:pt>
    <dgm:pt modelId="{6CBBBFF1-06F3-4ACC-AF37-B090F34F276C}">
      <dgm:prSet custT="1"/>
      <dgm:spPr/>
      <dgm:t>
        <a:bodyPr/>
        <a:lstStyle/>
        <a:p>
          <a:r>
            <a:rPr lang="en-US" sz="1400" dirty="0">
              <a:latin typeface="Arial" panose="020B0604020202020204" pitchFamily="34" charset="0"/>
              <a:cs typeface="Arial" panose="020B0604020202020204" pitchFamily="34" charset="0"/>
            </a:rPr>
            <a:t>3</a:t>
          </a:r>
          <a:r>
            <a:rPr lang="ru-RU" sz="1400" dirty="0">
              <a:latin typeface="Arial" panose="020B0604020202020204" pitchFamily="34" charset="0"/>
              <a:cs typeface="Arial" panose="020B0604020202020204" pitchFamily="34" charset="0"/>
            </a:rPr>
            <a:t>. </a:t>
          </a:r>
          <a:r>
            <a:rPr lang="en-US" sz="1400" dirty="0">
              <a:latin typeface="Arial" panose="020B0604020202020204" pitchFamily="34" charset="0"/>
              <a:cs typeface="Arial" panose="020B0604020202020204" pitchFamily="34" charset="0"/>
            </a:rPr>
            <a:t>GBM, XGBM, and RF, with </a:t>
          </a:r>
          <a:r>
            <a:rPr lang="en-US" sz="1400" b="1" dirty="0">
              <a:latin typeface="Arial" panose="020B0604020202020204" pitchFamily="34" charset="0"/>
              <a:cs typeface="Arial" panose="020B0604020202020204" pitchFamily="34" charset="0"/>
            </a:rPr>
            <a:t>fixed settings</a:t>
          </a:r>
          <a:r>
            <a:rPr lang="en-US" sz="1400" dirty="0">
              <a:latin typeface="Arial" panose="020B0604020202020204" pitchFamily="34" charset="0"/>
              <a:cs typeface="Arial" panose="020B0604020202020204" pitchFamily="34" charset="0"/>
            </a:rPr>
            <a:t>.</a:t>
          </a:r>
        </a:p>
      </dgm:t>
    </dgm:pt>
    <dgm:pt modelId="{77923FF9-17AB-4A61-856E-7D25178490D8}" type="parTrans" cxnId="{2C618597-8811-4F55-9E04-BFEFBCD10B9B}">
      <dgm:prSet/>
      <dgm:spPr/>
      <dgm:t>
        <a:bodyPr/>
        <a:lstStyle/>
        <a:p>
          <a:endParaRPr lang="en-US" sz="2000">
            <a:latin typeface="Arial" panose="020B0604020202020204" pitchFamily="34" charset="0"/>
            <a:cs typeface="Arial" panose="020B0604020202020204" pitchFamily="34" charset="0"/>
          </a:endParaRPr>
        </a:p>
      </dgm:t>
    </dgm:pt>
    <dgm:pt modelId="{0756A469-A1E5-4637-B3BC-6239FBD78CEB}" type="sibTrans" cxnId="{2C618597-8811-4F55-9E04-BFEFBCD10B9B}">
      <dgm:prSet custT="1"/>
      <dgm:spPr/>
      <dgm:t>
        <a:bodyPr/>
        <a:lstStyle/>
        <a:p>
          <a:endParaRPr lang="en-US" sz="600">
            <a:latin typeface="Arial" panose="020B0604020202020204" pitchFamily="34" charset="0"/>
            <a:cs typeface="Arial" panose="020B0604020202020204" pitchFamily="34" charset="0"/>
          </a:endParaRPr>
        </a:p>
      </dgm:t>
    </dgm:pt>
    <dgm:pt modelId="{29E536D9-111A-4715-AFD8-E4A34B85B19D}">
      <dgm:prSet custT="1"/>
      <dgm:spPr/>
      <dgm:t>
        <a:bodyPr/>
        <a:lstStyle/>
        <a:p>
          <a:r>
            <a:rPr lang="en-US" sz="1400" dirty="0">
              <a:latin typeface="Arial" panose="020B0604020202020204" pitchFamily="34" charset="0"/>
              <a:cs typeface="Arial" panose="020B0604020202020204" pitchFamily="34" charset="0"/>
            </a:rPr>
            <a:t>4. Calibration, ensure recall is greater than or equal to R</a:t>
          </a:r>
          <a:r>
            <a:rPr lang="en-US" sz="1400" baseline="-25000" dirty="0">
              <a:latin typeface="Arial" panose="020B0604020202020204" pitchFamily="34" charset="0"/>
              <a:cs typeface="Arial" panose="020B0604020202020204" pitchFamily="34" charset="0"/>
            </a:rPr>
            <a:t>0</a:t>
          </a:r>
          <a:r>
            <a:rPr lang="en-US" sz="1400" dirty="0">
              <a:latin typeface="Arial" panose="020B0604020202020204" pitchFamily="34" charset="0"/>
              <a:cs typeface="Arial" panose="020B0604020202020204" pitchFamily="34" charset="0"/>
            </a:rPr>
            <a:t> while </a:t>
          </a:r>
          <a:r>
            <a:rPr lang="ru-RU" sz="1400" dirty="0">
              <a:latin typeface="Arial" panose="020B0604020202020204" pitchFamily="34" charset="0"/>
              <a:cs typeface="Arial" panose="020B0604020202020204" pitchFamily="34" charset="0"/>
            </a:rPr>
            <a:t>maximising</a:t>
          </a:r>
          <a:r>
            <a:rPr lang="en-US" sz="1400" dirty="0">
              <a:latin typeface="Arial" panose="020B0604020202020204" pitchFamily="34" charset="0"/>
              <a:cs typeface="Arial" panose="020B0604020202020204" pitchFamily="34" charset="0"/>
            </a:rPr>
            <a:t> precision.  </a:t>
          </a:r>
        </a:p>
      </dgm:t>
    </dgm:pt>
    <dgm:pt modelId="{1AB973FC-6C75-413C-96AD-44C11DB1CB00}" type="parTrans" cxnId="{8C659820-92E0-42DA-873B-CBEFB7622263}">
      <dgm:prSet/>
      <dgm:spPr/>
      <dgm:t>
        <a:bodyPr/>
        <a:lstStyle/>
        <a:p>
          <a:endParaRPr lang="en-US" sz="2000">
            <a:latin typeface="Arial" panose="020B0604020202020204" pitchFamily="34" charset="0"/>
            <a:cs typeface="Arial" panose="020B0604020202020204" pitchFamily="34" charset="0"/>
          </a:endParaRPr>
        </a:p>
      </dgm:t>
    </dgm:pt>
    <dgm:pt modelId="{7FCCAAB9-4B11-4A80-BCC5-D7AA6D94648F}" type="sibTrans" cxnId="{8C659820-92E0-42DA-873B-CBEFB7622263}">
      <dgm:prSet custT="1"/>
      <dgm:spPr/>
      <dgm:t>
        <a:bodyPr/>
        <a:lstStyle/>
        <a:p>
          <a:endParaRPr lang="en-US" sz="600">
            <a:latin typeface="Arial" panose="020B0604020202020204" pitchFamily="34" charset="0"/>
            <a:cs typeface="Arial" panose="020B0604020202020204" pitchFamily="34" charset="0"/>
          </a:endParaRPr>
        </a:p>
      </dgm:t>
    </dgm:pt>
    <dgm:pt modelId="{6110C8F8-D435-46BD-85F0-63E100AE3B0C}">
      <dgm:prSet custT="1"/>
      <dgm:spPr/>
      <dgm:t>
        <a:bodyPr/>
        <a:lstStyle/>
        <a:p>
          <a:r>
            <a:rPr lang="en-US" sz="1400" dirty="0">
              <a:latin typeface="Arial" panose="020B0604020202020204" pitchFamily="34" charset="0"/>
              <a:cs typeface="Arial" panose="020B0604020202020204" pitchFamily="34" charset="0"/>
            </a:rPr>
            <a:t>5. Choosing the optimal data and model combination, taking into account the </a:t>
          </a:r>
          <a:r>
            <a:rPr lang="en-US" sz="1400" b="1" dirty="0">
              <a:latin typeface="Arial" panose="020B0604020202020204" pitchFamily="34" charset="0"/>
              <a:cs typeface="Arial" panose="020B0604020202020204" pitchFamily="34" charset="0"/>
            </a:rPr>
            <a:t>Recall &gt;=0.98 </a:t>
          </a:r>
          <a:r>
            <a:rPr lang="en-US" sz="1400" dirty="0">
              <a:latin typeface="Arial" panose="020B0604020202020204" pitchFamily="34" charset="0"/>
              <a:cs typeface="Arial" panose="020B0604020202020204" pitchFamily="34" charset="0"/>
            </a:rPr>
            <a:t>and based on the PR-AUC metric </a:t>
          </a:r>
          <a:r>
            <a:rPr lang="en-US" sz="1400" b="1" dirty="0">
              <a:latin typeface="Arial" panose="020B0604020202020204" pitchFamily="34" charset="0"/>
              <a:cs typeface="Arial" panose="020B0604020202020204" pitchFamily="34" charset="0"/>
            </a:rPr>
            <a:t>(+FP/1000 check).</a:t>
          </a:r>
        </a:p>
      </dgm:t>
    </dgm:pt>
    <dgm:pt modelId="{88338824-CD78-43B7-81EF-F3CACB194C50}" type="parTrans" cxnId="{CA4A2E0B-9FDE-46F8-961F-31736F88A560}">
      <dgm:prSet/>
      <dgm:spPr/>
      <dgm:t>
        <a:bodyPr/>
        <a:lstStyle/>
        <a:p>
          <a:endParaRPr lang="en-US" sz="2000">
            <a:latin typeface="Arial" panose="020B0604020202020204" pitchFamily="34" charset="0"/>
            <a:cs typeface="Arial" panose="020B0604020202020204" pitchFamily="34" charset="0"/>
          </a:endParaRPr>
        </a:p>
      </dgm:t>
    </dgm:pt>
    <dgm:pt modelId="{086CB154-C9DB-4758-B46A-D532021C6345}" type="sibTrans" cxnId="{CA4A2E0B-9FDE-46F8-961F-31736F88A560}">
      <dgm:prSet custT="1"/>
      <dgm:spPr/>
      <dgm:t>
        <a:bodyPr/>
        <a:lstStyle/>
        <a:p>
          <a:endParaRPr lang="en-US" sz="600">
            <a:latin typeface="Arial" panose="020B0604020202020204" pitchFamily="34" charset="0"/>
            <a:cs typeface="Arial" panose="020B0604020202020204" pitchFamily="34" charset="0"/>
          </a:endParaRPr>
        </a:p>
      </dgm:t>
    </dgm:pt>
    <dgm:pt modelId="{0F5AA3B4-DEAB-4FE9-B525-66A83EA2CBF9}">
      <dgm:prSet custT="1"/>
      <dgm:spPr/>
      <dgm:t>
        <a:bodyPr/>
        <a:lstStyle/>
        <a:p>
          <a:r>
            <a:rPr lang="en-US" sz="1400" dirty="0">
              <a:latin typeface="Arial" panose="020B0604020202020204" pitchFamily="34" charset="0"/>
              <a:cs typeface="Arial" panose="020B0604020202020204" pitchFamily="34" charset="0"/>
            </a:rPr>
            <a:t>6. Stages B1 to B5 using both A) Incremental and B) Full Retrain </a:t>
          </a:r>
          <a:r>
            <a:rPr lang="en-US" sz="1400" b="1" dirty="0">
              <a:latin typeface="Arial" panose="020B0604020202020204" pitchFamily="34" charset="0"/>
              <a:cs typeface="Arial" panose="020B0604020202020204" pitchFamily="34" charset="0"/>
            </a:rPr>
            <a:t>(binary: B2–B5)</a:t>
          </a:r>
          <a:r>
            <a:rPr lang="en-US" sz="1400" dirty="0">
              <a:latin typeface="Arial" panose="020B0604020202020204" pitchFamily="34" charset="0"/>
              <a:cs typeface="Arial" panose="020B0604020202020204" pitchFamily="34" charset="0"/>
            </a:rPr>
            <a:t>.</a:t>
          </a:r>
        </a:p>
      </dgm:t>
    </dgm:pt>
    <dgm:pt modelId="{9A2547D7-D1EC-4FCD-8AB9-5A45728A1904}" type="parTrans" cxnId="{D4B413AA-C304-46EB-ABDA-3596BF1F1424}">
      <dgm:prSet/>
      <dgm:spPr/>
      <dgm:t>
        <a:bodyPr/>
        <a:lstStyle/>
        <a:p>
          <a:endParaRPr lang="en-US" sz="2000">
            <a:latin typeface="Arial" panose="020B0604020202020204" pitchFamily="34" charset="0"/>
            <a:cs typeface="Arial" panose="020B0604020202020204" pitchFamily="34" charset="0"/>
          </a:endParaRPr>
        </a:p>
      </dgm:t>
    </dgm:pt>
    <dgm:pt modelId="{F109341B-DB14-4E09-AFDE-E72E04D583F7}" type="sibTrans" cxnId="{D4B413AA-C304-46EB-ABDA-3596BF1F1424}">
      <dgm:prSet custT="1"/>
      <dgm:spPr/>
      <dgm:t>
        <a:bodyPr/>
        <a:lstStyle/>
        <a:p>
          <a:endParaRPr lang="en-US" sz="600">
            <a:latin typeface="Arial" panose="020B0604020202020204" pitchFamily="34" charset="0"/>
            <a:cs typeface="Arial" panose="020B0604020202020204" pitchFamily="34" charset="0"/>
          </a:endParaRPr>
        </a:p>
      </dgm:t>
    </dgm:pt>
    <dgm:pt modelId="{F90898B5-FD68-42FB-938C-7CFB5F56DAF4}">
      <dgm:prSet custT="1"/>
      <dgm:spPr/>
      <dgm:t>
        <a:bodyPr/>
        <a:lstStyle/>
        <a:p>
          <a:r>
            <a:rPr lang="en-US" sz="1400" dirty="0">
              <a:latin typeface="Arial" panose="020B0604020202020204" pitchFamily="34" charset="0"/>
              <a:cs typeface="Arial" panose="020B0604020202020204" pitchFamily="34" charset="0"/>
            </a:rPr>
            <a:t>7. Binary outcome by ensuring threshold stability, FN/FP profile </a:t>
          </a:r>
          <a:r>
            <a:rPr lang="en-US" sz="1400" b="1" dirty="0">
              <a:latin typeface="Arial" panose="020B0604020202020204" pitchFamily="34" charset="0"/>
              <a:cs typeface="Arial" panose="020B0604020202020204" pitchFamily="34" charset="0"/>
            </a:rPr>
            <a:t>(+OOF aggregates)</a:t>
          </a:r>
          <a:r>
            <a:rPr lang="en-US" sz="1400" dirty="0">
              <a:latin typeface="Arial" panose="020B0604020202020204" pitchFamily="34" charset="0"/>
              <a:cs typeface="Arial" panose="020B0604020202020204" pitchFamily="34" charset="0"/>
            </a:rPr>
            <a:t>.</a:t>
          </a:r>
        </a:p>
      </dgm:t>
    </dgm:pt>
    <dgm:pt modelId="{987C8F08-45C1-4E01-9D25-3A752B283B86}" type="parTrans" cxnId="{2054286F-6950-44BA-9917-B9BAE9625891}">
      <dgm:prSet/>
      <dgm:spPr/>
      <dgm:t>
        <a:bodyPr/>
        <a:lstStyle/>
        <a:p>
          <a:endParaRPr lang="en-US" sz="2000">
            <a:latin typeface="Arial" panose="020B0604020202020204" pitchFamily="34" charset="0"/>
            <a:cs typeface="Arial" panose="020B0604020202020204" pitchFamily="34" charset="0"/>
          </a:endParaRPr>
        </a:p>
      </dgm:t>
    </dgm:pt>
    <dgm:pt modelId="{AD3B5F85-F373-4558-8914-C7A6FD7B09B0}" type="sibTrans" cxnId="{2054286F-6950-44BA-9917-B9BAE9625891}">
      <dgm:prSet custT="1"/>
      <dgm:spPr/>
      <dgm:t>
        <a:bodyPr/>
        <a:lstStyle/>
        <a:p>
          <a:endParaRPr lang="en-US" sz="600">
            <a:latin typeface="Arial" panose="020B0604020202020204" pitchFamily="34" charset="0"/>
            <a:cs typeface="Arial" panose="020B0604020202020204" pitchFamily="34" charset="0"/>
          </a:endParaRPr>
        </a:p>
      </dgm:t>
    </dgm:pt>
    <dgm:pt modelId="{A49ED748-8970-45FB-9FEB-7D29A93865B9}">
      <dgm:prSet custT="1"/>
      <dgm:spPr/>
      <dgm:t>
        <a:bodyPr/>
        <a:lstStyle/>
        <a:p>
          <a:r>
            <a:rPr lang="en-US" sz="1400" dirty="0">
              <a:latin typeface="Arial" panose="020B0604020202020204" pitchFamily="34" charset="0"/>
              <a:cs typeface="Arial" panose="020B0604020202020204" pitchFamily="34" charset="0"/>
            </a:rPr>
            <a:t>8. For typing, implement multiclass strategies, considering both Macro and Weighted Recall </a:t>
          </a:r>
          <a:r>
            <a:rPr lang="en-US" sz="1400" b="1" dirty="0">
              <a:latin typeface="Arial" panose="020B0604020202020204" pitchFamily="34" charset="0"/>
              <a:cs typeface="Arial" panose="020B0604020202020204" pitchFamily="34" charset="0"/>
            </a:rPr>
            <a:t>(baseline only)</a:t>
          </a:r>
          <a:r>
            <a:rPr lang="en-US" sz="1400" dirty="0">
              <a:latin typeface="Arial" panose="020B0604020202020204" pitchFamily="34" charset="0"/>
              <a:cs typeface="Arial" panose="020B0604020202020204" pitchFamily="34" charset="0"/>
            </a:rPr>
            <a:t>.</a:t>
          </a:r>
        </a:p>
      </dgm:t>
    </dgm:pt>
    <dgm:pt modelId="{A66BC1EE-67C7-440B-96A0-40B48E9EC9EE}" type="parTrans" cxnId="{1D573B8F-3540-4EA8-B71E-818DEB01E03E}">
      <dgm:prSet/>
      <dgm:spPr/>
      <dgm:t>
        <a:bodyPr/>
        <a:lstStyle/>
        <a:p>
          <a:endParaRPr lang="en-US" sz="2000">
            <a:latin typeface="Arial" panose="020B0604020202020204" pitchFamily="34" charset="0"/>
            <a:cs typeface="Arial" panose="020B0604020202020204" pitchFamily="34" charset="0"/>
          </a:endParaRPr>
        </a:p>
      </dgm:t>
    </dgm:pt>
    <dgm:pt modelId="{783AC8A5-691B-4725-A54E-2470C2521887}" type="sibTrans" cxnId="{1D573B8F-3540-4EA8-B71E-818DEB01E03E}">
      <dgm:prSet custT="1"/>
      <dgm:spPr/>
      <dgm:t>
        <a:bodyPr/>
        <a:lstStyle/>
        <a:p>
          <a:endParaRPr lang="en-US" sz="600">
            <a:latin typeface="Arial" panose="020B0604020202020204" pitchFamily="34" charset="0"/>
            <a:cs typeface="Arial" panose="020B0604020202020204" pitchFamily="34" charset="0"/>
          </a:endParaRPr>
        </a:p>
      </dgm:t>
    </dgm:pt>
    <dgm:pt modelId="{BCBD0C81-6BBD-47E2-9D28-D9EFD10093AC}">
      <dgm:prSet custT="1"/>
      <dgm:spPr/>
      <dgm:t>
        <a:bodyPr/>
        <a:lstStyle/>
        <a:p>
          <a:r>
            <a:rPr lang="en-US" sz="1400" dirty="0">
              <a:latin typeface="Arial" panose="020B0604020202020204" pitchFamily="34" charset="0"/>
              <a:cs typeface="Arial" panose="020B0604020202020204" pitchFamily="34" charset="0"/>
            </a:rPr>
            <a:t>9. Select the final mode </a:t>
          </a:r>
          <a:r>
            <a:rPr lang="en-US" sz="1400" b="1" dirty="0">
              <a:latin typeface="Arial" panose="020B0604020202020204" pitchFamily="34" charset="0"/>
              <a:cs typeface="Arial" panose="020B0604020202020204" pitchFamily="34" charset="0"/>
            </a:rPr>
            <a:t>(+final model config)</a:t>
          </a:r>
          <a:r>
            <a:rPr lang="en-US" sz="1400" dirty="0">
              <a:latin typeface="Arial" panose="020B0604020202020204" pitchFamily="34" charset="0"/>
              <a:cs typeface="Arial" panose="020B0604020202020204" pitchFamily="34" charset="0"/>
            </a:rPr>
            <a:t>.</a:t>
          </a:r>
        </a:p>
      </dgm:t>
    </dgm:pt>
    <dgm:pt modelId="{DF63CD72-A6DD-496F-9153-106C142F1DCF}" type="parTrans" cxnId="{81FD5901-7D63-485C-8385-78CF6F62C3FC}">
      <dgm:prSet/>
      <dgm:spPr/>
      <dgm:t>
        <a:bodyPr/>
        <a:lstStyle/>
        <a:p>
          <a:endParaRPr lang="en-US" sz="2000">
            <a:latin typeface="Arial" panose="020B0604020202020204" pitchFamily="34" charset="0"/>
            <a:cs typeface="Arial" panose="020B0604020202020204" pitchFamily="34" charset="0"/>
          </a:endParaRPr>
        </a:p>
      </dgm:t>
    </dgm:pt>
    <dgm:pt modelId="{56DF9853-8579-4DB4-986D-66B2207251A9}" type="sibTrans" cxnId="{81FD5901-7D63-485C-8385-78CF6F62C3FC}">
      <dgm:prSet/>
      <dgm:spPr/>
      <dgm:t>
        <a:bodyPr/>
        <a:lstStyle/>
        <a:p>
          <a:endParaRPr lang="en-US" sz="2000">
            <a:latin typeface="Arial" panose="020B0604020202020204" pitchFamily="34" charset="0"/>
            <a:cs typeface="Arial" panose="020B0604020202020204" pitchFamily="34" charset="0"/>
          </a:endParaRPr>
        </a:p>
      </dgm:t>
    </dgm:pt>
    <dgm:pt modelId="{671A998A-C306-4DB4-AEC6-AE8776FE0A15}" type="pres">
      <dgm:prSet presAssocID="{7F8A890C-BEAA-45F9-BF2E-3C71DE173113}" presName="Name0" presStyleCnt="0">
        <dgm:presLayoutVars>
          <dgm:dir/>
          <dgm:resizeHandles val="exact"/>
        </dgm:presLayoutVars>
      </dgm:prSet>
      <dgm:spPr/>
    </dgm:pt>
    <dgm:pt modelId="{BD22F558-33CB-4D03-BF1B-B209D330E00C}" type="pres">
      <dgm:prSet presAssocID="{BED51EAC-D7FD-4F0D-BD59-DD387983869A}" presName="node" presStyleLbl="node1" presStyleIdx="0" presStyleCnt="9">
        <dgm:presLayoutVars>
          <dgm:bulletEnabled val="1"/>
        </dgm:presLayoutVars>
      </dgm:prSet>
      <dgm:spPr/>
    </dgm:pt>
    <dgm:pt modelId="{CDFEA320-56EB-437B-A703-9AE6DE0B4287}" type="pres">
      <dgm:prSet presAssocID="{B1C5B628-5EE4-49CA-9915-346FA77E1B4E}" presName="sibTrans" presStyleLbl="sibTrans1D1" presStyleIdx="0" presStyleCnt="8"/>
      <dgm:spPr/>
    </dgm:pt>
    <dgm:pt modelId="{9413CD87-0CC6-4D12-A272-56A86E829AC2}" type="pres">
      <dgm:prSet presAssocID="{B1C5B628-5EE4-49CA-9915-346FA77E1B4E}" presName="connectorText" presStyleLbl="sibTrans1D1" presStyleIdx="0" presStyleCnt="8"/>
      <dgm:spPr/>
    </dgm:pt>
    <dgm:pt modelId="{EE54CA53-43FC-40D6-ACDD-1F2388AC5627}" type="pres">
      <dgm:prSet presAssocID="{9DF0ACE5-453D-46FC-92E4-3F2EDB94DB3E}" presName="node" presStyleLbl="node1" presStyleIdx="1" presStyleCnt="9">
        <dgm:presLayoutVars>
          <dgm:bulletEnabled val="1"/>
        </dgm:presLayoutVars>
      </dgm:prSet>
      <dgm:spPr/>
    </dgm:pt>
    <dgm:pt modelId="{404B2160-8CD8-4B0D-825B-98A011F1D698}" type="pres">
      <dgm:prSet presAssocID="{AAA56347-8A40-4095-9548-52CC234249F1}" presName="sibTrans" presStyleLbl="sibTrans1D1" presStyleIdx="1" presStyleCnt="8"/>
      <dgm:spPr/>
    </dgm:pt>
    <dgm:pt modelId="{C5A77404-7229-4D58-9959-2520CAD3854D}" type="pres">
      <dgm:prSet presAssocID="{AAA56347-8A40-4095-9548-52CC234249F1}" presName="connectorText" presStyleLbl="sibTrans1D1" presStyleIdx="1" presStyleCnt="8"/>
      <dgm:spPr/>
    </dgm:pt>
    <dgm:pt modelId="{50BA693E-4042-469B-9EAC-1E80DED52EE1}" type="pres">
      <dgm:prSet presAssocID="{6CBBBFF1-06F3-4ACC-AF37-B090F34F276C}" presName="node" presStyleLbl="node1" presStyleIdx="2" presStyleCnt="9">
        <dgm:presLayoutVars>
          <dgm:bulletEnabled val="1"/>
        </dgm:presLayoutVars>
      </dgm:prSet>
      <dgm:spPr/>
    </dgm:pt>
    <dgm:pt modelId="{33C70E65-BD26-4CD7-8D50-0E1919AC7711}" type="pres">
      <dgm:prSet presAssocID="{0756A469-A1E5-4637-B3BC-6239FBD78CEB}" presName="sibTrans" presStyleLbl="sibTrans1D1" presStyleIdx="2" presStyleCnt="8"/>
      <dgm:spPr/>
    </dgm:pt>
    <dgm:pt modelId="{88FF9120-D7AE-4C5F-993C-FA5FE76DF488}" type="pres">
      <dgm:prSet presAssocID="{0756A469-A1E5-4637-B3BC-6239FBD78CEB}" presName="connectorText" presStyleLbl="sibTrans1D1" presStyleIdx="2" presStyleCnt="8"/>
      <dgm:spPr/>
    </dgm:pt>
    <dgm:pt modelId="{8F0AFC5E-E4FF-4A28-B6BA-D7FA8A9DDC9E}" type="pres">
      <dgm:prSet presAssocID="{29E536D9-111A-4715-AFD8-E4A34B85B19D}" presName="node" presStyleLbl="node1" presStyleIdx="3" presStyleCnt="9">
        <dgm:presLayoutVars>
          <dgm:bulletEnabled val="1"/>
        </dgm:presLayoutVars>
      </dgm:prSet>
      <dgm:spPr/>
    </dgm:pt>
    <dgm:pt modelId="{8DE38E72-59A7-47B5-B4AA-F861D29EB2A8}" type="pres">
      <dgm:prSet presAssocID="{7FCCAAB9-4B11-4A80-BCC5-D7AA6D94648F}" presName="sibTrans" presStyleLbl="sibTrans1D1" presStyleIdx="3" presStyleCnt="8"/>
      <dgm:spPr/>
    </dgm:pt>
    <dgm:pt modelId="{1A0E2131-B96A-4774-943D-6AF5FCFB667C}" type="pres">
      <dgm:prSet presAssocID="{7FCCAAB9-4B11-4A80-BCC5-D7AA6D94648F}" presName="connectorText" presStyleLbl="sibTrans1D1" presStyleIdx="3" presStyleCnt="8"/>
      <dgm:spPr/>
    </dgm:pt>
    <dgm:pt modelId="{749B5D46-0EA5-4190-89DF-00717092E8FE}" type="pres">
      <dgm:prSet presAssocID="{6110C8F8-D435-46BD-85F0-63E100AE3B0C}" presName="node" presStyleLbl="node1" presStyleIdx="4" presStyleCnt="9">
        <dgm:presLayoutVars>
          <dgm:bulletEnabled val="1"/>
        </dgm:presLayoutVars>
      </dgm:prSet>
      <dgm:spPr/>
    </dgm:pt>
    <dgm:pt modelId="{E19F7C54-ED28-4D76-A782-295579085010}" type="pres">
      <dgm:prSet presAssocID="{086CB154-C9DB-4758-B46A-D532021C6345}" presName="sibTrans" presStyleLbl="sibTrans1D1" presStyleIdx="4" presStyleCnt="8"/>
      <dgm:spPr/>
    </dgm:pt>
    <dgm:pt modelId="{6ADA0E5F-B16E-4146-9008-CD369008FF3E}" type="pres">
      <dgm:prSet presAssocID="{086CB154-C9DB-4758-B46A-D532021C6345}" presName="connectorText" presStyleLbl="sibTrans1D1" presStyleIdx="4" presStyleCnt="8"/>
      <dgm:spPr/>
    </dgm:pt>
    <dgm:pt modelId="{0833C8E8-C950-4C82-AB65-59216FD04B8D}" type="pres">
      <dgm:prSet presAssocID="{0F5AA3B4-DEAB-4FE9-B525-66A83EA2CBF9}" presName="node" presStyleLbl="node1" presStyleIdx="5" presStyleCnt="9">
        <dgm:presLayoutVars>
          <dgm:bulletEnabled val="1"/>
        </dgm:presLayoutVars>
      </dgm:prSet>
      <dgm:spPr/>
    </dgm:pt>
    <dgm:pt modelId="{13F4D7DB-D00E-4736-8595-0BDCA627CEB7}" type="pres">
      <dgm:prSet presAssocID="{F109341B-DB14-4E09-AFDE-E72E04D583F7}" presName="sibTrans" presStyleLbl="sibTrans1D1" presStyleIdx="5" presStyleCnt="8"/>
      <dgm:spPr/>
    </dgm:pt>
    <dgm:pt modelId="{0BB2E360-D2D9-43A4-BFE1-ADA75D0E441E}" type="pres">
      <dgm:prSet presAssocID="{F109341B-DB14-4E09-AFDE-E72E04D583F7}" presName="connectorText" presStyleLbl="sibTrans1D1" presStyleIdx="5" presStyleCnt="8"/>
      <dgm:spPr/>
    </dgm:pt>
    <dgm:pt modelId="{C2A09F25-BD09-49A9-B070-B4C544BCCCA3}" type="pres">
      <dgm:prSet presAssocID="{F90898B5-FD68-42FB-938C-7CFB5F56DAF4}" presName="node" presStyleLbl="node1" presStyleIdx="6" presStyleCnt="9">
        <dgm:presLayoutVars>
          <dgm:bulletEnabled val="1"/>
        </dgm:presLayoutVars>
      </dgm:prSet>
      <dgm:spPr/>
    </dgm:pt>
    <dgm:pt modelId="{B424D8A9-8043-4567-B4F9-760DB33AFE81}" type="pres">
      <dgm:prSet presAssocID="{AD3B5F85-F373-4558-8914-C7A6FD7B09B0}" presName="sibTrans" presStyleLbl="sibTrans1D1" presStyleIdx="6" presStyleCnt="8"/>
      <dgm:spPr/>
    </dgm:pt>
    <dgm:pt modelId="{DD5832C9-39C0-49D9-A6BE-D2AC371C7293}" type="pres">
      <dgm:prSet presAssocID="{AD3B5F85-F373-4558-8914-C7A6FD7B09B0}" presName="connectorText" presStyleLbl="sibTrans1D1" presStyleIdx="6" presStyleCnt="8"/>
      <dgm:spPr/>
    </dgm:pt>
    <dgm:pt modelId="{52F8495F-4EEC-4E78-9D86-BC0EE46966D6}" type="pres">
      <dgm:prSet presAssocID="{A49ED748-8970-45FB-9FEB-7D29A93865B9}" presName="node" presStyleLbl="node1" presStyleIdx="7" presStyleCnt="9">
        <dgm:presLayoutVars>
          <dgm:bulletEnabled val="1"/>
        </dgm:presLayoutVars>
      </dgm:prSet>
      <dgm:spPr/>
    </dgm:pt>
    <dgm:pt modelId="{9D49BCD8-9B97-406F-944A-3B115D3781CE}" type="pres">
      <dgm:prSet presAssocID="{783AC8A5-691B-4725-A54E-2470C2521887}" presName="sibTrans" presStyleLbl="sibTrans1D1" presStyleIdx="7" presStyleCnt="8"/>
      <dgm:spPr/>
    </dgm:pt>
    <dgm:pt modelId="{481639D4-4C90-4A49-8B00-AE3C63D9D309}" type="pres">
      <dgm:prSet presAssocID="{783AC8A5-691B-4725-A54E-2470C2521887}" presName="connectorText" presStyleLbl="sibTrans1D1" presStyleIdx="7" presStyleCnt="8"/>
      <dgm:spPr/>
    </dgm:pt>
    <dgm:pt modelId="{95B732CA-CEE2-4B81-80EB-E934421FCCD7}" type="pres">
      <dgm:prSet presAssocID="{BCBD0C81-6BBD-47E2-9D28-D9EFD10093AC}" presName="node" presStyleLbl="node1" presStyleIdx="8" presStyleCnt="9">
        <dgm:presLayoutVars>
          <dgm:bulletEnabled val="1"/>
        </dgm:presLayoutVars>
      </dgm:prSet>
      <dgm:spPr/>
    </dgm:pt>
  </dgm:ptLst>
  <dgm:cxnLst>
    <dgm:cxn modelId="{81FD5901-7D63-485C-8385-78CF6F62C3FC}" srcId="{7F8A890C-BEAA-45F9-BF2E-3C71DE173113}" destId="{BCBD0C81-6BBD-47E2-9D28-D9EFD10093AC}" srcOrd="8" destOrd="0" parTransId="{DF63CD72-A6DD-496F-9153-106C142F1DCF}" sibTransId="{56DF9853-8579-4DB4-986D-66B2207251A9}"/>
    <dgm:cxn modelId="{CBB5C707-C52A-4132-A70E-FE4123AB2538}" type="presOf" srcId="{A49ED748-8970-45FB-9FEB-7D29A93865B9}" destId="{52F8495F-4EEC-4E78-9D86-BC0EE46966D6}" srcOrd="0" destOrd="0" presId="urn:microsoft.com/office/officeart/2005/8/layout/bProcess3"/>
    <dgm:cxn modelId="{CA4A2E0B-9FDE-46F8-961F-31736F88A560}" srcId="{7F8A890C-BEAA-45F9-BF2E-3C71DE173113}" destId="{6110C8F8-D435-46BD-85F0-63E100AE3B0C}" srcOrd="4" destOrd="0" parTransId="{88338824-CD78-43B7-81EF-F3CACB194C50}" sibTransId="{086CB154-C9DB-4758-B46A-D532021C6345}"/>
    <dgm:cxn modelId="{468CEC10-43C1-4A7F-9D39-B11A50F3556B}" type="presOf" srcId="{6CBBBFF1-06F3-4ACC-AF37-B090F34F276C}" destId="{50BA693E-4042-469B-9EAC-1E80DED52EE1}" srcOrd="0" destOrd="0" presId="urn:microsoft.com/office/officeart/2005/8/layout/bProcess3"/>
    <dgm:cxn modelId="{8C659820-92E0-42DA-873B-CBEFB7622263}" srcId="{7F8A890C-BEAA-45F9-BF2E-3C71DE173113}" destId="{29E536D9-111A-4715-AFD8-E4A34B85B19D}" srcOrd="3" destOrd="0" parTransId="{1AB973FC-6C75-413C-96AD-44C11DB1CB00}" sibTransId="{7FCCAAB9-4B11-4A80-BCC5-D7AA6D94648F}"/>
    <dgm:cxn modelId="{5ED6FD28-BBE9-4546-A871-D06AC89C8A4A}" type="presOf" srcId="{9DF0ACE5-453D-46FC-92E4-3F2EDB94DB3E}" destId="{EE54CA53-43FC-40D6-ACDD-1F2388AC5627}" srcOrd="0" destOrd="0" presId="urn:microsoft.com/office/officeart/2005/8/layout/bProcess3"/>
    <dgm:cxn modelId="{6F214636-D695-4501-B740-DB517238B7ED}" type="presOf" srcId="{F109341B-DB14-4E09-AFDE-E72E04D583F7}" destId="{0BB2E360-D2D9-43A4-BFE1-ADA75D0E441E}" srcOrd="1" destOrd="0" presId="urn:microsoft.com/office/officeart/2005/8/layout/bProcess3"/>
    <dgm:cxn modelId="{C6B24666-2EA9-4C29-8F23-AE9A3D860D05}" type="presOf" srcId="{BCBD0C81-6BBD-47E2-9D28-D9EFD10093AC}" destId="{95B732CA-CEE2-4B81-80EB-E934421FCCD7}" srcOrd="0" destOrd="0" presId="urn:microsoft.com/office/officeart/2005/8/layout/bProcess3"/>
    <dgm:cxn modelId="{62B9E048-D262-4179-8C86-D9E65AA19757}" type="presOf" srcId="{7F8A890C-BEAA-45F9-BF2E-3C71DE173113}" destId="{671A998A-C306-4DB4-AEC6-AE8776FE0A15}" srcOrd="0" destOrd="0" presId="urn:microsoft.com/office/officeart/2005/8/layout/bProcess3"/>
    <dgm:cxn modelId="{BA291B4C-AE3B-4DB6-9F20-CEADB5229E99}" type="presOf" srcId="{7FCCAAB9-4B11-4A80-BCC5-D7AA6D94648F}" destId="{8DE38E72-59A7-47B5-B4AA-F861D29EB2A8}" srcOrd="0" destOrd="0" presId="urn:microsoft.com/office/officeart/2005/8/layout/bProcess3"/>
    <dgm:cxn modelId="{A9B36B6E-AB7D-474E-929A-88A14C85B024}" type="presOf" srcId="{F90898B5-FD68-42FB-938C-7CFB5F56DAF4}" destId="{C2A09F25-BD09-49A9-B070-B4C544BCCCA3}" srcOrd="0" destOrd="0" presId="urn:microsoft.com/office/officeart/2005/8/layout/bProcess3"/>
    <dgm:cxn modelId="{2054286F-6950-44BA-9917-B9BAE9625891}" srcId="{7F8A890C-BEAA-45F9-BF2E-3C71DE173113}" destId="{F90898B5-FD68-42FB-938C-7CFB5F56DAF4}" srcOrd="6" destOrd="0" parTransId="{987C8F08-45C1-4E01-9D25-3A752B283B86}" sibTransId="{AD3B5F85-F373-4558-8914-C7A6FD7B09B0}"/>
    <dgm:cxn modelId="{DEB6D451-9D7F-43DE-8A4C-0FA87B31A050}" type="presOf" srcId="{AD3B5F85-F373-4558-8914-C7A6FD7B09B0}" destId="{DD5832C9-39C0-49D9-A6BE-D2AC371C7293}" srcOrd="1" destOrd="0" presId="urn:microsoft.com/office/officeart/2005/8/layout/bProcess3"/>
    <dgm:cxn modelId="{03662375-09F6-421E-AAAC-10C0D507AA72}" type="presOf" srcId="{6110C8F8-D435-46BD-85F0-63E100AE3B0C}" destId="{749B5D46-0EA5-4190-89DF-00717092E8FE}" srcOrd="0" destOrd="0" presId="urn:microsoft.com/office/officeart/2005/8/layout/bProcess3"/>
    <dgm:cxn modelId="{9618707B-F225-44CA-80E6-F39E47D85D77}" type="presOf" srcId="{0756A469-A1E5-4637-B3BC-6239FBD78CEB}" destId="{88FF9120-D7AE-4C5F-993C-FA5FE76DF488}" srcOrd="1" destOrd="0" presId="urn:microsoft.com/office/officeart/2005/8/layout/bProcess3"/>
    <dgm:cxn modelId="{F7AC897D-990A-405F-B916-BED27E6C8C6B}" type="presOf" srcId="{AAA56347-8A40-4095-9548-52CC234249F1}" destId="{C5A77404-7229-4D58-9959-2520CAD3854D}" srcOrd="1" destOrd="0" presId="urn:microsoft.com/office/officeart/2005/8/layout/bProcess3"/>
    <dgm:cxn modelId="{92757183-E8AD-452C-88C2-A449226C476C}" type="presOf" srcId="{086CB154-C9DB-4758-B46A-D532021C6345}" destId="{6ADA0E5F-B16E-4146-9008-CD369008FF3E}" srcOrd="1" destOrd="0" presId="urn:microsoft.com/office/officeart/2005/8/layout/bProcess3"/>
    <dgm:cxn modelId="{8255CB83-42E2-40C8-81D1-B03C9418D88A}" type="presOf" srcId="{7FCCAAB9-4B11-4A80-BCC5-D7AA6D94648F}" destId="{1A0E2131-B96A-4774-943D-6AF5FCFB667C}" srcOrd="1" destOrd="0" presId="urn:microsoft.com/office/officeart/2005/8/layout/bProcess3"/>
    <dgm:cxn modelId="{1D573B8F-3540-4EA8-B71E-818DEB01E03E}" srcId="{7F8A890C-BEAA-45F9-BF2E-3C71DE173113}" destId="{A49ED748-8970-45FB-9FEB-7D29A93865B9}" srcOrd="7" destOrd="0" parTransId="{A66BC1EE-67C7-440B-96A0-40B48E9EC9EE}" sibTransId="{783AC8A5-691B-4725-A54E-2470C2521887}"/>
    <dgm:cxn modelId="{2C618597-8811-4F55-9E04-BFEFBCD10B9B}" srcId="{7F8A890C-BEAA-45F9-BF2E-3C71DE173113}" destId="{6CBBBFF1-06F3-4ACC-AF37-B090F34F276C}" srcOrd="2" destOrd="0" parTransId="{77923FF9-17AB-4A61-856E-7D25178490D8}" sibTransId="{0756A469-A1E5-4637-B3BC-6239FBD78CEB}"/>
    <dgm:cxn modelId="{440D839F-1831-40DB-B134-D9F09A46B6A3}" type="presOf" srcId="{B1C5B628-5EE4-49CA-9915-346FA77E1B4E}" destId="{CDFEA320-56EB-437B-A703-9AE6DE0B4287}" srcOrd="0" destOrd="0" presId="urn:microsoft.com/office/officeart/2005/8/layout/bProcess3"/>
    <dgm:cxn modelId="{5C2053A4-C493-4953-ABF1-79038C9B374C}" srcId="{7F8A890C-BEAA-45F9-BF2E-3C71DE173113}" destId="{9DF0ACE5-453D-46FC-92E4-3F2EDB94DB3E}" srcOrd="1" destOrd="0" parTransId="{423A7F99-60E8-4649-8382-CCFC342B4060}" sibTransId="{AAA56347-8A40-4095-9548-52CC234249F1}"/>
    <dgm:cxn modelId="{9CD2BEA5-A454-46CB-AB18-69F1814A7120}" type="presOf" srcId="{F109341B-DB14-4E09-AFDE-E72E04D583F7}" destId="{13F4D7DB-D00E-4736-8595-0BDCA627CEB7}" srcOrd="0" destOrd="0" presId="urn:microsoft.com/office/officeart/2005/8/layout/bProcess3"/>
    <dgm:cxn modelId="{D4B413AA-C304-46EB-ABDA-3596BF1F1424}" srcId="{7F8A890C-BEAA-45F9-BF2E-3C71DE173113}" destId="{0F5AA3B4-DEAB-4FE9-B525-66A83EA2CBF9}" srcOrd="5" destOrd="0" parTransId="{9A2547D7-D1EC-4FCD-8AB9-5A45728A1904}" sibTransId="{F109341B-DB14-4E09-AFDE-E72E04D583F7}"/>
    <dgm:cxn modelId="{5B4661B6-FAAC-4434-A22E-C2F79967D267}" type="presOf" srcId="{BED51EAC-D7FD-4F0D-BD59-DD387983869A}" destId="{BD22F558-33CB-4D03-BF1B-B209D330E00C}" srcOrd="0" destOrd="0" presId="urn:microsoft.com/office/officeart/2005/8/layout/bProcess3"/>
    <dgm:cxn modelId="{362E90BA-D72A-4A78-A740-743E27AA6CBE}" type="presOf" srcId="{29E536D9-111A-4715-AFD8-E4A34B85B19D}" destId="{8F0AFC5E-E4FF-4A28-B6BA-D7FA8A9DDC9E}" srcOrd="0" destOrd="0" presId="urn:microsoft.com/office/officeart/2005/8/layout/bProcess3"/>
    <dgm:cxn modelId="{6DCB41C2-39B8-480A-B39C-635DC74D299A}" type="presOf" srcId="{086CB154-C9DB-4758-B46A-D532021C6345}" destId="{E19F7C54-ED28-4D76-A782-295579085010}" srcOrd="0" destOrd="0" presId="urn:microsoft.com/office/officeart/2005/8/layout/bProcess3"/>
    <dgm:cxn modelId="{E99DC3C4-1D08-4503-AC15-27892DEDAE16}" type="presOf" srcId="{0F5AA3B4-DEAB-4FE9-B525-66A83EA2CBF9}" destId="{0833C8E8-C950-4C82-AB65-59216FD04B8D}" srcOrd="0" destOrd="0" presId="urn:microsoft.com/office/officeart/2005/8/layout/bProcess3"/>
    <dgm:cxn modelId="{176237C5-1091-4011-93F5-20E750D94EFA}" type="presOf" srcId="{B1C5B628-5EE4-49CA-9915-346FA77E1B4E}" destId="{9413CD87-0CC6-4D12-A272-56A86E829AC2}" srcOrd="1" destOrd="0" presId="urn:microsoft.com/office/officeart/2005/8/layout/bProcess3"/>
    <dgm:cxn modelId="{DF771EC8-9E2F-48CA-896E-E35A5DAB88D7}" type="presOf" srcId="{AD3B5F85-F373-4558-8914-C7A6FD7B09B0}" destId="{B424D8A9-8043-4567-B4F9-760DB33AFE81}" srcOrd="0" destOrd="0" presId="urn:microsoft.com/office/officeart/2005/8/layout/bProcess3"/>
    <dgm:cxn modelId="{F067ECD8-37ED-4645-BCA6-79EB259D2528}" type="presOf" srcId="{0756A469-A1E5-4637-B3BC-6239FBD78CEB}" destId="{33C70E65-BD26-4CD7-8D50-0E1919AC7711}" srcOrd="0" destOrd="0" presId="urn:microsoft.com/office/officeart/2005/8/layout/bProcess3"/>
    <dgm:cxn modelId="{12DE91DF-4920-4335-B6DD-419680128858}" type="presOf" srcId="{783AC8A5-691B-4725-A54E-2470C2521887}" destId="{481639D4-4C90-4A49-8B00-AE3C63D9D309}" srcOrd="1" destOrd="0" presId="urn:microsoft.com/office/officeart/2005/8/layout/bProcess3"/>
    <dgm:cxn modelId="{A9BB27EE-9236-4E54-AC45-3CA04918DCA4}" type="presOf" srcId="{AAA56347-8A40-4095-9548-52CC234249F1}" destId="{404B2160-8CD8-4B0D-825B-98A011F1D698}" srcOrd="0" destOrd="0" presId="urn:microsoft.com/office/officeart/2005/8/layout/bProcess3"/>
    <dgm:cxn modelId="{55502AEF-B2F0-4E4B-A993-9D1ADDE3A4A6}" type="presOf" srcId="{783AC8A5-691B-4725-A54E-2470C2521887}" destId="{9D49BCD8-9B97-406F-944A-3B115D3781CE}" srcOrd="0" destOrd="0" presId="urn:microsoft.com/office/officeart/2005/8/layout/bProcess3"/>
    <dgm:cxn modelId="{6FB07EEF-8BBB-471D-9035-685B12025949}" srcId="{7F8A890C-BEAA-45F9-BF2E-3C71DE173113}" destId="{BED51EAC-D7FD-4F0D-BD59-DD387983869A}" srcOrd="0" destOrd="0" parTransId="{0C9B3AC3-A52F-4598-90C8-5D84749D04A3}" sibTransId="{B1C5B628-5EE4-49CA-9915-346FA77E1B4E}"/>
    <dgm:cxn modelId="{0BE8A55C-88CA-4167-AA5F-B154B6B43C60}" type="presParOf" srcId="{671A998A-C306-4DB4-AEC6-AE8776FE0A15}" destId="{BD22F558-33CB-4D03-BF1B-B209D330E00C}" srcOrd="0" destOrd="0" presId="urn:microsoft.com/office/officeart/2005/8/layout/bProcess3"/>
    <dgm:cxn modelId="{E6E85A27-BFAC-4F91-8BC1-85CBFF13EE08}" type="presParOf" srcId="{671A998A-C306-4DB4-AEC6-AE8776FE0A15}" destId="{CDFEA320-56EB-437B-A703-9AE6DE0B4287}" srcOrd="1" destOrd="0" presId="urn:microsoft.com/office/officeart/2005/8/layout/bProcess3"/>
    <dgm:cxn modelId="{754276E7-ECD5-45A6-8A4C-57A5AA536132}" type="presParOf" srcId="{CDFEA320-56EB-437B-A703-9AE6DE0B4287}" destId="{9413CD87-0CC6-4D12-A272-56A86E829AC2}" srcOrd="0" destOrd="0" presId="urn:microsoft.com/office/officeart/2005/8/layout/bProcess3"/>
    <dgm:cxn modelId="{B146128D-CEA2-47A9-9592-C28433712590}" type="presParOf" srcId="{671A998A-C306-4DB4-AEC6-AE8776FE0A15}" destId="{EE54CA53-43FC-40D6-ACDD-1F2388AC5627}" srcOrd="2" destOrd="0" presId="urn:microsoft.com/office/officeart/2005/8/layout/bProcess3"/>
    <dgm:cxn modelId="{B2534CDF-5E28-4052-8B70-FDF99E897009}" type="presParOf" srcId="{671A998A-C306-4DB4-AEC6-AE8776FE0A15}" destId="{404B2160-8CD8-4B0D-825B-98A011F1D698}" srcOrd="3" destOrd="0" presId="urn:microsoft.com/office/officeart/2005/8/layout/bProcess3"/>
    <dgm:cxn modelId="{D9AAAE1A-6960-4292-A1D5-89C127A88C0A}" type="presParOf" srcId="{404B2160-8CD8-4B0D-825B-98A011F1D698}" destId="{C5A77404-7229-4D58-9959-2520CAD3854D}" srcOrd="0" destOrd="0" presId="urn:microsoft.com/office/officeart/2005/8/layout/bProcess3"/>
    <dgm:cxn modelId="{3CAF93A3-770D-4031-ABB4-1569AA5BC0EF}" type="presParOf" srcId="{671A998A-C306-4DB4-AEC6-AE8776FE0A15}" destId="{50BA693E-4042-469B-9EAC-1E80DED52EE1}" srcOrd="4" destOrd="0" presId="urn:microsoft.com/office/officeart/2005/8/layout/bProcess3"/>
    <dgm:cxn modelId="{4B981F09-E175-4133-A8AC-A938BD04E2A3}" type="presParOf" srcId="{671A998A-C306-4DB4-AEC6-AE8776FE0A15}" destId="{33C70E65-BD26-4CD7-8D50-0E1919AC7711}" srcOrd="5" destOrd="0" presId="urn:microsoft.com/office/officeart/2005/8/layout/bProcess3"/>
    <dgm:cxn modelId="{55D7A3CA-3DBD-4C5E-8BFB-430C2C9F9296}" type="presParOf" srcId="{33C70E65-BD26-4CD7-8D50-0E1919AC7711}" destId="{88FF9120-D7AE-4C5F-993C-FA5FE76DF488}" srcOrd="0" destOrd="0" presId="urn:microsoft.com/office/officeart/2005/8/layout/bProcess3"/>
    <dgm:cxn modelId="{A91EB66F-4107-4040-9BB6-C007A19F61B0}" type="presParOf" srcId="{671A998A-C306-4DB4-AEC6-AE8776FE0A15}" destId="{8F0AFC5E-E4FF-4A28-B6BA-D7FA8A9DDC9E}" srcOrd="6" destOrd="0" presId="urn:microsoft.com/office/officeart/2005/8/layout/bProcess3"/>
    <dgm:cxn modelId="{EF8F99A7-36BD-475F-9CA0-1BFE144CCCDC}" type="presParOf" srcId="{671A998A-C306-4DB4-AEC6-AE8776FE0A15}" destId="{8DE38E72-59A7-47B5-B4AA-F861D29EB2A8}" srcOrd="7" destOrd="0" presId="urn:microsoft.com/office/officeart/2005/8/layout/bProcess3"/>
    <dgm:cxn modelId="{DEF581E7-B6CE-4B7B-A69A-9D64798F39EB}" type="presParOf" srcId="{8DE38E72-59A7-47B5-B4AA-F861D29EB2A8}" destId="{1A0E2131-B96A-4774-943D-6AF5FCFB667C}" srcOrd="0" destOrd="0" presId="urn:microsoft.com/office/officeart/2005/8/layout/bProcess3"/>
    <dgm:cxn modelId="{ED6EA4C6-1725-4599-B5C8-34C3D5968C7E}" type="presParOf" srcId="{671A998A-C306-4DB4-AEC6-AE8776FE0A15}" destId="{749B5D46-0EA5-4190-89DF-00717092E8FE}" srcOrd="8" destOrd="0" presId="urn:microsoft.com/office/officeart/2005/8/layout/bProcess3"/>
    <dgm:cxn modelId="{BDA5E712-278D-486B-B459-2889507AF3E6}" type="presParOf" srcId="{671A998A-C306-4DB4-AEC6-AE8776FE0A15}" destId="{E19F7C54-ED28-4D76-A782-295579085010}" srcOrd="9" destOrd="0" presId="urn:microsoft.com/office/officeart/2005/8/layout/bProcess3"/>
    <dgm:cxn modelId="{8FA80391-655B-4F2A-AF1D-53F5383F232F}" type="presParOf" srcId="{E19F7C54-ED28-4D76-A782-295579085010}" destId="{6ADA0E5F-B16E-4146-9008-CD369008FF3E}" srcOrd="0" destOrd="0" presId="urn:microsoft.com/office/officeart/2005/8/layout/bProcess3"/>
    <dgm:cxn modelId="{419ADC9E-0F71-4AB4-9E28-BADAB2FB704E}" type="presParOf" srcId="{671A998A-C306-4DB4-AEC6-AE8776FE0A15}" destId="{0833C8E8-C950-4C82-AB65-59216FD04B8D}" srcOrd="10" destOrd="0" presId="urn:microsoft.com/office/officeart/2005/8/layout/bProcess3"/>
    <dgm:cxn modelId="{18F28E63-C3F5-49A3-8E79-214B4AF69A46}" type="presParOf" srcId="{671A998A-C306-4DB4-AEC6-AE8776FE0A15}" destId="{13F4D7DB-D00E-4736-8595-0BDCA627CEB7}" srcOrd="11" destOrd="0" presId="urn:microsoft.com/office/officeart/2005/8/layout/bProcess3"/>
    <dgm:cxn modelId="{BCA562A9-0421-43D2-ACA0-ACBDDED653D7}" type="presParOf" srcId="{13F4D7DB-D00E-4736-8595-0BDCA627CEB7}" destId="{0BB2E360-D2D9-43A4-BFE1-ADA75D0E441E}" srcOrd="0" destOrd="0" presId="urn:microsoft.com/office/officeart/2005/8/layout/bProcess3"/>
    <dgm:cxn modelId="{B1BF3DB7-D037-40B7-AB6C-43DC27837D43}" type="presParOf" srcId="{671A998A-C306-4DB4-AEC6-AE8776FE0A15}" destId="{C2A09F25-BD09-49A9-B070-B4C544BCCCA3}" srcOrd="12" destOrd="0" presId="urn:microsoft.com/office/officeart/2005/8/layout/bProcess3"/>
    <dgm:cxn modelId="{6180C223-4618-4A36-BC33-9AAD64302315}" type="presParOf" srcId="{671A998A-C306-4DB4-AEC6-AE8776FE0A15}" destId="{B424D8A9-8043-4567-B4F9-760DB33AFE81}" srcOrd="13" destOrd="0" presId="urn:microsoft.com/office/officeart/2005/8/layout/bProcess3"/>
    <dgm:cxn modelId="{E3173354-511C-420B-8126-634BD6DE0B15}" type="presParOf" srcId="{B424D8A9-8043-4567-B4F9-760DB33AFE81}" destId="{DD5832C9-39C0-49D9-A6BE-D2AC371C7293}" srcOrd="0" destOrd="0" presId="urn:microsoft.com/office/officeart/2005/8/layout/bProcess3"/>
    <dgm:cxn modelId="{1F8F13E0-64E5-46C2-8575-96EE940751CA}" type="presParOf" srcId="{671A998A-C306-4DB4-AEC6-AE8776FE0A15}" destId="{52F8495F-4EEC-4E78-9D86-BC0EE46966D6}" srcOrd="14" destOrd="0" presId="urn:microsoft.com/office/officeart/2005/8/layout/bProcess3"/>
    <dgm:cxn modelId="{7ECE5744-E7C1-4F97-9177-D713388E0A97}" type="presParOf" srcId="{671A998A-C306-4DB4-AEC6-AE8776FE0A15}" destId="{9D49BCD8-9B97-406F-944A-3B115D3781CE}" srcOrd="15" destOrd="0" presId="urn:microsoft.com/office/officeart/2005/8/layout/bProcess3"/>
    <dgm:cxn modelId="{F2F5708A-14B4-48AD-8420-A1F6621E6F29}" type="presParOf" srcId="{9D49BCD8-9B97-406F-944A-3B115D3781CE}" destId="{481639D4-4C90-4A49-8B00-AE3C63D9D309}" srcOrd="0" destOrd="0" presId="urn:microsoft.com/office/officeart/2005/8/layout/bProcess3"/>
    <dgm:cxn modelId="{A8803B68-8F1E-4BB2-9028-892924418A4E}" type="presParOf" srcId="{671A998A-C306-4DB4-AEC6-AE8776FE0A15}" destId="{95B732CA-CEE2-4B81-80EB-E934421FCCD7}" srcOrd="16"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DD5383-6F71-4ACE-B4D3-90F2C11474D9}">
      <dsp:nvSpPr>
        <dsp:cNvPr id="0" name=""/>
        <dsp:cNvSpPr/>
      </dsp:nvSpPr>
      <dsp:spPr>
        <a:xfrm>
          <a:off x="1868658" y="605282"/>
          <a:ext cx="397967" cy="91440"/>
        </a:xfrm>
        <a:custGeom>
          <a:avLst/>
          <a:gdLst/>
          <a:ahLst/>
          <a:cxnLst/>
          <a:rect l="0" t="0" r="0" b="0"/>
          <a:pathLst>
            <a:path>
              <a:moveTo>
                <a:pt x="0" y="45720"/>
              </a:moveTo>
              <a:lnTo>
                <a:pt x="39796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56927" y="648859"/>
        <a:ext cx="21428" cy="4285"/>
      </dsp:txXfrm>
    </dsp:sp>
    <dsp:sp modelId="{D9AD3875-D6B8-4C2A-AD93-FF028A8238EB}">
      <dsp:nvSpPr>
        <dsp:cNvPr id="0" name=""/>
        <dsp:cNvSpPr/>
      </dsp:nvSpPr>
      <dsp:spPr>
        <a:xfrm>
          <a:off x="7118" y="92000"/>
          <a:ext cx="1863339" cy="1118003"/>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ct val="35000"/>
            </a:spcAft>
            <a:buNone/>
          </a:pPr>
          <a:r>
            <a:rPr lang="en-US" sz="1200" b="0" kern="1200" dirty="0">
              <a:latin typeface="Arial" panose="020B0604020202020204" pitchFamily="34" charset="0"/>
              <a:cs typeface="Arial" panose="020B0604020202020204" pitchFamily="34" charset="0"/>
            </a:rPr>
            <a:t>Records identified </a:t>
          </a:r>
          <a:r>
            <a:rPr lang="en-US" sz="1200" b="1" kern="1200" dirty="0">
              <a:latin typeface="Arial" panose="020B0604020202020204" pitchFamily="34" charset="0"/>
              <a:cs typeface="Arial" panose="020B0604020202020204" pitchFamily="34" charset="0"/>
            </a:rPr>
            <a:t>(Scopus, ScienceDirect</a:t>
          </a:r>
          <a:r>
            <a:rPr lang="ru-RU" sz="1200" b="1" kern="1200" dirty="0">
              <a:latin typeface="Arial" panose="020B0604020202020204" pitchFamily="34" charset="0"/>
              <a:cs typeface="Arial" panose="020B0604020202020204" pitchFamily="34" charset="0"/>
            </a:rPr>
            <a:t>, </a:t>
          </a:r>
          <a:r>
            <a:rPr lang="en-US" sz="1200" b="1" kern="1200" dirty="0">
              <a:latin typeface="Arial" panose="020B0604020202020204" pitchFamily="34" charset="0"/>
              <a:cs typeface="Arial" panose="020B0604020202020204" pitchFamily="34" charset="0"/>
            </a:rPr>
            <a:t>Consensus)</a:t>
          </a:r>
          <a:endParaRPr lang="ru-RU" sz="1200" b="1" kern="1200" dirty="0">
            <a:latin typeface="Arial" panose="020B0604020202020204" pitchFamily="34" charset="0"/>
            <a:cs typeface="Arial" panose="020B0604020202020204" pitchFamily="34" charset="0"/>
          </a:endParaRPr>
        </a:p>
        <a:p>
          <a:pPr marL="0" lvl="0" indent="0" algn="ctr" defTabSz="533400">
            <a:lnSpc>
              <a:spcPct val="100000"/>
            </a:lnSpc>
            <a:spcBef>
              <a:spcPct val="0"/>
            </a:spcBef>
            <a:spcAft>
              <a:spcPct val="35000"/>
            </a:spcAft>
            <a:buNone/>
          </a:pPr>
          <a:r>
            <a:rPr lang="en-US" sz="1200" i="1" kern="1200" dirty="0">
              <a:latin typeface="Arial" panose="020B0604020202020204" pitchFamily="34" charset="0"/>
              <a:cs typeface="Arial" panose="020B0604020202020204" pitchFamily="34" charset="0"/>
            </a:rPr>
            <a:t>(n = </a:t>
          </a:r>
          <a:r>
            <a:rPr lang="en-US" sz="1200" b="1" i="1" kern="1200" dirty="0">
              <a:latin typeface="Arial" panose="020B0604020202020204" pitchFamily="34" charset="0"/>
              <a:cs typeface="Arial" panose="020B0604020202020204" pitchFamily="34" charset="0"/>
            </a:rPr>
            <a:t>3122</a:t>
          </a:r>
          <a:r>
            <a:rPr lang="en-US" sz="1200" i="1" kern="1200" dirty="0">
              <a:latin typeface="Arial" panose="020B0604020202020204" pitchFamily="34" charset="0"/>
              <a:cs typeface="Arial" panose="020B0604020202020204" pitchFamily="34" charset="0"/>
            </a:rPr>
            <a:t>)</a:t>
          </a:r>
          <a:endParaRPr lang="en-US" sz="1200" kern="1200" dirty="0">
            <a:latin typeface="Arial" panose="020B0604020202020204" pitchFamily="34" charset="0"/>
            <a:cs typeface="Arial" panose="020B0604020202020204" pitchFamily="34" charset="0"/>
          </a:endParaRPr>
        </a:p>
      </dsp:txBody>
      <dsp:txXfrm>
        <a:off x="7118" y="92000"/>
        <a:ext cx="1863339" cy="1118003"/>
      </dsp:txXfrm>
    </dsp:sp>
    <dsp:sp modelId="{4ABDE273-6994-432F-AA59-C03037319477}">
      <dsp:nvSpPr>
        <dsp:cNvPr id="0" name=""/>
        <dsp:cNvSpPr/>
      </dsp:nvSpPr>
      <dsp:spPr>
        <a:xfrm>
          <a:off x="4160565" y="605282"/>
          <a:ext cx="397967" cy="91440"/>
        </a:xfrm>
        <a:custGeom>
          <a:avLst/>
          <a:gdLst/>
          <a:ahLst/>
          <a:cxnLst/>
          <a:rect l="0" t="0" r="0" b="0"/>
          <a:pathLst>
            <a:path>
              <a:moveTo>
                <a:pt x="0" y="45720"/>
              </a:moveTo>
              <a:lnTo>
                <a:pt x="39796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48834" y="648859"/>
        <a:ext cx="21428" cy="4285"/>
      </dsp:txXfrm>
    </dsp:sp>
    <dsp:sp modelId="{EC20DA1E-C052-4018-A0EE-0744743532A4}">
      <dsp:nvSpPr>
        <dsp:cNvPr id="0" name=""/>
        <dsp:cNvSpPr/>
      </dsp:nvSpPr>
      <dsp:spPr>
        <a:xfrm>
          <a:off x="2299025" y="92000"/>
          <a:ext cx="1863339" cy="1118003"/>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ct val="35000"/>
            </a:spcAft>
            <a:buNone/>
          </a:pPr>
          <a:r>
            <a:rPr lang="en-US" sz="1200" b="1" kern="1200" dirty="0">
              <a:latin typeface="Arial" panose="020B0604020202020204" pitchFamily="34" charset="0"/>
              <a:cs typeface="Arial" panose="020B0604020202020204" pitchFamily="34" charset="0"/>
            </a:rPr>
            <a:t>Excluded: </a:t>
          </a:r>
          <a:r>
            <a:rPr lang="en-US" sz="1200" b="0" kern="1200" dirty="0">
              <a:latin typeface="Arial" panose="020B0604020202020204" pitchFamily="34" charset="0"/>
              <a:cs typeface="Arial" panose="020B0604020202020204" pitchFamily="34" charset="0"/>
            </a:rPr>
            <a:t>irrelevant, duplicate, or lacking sufficient quality</a:t>
          </a:r>
          <a:endParaRPr lang="ru-RU" sz="1200" b="0" kern="1200" dirty="0">
            <a:latin typeface="Arial" panose="020B0604020202020204" pitchFamily="34" charset="0"/>
            <a:cs typeface="Arial" panose="020B0604020202020204" pitchFamily="34" charset="0"/>
          </a:endParaRPr>
        </a:p>
        <a:p>
          <a:pPr marL="0" lvl="0" indent="0" algn="ctr" defTabSz="533400">
            <a:lnSpc>
              <a:spcPct val="100000"/>
            </a:lnSpc>
            <a:spcBef>
              <a:spcPct val="0"/>
            </a:spcBef>
            <a:spcAft>
              <a:spcPct val="35000"/>
            </a:spcAft>
            <a:buNone/>
          </a:pPr>
          <a:r>
            <a:rPr lang="en-US" sz="1200" i="1" kern="1200" dirty="0">
              <a:latin typeface="Arial" panose="020B0604020202020204" pitchFamily="34" charset="0"/>
              <a:cs typeface="Arial" panose="020B0604020202020204" pitchFamily="34" charset="0"/>
            </a:rPr>
            <a:t>(n = </a:t>
          </a:r>
          <a:r>
            <a:rPr lang="ru-RU" sz="1200" b="1" i="1" kern="1200" dirty="0">
              <a:latin typeface="Arial" panose="020B0604020202020204" pitchFamily="34" charset="0"/>
              <a:cs typeface="Arial" panose="020B0604020202020204" pitchFamily="34" charset="0"/>
            </a:rPr>
            <a:t>3040</a:t>
          </a:r>
          <a:r>
            <a:rPr lang="en-US" sz="1200" i="1" kern="1200" dirty="0">
              <a:latin typeface="Arial" panose="020B0604020202020204" pitchFamily="34" charset="0"/>
              <a:cs typeface="Arial" panose="020B0604020202020204" pitchFamily="34" charset="0"/>
            </a:rPr>
            <a:t>)</a:t>
          </a:r>
          <a:endParaRPr lang="en-US" sz="1200" kern="1200" dirty="0">
            <a:latin typeface="Arial" panose="020B0604020202020204" pitchFamily="34" charset="0"/>
            <a:cs typeface="Arial" panose="020B0604020202020204" pitchFamily="34" charset="0"/>
          </a:endParaRPr>
        </a:p>
      </dsp:txBody>
      <dsp:txXfrm>
        <a:off x="2299025" y="92000"/>
        <a:ext cx="1863339" cy="1118003"/>
      </dsp:txXfrm>
    </dsp:sp>
    <dsp:sp modelId="{AA05B8B5-6C3D-4883-9D51-A6355CFEABFD}">
      <dsp:nvSpPr>
        <dsp:cNvPr id="0" name=""/>
        <dsp:cNvSpPr/>
      </dsp:nvSpPr>
      <dsp:spPr>
        <a:xfrm>
          <a:off x="6452472" y="605282"/>
          <a:ext cx="397967" cy="91440"/>
        </a:xfrm>
        <a:custGeom>
          <a:avLst/>
          <a:gdLst/>
          <a:ahLst/>
          <a:cxnLst/>
          <a:rect l="0" t="0" r="0" b="0"/>
          <a:pathLst>
            <a:path>
              <a:moveTo>
                <a:pt x="0" y="45720"/>
              </a:moveTo>
              <a:lnTo>
                <a:pt x="39796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40741" y="648859"/>
        <a:ext cx="21428" cy="4285"/>
      </dsp:txXfrm>
    </dsp:sp>
    <dsp:sp modelId="{04981630-E09C-4E8F-985D-5EA82F94D6F3}">
      <dsp:nvSpPr>
        <dsp:cNvPr id="0" name=""/>
        <dsp:cNvSpPr/>
      </dsp:nvSpPr>
      <dsp:spPr>
        <a:xfrm>
          <a:off x="4590932" y="92000"/>
          <a:ext cx="1863339" cy="1118003"/>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ct val="35000"/>
            </a:spcAft>
            <a:buNone/>
          </a:pPr>
          <a:r>
            <a:rPr lang="en-US" sz="1200" b="0" kern="1200" dirty="0">
              <a:latin typeface="Arial" panose="020B0604020202020204" pitchFamily="34" charset="0"/>
              <a:cs typeface="Arial" panose="020B0604020202020204" pitchFamily="34" charset="0"/>
            </a:rPr>
            <a:t>Shortlisted for synthesis</a:t>
          </a:r>
          <a:endParaRPr lang="ru-RU" sz="1200" b="0" kern="1200" dirty="0">
            <a:latin typeface="Arial" panose="020B0604020202020204" pitchFamily="34" charset="0"/>
            <a:cs typeface="Arial" panose="020B0604020202020204" pitchFamily="34" charset="0"/>
          </a:endParaRPr>
        </a:p>
        <a:p>
          <a:pPr marL="0" lvl="0" indent="0" algn="ctr" defTabSz="533400">
            <a:lnSpc>
              <a:spcPct val="100000"/>
            </a:lnSpc>
            <a:spcBef>
              <a:spcPct val="0"/>
            </a:spcBef>
            <a:spcAft>
              <a:spcPct val="35000"/>
            </a:spcAft>
            <a:buNone/>
          </a:pPr>
          <a:r>
            <a:rPr lang="en-US" sz="1200" b="0" i="1" kern="1200" dirty="0">
              <a:latin typeface="Arial" panose="020B0604020202020204" pitchFamily="34" charset="0"/>
              <a:cs typeface="Arial" panose="020B0604020202020204" pitchFamily="34" charset="0"/>
            </a:rPr>
            <a:t>(n = 82)</a:t>
          </a:r>
          <a:endParaRPr lang="en-US" sz="1200" b="0" kern="1200" dirty="0">
            <a:latin typeface="Arial" panose="020B0604020202020204" pitchFamily="34" charset="0"/>
            <a:cs typeface="Arial" panose="020B0604020202020204" pitchFamily="34" charset="0"/>
          </a:endParaRPr>
        </a:p>
      </dsp:txBody>
      <dsp:txXfrm>
        <a:off x="4590932" y="92000"/>
        <a:ext cx="1863339" cy="1118003"/>
      </dsp:txXfrm>
    </dsp:sp>
    <dsp:sp modelId="{C42B2E81-102B-45BD-843D-FD7B46FF754C}">
      <dsp:nvSpPr>
        <dsp:cNvPr id="0" name=""/>
        <dsp:cNvSpPr/>
      </dsp:nvSpPr>
      <dsp:spPr>
        <a:xfrm>
          <a:off x="8744379" y="605282"/>
          <a:ext cx="405085" cy="91440"/>
        </a:xfrm>
        <a:custGeom>
          <a:avLst/>
          <a:gdLst/>
          <a:ahLst/>
          <a:cxnLst/>
          <a:rect l="0" t="0" r="0" b="0"/>
          <a:pathLst>
            <a:path>
              <a:moveTo>
                <a:pt x="0" y="45720"/>
              </a:moveTo>
              <a:lnTo>
                <a:pt x="219642" y="45720"/>
              </a:lnTo>
              <a:lnTo>
                <a:pt x="219642" y="47095"/>
              </a:lnTo>
              <a:lnTo>
                <a:pt x="405085" y="47095"/>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936029" y="648859"/>
        <a:ext cx="21784" cy="4285"/>
      </dsp:txXfrm>
    </dsp:sp>
    <dsp:sp modelId="{9E278BA0-C7DD-4DF8-9221-EBE5CEE73AF6}">
      <dsp:nvSpPr>
        <dsp:cNvPr id="0" name=""/>
        <dsp:cNvSpPr/>
      </dsp:nvSpPr>
      <dsp:spPr>
        <a:xfrm>
          <a:off x="6882839" y="92000"/>
          <a:ext cx="1863339" cy="1118003"/>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ct val="35000"/>
            </a:spcAft>
            <a:buNone/>
          </a:pPr>
          <a:r>
            <a:rPr lang="en-US" sz="1200" b="0" kern="1200" dirty="0">
              <a:latin typeface="Arial" panose="020B0604020202020204" pitchFamily="34" charset="0"/>
              <a:cs typeface="Arial" panose="020B0604020202020204" pitchFamily="34" charset="0"/>
            </a:rPr>
            <a:t>Excluded after evidence extraction</a:t>
          </a:r>
          <a:endParaRPr lang="ru-RU" sz="1200" b="0" kern="1200" dirty="0">
            <a:latin typeface="Arial" panose="020B0604020202020204" pitchFamily="34" charset="0"/>
            <a:cs typeface="Arial" panose="020B0604020202020204" pitchFamily="34" charset="0"/>
          </a:endParaRPr>
        </a:p>
        <a:p>
          <a:pPr marL="0" lvl="0" indent="0" algn="ctr" defTabSz="533400">
            <a:lnSpc>
              <a:spcPct val="100000"/>
            </a:lnSpc>
            <a:spcBef>
              <a:spcPct val="0"/>
            </a:spcBef>
            <a:spcAft>
              <a:spcPct val="35000"/>
            </a:spcAft>
            <a:buNone/>
          </a:pPr>
          <a:r>
            <a:rPr lang="en-US" sz="1200" b="0" i="1" kern="1200" dirty="0">
              <a:latin typeface="Arial" panose="020B0604020202020204" pitchFamily="34" charset="0"/>
              <a:cs typeface="Arial" panose="020B0604020202020204" pitchFamily="34" charset="0"/>
            </a:rPr>
            <a:t>(n = 22)</a:t>
          </a:r>
          <a:endParaRPr lang="en-US" sz="1200" b="0" kern="1200" dirty="0">
            <a:latin typeface="Arial" panose="020B0604020202020204" pitchFamily="34" charset="0"/>
            <a:cs typeface="Arial" panose="020B0604020202020204" pitchFamily="34" charset="0"/>
          </a:endParaRPr>
        </a:p>
      </dsp:txBody>
      <dsp:txXfrm>
        <a:off x="6882839" y="92000"/>
        <a:ext cx="1863339" cy="1118003"/>
      </dsp:txXfrm>
    </dsp:sp>
    <dsp:sp modelId="{2B465748-61A4-46F2-9C32-D3F7C81363CE}">
      <dsp:nvSpPr>
        <dsp:cNvPr id="0" name=""/>
        <dsp:cNvSpPr/>
      </dsp:nvSpPr>
      <dsp:spPr>
        <a:xfrm>
          <a:off x="9181864" y="93375"/>
          <a:ext cx="1863339" cy="1118003"/>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100000"/>
            </a:lnSpc>
            <a:spcBef>
              <a:spcPct val="0"/>
            </a:spcBef>
            <a:spcAft>
              <a:spcPct val="35000"/>
            </a:spcAft>
            <a:buNone/>
          </a:pPr>
          <a:r>
            <a:rPr lang="en-US" sz="1200" b="1" kern="1200" dirty="0">
              <a:latin typeface="Arial" panose="020B0604020202020204" pitchFamily="34" charset="0"/>
              <a:cs typeface="Arial" panose="020B0604020202020204" pitchFamily="34" charset="0"/>
            </a:rPr>
            <a:t>I</a:t>
          </a:r>
          <a:r>
            <a:rPr lang="ru-RU" sz="1200" b="1" kern="1200" dirty="0">
              <a:latin typeface="Arial" panose="020B0604020202020204" pitchFamily="34" charset="0"/>
              <a:cs typeface="Arial" panose="020B0604020202020204" pitchFamily="34" charset="0"/>
            </a:rPr>
            <a:t>ncluded</a:t>
          </a:r>
          <a:r>
            <a:rPr lang="en-US" sz="1200" b="1" kern="1200" dirty="0">
              <a:latin typeface="Arial" panose="020B0604020202020204" pitchFamily="34" charset="0"/>
              <a:cs typeface="Arial" panose="020B0604020202020204" pitchFamily="34" charset="0"/>
            </a:rPr>
            <a:t> in the final research</a:t>
          </a:r>
          <a:endParaRPr lang="ru-RU" sz="1200" kern="1200" dirty="0">
            <a:latin typeface="Arial" panose="020B0604020202020204" pitchFamily="34" charset="0"/>
            <a:cs typeface="Arial" panose="020B0604020202020204" pitchFamily="34" charset="0"/>
          </a:endParaRPr>
        </a:p>
        <a:p>
          <a:pPr marL="0" lvl="0" indent="0" algn="ctr" defTabSz="533400">
            <a:lnSpc>
              <a:spcPct val="100000"/>
            </a:lnSpc>
            <a:spcBef>
              <a:spcPct val="0"/>
            </a:spcBef>
            <a:spcAft>
              <a:spcPct val="35000"/>
            </a:spcAft>
            <a:buNone/>
          </a:pPr>
          <a:r>
            <a:rPr lang="en-US" sz="1200" i="1" kern="1200" dirty="0">
              <a:latin typeface="Arial" panose="020B0604020202020204" pitchFamily="34" charset="0"/>
              <a:cs typeface="Arial" panose="020B0604020202020204" pitchFamily="34" charset="0"/>
            </a:rPr>
            <a:t>(n = </a:t>
          </a:r>
          <a:r>
            <a:rPr lang="en-US" sz="1200" b="1" i="1" kern="1200" dirty="0">
              <a:latin typeface="Arial" panose="020B0604020202020204" pitchFamily="34" charset="0"/>
              <a:cs typeface="Arial" panose="020B0604020202020204" pitchFamily="34" charset="0"/>
            </a:rPr>
            <a:t>6</a:t>
          </a:r>
          <a:r>
            <a:rPr lang="ru-RU" sz="1200" b="1" i="1" kern="1200" dirty="0">
              <a:latin typeface="Arial" panose="020B0604020202020204" pitchFamily="34" charset="0"/>
              <a:cs typeface="Arial" panose="020B0604020202020204" pitchFamily="34" charset="0"/>
            </a:rPr>
            <a:t>2</a:t>
          </a:r>
          <a:r>
            <a:rPr lang="en-US" sz="1200" i="1" kern="1200" dirty="0">
              <a:latin typeface="Arial" panose="020B0604020202020204" pitchFamily="34" charset="0"/>
              <a:cs typeface="Arial" panose="020B0604020202020204" pitchFamily="34" charset="0"/>
            </a:rPr>
            <a:t>)</a:t>
          </a:r>
          <a:endParaRPr lang="en-US" sz="1200" kern="1200" dirty="0">
            <a:latin typeface="Arial" panose="020B0604020202020204" pitchFamily="34" charset="0"/>
            <a:cs typeface="Arial" panose="020B0604020202020204" pitchFamily="34" charset="0"/>
          </a:endParaRPr>
        </a:p>
      </dsp:txBody>
      <dsp:txXfrm>
        <a:off x="9181864" y="93375"/>
        <a:ext cx="1863339" cy="11180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AF3522-AD90-4C40-9FBE-8A3F83545637}">
      <dsp:nvSpPr>
        <dsp:cNvPr id="0" name=""/>
        <dsp:cNvSpPr/>
      </dsp:nvSpPr>
      <dsp:spPr>
        <a:xfrm>
          <a:off x="3589663" y="643334"/>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3823743" y="686426"/>
        <a:ext cx="26250" cy="5255"/>
      </dsp:txXfrm>
    </dsp:sp>
    <dsp:sp modelId="{722712FB-60DA-40BB-A4E9-3ABEB7401E7B}">
      <dsp:nvSpPr>
        <dsp:cNvPr id="0" name=""/>
        <dsp:cNvSpPr/>
      </dsp:nvSpPr>
      <dsp:spPr>
        <a:xfrm>
          <a:off x="1308811" y="4258"/>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11175">
            <a:lnSpc>
              <a:spcPct val="90000"/>
            </a:lnSpc>
            <a:spcBef>
              <a:spcPct val="0"/>
            </a:spcBef>
            <a:spcAft>
              <a:spcPct val="35000"/>
            </a:spcAft>
            <a:buNone/>
          </a:pPr>
          <a:r>
            <a:rPr lang="en-US" sz="1150" b="1" kern="1200" dirty="0">
              <a:latin typeface="Arial" panose="020B0604020202020204" pitchFamily="34" charset="0"/>
              <a:cs typeface="Arial" panose="020B0604020202020204" pitchFamily="34" charset="0"/>
            </a:rPr>
            <a:t>1.</a:t>
          </a:r>
          <a:r>
            <a:rPr lang="ru-RU" sz="1150" b="1" kern="1200" dirty="0">
              <a:latin typeface="Arial" panose="020B0604020202020204" pitchFamily="34" charset="0"/>
              <a:cs typeface="Arial" panose="020B0604020202020204" pitchFamily="34" charset="0"/>
            </a:rPr>
            <a:t> </a:t>
          </a:r>
          <a:r>
            <a:rPr lang="en-US" sz="1150" b="1" kern="1200" dirty="0">
              <a:latin typeface="Arial" panose="020B0604020202020204" pitchFamily="34" charset="0"/>
              <a:cs typeface="Arial" panose="020B0604020202020204" pitchFamily="34" charset="0"/>
            </a:rPr>
            <a:t>Choosing a data synthesis method</a:t>
          </a:r>
        </a:p>
        <a:p>
          <a:pPr marL="57150" lvl="1" indent="-57150" algn="l" defTabSz="511175">
            <a:lnSpc>
              <a:spcPct val="90000"/>
            </a:lnSpc>
            <a:spcBef>
              <a:spcPct val="0"/>
            </a:spcBef>
            <a:spcAft>
              <a:spcPct val="15000"/>
            </a:spcAft>
            <a:buChar char="•"/>
          </a:pPr>
          <a:r>
            <a:rPr lang="en-US" sz="1150" kern="1200" dirty="0">
              <a:latin typeface="Arial" panose="020B0604020202020204" pitchFamily="34" charset="0"/>
              <a:cs typeface="Arial" panose="020B0604020202020204" pitchFamily="34" charset="0"/>
            </a:rPr>
            <a:t>Model and/or rule-based approach</a:t>
          </a:r>
        </a:p>
        <a:p>
          <a:pPr marL="114300" lvl="2" indent="-57150" algn="l" defTabSz="511175">
            <a:lnSpc>
              <a:spcPct val="90000"/>
            </a:lnSpc>
            <a:spcBef>
              <a:spcPct val="0"/>
            </a:spcBef>
            <a:spcAft>
              <a:spcPct val="15000"/>
            </a:spcAft>
            <a:buChar char="•"/>
          </a:pPr>
          <a:r>
            <a:rPr lang="en-US" sz="1150" kern="1200" dirty="0">
              <a:latin typeface="Arial" panose="020B0604020202020204" pitchFamily="34" charset="0"/>
              <a:cs typeface="Arial" panose="020B0604020202020204" pitchFamily="34" charset="0"/>
            </a:rPr>
            <a:t>Limitation: up to &lt;</a:t>
          </a:r>
          <a:r>
            <a:rPr lang="ru-RU" sz="1150" kern="1200" dirty="0">
              <a:latin typeface="Arial" panose="020B0604020202020204" pitchFamily="34" charset="0"/>
              <a:cs typeface="Arial" panose="020B0604020202020204" pitchFamily="34" charset="0"/>
            </a:rPr>
            <a:t>500</a:t>
          </a:r>
          <a:r>
            <a:rPr lang="en-US" sz="1150" kern="1200" dirty="0">
              <a:latin typeface="Arial" panose="020B0604020202020204" pitchFamily="34" charset="0"/>
              <a:cs typeface="Arial" panose="020B0604020202020204" pitchFamily="34" charset="0"/>
            </a:rPr>
            <a:t> real rows</a:t>
          </a:r>
        </a:p>
        <a:p>
          <a:pPr marL="114300" lvl="2" indent="-57150" algn="l" defTabSz="511175">
            <a:lnSpc>
              <a:spcPct val="90000"/>
            </a:lnSpc>
            <a:spcBef>
              <a:spcPct val="0"/>
            </a:spcBef>
            <a:spcAft>
              <a:spcPct val="15000"/>
            </a:spcAft>
            <a:buChar char="•"/>
          </a:pPr>
          <a:r>
            <a:rPr lang="en-US" sz="1150" kern="1200" dirty="0">
              <a:latin typeface="Arial" panose="020B0604020202020204" pitchFamily="34" charset="0"/>
              <a:cs typeface="Arial" panose="020B0604020202020204" pitchFamily="34" charset="0"/>
            </a:rPr>
            <a:t>Requirements: adaptable and updatable scenarios</a:t>
          </a:r>
        </a:p>
      </dsp:txBody>
      <dsp:txXfrm>
        <a:off x="1308811" y="4258"/>
        <a:ext cx="2282652" cy="1369591"/>
      </dsp:txXfrm>
    </dsp:sp>
    <dsp:sp modelId="{E15A2C33-F328-4559-8701-025E1676208B}">
      <dsp:nvSpPr>
        <dsp:cNvPr id="0" name=""/>
        <dsp:cNvSpPr/>
      </dsp:nvSpPr>
      <dsp:spPr>
        <a:xfrm>
          <a:off x="6397326" y="643334"/>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6631406" y="686426"/>
        <a:ext cx="26250" cy="5255"/>
      </dsp:txXfrm>
    </dsp:sp>
    <dsp:sp modelId="{D51DFA4C-2BCD-4610-85FB-5CC136B9FC4E}">
      <dsp:nvSpPr>
        <dsp:cNvPr id="0" name=""/>
        <dsp:cNvSpPr/>
      </dsp:nvSpPr>
      <dsp:spPr>
        <a:xfrm>
          <a:off x="4116473" y="4258"/>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rial" panose="020B0604020202020204" pitchFamily="34" charset="0"/>
              <a:cs typeface="Arial" panose="020B0604020202020204" pitchFamily="34" charset="0"/>
            </a:rPr>
            <a:t>2. Scenario catalogue</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Sources: FI guidelines and EU directives</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Grouping by mechanism; scenario parameters</a:t>
          </a:r>
        </a:p>
      </dsp:txBody>
      <dsp:txXfrm>
        <a:off x="4116473" y="4258"/>
        <a:ext cx="2282652" cy="1369591"/>
      </dsp:txXfrm>
    </dsp:sp>
    <dsp:sp modelId="{5DDAF176-8072-451E-88E7-D9D537DC06ED}">
      <dsp:nvSpPr>
        <dsp:cNvPr id="0" name=""/>
        <dsp:cNvSpPr/>
      </dsp:nvSpPr>
      <dsp:spPr>
        <a:xfrm>
          <a:off x="2450137" y="1372050"/>
          <a:ext cx="5615325" cy="494410"/>
        </a:xfrm>
        <a:custGeom>
          <a:avLst/>
          <a:gdLst/>
          <a:ahLst/>
          <a:cxnLst/>
          <a:rect l="0" t="0" r="0" b="0"/>
          <a:pathLst>
            <a:path>
              <a:moveTo>
                <a:pt x="5615325" y="0"/>
              </a:moveTo>
              <a:lnTo>
                <a:pt x="5615325" y="264305"/>
              </a:lnTo>
              <a:lnTo>
                <a:pt x="0" y="264305"/>
              </a:lnTo>
              <a:lnTo>
                <a:pt x="0" y="49441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5116804" y="1616627"/>
        <a:ext cx="281990" cy="5255"/>
      </dsp:txXfrm>
    </dsp:sp>
    <dsp:sp modelId="{D0C3CFD9-0FFB-47F2-9573-176E18B48D7F}">
      <dsp:nvSpPr>
        <dsp:cNvPr id="0" name=""/>
        <dsp:cNvSpPr/>
      </dsp:nvSpPr>
      <dsp:spPr>
        <a:xfrm>
          <a:off x="6924136" y="4258"/>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rial" panose="020B0604020202020204" pitchFamily="34" charset="0"/>
              <a:cs typeface="Arial" panose="020B0604020202020204" pitchFamily="34" charset="0"/>
            </a:rPr>
            <a:t>3. Data synthesis</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Model background + scenario "overlays"</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Rule-based simulation by specifications</a:t>
          </a:r>
        </a:p>
      </dsp:txBody>
      <dsp:txXfrm>
        <a:off x="6924136" y="4258"/>
        <a:ext cx="2282652" cy="1369591"/>
      </dsp:txXfrm>
    </dsp:sp>
    <dsp:sp modelId="{76AA6E31-AEE2-4862-BE31-26BF3856A784}">
      <dsp:nvSpPr>
        <dsp:cNvPr id="0" name=""/>
        <dsp:cNvSpPr/>
      </dsp:nvSpPr>
      <dsp:spPr>
        <a:xfrm>
          <a:off x="3589663" y="2537936"/>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3823743" y="2581028"/>
        <a:ext cx="26250" cy="5255"/>
      </dsp:txXfrm>
    </dsp:sp>
    <dsp:sp modelId="{11142FBB-1257-4F45-A790-C4CE41EE3D98}">
      <dsp:nvSpPr>
        <dsp:cNvPr id="0" name=""/>
        <dsp:cNvSpPr/>
      </dsp:nvSpPr>
      <dsp:spPr>
        <a:xfrm>
          <a:off x="1308811" y="1898860"/>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rial" panose="020B0604020202020204" pitchFamily="34" charset="0"/>
              <a:cs typeface="Arial" panose="020B0604020202020204" pitchFamily="34" charset="0"/>
            </a:rPr>
            <a:t>4. Data quality check</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Rule-based validation</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Statistical feature profiling</a:t>
          </a:r>
        </a:p>
      </dsp:txBody>
      <dsp:txXfrm>
        <a:off x="1308811" y="1898860"/>
        <a:ext cx="2282652" cy="1369591"/>
      </dsp:txXfrm>
    </dsp:sp>
    <dsp:sp modelId="{F0DBD63C-1B17-4059-B649-656F3681DD87}">
      <dsp:nvSpPr>
        <dsp:cNvPr id="0" name=""/>
        <dsp:cNvSpPr/>
      </dsp:nvSpPr>
      <dsp:spPr>
        <a:xfrm>
          <a:off x="6397326" y="2537936"/>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6631406" y="2581028"/>
        <a:ext cx="26250" cy="5255"/>
      </dsp:txXfrm>
    </dsp:sp>
    <dsp:sp modelId="{15314814-EEF0-4781-A00E-6CF29482228D}">
      <dsp:nvSpPr>
        <dsp:cNvPr id="0" name=""/>
        <dsp:cNvSpPr/>
      </dsp:nvSpPr>
      <dsp:spPr>
        <a:xfrm>
          <a:off x="4116473" y="1898860"/>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rial" panose="020B0604020202020204" pitchFamily="34" charset="0"/>
              <a:cs typeface="Arial" panose="020B0604020202020204" pitchFamily="34" charset="0"/>
            </a:rPr>
            <a:t>5. Class balance</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SMOTE / ADASYN / ROSE </a:t>
          </a:r>
        </a:p>
        <a:p>
          <a:pPr marL="228600" lvl="2"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Class weights</a:t>
          </a:r>
        </a:p>
        <a:p>
          <a:pPr marL="228600" lvl="2"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Focal loss</a:t>
          </a:r>
        </a:p>
      </dsp:txBody>
      <dsp:txXfrm>
        <a:off x="4116473" y="1898860"/>
        <a:ext cx="2282652" cy="1369591"/>
      </dsp:txXfrm>
    </dsp:sp>
    <dsp:sp modelId="{0D28249B-3705-4FA5-B13C-06A14FA1B280}">
      <dsp:nvSpPr>
        <dsp:cNvPr id="0" name=""/>
        <dsp:cNvSpPr/>
      </dsp:nvSpPr>
      <dsp:spPr>
        <a:xfrm>
          <a:off x="2450137" y="3266651"/>
          <a:ext cx="5615325" cy="494410"/>
        </a:xfrm>
        <a:custGeom>
          <a:avLst/>
          <a:gdLst/>
          <a:ahLst/>
          <a:cxnLst/>
          <a:rect l="0" t="0" r="0" b="0"/>
          <a:pathLst>
            <a:path>
              <a:moveTo>
                <a:pt x="5615325" y="0"/>
              </a:moveTo>
              <a:lnTo>
                <a:pt x="5615325" y="264305"/>
              </a:lnTo>
              <a:lnTo>
                <a:pt x="0" y="264305"/>
              </a:lnTo>
              <a:lnTo>
                <a:pt x="0" y="49441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5116804" y="3511229"/>
        <a:ext cx="281990" cy="5255"/>
      </dsp:txXfrm>
    </dsp:sp>
    <dsp:sp modelId="{88C4BB30-992D-4CF3-984B-407B564238ED}">
      <dsp:nvSpPr>
        <dsp:cNvPr id="0" name=""/>
        <dsp:cNvSpPr/>
      </dsp:nvSpPr>
      <dsp:spPr>
        <a:xfrm>
          <a:off x="6924136" y="1898860"/>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rial" panose="020B0604020202020204" pitchFamily="34" charset="0"/>
              <a:cs typeface="Arial" panose="020B0604020202020204" pitchFamily="34" charset="0"/>
            </a:rPr>
            <a:t>6. Model selection</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AutoML with feature analysis for ranking.</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Expert validation and shortlisting.</a:t>
          </a:r>
        </a:p>
      </dsp:txBody>
      <dsp:txXfrm>
        <a:off x="6924136" y="1898860"/>
        <a:ext cx="2282652" cy="1369591"/>
      </dsp:txXfrm>
    </dsp:sp>
    <dsp:sp modelId="{B5A542A1-5B2B-4B8F-8D9F-D98091B785FA}">
      <dsp:nvSpPr>
        <dsp:cNvPr id="0" name=""/>
        <dsp:cNvSpPr/>
      </dsp:nvSpPr>
      <dsp:spPr>
        <a:xfrm>
          <a:off x="3589663" y="4432537"/>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3823743" y="4475629"/>
        <a:ext cx="26250" cy="5255"/>
      </dsp:txXfrm>
    </dsp:sp>
    <dsp:sp modelId="{28E4E868-22FB-4993-919C-8C23DB70CB7C}">
      <dsp:nvSpPr>
        <dsp:cNvPr id="0" name=""/>
        <dsp:cNvSpPr/>
      </dsp:nvSpPr>
      <dsp:spPr>
        <a:xfrm>
          <a:off x="1308811" y="3793461"/>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rial" panose="020B0604020202020204" pitchFamily="34" charset="0"/>
              <a:cs typeface="Arial" panose="020B0604020202020204" pitchFamily="34" charset="0"/>
            </a:rPr>
            <a:t>7. Training mode</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Incremental/full retraining</a:t>
          </a:r>
        </a:p>
        <a:p>
          <a:pPr marL="114300" lvl="1" indent="-114300" algn="l" defTabSz="533400">
            <a:lnSpc>
              <a:spcPct val="90000"/>
            </a:lnSpc>
            <a:spcBef>
              <a:spcPct val="0"/>
            </a:spcBef>
            <a:spcAft>
              <a:spcPct val="15000"/>
            </a:spcAft>
            <a:buChar char="•"/>
          </a:pPr>
          <a:r>
            <a:rPr lang="en-US" sz="1200" kern="1200" dirty="0">
              <a:latin typeface="Arial" panose="020B0604020202020204" pitchFamily="34" charset="0"/>
              <a:cs typeface="Arial" panose="020B0604020202020204" pitchFamily="34" charset="0"/>
            </a:rPr>
            <a:t>Update rules, thresholds, and monitoring</a:t>
          </a:r>
        </a:p>
      </dsp:txBody>
      <dsp:txXfrm>
        <a:off x="1308811" y="3793461"/>
        <a:ext cx="2282652" cy="1369591"/>
      </dsp:txXfrm>
    </dsp:sp>
    <dsp:sp modelId="{628A3229-4CFA-42DB-B38C-C3FE99FDFE54}">
      <dsp:nvSpPr>
        <dsp:cNvPr id="0" name=""/>
        <dsp:cNvSpPr/>
      </dsp:nvSpPr>
      <dsp:spPr>
        <a:xfrm>
          <a:off x="6397326" y="4432537"/>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l"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dsp:txBody>
      <dsp:txXfrm>
        <a:off x="6631406" y="4475629"/>
        <a:ext cx="26250" cy="5255"/>
      </dsp:txXfrm>
    </dsp:sp>
    <dsp:sp modelId="{92049225-0B2A-4926-86AA-38F693276756}">
      <dsp:nvSpPr>
        <dsp:cNvPr id="0" name=""/>
        <dsp:cNvSpPr/>
      </dsp:nvSpPr>
      <dsp:spPr>
        <a:xfrm>
          <a:off x="4116473" y="3793461"/>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rial" panose="020B0604020202020204" pitchFamily="34" charset="0"/>
              <a:cs typeface="Arial" panose="020B0604020202020204" pitchFamily="34" charset="0"/>
            </a:rPr>
            <a:t>8. Adaptivity check</a:t>
          </a:r>
        </a:p>
        <a:p>
          <a:pPr marL="114300" lvl="1" indent="-114300" algn="l" defTabSz="533400">
            <a:lnSpc>
              <a:spcPct val="90000"/>
            </a:lnSpc>
            <a:spcBef>
              <a:spcPct val="0"/>
            </a:spcBef>
            <a:spcAft>
              <a:spcPct val="15000"/>
            </a:spcAft>
            <a:buChar char="•"/>
          </a:pPr>
          <a:r>
            <a:rPr lang="en-US" sz="1200" b="0" kern="1200" dirty="0">
              <a:latin typeface="Arial" panose="020B0604020202020204" pitchFamily="34" charset="0"/>
              <a:cs typeface="Arial" panose="020B0604020202020204" pitchFamily="34" charset="0"/>
            </a:rPr>
            <a:t>Data Packages</a:t>
          </a:r>
        </a:p>
        <a:p>
          <a:pPr marL="114300" lvl="1" indent="-114300" algn="l" defTabSz="533400">
            <a:lnSpc>
              <a:spcPct val="90000"/>
            </a:lnSpc>
            <a:spcBef>
              <a:spcPct val="0"/>
            </a:spcBef>
            <a:spcAft>
              <a:spcPct val="15000"/>
            </a:spcAft>
            <a:buChar char="•"/>
          </a:pPr>
          <a:r>
            <a:rPr lang="en-US" sz="1200" b="0" kern="1200" dirty="0">
              <a:latin typeface="Arial" panose="020B0604020202020204" pitchFamily="34" charset="0"/>
              <a:cs typeface="Arial" panose="020B0604020202020204" pitchFamily="34" charset="0"/>
            </a:rPr>
            <a:t>Evolving Scenarios</a:t>
          </a:r>
        </a:p>
      </dsp:txBody>
      <dsp:txXfrm>
        <a:off x="4116473" y="3793461"/>
        <a:ext cx="2282652" cy="1369591"/>
      </dsp:txXfrm>
    </dsp:sp>
    <dsp:sp modelId="{12C1549C-FB6E-401C-960D-1F848C8DC2C1}">
      <dsp:nvSpPr>
        <dsp:cNvPr id="0" name=""/>
        <dsp:cNvSpPr/>
      </dsp:nvSpPr>
      <dsp:spPr>
        <a:xfrm>
          <a:off x="6924136" y="3793461"/>
          <a:ext cx="2282652" cy="1369591"/>
        </a:xfrm>
        <a:prstGeom prst="rect">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dirty="0">
              <a:latin typeface="Arial" panose="020B0604020202020204" pitchFamily="34" charset="0"/>
              <a:cs typeface="Arial" panose="020B0604020202020204" pitchFamily="34" charset="0"/>
            </a:rPr>
            <a:t>9. Conclusion </a:t>
          </a:r>
        </a:p>
      </dsp:txBody>
      <dsp:txXfrm>
        <a:off x="6924136" y="3793461"/>
        <a:ext cx="2282652" cy="13695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1F54A6-E661-447E-B556-388F4B5BD720}">
      <dsp:nvSpPr>
        <dsp:cNvPr id="0" name=""/>
        <dsp:cNvSpPr/>
      </dsp:nvSpPr>
      <dsp:spPr>
        <a:xfrm>
          <a:off x="0" y="0"/>
          <a:ext cx="5183188" cy="686499"/>
        </a:xfrm>
        <a:prstGeom prst="roundRect">
          <a:avLst/>
        </a:prstGeom>
        <a:solidFill>
          <a:schemeClr val="lt1">
            <a:hueOff val="0"/>
            <a:satOff val="0"/>
            <a:lumOff val="0"/>
            <a:alphaOff val="0"/>
          </a:schemeClr>
        </a:solidFill>
        <a:ln w="12700" cap="flat" cmpd="sng" algn="ctr">
          <a:solidFill>
            <a:schemeClr val="accent5">
              <a:lumMod val="20000"/>
              <a:lumOff val="8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Arial" panose="020B0604020202020204" pitchFamily="34" charset="0"/>
              <a:cs typeface="Arial" panose="020B0604020202020204" pitchFamily="34" charset="0"/>
            </a:rPr>
            <a:t>GAN preserves categorical </a:t>
          </a:r>
          <a:r>
            <a:rPr lang="ru-RU" sz="1600" kern="1200" dirty="0">
              <a:latin typeface="Arial" panose="020B0604020202020204" pitchFamily="34" charset="0"/>
              <a:cs typeface="Arial" panose="020B0604020202020204" pitchFamily="34" charset="0"/>
            </a:rPr>
            <a:t>proportions but</a:t>
          </a:r>
          <a:r>
            <a:rPr lang="en-US" sz="1600" kern="1200" dirty="0">
              <a:latin typeface="Arial" panose="020B0604020202020204" pitchFamily="34" charset="0"/>
              <a:cs typeface="Arial" panose="020B0604020202020204" pitchFamily="34" charset="0"/>
            </a:rPr>
            <a:t> </a:t>
          </a:r>
          <a:r>
            <a:rPr lang="en-US" sz="1600" i="1" kern="1200" dirty="0">
              <a:latin typeface="Arial" panose="020B0604020202020204" pitchFamily="34" charset="0"/>
              <a:cs typeface="Arial" panose="020B0604020202020204" pitchFamily="34" charset="0"/>
            </a:rPr>
            <a:t>fails</a:t>
          </a:r>
          <a:r>
            <a:rPr lang="en-US" sz="1600" kern="1200" dirty="0">
              <a:latin typeface="Arial" panose="020B0604020202020204" pitchFamily="34" charset="0"/>
              <a:cs typeface="Arial" panose="020B0604020202020204" pitchFamily="34" charset="0"/>
            </a:rPr>
            <a:t> to reproduce heavy-tailed transaction amounts</a:t>
          </a:r>
        </a:p>
      </dsp:txBody>
      <dsp:txXfrm>
        <a:off x="33512" y="33512"/>
        <a:ext cx="5116164" cy="619475"/>
      </dsp:txXfrm>
    </dsp:sp>
    <dsp:sp modelId="{9CD7B445-1E5D-49F1-AA91-8FC776447BA2}">
      <dsp:nvSpPr>
        <dsp:cNvPr id="0" name=""/>
        <dsp:cNvSpPr/>
      </dsp:nvSpPr>
      <dsp:spPr>
        <a:xfrm>
          <a:off x="0" y="692121"/>
          <a:ext cx="5183188" cy="189762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4566" tIns="17780" rIns="99568" bIns="17780" numCol="1" spcCol="1270" anchor="t" anchorCtr="0">
          <a:noAutofit/>
        </a:bodyPr>
        <a:lstStyle/>
        <a:p>
          <a:pPr marL="114300" lvl="1" indent="-114300" algn="l" defTabSz="622300">
            <a:lnSpc>
              <a:spcPct val="90000"/>
            </a:lnSpc>
            <a:spcBef>
              <a:spcPct val="0"/>
            </a:spcBef>
            <a:spcAft>
              <a:spcPct val="20000"/>
            </a:spcAft>
            <a:buChar char="•"/>
          </a:pPr>
          <a:r>
            <a:rPr lang="en-US" sz="1400" kern="1200" dirty="0">
              <a:latin typeface="Arial" panose="020B0604020202020204" pitchFamily="34" charset="0"/>
              <a:cs typeface="Arial" panose="020B0604020202020204" pitchFamily="34" charset="0"/>
            </a:rPr>
            <a:t>Not suitable for fraud detection benchmarking</a:t>
          </a:r>
        </a:p>
      </dsp:txBody>
      <dsp:txXfrm>
        <a:off x="0" y="692121"/>
        <a:ext cx="5183188" cy="189762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698789-CDA8-4CD1-B51E-00F9921FDBE2}">
      <dsp:nvSpPr>
        <dsp:cNvPr id="0" name=""/>
        <dsp:cNvSpPr/>
      </dsp:nvSpPr>
      <dsp:spPr>
        <a:xfrm>
          <a:off x="0" y="611887"/>
          <a:ext cx="1996518" cy="1549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l" defTabSz="311150">
            <a:lnSpc>
              <a:spcPct val="90000"/>
            </a:lnSpc>
            <a:spcBef>
              <a:spcPct val="0"/>
            </a:spcBef>
            <a:spcAft>
              <a:spcPct val="35000"/>
            </a:spcAft>
            <a:buNone/>
          </a:pPr>
          <a:r>
            <a:rPr lang="ru-RU" sz="700" kern="1200" dirty="0">
              <a:latin typeface="Arial" panose="020B0604020202020204" pitchFamily="34" charset="0"/>
              <a:cs typeface="Arial" panose="020B0604020202020204" pitchFamily="34" charset="0"/>
            </a:rPr>
            <a:t>1. </a:t>
          </a:r>
          <a:r>
            <a:rPr lang="en-US" sz="700" kern="1200" dirty="0">
              <a:latin typeface="Arial" panose="020B0604020202020204" pitchFamily="34" charset="0"/>
              <a:cs typeface="Arial" panose="020B0604020202020204" pitchFamily="34" charset="0"/>
            </a:rPr>
            <a:t>Transaction flow and velocity monitoring</a:t>
          </a:r>
          <a:endParaRPr lang="en-US" sz="700" kern="1200" dirty="0"/>
        </a:p>
      </dsp:txBody>
      <dsp:txXfrm>
        <a:off x="7563" y="619450"/>
        <a:ext cx="1981392" cy="139806"/>
      </dsp:txXfrm>
    </dsp:sp>
    <dsp:sp modelId="{932C102E-7EC2-4A60-A9C1-9473AE03541E}">
      <dsp:nvSpPr>
        <dsp:cNvPr id="0" name=""/>
        <dsp:cNvSpPr/>
      </dsp:nvSpPr>
      <dsp:spPr>
        <a:xfrm>
          <a:off x="0" y="766820"/>
          <a:ext cx="1996518" cy="1032979"/>
        </a:xfrm>
        <a:prstGeom prst="rect">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3389" tIns="8890" rIns="49784" bIns="8890" numCol="1" spcCol="1270" anchor="t" anchorCtr="0">
          <a:noAutofit/>
        </a:bodyPr>
        <a:lstStyle/>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Transit Payments</a:t>
          </a:r>
          <a:endParaRPr lang="en-US" sz="700" kern="1200"/>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Daily/Monthly Turnover Thresholds</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Circular Money Flow</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Rapid Currency Conversion</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Transaction Structuring</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Sudden Activity After Dormancy</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Newly Incorporated Entity High Volume</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Unusual Transaction Speed</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Identical Transaction Size</a:t>
          </a:r>
        </a:p>
      </dsp:txBody>
      <dsp:txXfrm>
        <a:off x="0" y="766820"/>
        <a:ext cx="1996518" cy="1032979"/>
      </dsp:txXfrm>
    </dsp:sp>
    <dsp:sp modelId="{5D323861-9AC0-4300-B351-07FC0993BBDE}">
      <dsp:nvSpPr>
        <dsp:cNvPr id="0" name=""/>
        <dsp:cNvSpPr/>
      </dsp:nvSpPr>
      <dsp:spPr>
        <a:xfrm>
          <a:off x="0" y="1799799"/>
          <a:ext cx="1996518" cy="1629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l" defTabSz="311150">
            <a:lnSpc>
              <a:spcPct val="90000"/>
            </a:lnSpc>
            <a:spcBef>
              <a:spcPct val="0"/>
            </a:spcBef>
            <a:spcAft>
              <a:spcPct val="35000"/>
            </a:spcAft>
            <a:buNone/>
          </a:pPr>
          <a:r>
            <a:rPr lang="ru-RU" sz="700" kern="1200" dirty="0">
              <a:latin typeface="Arial" panose="020B0604020202020204" pitchFamily="34" charset="0"/>
              <a:cs typeface="Arial" panose="020B0604020202020204" pitchFamily="34" charset="0"/>
            </a:rPr>
            <a:t>2. </a:t>
          </a:r>
          <a:r>
            <a:rPr lang="en-US" sz="700" kern="1200" dirty="0">
              <a:latin typeface="Arial" panose="020B0604020202020204" pitchFamily="34" charset="0"/>
              <a:cs typeface="Arial" panose="020B0604020202020204" pitchFamily="34" charset="0"/>
            </a:rPr>
            <a:t>High-risk jurisdiction detection	</a:t>
          </a:r>
        </a:p>
      </dsp:txBody>
      <dsp:txXfrm>
        <a:off x="7954" y="1807753"/>
        <a:ext cx="1980610" cy="147024"/>
      </dsp:txXfrm>
    </dsp:sp>
    <dsp:sp modelId="{10FF26DB-1BB3-457F-AF18-5E96151B5A06}">
      <dsp:nvSpPr>
        <dsp:cNvPr id="0" name=""/>
        <dsp:cNvSpPr/>
      </dsp:nvSpPr>
      <dsp:spPr>
        <a:xfrm>
          <a:off x="0" y="1962732"/>
          <a:ext cx="1996518" cy="681766"/>
        </a:xfrm>
        <a:prstGeom prst="rect">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3389" tIns="8890" rIns="49784" bIns="8890" numCol="1" spcCol="1270" anchor="t" anchorCtr="0">
          <a:noAutofit/>
        </a:bodyPr>
        <a:lstStyle/>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High-Risk Country Daily/Monthly Transactions</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Very High-Risk Country Transactions</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First-Time High-Risk Country Activity</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Prohibited Country Transactions</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Foreign Country Transaction Ratio</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Restricted Country Currency</a:t>
          </a:r>
        </a:p>
      </dsp:txBody>
      <dsp:txXfrm>
        <a:off x="0" y="1962732"/>
        <a:ext cx="1996518" cy="681766"/>
      </dsp:txXfrm>
    </dsp:sp>
    <dsp:sp modelId="{C7C79B6E-8CB9-4E57-9FDF-21B1EB5AA8C9}">
      <dsp:nvSpPr>
        <dsp:cNvPr id="0" name=""/>
        <dsp:cNvSpPr/>
      </dsp:nvSpPr>
      <dsp:spPr>
        <a:xfrm>
          <a:off x="0" y="2644498"/>
          <a:ext cx="1996518" cy="1629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l" defTabSz="311150">
            <a:lnSpc>
              <a:spcPct val="90000"/>
            </a:lnSpc>
            <a:spcBef>
              <a:spcPct val="0"/>
            </a:spcBef>
            <a:spcAft>
              <a:spcPct val="35000"/>
            </a:spcAft>
            <a:buNone/>
          </a:pPr>
          <a:r>
            <a:rPr lang="ru-RU" sz="700" kern="1200" dirty="0">
              <a:latin typeface="Arial" panose="020B0604020202020204" pitchFamily="34" charset="0"/>
              <a:cs typeface="Arial" panose="020B0604020202020204" pitchFamily="34" charset="0"/>
            </a:rPr>
            <a:t>3. </a:t>
          </a:r>
          <a:r>
            <a:rPr lang="en-US" sz="700" kern="1200" dirty="0">
              <a:latin typeface="Arial" panose="020B0604020202020204" pitchFamily="34" charset="0"/>
              <a:cs typeface="Arial" panose="020B0604020202020204" pitchFamily="34" charset="0"/>
            </a:rPr>
            <a:t>Transaction pattern analysis	</a:t>
          </a:r>
        </a:p>
      </dsp:txBody>
      <dsp:txXfrm>
        <a:off x="7954" y="2652452"/>
        <a:ext cx="1980610" cy="147024"/>
      </dsp:txXfrm>
    </dsp:sp>
    <dsp:sp modelId="{367E5CD8-0C08-4B4C-A92B-D321B66C245D}">
      <dsp:nvSpPr>
        <dsp:cNvPr id="0" name=""/>
        <dsp:cNvSpPr/>
      </dsp:nvSpPr>
      <dsp:spPr>
        <a:xfrm>
          <a:off x="0" y="2807431"/>
          <a:ext cx="1996518" cy="785064"/>
        </a:xfrm>
        <a:prstGeom prst="rect">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3389" tIns="8890" rIns="49784" bIns="8890" numCol="1" spcCol="1270" anchor="t" anchorCtr="0">
          <a:noAutofit/>
        </a:bodyPr>
        <a:lstStyle/>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Balanced Flow Analysis</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One-to-Many Pattern</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Many-to-One Pattern</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Round Amount Transactions</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Historical Transaction Spike</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Unusual Increase in Turnover</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Foreign Currency First</a:t>
          </a:r>
        </a:p>
      </dsp:txBody>
      <dsp:txXfrm>
        <a:off x="0" y="2807431"/>
        <a:ext cx="1996518" cy="785064"/>
      </dsp:txXfrm>
    </dsp:sp>
    <dsp:sp modelId="{07E2E188-F3AC-4DFE-B206-59BA55D791AB}">
      <dsp:nvSpPr>
        <dsp:cNvPr id="0" name=""/>
        <dsp:cNvSpPr/>
      </dsp:nvSpPr>
      <dsp:spPr>
        <a:xfrm>
          <a:off x="0" y="3592496"/>
          <a:ext cx="1996518" cy="1629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l" defTabSz="311150">
            <a:lnSpc>
              <a:spcPct val="90000"/>
            </a:lnSpc>
            <a:spcBef>
              <a:spcPct val="0"/>
            </a:spcBef>
            <a:spcAft>
              <a:spcPct val="35000"/>
            </a:spcAft>
            <a:buNone/>
          </a:pPr>
          <a:r>
            <a:rPr lang="ru-RU" sz="700" kern="1200" dirty="0">
              <a:latin typeface="Arial" panose="020B0604020202020204" pitchFamily="34" charset="0"/>
              <a:cs typeface="Arial" panose="020B0604020202020204" pitchFamily="34" charset="0"/>
            </a:rPr>
            <a:t>4. </a:t>
          </a:r>
          <a:r>
            <a:rPr lang="en-US" sz="700" kern="1200" dirty="0">
              <a:latin typeface="Arial" panose="020B0604020202020204" pitchFamily="34" charset="0"/>
              <a:cs typeface="Arial" panose="020B0604020202020204" pitchFamily="34" charset="0"/>
            </a:rPr>
            <a:t>Entity and relationship risk	</a:t>
          </a:r>
        </a:p>
      </dsp:txBody>
      <dsp:txXfrm>
        <a:off x="7954" y="3600450"/>
        <a:ext cx="1980610" cy="147024"/>
      </dsp:txXfrm>
    </dsp:sp>
    <dsp:sp modelId="{77A3C912-FBD6-4E19-8DDE-DC051AEC92AF}">
      <dsp:nvSpPr>
        <dsp:cNvPr id="0" name=""/>
        <dsp:cNvSpPr/>
      </dsp:nvSpPr>
      <dsp:spPr>
        <a:xfrm>
          <a:off x="0" y="3755429"/>
          <a:ext cx="1996518" cy="222090"/>
        </a:xfrm>
        <a:prstGeom prst="rect">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3389" tIns="8890" rIns="49784" bIns="8890" numCol="1" spcCol="1270" anchor="t" anchorCtr="0">
          <a:noAutofit/>
        </a:bodyPr>
        <a:lstStyle/>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Shell Company Transactions</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Multiple High-Risk Transactions</a:t>
          </a:r>
        </a:p>
      </dsp:txBody>
      <dsp:txXfrm>
        <a:off x="0" y="3755429"/>
        <a:ext cx="1996518" cy="222090"/>
      </dsp:txXfrm>
    </dsp:sp>
    <dsp:sp modelId="{27A88788-6B39-4AB4-ADCA-BA2FE1E23584}">
      <dsp:nvSpPr>
        <dsp:cNvPr id="0" name=""/>
        <dsp:cNvSpPr/>
      </dsp:nvSpPr>
      <dsp:spPr>
        <a:xfrm>
          <a:off x="0" y="3977519"/>
          <a:ext cx="1996518" cy="1629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l" defTabSz="311150">
            <a:lnSpc>
              <a:spcPct val="90000"/>
            </a:lnSpc>
            <a:spcBef>
              <a:spcPct val="0"/>
            </a:spcBef>
            <a:spcAft>
              <a:spcPct val="35000"/>
            </a:spcAft>
            <a:buNone/>
          </a:pPr>
          <a:r>
            <a:rPr lang="ru-RU" sz="700" kern="1200" dirty="0">
              <a:latin typeface="Arial" panose="020B0604020202020204" pitchFamily="34" charset="0"/>
              <a:cs typeface="Arial" panose="020B0604020202020204" pitchFamily="34" charset="0"/>
            </a:rPr>
            <a:t>5. </a:t>
          </a:r>
          <a:r>
            <a:rPr lang="en-US" sz="700" kern="1200" dirty="0">
              <a:latin typeface="Arial" panose="020B0604020202020204" pitchFamily="34" charset="0"/>
              <a:cs typeface="Arial" panose="020B0604020202020204" pitchFamily="34" charset="0"/>
            </a:rPr>
            <a:t>Contractual and documentation issues</a:t>
          </a:r>
        </a:p>
      </dsp:txBody>
      <dsp:txXfrm>
        <a:off x="7954" y="3985473"/>
        <a:ext cx="1980610" cy="147024"/>
      </dsp:txXfrm>
    </dsp:sp>
    <dsp:sp modelId="{3BD62343-27DF-4337-85F6-B833A6397E03}">
      <dsp:nvSpPr>
        <dsp:cNvPr id="0" name=""/>
        <dsp:cNvSpPr/>
      </dsp:nvSpPr>
      <dsp:spPr>
        <a:xfrm>
          <a:off x="0" y="4140452"/>
          <a:ext cx="1996518" cy="681766"/>
        </a:xfrm>
        <a:prstGeom prst="rect">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3389" tIns="8890" rIns="49784" bIns="8890" numCol="1" spcCol="1270" anchor="t" anchorCtr="0">
          <a:noAutofit/>
        </a:bodyPr>
        <a:lstStyle/>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Insufficient Transaction Description</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Minimal Payment Details</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Repetitive/Missing Reference Numbers</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Inconsistent Business Activities</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Fictitious Loan Transactions</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Third-Party Financing</a:t>
          </a:r>
        </a:p>
      </dsp:txBody>
      <dsp:txXfrm>
        <a:off x="0" y="4140452"/>
        <a:ext cx="1996518" cy="681766"/>
      </dsp:txXfrm>
    </dsp:sp>
    <dsp:sp modelId="{B861E450-A0B0-4434-9839-29403835F8CD}">
      <dsp:nvSpPr>
        <dsp:cNvPr id="0" name=""/>
        <dsp:cNvSpPr/>
      </dsp:nvSpPr>
      <dsp:spPr>
        <a:xfrm>
          <a:off x="0" y="4822218"/>
          <a:ext cx="1996518" cy="1629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l" defTabSz="311150">
            <a:lnSpc>
              <a:spcPct val="90000"/>
            </a:lnSpc>
            <a:spcBef>
              <a:spcPct val="0"/>
            </a:spcBef>
            <a:spcAft>
              <a:spcPct val="35000"/>
            </a:spcAft>
            <a:buNone/>
          </a:pPr>
          <a:r>
            <a:rPr lang="ru-RU" sz="700" kern="1200" dirty="0">
              <a:latin typeface="Arial" panose="020B0604020202020204" pitchFamily="34" charset="0"/>
              <a:cs typeface="Arial" panose="020B0604020202020204" pitchFamily="34" charset="0"/>
            </a:rPr>
            <a:t>6. </a:t>
          </a:r>
          <a:r>
            <a:rPr lang="en-US" sz="700" kern="1200" dirty="0">
              <a:latin typeface="Arial" panose="020B0604020202020204" pitchFamily="34" charset="0"/>
              <a:cs typeface="Arial" panose="020B0604020202020204" pitchFamily="34" charset="0"/>
            </a:rPr>
            <a:t>Cash and currency operations</a:t>
          </a:r>
        </a:p>
      </dsp:txBody>
      <dsp:txXfrm>
        <a:off x="7954" y="4830172"/>
        <a:ext cx="1980610" cy="147024"/>
      </dsp:txXfrm>
    </dsp:sp>
    <dsp:sp modelId="{1F1BBC69-3D32-4589-B390-64F960222822}">
      <dsp:nvSpPr>
        <dsp:cNvPr id="0" name=""/>
        <dsp:cNvSpPr/>
      </dsp:nvSpPr>
      <dsp:spPr>
        <a:xfrm>
          <a:off x="0" y="4985151"/>
          <a:ext cx="1996518" cy="454510"/>
        </a:xfrm>
        <a:prstGeom prst="rect">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3389" tIns="8890" rIns="49784" bIns="8890" numCol="1" spcCol="1270" anchor="t" anchorCtr="0">
          <a:noAutofit/>
        </a:bodyPr>
        <a:lstStyle/>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Large Cash Withdrawals</a:t>
          </a:r>
        </a:p>
        <a:p>
          <a:pPr marL="57150" lvl="1" indent="-57150" algn="l" defTabSz="311150">
            <a:lnSpc>
              <a:spcPct val="90000"/>
            </a:lnSpc>
            <a:spcBef>
              <a:spcPct val="0"/>
            </a:spcBef>
            <a:spcAft>
              <a:spcPct val="20000"/>
            </a:spcAft>
            <a:buChar char="•"/>
          </a:pPr>
          <a:r>
            <a:rPr lang="en-US" sz="700" kern="1200">
              <a:latin typeface="Arial" panose="020B0604020202020204" pitchFamily="34" charset="0"/>
              <a:cs typeface="Arial" panose="020B0604020202020204" pitchFamily="34" charset="0"/>
            </a:rPr>
            <a:t>Abnormal Cash Activity</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Cash Withdrawal Pattern Changes</a:t>
          </a:r>
        </a:p>
        <a:p>
          <a:pPr marL="57150" lvl="1" indent="-57150" algn="l" defTabSz="311150">
            <a:lnSpc>
              <a:spcPct val="90000"/>
            </a:lnSpc>
            <a:spcBef>
              <a:spcPct val="0"/>
            </a:spcBef>
            <a:spcAft>
              <a:spcPct val="20000"/>
            </a:spcAft>
            <a:buChar char="•"/>
          </a:pPr>
          <a:r>
            <a:rPr lang="en-US" sz="700" kern="1200" dirty="0">
              <a:latin typeface="Arial" panose="020B0604020202020204" pitchFamily="34" charset="0"/>
              <a:cs typeface="Arial" panose="020B0604020202020204" pitchFamily="34" charset="0"/>
            </a:rPr>
            <a:t>Multiple Currency Transactions</a:t>
          </a:r>
        </a:p>
      </dsp:txBody>
      <dsp:txXfrm>
        <a:off x="0" y="4985151"/>
        <a:ext cx="1996518" cy="4545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FEA320-56EB-437B-A703-9AE6DE0B4287}">
      <dsp:nvSpPr>
        <dsp:cNvPr id="0" name=""/>
        <dsp:cNvSpPr/>
      </dsp:nvSpPr>
      <dsp:spPr>
        <a:xfrm>
          <a:off x="3589663" y="643334"/>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Arial" panose="020B0604020202020204" pitchFamily="34" charset="0"/>
            <a:cs typeface="Arial" panose="020B0604020202020204" pitchFamily="34" charset="0"/>
          </a:endParaRPr>
        </a:p>
      </dsp:txBody>
      <dsp:txXfrm>
        <a:off x="3823743" y="686426"/>
        <a:ext cx="26250" cy="5255"/>
      </dsp:txXfrm>
    </dsp:sp>
    <dsp:sp modelId="{BD22F558-33CB-4D03-BF1B-B209D330E00C}">
      <dsp:nvSpPr>
        <dsp:cNvPr id="0" name=""/>
        <dsp:cNvSpPr/>
      </dsp:nvSpPr>
      <dsp:spPr>
        <a:xfrm>
          <a:off x="1308811" y="4258"/>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1. Divide the data into training and testing sets </a:t>
          </a:r>
          <a:r>
            <a:rPr lang="en-US" sz="1400" b="1" kern="1200" dirty="0">
              <a:latin typeface="Arial" panose="020B0604020202020204" pitchFamily="34" charset="0"/>
              <a:cs typeface="Arial" panose="020B0604020202020204" pitchFamily="34" charset="0"/>
            </a:rPr>
            <a:t>(B1–B5; Syn100/Syn500)</a:t>
          </a:r>
          <a:endParaRPr lang="en-US" sz="1400" kern="1200" dirty="0">
            <a:latin typeface="Arial" panose="020B0604020202020204" pitchFamily="34" charset="0"/>
            <a:cs typeface="Arial" panose="020B0604020202020204" pitchFamily="34" charset="0"/>
          </a:endParaRPr>
        </a:p>
      </dsp:txBody>
      <dsp:txXfrm>
        <a:off x="1308811" y="4258"/>
        <a:ext cx="2282652" cy="1369591"/>
      </dsp:txXfrm>
    </dsp:sp>
    <dsp:sp modelId="{404B2160-8CD8-4B0D-825B-98A011F1D698}">
      <dsp:nvSpPr>
        <dsp:cNvPr id="0" name=""/>
        <dsp:cNvSpPr/>
      </dsp:nvSpPr>
      <dsp:spPr>
        <a:xfrm>
          <a:off x="6397326" y="643334"/>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Arial" panose="020B0604020202020204" pitchFamily="34" charset="0"/>
            <a:cs typeface="Arial" panose="020B0604020202020204" pitchFamily="34" charset="0"/>
          </a:endParaRPr>
        </a:p>
      </dsp:txBody>
      <dsp:txXfrm>
        <a:off x="6631406" y="686426"/>
        <a:ext cx="26250" cy="5255"/>
      </dsp:txXfrm>
    </dsp:sp>
    <dsp:sp modelId="{EE54CA53-43FC-40D6-ACDD-1F2388AC5627}">
      <dsp:nvSpPr>
        <dsp:cNvPr id="0" name=""/>
        <dsp:cNvSpPr/>
      </dsp:nvSpPr>
      <dsp:spPr>
        <a:xfrm>
          <a:off x="4116473" y="4258"/>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2. Baseline, SMOTE, ADASYN, and ROSE techniques </a:t>
          </a:r>
          <a:r>
            <a:rPr lang="en-US" sz="1400" b="1" kern="1200" dirty="0">
              <a:latin typeface="Arial" panose="020B0604020202020204" pitchFamily="34" charset="0"/>
              <a:cs typeface="Arial" panose="020B0604020202020204" pitchFamily="34" charset="0"/>
            </a:rPr>
            <a:t>(train-only; after TF-IDF)</a:t>
          </a:r>
          <a:r>
            <a:rPr lang="en-US" sz="1400" kern="1200" dirty="0">
              <a:latin typeface="Arial" panose="020B0604020202020204" pitchFamily="34" charset="0"/>
              <a:cs typeface="Arial" panose="020B0604020202020204" pitchFamily="34" charset="0"/>
            </a:rPr>
            <a:t>.</a:t>
          </a:r>
        </a:p>
      </dsp:txBody>
      <dsp:txXfrm>
        <a:off x="4116473" y="4258"/>
        <a:ext cx="2282652" cy="1369591"/>
      </dsp:txXfrm>
    </dsp:sp>
    <dsp:sp modelId="{33C70E65-BD26-4CD7-8D50-0E1919AC7711}">
      <dsp:nvSpPr>
        <dsp:cNvPr id="0" name=""/>
        <dsp:cNvSpPr/>
      </dsp:nvSpPr>
      <dsp:spPr>
        <a:xfrm>
          <a:off x="2450137" y="1372050"/>
          <a:ext cx="5615325" cy="494410"/>
        </a:xfrm>
        <a:custGeom>
          <a:avLst/>
          <a:gdLst/>
          <a:ahLst/>
          <a:cxnLst/>
          <a:rect l="0" t="0" r="0" b="0"/>
          <a:pathLst>
            <a:path>
              <a:moveTo>
                <a:pt x="5615325" y="0"/>
              </a:moveTo>
              <a:lnTo>
                <a:pt x="5615325" y="264305"/>
              </a:lnTo>
              <a:lnTo>
                <a:pt x="0" y="264305"/>
              </a:lnTo>
              <a:lnTo>
                <a:pt x="0" y="49441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Arial" panose="020B0604020202020204" pitchFamily="34" charset="0"/>
            <a:cs typeface="Arial" panose="020B0604020202020204" pitchFamily="34" charset="0"/>
          </a:endParaRPr>
        </a:p>
      </dsp:txBody>
      <dsp:txXfrm>
        <a:off x="5116804" y="1616627"/>
        <a:ext cx="281990" cy="5255"/>
      </dsp:txXfrm>
    </dsp:sp>
    <dsp:sp modelId="{50BA693E-4042-469B-9EAC-1E80DED52EE1}">
      <dsp:nvSpPr>
        <dsp:cNvPr id="0" name=""/>
        <dsp:cNvSpPr/>
      </dsp:nvSpPr>
      <dsp:spPr>
        <a:xfrm>
          <a:off x="6924136" y="4258"/>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3</a:t>
          </a:r>
          <a:r>
            <a:rPr lang="ru-RU" sz="1400" kern="1200" dirty="0">
              <a:latin typeface="Arial" panose="020B0604020202020204" pitchFamily="34" charset="0"/>
              <a:cs typeface="Arial" panose="020B0604020202020204" pitchFamily="34" charset="0"/>
            </a:rPr>
            <a:t>. </a:t>
          </a:r>
          <a:r>
            <a:rPr lang="en-US" sz="1400" kern="1200" dirty="0">
              <a:latin typeface="Arial" panose="020B0604020202020204" pitchFamily="34" charset="0"/>
              <a:cs typeface="Arial" panose="020B0604020202020204" pitchFamily="34" charset="0"/>
            </a:rPr>
            <a:t>GBM, XGBM, and RF, with </a:t>
          </a:r>
          <a:r>
            <a:rPr lang="en-US" sz="1400" b="1" kern="1200" dirty="0">
              <a:latin typeface="Arial" panose="020B0604020202020204" pitchFamily="34" charset="0"/>
              <a:cs typeface="Arial" panose="020B0604020202020204" pitchFamily="34" charset="0"/>
            </a:rPr>
            <a:t>fixed settings</a:t>
          </a:r>
          <a:r>
            <a:rPr lang="en-US" sz="1400" kern="1200" dirty="0">
              <a:latin typeface="Arial" panose="020B0604020202020204" pitchFamily="34" charset="0"/>
              <a:cs typeface="Arial" panose="020B0604020202020204" pitchFamily="34" charset="0"/>
            </a:rPr>
            <a:t>.</a:t>
          </a:r>
        </a:p>
      </dsp:txBody>
      <dsp:txXfrm>
        <a:off x="6924136" y="4258"/>
        <a:ext cx="2282652" cy="1369591"/>
      </dsp:txXfrm>
    </dsp:sp>
    <dsp:sp modelId="{8DE38E72-59A7-47B5-B4AA-F861D29EB2A8}">
      <dsp:nvSpPr>
        <dsp:cNvPr id="0" name=""/>
        <dsp:cNvSpPr/>
      </dsp:nvSpPr>
      <dsp:spPr>
        <a:xfrm>
          <a:off x="3589663" y="2537936"/>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Arial" panose="020B0604020202020204" pitchFamily="34" charset="0"/>
            <a:cs typeface="Arial" panose="020B0604020202020204" pitchFamily="34" charset="0"/>
          </a:endParaRPr>
        </a:p>
      </dsp:txBody>
      <dsp:txXfrm>
        <a:off x="3823743" y="2581028"/>
        <a:ext cx="26250" cy="5255"/>
      </dsp:txXfrm>
    </dsp:sp>
    <dsp:sp modelId="{8F0AFC5E-E4FF-4A28-B6BA-D7FA8A9DDC9E}">
      <dsp:nvSpPr>
        <dsp:cNvPr id="0" name=""/>
        <dsp:cNvSpPr/>
      </dsp:nvSpPr>
      <dsp:spPr>
        <a:xfrm>
          <a:off x="1308811" y="1898860"/>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4. Calibration, ensure recall is greater than or equal to R</a:t>
          </a:r>
          <a:r>
            <a:rPr lang="en-US" sz="1400" kern="1200" baseline="-25000" dirty="0">
              <a:latin typeface="Arial" panose="020B0604020202020204" pitchFamily="34" charset="0"/>
              <a:cs typeface="Arial" panose="020B0604020202020204" pitchFamily="34" charset="0"/>
            </a:rPr>
            <a:t>0</a:t>
          </a:r>
          <a:r>
            <a:rPr lang="en-US" sz="1400" kern="1200" dirty="0">
              <a:latin typeface="Arial" panose="020B0604020202020204" pitchFamily="34" charset="0"/>
              <a:cs typeface="Arial" panose="020B0604020202020204" pitchFamily="34" charset="0"/>
            </a:rPr>
            <a:t> while </a:t>
          </a:r>
          <a:r>
            <a:rPr lang="ru-RU" sz="1400" kern="1200" dirty="0">
              <a:latin typeface="Arial" panose="020B0604020202020204" pitchFamily="34" charset="0"/>
              <a:cs typeface="Arial" panose="020B0604020202020204" pitchFamily="34" charset="0"/>
            </a:rPr>
            <a:t>maximising</a:t>
          </a:r>
          <a:r>
            <a:rPr lang="en-US" sz="1400" kern="1200" dirty="0">
              <a:latin typeface="Arial" panose="020B0604020202020204" pitchFamily="34" charset="0"/>
              <a:cs typeface="Arial" panose="020B0604020202020204" pitchFamily="34" charset="0"/>
            </a:rPr>
            <a:t> precision.  </a:t>
          </a:r>
        </a:p>
      </dsp:txBody>
      <dsp:txXfrm>
        <a:off x="1308811" y="1898860"/>
        <a:ext cx="2282652" cy="1369591"/>
      </dsp:txXfrm>
    </dsp:sp>
    <dsp:sp modelId="{E19F7C54-ED28-4D76-A782-295579085010}">
      <dsp:nvSpPr>
        <dsp:cNvPr id="0" name=""/>
        <dsp:cNvSpPr/>
      </dsp:nvSpPr>
      <dsp:spPr>
        <a:xfrm>
          <a:off x="6397326" y="2537936"/>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Arial" panose="020B0604020202020204" pitchFamily="34" charset="0"/>
            <a:cs typeface="Arial" panose="020B0604020202020204" pitchFamily="34" charset="0"/>
          </a:endParaRPr>
        </a:p>
      </dsp:txBody>
      <dsp:txXfrm>
        <a:off x="6631406" y="2581028"/>
        <a:ext cx="26250" cy="5255"/>
      </dsp:txXfrm>
    </dsp:sp>
    <dsp:sp modelId="{749B5D46-0EA5-4190-89DF-00717092E8FE}">
      <dsp:nvSpPr>
        <dsp:cNvPr id="0" name=""/>
        <dsp:cNvSpPr/>
      </dsp:nvSpPr>
      <dsp:spPr>
        <a:xfrm>
          <a:off x="4116473" y="1898860"/>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5. Choosing the optimal data and model combination, taking into account the </a:t>
          </a:r>
          <a:r>
            <a:rPr lang="en-US" sz="1400" b="1" kern="1200" dirty="0">
              <a:latin typeface="Arial" panose="020B0604020202020204" pitchFamily="34" charset="0"/>
              <a:cs typeface="Arial" panose="020B0604020202020204" pitchFamily="34" charset="0"/>
            </a:rPr>
            <a:t>Recall &gt;=0.98 </a:t>
          </a:r>
          <a:r>
            <a:rPr lang="en-US" sz="1400" kern="1200" dirty="0">
              <a:latin typeface="Arial" panose="020B0604020202020204" pitchFamily="34" charset="0"/>
              <a:cs typeface="Arial" panose="020B0604020202020204" pitchFamily="34" charset="0"/>
            </a:rPr>
            <a:t>and based on the PR-AUC metric </a:t>
          </a:r>
          <a:r>
            <a:rPr lang="en-US" sz="1400" b="1" kern="1200" dirty="0">
              <a:latin typeface="Arial" panose="020B0604020202020204" pitchFamily="34" charset="0"/>
              <a:cs typeface="Arial" panose="020B0604020202020204" pitchFamily="34" charset="0"/>
            </a:rPr>
            <a:t>(+FP/1000 check).</a:t>
          </a:r>
        </a:p>
      </dsp:txBody>
      <dsp:txXfrm>
        <a:off x="4116473" y="1898860"/>
        <a:ext cx="2282652" cy="1369591"/>
      </dsp:txXfrm>
    </dsp:sp>
    <dsp:sp modelId="{13F4D7DB-D00E-4736-8595-0BDCA627CEB7}">
      <dsp:nvSpPr>
        <dsp:cNvPr id="0" name=""/>
        <dsp:cNvSpPr/>
      </dsp:nvSpPr>
      <dsp:spPr>
        <a:xfrm>
          <a:off x="2450137" y="3266651"/>
          <a:ext cx="5615325" cy="494410"/>
        </a:xfrm>
        <a:custGeom>
          <a:avLst/>
          <a:gdLst/>
          <a:ahLst/>
          <a:cxnLst/>
          <a:rect l="0" t="0" r="0" b="0"/>
          <a:pathLst>
            <a:path>
              <a:moveTo>
                <a:pt x="5615325" y="0"/>
              </a:moveTo>
              <a:lnTo>
                <a:pt x="5615325" y="264305"/>
              </a:lnTo>
              <a:lnTo>
                <a:pt x="0" y="264305"/>
              </a:lnTo>
              <a:lnTo>
                <a:pt x="0" y="49441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Arial" panose="020B0604020202020204" pitchFamily="34" charset="0"/>
            <a:cs typeface="Arial" panose="020B0604020202020204" pitchFamily="34" charset="0"/>
          </a:endParaRPr>
        </a:p>
      </dsp:txBody>
      <dsp:txXfrm>
        <a:off x="5116804" y="3511229"/>
        <a:ext cx="281990" cy="5255"/>
      </dsp:txXfrm>
    </dsp:sp>
    <dsp:sp modelId="{0833C8E8-C950-4C82-AB65-59216FD04B8D}">
      <dsp:nvSpPr>
        <dsp:cNvPr id="0" name=""/>
        <dsp:cNvSpPr/>
      </dsp:nvSpPr>
      <dsp:spPr>
        <a:xfrm>
          <a:off x="6924136" y="1898860"/>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6. Stages B1 to B5 using both A) Incremental and B) Full Retrain </a:t>
          </a:r>
          <a:r>
            <a:rPr lang="en-US" sz="1400" b="1" kern="1200" dirty="0">
              <a:latin typeface="Arial" panose="020B0604020202020204" pitchFamily="34" charset="0"/>
              <a:cs typeface="Arial" panose="020B0604020202020204" pitchFamily="34" charset="0"/>
            </a:rPr>
            <a:t>(binary: B2–B5)</a:t>
          </a:r>
          <a:r>
            <a:rPr lang="en-US" sz="1400" kern="1200" dirty="0">
              <a:latin typeface="Arial" panose="020B0604020202020204" pitchFamily="34" charset="0"/>
              <a:cs typeface="Arial" panose="020B0604020202020204" pitchFamily="34" charset="0"/>
            </a:rPr>
            <a:t>.</a:t>
          </a:r>
        </a:p>
      </dsp:txBody>
      <dsp:txXfrm>
        <a:off x="6924136" y="1898860"/>
        <a:ext cx="2282652" cy="1369591"/>
      </dsp:txXfrm>
    </dsp:sp>
    <dsp:sp modelId="{B424D8A9-8043-4567-B4F9-760DB33AFE81}">
      <dsp:nvSpPr>
        <dsp:cNvPr id="0" name=""/>
        <dsp:cNvSpPr/>
      </dsp:nvSpPr>
      <dsp:spPr>
        <a:xfrm>
          <a:off x="3589663" y="4432537"/>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Arial" panose="020B0604020202020204" pitchFamily="34" charset="0"/>
            <a:cs typeface="Arial" panose="020B0604020202020204" pitchFamily="34" charset="0"/>
          </a:endParaRPr>
        </a:p>
      </dsp:txBody>
      <dsp:txXfrm>
        <a:off x="3823743" y="4475629"/>
        <a:ext cx="26250" cy="5255"/>
      </dsp:txXfrm>
    </dsp:sp>
    <dsp:sp modelId="{C2A09F25-BD09-49A9-B070-B4C544BCCCA3}">
      <dsp:nvSpPr>
        <dsp:cNvPr id="0" name=""/>
        <dsp:cNvSpPr/>
      </dsp:nvSpPr>
      <dsp:spPr>
        <a:xfrm>
          <a:off x="1308811" y="3793461"/>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7. Binary outcome by ensuring threshold stability, FN/FP profile </a:t>
          </a:r>
          <a:r>
            <a:rPr lang="en-US" sz="1400" b="1" kern="1200" dirty="0">
              <a:latin typeface="Arial" panose="020B0604020202020204" pitchFamily="34" charset="0"/>
              <a:cs typeface="Arial" panose="020B0604020202020204" pitchFamily="34" charset="0"/>
            </a:rPr>
            <a:t>(+OOF aggregates)</a:t>
          </a:r>
          <a:r>
            <a:rPr lang="en-US" sz="1400" kern="1200" dirty="0">
              <a:latin typeface="Arial" panose="020B0604020202020204" pitchFamily="34" charset="0"/>
              <a:cs typeface="Arial" panose="020B0604020202020204" pitchFamily="34" charset="0"/>
            </a:rPr>
            <a:t>.</a:t>
          </a:r>
        </a:p>
      </dsp:txBody>
      <dsp:txXfrm>
        <a:off x="1308811" y="3793461"/>
        <a:ext cx="2282652" cy="1369591"/>
      </dsp:txXfrm>
    </dsp:sp>
    <dsp:sp modelId="{9D49BCD8-9B97-406F-944A-3B115D3781CE}">
      <dsp:nvSpPr>
        <dsp:cNvPr id="0" name=""/>
        <dsp:cNvSpPr/>
      </dsp:nvSpPr>
      <dsp:spPr>
        <a:xfrm>
          <a:off x="6397326" y="4432537"/>
          <a:ext cx="494410" cy="91440"/>
        </a:xfrm>
        <a:custGeom>
          <a:avLst/>
          <a:gdLst/>
          <a:ahLst/>
          <a:cxnLst/>
          <a:rect l="0" t="0" r="0" b="0"/>
          <a:pathLst>
            <a:path>
              <a:moveTo>
                <a:pt x="0" y="45720"/>
              </a:moveTo>
              <a:lnTo>
                <a:pt x="49441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latin typeface="Arial" panose="020B0604020202020204" pitchFamily="34" charset="0"/>
            <a:cs typeface="Arial" panose="020B0604020202020204" pitchFamily="34" charset="0"/>
          </a:endParaRPr>
        </a:p>
      </dsp:txBody>
      <dsp:txXfrm>
        <a:off x="6631406" y="4475629"/>
        <a:ext cx="26250" cy="5255"/>
      </dsp:txXfrm>
    </dsp:sp>
    <dsp:sp modelId="{52F8495F-4EEC-4E78-9D86-BC0EE46966D6}">
      <dsp:nvSpPr>
        <dsp:cNvPr id="0" name=""/>
        <dsp:cNvSpPr/>
      </dsp:nvSpPr>
      <dsp:spPr>
        <a:xfrm>
          <a:off x="4116473" y="3793461"/>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8. For typing, implement multiclass strategies, considering both Macro and Weighted Recall </a:t>
          </a:r>
          <a:r>
            <a:rPr lang="en-US" sz="1400" b="1" kern="1200" dirty="0">
              <a:latin typeface="Arial" panose="020B0604020202020204" pitchFamily="34" charset="0"/>
              <a:cs typeface="Arial" panose="020B0604020202020204" pitchFamily="34" charset="0"/>
            </a:rPr>
            <a:t>(baseline only)</a:t>
          </a:r>
          <a:r>
            <a:rPr lang="en-US" sz="1400" kern="1200" dirty="0">
              <a:latin typeface="Arial" panose="020B0604020202020204" pitchFamily="34" charset="0"/>
              <a:cs typeface="Arial" panose="020B0604020202020204" pitchFamily="34" charset="0"/>
            </a:rPr>
            <a:t>.</a:t>
          </a:r>
        </a:p>
      </dsp:txBody>
      <dsp:txXfrm>
        <a:off x="4116473" y="3793461"/>
        <a:ext cx="2282652" cy="1369591"/>
      </dsp:txXfrm>
    </dsp:sp>
    <dsp:sp modelId="{95B732CA-CEE2-4B81-80EB-E934421FCCD7}">
      <dsp:nvSpPr>
        <dsp:cNvPr id="0" name=""/>
        <dsp:cNvSpPr/>
      </dsp:nvSpPr>
      <dsp:spPr>
        <a:xfrm>
          <a:off x="6924136" y="3793461"/>
          <a:ext cx="2282652" cy="1369591"/>
        </a:xfrm>
        <a:prstGeom prst="rect">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Arial" panose="020B0604020202020204" pitchFamily="34" charset="0"/>
              <a:cs typeface="Arial" panose="020B0604020202020204" pitchFamily="34" charset="0"/>
            </a:rPr>
            <a:t>9. Select the final mode </a:t>
          </a:r>
          <a:r>
            <a:rPr lang="en-US" sz="1400" b="1" kern="1200" dirty="0">
              <a:latin typeface="Arial" panose="020B0604020202020204" pitchFamily="34" charset="0"/>
              <a:cs typeface="Arial" panose="020B0604020202020204" pitchFamily="34" charset="0"/>
            </a:rPr>
            <a:t>(+final model config)</a:t>
          </a:r>
          <a:r>
            <a:rPr lang="en-US" sz="1400" kern="1200" dirty="0">
              <a:latin typeface="Arial" panose="020B0604020202020204" pitchFamily="34" charset="0"/>
              <a:cs typeface="Arial" panose="020B0604020202020204" pitchFamily="34" charset="0"/>
            </a:rPr>
            <a:t>.</a:t>
          </a:r>
        </a:p>
      </dsp:txBody>
      <dsp:txXfrm>
        <a:off x="6924136" y="3793461"/>
        <a:ext cx="2282652" cy="136959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C6F3E3-414C-460F-9DF2-C7D1CDC722A6}"/>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9433371-C779-4171-BD2F-563B6D07C05C}"/>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C4BE8268-8763-47D1-A6BC-CBE3F1D4C449}" type="datetimeFigureOut">
              <a:rPr lang="en-US" smtClean="0"/>
              <a:t>1/12/2026</a:t>
            </a:fld>
            <a:endParaRPr lang="en-US"/>
          </a:p>
        </p:txBody>
      </p:sp>
      <p:sp>
        <p:nvSpPr>
          <p:cNvPr id="4" name="Footer Placeholder 3">
            <a:extLst>
              <a:ext uri="{FF2B5EF4-FFF2-40B4-BE49-F238E27FC236}">
                <a16:creationId xmlns:a16="http://schemas.microsoft.com/office/drawing/2014/main" id="{7ECB0CD4-AB89-410E-BFAD-3890A45D002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4D95FEE-606E-4E48-BE84-B5F17377869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A4A0B7-8D25-45BC-B6A6-BD74F9E49D08}" type="slidenum">
              <a:rPr lang="en-US" smtClean="0"/>
              <a:t>‹#›</a:t>
            </a:fld>
            <a:endParaRPr lang="en-US"/>
          </a:p>
        </p:txBody>
      </p:sp>
    </p:spTree>
    <p:extLst>
      <p:ext uri="{BB962C8B-B14F-4D97-AF65-F5344CB8AC3E}">
        <p14:creationId xmlns:p14="http://schemas.microsoft.com/office/powerpoint/2010/main" val="33032036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E35D3066-5C74-4863-830C-3F985F65A6AF}" type="datetimeFigureOut">
              <a:rPr lang="en-US" smtClean="0"/>
              <a:t>1/12/2026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01CE1-13F7-4C75-8F45-2EA85A067B40}" type="slidenum">
              <a:rPr lang="en-US" smtClean="0"/>
              <a:t>‹#›</a:t>
            </a:fld>
            <a:endParaRPr lang="en-US"/>
          </a:p>
        </p:txBody>
      </p:sp>
    </p:spTree>
    <p:extLst>
      <p:ext uri="{BB962C8B-B14F-4D97-AF65-F5344CB8AC3E}">
        <p14:creationId xmlns:p14="http://schemas.microsoft.com/office/powerpoint/2010/main" val="610289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a:t>
            </a:r>
            <a:r>
              <a:rPr lang="ru-RU" dirty="0"/>
              <a:t>,</a:t>
            </a:r>
            <a:r>
              <a:rPr lang="en-US" dirty="0"/>
              <a:t> everyone. My name is Natalja, </a:t>
            </a:r>
            <a:r>
              <a:rPr lang="ru-RU" dirty="0" err="1"/>
              <a:t>and</a:t>
            </a:r>
            <a:r>
              <a:rPr lang="ru-RU" dirty="0"/>
              <a:t> </a:t>
            </a:r>
            <a:r>
              <a:rPr lang="en-US" dirty="0"/>
              <a:t>I'll be presenting my research on developing an automated risk-scoring system for financial institutions</a:t>
            </a:r>
          </a:p>
        </p:txBody>
      </p:sp>
      <p:sp>
        <p:nvSpPr>
          <p:cNvPr id="4" name="Slide Number Placeholder 3"/>
          <p:cNvSpPr>
            <a:spLocks noGrp="1"/>
          </p:cNvSpPr>
          <p:nvPr>
            <p:ph type="sldNum" sz="quarter" idx="5"/>
          </p:nvPr>
        </p:nvSpPr>
        <p:spPr/>
        <p:txBody>
          <a:bodyPr/>
          <a:lstStyle/>
          <a:p>
            <a:fld id="{42801CE1-13F7-4C75-8F45-2EA85A067B40}" type="slidenum">
              <a:rPr lang="en-US" smtClean="0"/>
              <a:t>1</a:t>
            </a:fld>
            <a:endParaRPr lang="en-US"/>
          </a:p>
        </p:txBody>
      </p:sp>
    </p:spTree>
    <p:extLst>
      <p:ext uri="{BB962C8B-B14F-4D97-AF65-F5344CB8AC3E}">
        <p14:creationId xmlns:p14="http://schemas.microsoft.com/office/powerpoint/2010/main" val="20575161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Financial institutions regularly face new or </a:t>
            </a:r>
            <a:r>
              <a:rPr lang="en-US" b="1" dirty="0"/>
              <a:t>evolving money-laundering and fraud typologies</a:t>
            </a:r>
            <a:r>
              <a:rPr lang="en-US" dirty="0"/>
              <a:t>, but limited labelled data and restricted access to real customer data make it difficult to reproducibly evaluate whether </a:t>
            </a:r>
            <a:r>
              <a:rPr lang="en-US" b="1" dirty="0"/>
              <a:t>detection models</a:t>
            </a:r>
            <a:r>
              <a:rPr lang="en-US" dirty="0"/>
              <a:t> are reliable, stable as scenarios change, and able to differentiate between suspicious patterns.</a:t>
            </a:r>
          </a:p>
          <a:p>
            <a:endParaRPr lang="en-US" dirty="0"/>
          </a:p>
        </p:txBody>
      </p:sp>
      <p:sp>
        <p:nvSpPr>
          <p:cNvPr id="4" name="Slide Number Placeholder 3"/>
          <p:cNvSpPr>
            <a:spLocks noGrp="1"/>
          </p:cNvSpPr>
          <p:nvPr>
            <p:ph type="sldNum" sz="quarter" idx="5"/>
          </p:nvPr>
        </p:nvSpPr>
        <p:spPr/>
        <p:txBody>
          <a:bodyPr/>
          <a:lstStyle/>
          <a:p>
            <a:fld id="{42801CE1-13F7-4C75-8F45-2EA85A067B40}" type="slidenum">
              <a:rPr lang="en-US" smtClean="0"/>
              <a:t>2</a:t>
            </a:fld>
            <a:endParaRPr lang="en-US"/>
          </a:p>
        </p:txBody>
      </p:sp>
    </p:spTree>
    <p:extLst>
      <p:ext uri="{BB962C8B-B14F-4D97-AF65-F5344CB8AC3E}">
        <p14:creationId xmlns:p14="http://schemas.microsoft.com/office/powerpoint/2010/main" val="2176163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address these challenges, the goal is to develop and experimentally validate a demonstrative prototype of an automated risk-scoring system for financial institutions. During this study, I answer the research questions: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can synthetic data realistically reproduce both normal and suspicious behaviour, including complex fraud scenarios?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technical and regulatory constraints arise, and how can data quality be evaluated under these constraints?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well machine-learning models trained on multiple synthetic data packages adapt to evolving fraud scenarios, using both incremental updates and full retraining.*</a:t>
            </a:r>
          </a:p>
        </p:txBody>
      </p:sp>
      <p:sp>
        <p:nvSpPr>
          <p:cNvPr id="4" name="Slide Number Placeholder 3"/>
          <p:cNvSpPr>
            <a:spLocks noGrp="1"/>
          </p:cNvSpPr>
          <p:nvPr>
            <p:ph type="sldNum" sz="quarter" idx="5"/>
          </p:nvPr>
        </p:nvSpPr>
        <p:spPr/>
        <p:txBody>
          <a:bodyPr/>
          <a:lstStyle/>
          <a:p>
            <a:fld id="{42801CE1-13F7-4C75-8F45-2EA85A067B40}" type="slidenum">
              <a:rPr lang="en-US" smtClean="0"/>
              <a:t>3</a:t>
            </a:fld>
            <a:endParaRPr lang="en-US"/>
          </a:p>
        </p:txBody>
      </p:sp>
    </p:spTree>
    <p:extLst>
      <p:ext uri="{BB962C8B-B14F-4D97-AF65-F5344CB8AC3E}">
        <p14:creationId xmlns:p14="http://schemas.microsoft.com/office/powerpoint/2010/main" val="11698468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3A84A25C-A037-4F7E-B227-BC8E07FD38F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i="0" dirty="0"/>
              <a:t>For the literature review, I used </a:t>
            </a:r>
            <a:r>
              <a:rPr lang="en-US" b="1" i="0" dirty="0"/>
              <a:t>Scopus</a:t>
            </a:r>
            <a:r>
              <a:rPr lang="en-US" i="0" dirty="0"/>
              <a:t> and </a:t>
            </a:r>
            <a:r>
              <a:rPr lang="en-US" b="1" i="0" dirty="0"/>
              <a:t>ScienceDirect databases</a:t>
            </a:r>
            <a:r>
              <a:rPr lang="en-US" i="0" dirty="0"/>
              <a:t> and the </a:t>
            </a:r>
            <a:r>
              <a:rPr lang="en-US" b="1" i="0" dirty="0"/>
              <a:t>Consensus</a:t>
            </a:r>
            <a:r>
              <a:rPr lang="en-US" i="0" dirty="0"/>
              <a:t> tool. After screening and exclusions, </a:t>
            </a:r>
            <a:r>
              <a:rPr lang="en-US" b="1" i="0" dirty="0"/>
              <a:t>62 sources</a:t>
            </a:r>
            <a:r>
              <a:rPr lang="en-US" i="0" dirty="0"/>
              <a:t> were included in the final research. From these studies, I identified the following gaps: </a:t>
            </a:r>
            <a:r>
              <a:rPr lang="en-US" b="1" i="0" dirty="0"/>
              <a:t>restricted access to real data, weak reproducibility, and limited evaluation of how models adapt to changing scenarios.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study has key limitations: </a:t>
            </a:r>
            <a:r>
              <a:rPr lang="en-US" b="1" dirty="0"/>
              <a:t>real data </a:t>
            </a:r>
            <a:r>
              <a:rPr lang="en-US" b="0" dirty="0"/>
              <a:t>is &lt;500 rows and cannot be reused due to privacy/compliance. Therefore, I work with two fully synthetic datasets, Syn100 and Syn500, with about </a:t>
            </a:r>
            <a:r>
              <a:rPr lang="en-US" b="1" dirty="0"/>
              <a:t>1% suspicious transactions</a:t>
            </a:r>
            <a:r>
              <a:rPr lang="en-US" b="0" dirty="0"/>
              <a:t>. For AML screening, I enforce a </a:t>
            </a:r>
            <a:r>
              <a:rPr lang="en-US" b="1" dirty="0"/>
              <a:t>strict target: Recall ≥ 0.98.</a:t>
            </a:r>
          </a:p>
        </p:txBody>
      </p:sp>
      <p:sp>
        <p:nvSpPr>
          <p:cNvPr id="4" name="Slide Number Placeholder 3"/>
          <p:cNvSpPr>
            <a:spLocks noGrp="1"/>
          </p:cNvSpPr>
          <p:nvPr>
            <p:ph type="sldNum" sz="quarter" idx="5"/>
          </p:nvPr>
        </p:nvSpPr>
        <p:spPr/>
        <p:txBody>
          <a:bodyPr/>
          <a:lstStyle/>
          <a:p>
            <a:fld id="{42801CE1-13F7-4C75-8F45-2EA85A067B40}" type="slidenum">
              <a:rPr lang="en-US" smtClean="0"/>
              <a:t>5</a:t>
            </a:fld>
            <a:endParaRPr lang="en-US"/>
          </a:p>
        </p:txBody>
      </p:sp>
    </p:spTree>
    <p:extLst>
      <p:ext uri="{BB962C8B-B14F-4D97-AF65-F5344CB8AC3E}">
        <p14:creationId xmlns:p14="http://schemas.microsoft.com/office/powerpoint/2010/main" val="627571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design of the proposed system prototype, covering synthetic data generation, model selection, and evaluation. The workflow supports both incremental updates and full retraining, and assesses model adaptivity and robustness across multiple synthetic data packages.</a:t>
            </a:r>
            <a:endParaRPr lang="ru-RU" dirty="0"/>
          </a:p>
        </p:txBody>
      </p:sp>
      <p:sp>
        <p:nvSpPr>
          <p:cNvPr id="4" name="Slide Number Placeholder 3"/>
          <p:cNvSpPr>
            <a:spLocks noGrp="1"/>
          </p:cNvSpPr>
          <p:nvPr>
            <p:ph type="sldNum" sz="quarter" idx="5"/>
          </p:nvPr>
        </p:nvSpPr>
        <p:spPr/>
        <p:txBody>
          <a:bodyPr/>
          <a:lstStyle/>
          <a:p>
            <a:fld id="{42801CE1-13F7-4C75-8F45-2EA85A067B40}" type="slidenum">
              <a:rPr lang="en-US" smtClean="0"/>
              <a:t>6</a:t>
            </a:fld>
            <a:endParaRPr lang="en-US"/>
          </a:p>
        </p:txBody>
      </p:sp>
    </p:spTree>
    <p:extLst>
      <p:ext uri="{BB962C8B-B14F-4D97-AF65-F5344CB8AC3E}">
        <p14:creationId xmlns:p14="http://schemas.microsoft.com/office/powerpoint/2010/main" val="2469572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first tested a GAN approach to generate synthetic transactions. The validation has a significant discrepancy in transaction amounts, particularly for extreme values, despite the similar categorical frequencies. This means GAN data is not reliable enough for AML benchmarking</a:t>
            </a:r>
            <a:endParaRPr lang="ru-RU" dirty="0"/>
          </a:p>
          <a:p>
            <a:r>
              <a:rPr lang="en-US" dirty="0"/>
              <a:t>AML benchmarking </a:t>
            </a:r>
            <a:r>
              <a:rPr lang="ru-RU" dirty="0"/>
              <a:t>- </a:t>
            </a:r>
            <a:r>
              <a:rPr lang="en-US" dirty="0"/>
              <a:t>the effectiveness depends on extreme values, which is confirmed by a high KS value and a significant p-value, indicating that the distributions of the generated and actual data do not match.</a:t>
            </a:r>
          </a:p>
          <a:p>
            <a:r>
              <a:rPr lang="en-US" dirty="0"/>
              <a:t>KS test (Kolmogorov–Smirnov) — checks how similar two samples are in distribution (e.g., transaction amounts: real vs. GAN).</a:t>
            </a:r>
          </a:p>
          <a:p>
            <a:r>
              <a:rPr lang="en-US" dirty="0"/>
              <a:t>KS-statistic closer to 0 → similar distributions; closer to 1 → very different.</a:t>
            </a:r>
          </a:p>
          <a:p>
            <a:r>
              <a:rPr lang="en-US" dirty="0"/>
              <a:t>p-value — the probability of observing such differences “by chance” if the distributions are actually identical.</a:t>
            </a:r>
          </a:p>
          <a:p>
            <a:r>
              <a:rPr lang="en-US" dirty="0"/>
              <a:t>small p-value (e.g., ≪ 0.001) → the difference is statistically significant, not “by chance.”</a:t>
            </a:r>
          </a:p>
          <a:p>
            <a:r>
              <a:rPr lang="en-US" dirty="0"/>
              <a:t>Upper tail — the “tail” of large amounts. This is critical in AML, as large/rare amounts often trigger controls.</a:t>
            </a:r>
          </a:p>
          <a:p>
            <a:r>
              <a:rPr lang="en-US" dirty="0"/>
              <a:t>The chi-square test for categories checks for differences in frequencies (for example, by counterparty type).</a:t>
            </a:r>
          </a:p>
          <a:p>
            <a:r>
              <a:rPr lang="en-US" dirty="0"/>
              <a:t>p≈1 means that the observed frequencies are very consistent (i.e., the GAN fits the category distribution), but this doesn't solve the problem of tailing sums.</a:t>
            </a:r>
          </a:p>
        </p:txBody>
      </p:sp>
      <p:sp>
        <p:nvSpPr>
          <p:cNvPr id="4" name="Slide Number Placeholder 3"/>
          <p:cNvSpPr>
            <a:spLocks noGrp="1"/>
          </p:cNvSpPr>
          <p:nvPr>
            <p:ph type="sldNum" sz="quarter" idx="5"/>
          </p:nvPr>
        </p:nvSpPr>
        <p:spPr/>
        <p:txBody>
          <a:bodyPr/>
          <a:lstStyle/>
          <a:p>
            <a:fld id="{42801CE1-13F7-4C75-8F45-2EA85A067B40}" type="slidenum">
              <a:rPr lang="en-US" smtClean="0"/>
              <a:t>7</a:t>
            </a:fld>
            <a:endParaRPr lang="en-US"/>
          </a:p>
        </p:txBody>
      </p:sp>
    </p:spTree>
    <p:extLst>
      <p:ext uri="{BB962C8B-B14F-4D97-AF65-F5344CB8AC3E}">
        <p14:creationId xmlns:p14="http://schemas.microsoft.com/office/powerpoint/2010/main" val="798166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E441B81C-E558-4998-B05E-0FCDB2F76328}"/>
              </a:ext>
            </a:extLst>
          </p:cNvPr>
          <p:cNvSpPr>
            <a:spLocks noGrp="1"/>
          </p:cNvSpPr>
          <p:nvPr>
            <p:ph type="body" idx="1"/>
          </p:nvPr>
        </p:nvSpPr>
        <p:spPr/>
        <p:txBody>
          <a:bodyPr/>
          <a:lstStyle/>
          <a:p>
            <a:r>
              <a:rPr lang="en-US" dirty="0"/>
              <a:t>Here, I explain how the </a:t>
            </a:r>
            <a:r>
              <a:rPr lang="en-US" b="1" dirty="0"/>
              <a:t>rule-based synthetic data</a:t>
            </a:r>
            <a:r>
              <a:rPr lang="en-US" dirty="0"/>
              <a:t> is generated. The process has </a:t>
            </a:r>
            <a:r>
              <a:rPr lang="en-US" b="1" dirty="0"/>
              <a:t>six steps</a:t>
            </a:r>
            <a:r>
              <a:rPr lang="en-US" dirty="0"/>
              <a:t>:</a:t>
            </a:r>
          </a:p>
          <a:p>
            <a:pPr>
              <a:buFont typeface="+mj-lt"/>
              <a:buAutoNum type="arabicPeriod"/>
            </a:pPr>
            <a:r>
              <a:rPr lang="en-US" dirty="0"/>
              <a:t>Upload a real list of high-risk countries and companies’ names</a:t>
            </a:r>
          </a:p>
          <a:p>
            <a:pPr>
              <a:buFont typeface="+mj-lt"/>
              <a:buAutoNum type="arabicPeriod"/>
            </a:pPr>
            <a:r>
              <a:rPr lang="en-US" dirty="0"/>
              <a:t>create a </a:t>
            </a:r>
            <a:r>
              <a:rPr lang="en-US" b="1" dirty="0"/>
              <a:t>library of suspicious scenarios</a:t>
            </a:r>
            <a:r>
              <a:rPr lang="en-US" dirty="0"/>
              <a:t>,</a:t>
            </a:r>
          </a:p>
          <a:p>
            <a:pPr>
              <a:buFont typeface="+mj-lt"/>
              <a:buAutoNum type="arabicPeriod"/>
            </a:pPr>
            <a:r>
              <a:rPr lang="en-US" dirty="0"/>
              <a:t>define </a:t>
            </a:r>
            <a:r>
              <a:rPr lang="en-US" b="1" dirty="0"/>
              <a:t>normal behaviour</a:t>
            </a:r>
            <a:r>
              <a:rPr lang="en-US" dirty="0"/>
              <a:t> patterns,</a:t>
            </a:r>
          </a:p>
          <a:p>
            <a:pPr>
              <a:buFont typeface="+mj-lt"/>
              <a:buAutoNum type="arabicPeriod"/>
            </a:pPr>
            <a:r>
              <a:rPr lang="en-US" dirty="0"/>
              <a:t>inject suspicious behaviour by </a:t>
            </a:r>
            <a:r>
              <a:rPr lang="en-US" b="1" dirty="0"/>
              <a:t>scenario overlays</a:t>
            </a:r>
            <a:r>
              <a:rPr lang="en-US" dirty="0"/>
              <a:t>,</a:t>
            </a:r>
          </a:p>
          <a:p>
            <a:pPr>
              <a:buFont typeface="+mj-lt"/>
              <a:buAutoNum type="arabicPeriod"/>
            </a:pPr>
            <a:r>
              <a:rPr lang="en-US" dirty="0"/>
              <a:t>configure </a:t>
            </a:r>
            <a:r>
              <a:rPr lang="en-US" b="1" dirty="0"/>
              <a:t>scenario combinations and volumes</a:t>
            </a:r>
            <a:r>
              <a:rPr lang="en-US" dirty="0"/>
              <a:t>,</a:t>
            </a:r>
          </a:p>
          <a:p>
            <a:r>
              <a:rPr lang="en-US" dirty="0"/>
              <a:t>Importantly, the scenarios are not invented randomly: they are derived from </a:t>
            </a:r>
            <a:r>
              <a:rPr lang="en-US" b="1" dirty="0"/>
              <a:t>financial industry guidance</a:t>
            </a:r>
            <a:r>
              <a:rPr lang="en-US" dirty="0"/>
              <a:t> and </a:t>
            </a:r>
            <a:r>
              <a:rPr lang="en-US" b="1" dirty="0"/>
              <a:t>EU regulatory requirements</a:t>
            </a:r>
            <a:r>
              <a:rPr lang="en-US" dirty="0"/>
              <a:t>, and implemented using standard </a:t>
            </a:r>
            <a:r>
              <a:rPr lang="en-US" b="1" dirty="0"/>
              <a:t>graph-based transaction patterns</a:t>
            </a:r>
            <a:r>
              <a:rPr lang="en-US" dirty="0"/>
              <a:t>. In total, the catalogue contains </a:t>
            </a:r>
            <a:r>
              <a:rPr lang="en-US" b="1" dirty="0"/>
              <a:t>6 scenario groups</a:t>
            </a:r>
            <a:r>
              <a:rPr lang="en-US" dirty="0"/>
              <a:t> with </a:t>
            </a:r>
            <a:r>
              <a:rPr lang="en-US" b="1" dirty="0"/>
              <a:t>34 scenarios</a:t>
            </a:r>
            <a:r>
              <a:rPr lang="en-US" dirty="0"/>
              <a:t> overall.</a:t>
            </a:r>
          </a:p>
          <a:p>
            <a:r>
              <a:rPr lang="en-US" dirty="0"/>
              <a:t>As a result, I generate two dataset scales: </a:t>
            </a:r>
            <a:r>
              <a:rPr lang="en-US" b="1" dirty="0"/>
              <a:t>Syn100</a:t>
            </a:r>
            <a:r>
              <a:rPr lang="en-US" dirty="0"/>
              <a:t> and </a:t>
            </a:r>
            <a:r>
              <a:rPr lang="en-US" b="1" dirty="0"/>
              <a:t>Syn500</a:t>
            </a:r>
            <a:r>
              <a:rPr lang="en-US" dirty="0"/>
              <a:t>, each consisting of </a:t>
            </a:r>
            <a:r>
              <a:rPr lang="en-US" b="1" dirty="0"/>
              <a:t>five data packages</a:t>
            </a:r>
            <a:r>
              <a:rPr lang="en-US" dirty="0"/>
              <a:t> with different scenario combinations to simulate scenario evolution. The generator is </a:t>
            </a:r>
            <a:r>
              <a:rPr lang="en-US" b="1" dirty="0"/>
              <a:t>configurable</a:t>
            </a:r>
            <a:r>
              <a:rPr lang="en-US" dirty="0"/>
              <a:t>: it allows us to </a:t>
            </a:r>
            <a:r>
              <a:rPr lang="en-US" b="1" dirty="0"/>
              <a:t>add or modify scenarios</a:t>
            </a:r>
            <a:r>
              <a:rPr lang="en-US" dirty="0"/>
              <a:t>, and to </a:t>
            </a:r>
            <a:r>
              <a:rPr lang="en-US" b="1" dirty="0"/>
              <a:t>increase or decrease</a:t>
            </a:r>
            <a:r>
              <a:rPr lang="en-US" dirty="0"/>
              <a:t> the number of </a:t>
            </a:r>
            <a:r>
              <a:rPr lang="en-US" b="1" dirty="0"/>
              <a:t>normal</a:t>
            </a:r>
            <a:r>
              <a:rPr lang="en-US" dirty="0"/>
              <a:t> and </a:t>
            </a:r>
            <a:r>
              <a:rPr lang="en-US" b="1" dirty="0"/>
              <a:t>suspicious</a:t>
            </a:r>
            <a:r>
              <a:rPr lang="en-US" dirty="0"/>
              <a:t> transactions depending on the experiment</a:t>
            </a:r>
            <a:endParaRPr lang="ru-RU" dirty="0"/>
          </a:p>
          <a:p>
            <a:endParaRPr lang="en-US" dirty="0"/>
          </a:p>
        </p:txBody>
      </p:sp>
    </p:spTree>
    <p:extLst>
      <p:ext uri="{BB962C8B-B14F-4D97-AF65-F5344CB8AC3E}">
        <p14:creationId xmlns:p14="http://schemas.microsoft.com/office/powerpoint/2010/main" val="1581009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Model selection was first done manually based on AML constraints, and then independently validated using H2O AutoML, which consistently selected GBM or XGB across data packages.</a:t>
            </a:r>
          </a:p>
          <a:p>
            <a:endParaRPr lang="ru-RU" dirty="0"/>
          </a:p>
          <a:p>
            <a:r>
              <a:rPr lang="en-US" dirty="0"/>
              <a:t>Then data was created text stage was model selection was performed using a criteria-based manual shortlist aligned with the system requirements, and was chosen GBM models as the primary family because they give the best performance under a high-recall requirement and remain interpretable and </a:t>
            </a:r>
            <a:r>
              <a:rPr lang="en-US" b="1" dirty="0"/>
              <a:t>Random Forest</a:t>
            </a:r>
            <a:r>
              <a:rPr lang="en-US" dirty="0"/>
              <a:t> as a robust backup baseline, especially under potential drift, while other families were excluded due to practical risks such as scalability and calibration instability.</a:t>
            </a:r>
            <a:endParaRPr lang="ru-RU" dirty="0"/>
          </a:p>
          <a:p>
            <a:endParaRPr lang="ru-RU" dirty="0"/>
          </a:p>
          <a:p>
            <a:r>
              <a:rPr lang="en-US" dirty="0"/>
              <a:t>This table summarises why tree-based ensembles were selected: they balance performance, interpretability, class imbalance handling, and practical batch-wise model updates, which matches AML operational constraints.</a:t>
            </a:r>
          </a:p>
          <a:p>
            <a:endParaRPr lang="en-US" dirty="0"/>
          </a:p>
        </p:txBody>
      </p:sp>
      <p:sp>
        <p:nvSpPr>
          <p:cNvPr id="4" name="Slide Number Placeholder 3"/>
          <p:cNvSpPr>
            <a:spLocks noGrp="1"/>
          </p:cNvSpPr>
          <p:nvPr>
            <p:ph type="sldNum" sz="quarter" idx="5"/>
          </p:nvPr>
        </p:nvSpPr>
        <p:spPr/>
        <p:txBody>
          <a:bodyPr/>
          <a:lstStyle/>
          <a:p>
            <a:fld id="{42801CE1-13F7-4C75-8F45-2EA85A067B40}" type="slidenum">
              <a:rPr lang="en-US" smtClean="0"/>
              <a:t>9</a:t>
            </a:fld>
            <a:endParaRPr lang="en-US"/>
          </a:p>
        </p:txBody>
      </p:sp>
    </p:spTree>
    <p:extLst>
      <p:ext uri="{BB962C8B-B14F-4D97-AF65-F5344CB8AC3E}">
        <p14:creationId xmlns:p14="http://schemas.microsoft.com/office/powerpoint/2010/main" val="16183797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shortlist which dataset–balancing combinations I continue with, always under the Recall ≥ 0.98 requirement. For Syn100, I keep Baseline, SMOTE, and ADASYN, and exclude ROSE. For Syn500, I keep Baseline and ROSE, and exclude SMOTE/ADASYN. Baseline is included as a reference point with no balancing.</a:t>
            </a:r>
          </a:p>
          <a:p>
            <a:r>
              <a:rPr lang="en-US" dirty="0"/>
              <a:t>ROSE: balances classes by </a:t>
            </a:r>
            <a:r>
              <a:rPr lang="en-US" b="1" dirty="0"/>
              <a:t>randomly duplicating minority samples </a:t>
            </a:r>
            <a:r>
              <a:rPr lang="en-US" dirty="0"/>
              <a:t>until the desired ratio is reached.</a:t>
            </a:r>
          </a:p>
          <a:p>
            <a:r>
              <a:rPr lang="en-US" dirty="0"/>
              <a:t>SMOTE: balances classes by creating synthetic </a:t>
            </a:r>
            <a:r>
              <a:rPr lang="en-US" b="1" dirty="0"/>
              <a:t>minority samples via interpolation between each minority point and its nearest minority </a:t>
            </a:r>
            <a:r>
              <a:rPr lang="en-US" b="1" dirty="0" err="1"/>
              <a:t>neighbours</a:t>
            </a:r>
            <a:r>
              <a:rPr lang="en-US" dirty="0"/>
              <a:t>.</a:t>
            </a:r>
          </a:p>
          <a:p>
            <a:r>
              <a:rPr lang="en-US" dirty="0"/>
              <a:t>ADASYN: balances classes by generating more synthetic </a:t>
            </a:r>
            <a:r>
              <a:rPr lang="en-US" b="1" dirty="0"/>
              <a:t>minority samples in harder regions where minority points have many majority-class </a:t>
            </a:r>
            <a:r>
              <a:rPr lang="en-US" b="1" dirty="0" err="1"/>
              <a:t>neighbours</a:t>
            </a:r>
            <a:r>
              <a:rPr lang="en-US" b="1" dirty="0"/>
              <a:t>.</a:t>
            </a:r>
          </a:p>
          <a:p>
            <a:endParaRPr lang="en-US" dirty="0"/>
          </a:p>
        </p:txBody>
      </p:sp>
      <p:sp>
        <p:nvSpPr>
          <p:cNvPr id="4" name="Slide Number Placeholder 3"/>
          <p:cNvSpPr>
            <a:spLocks noGrp="1"/>
          </p:cNvSpPr>
          <p:nvPr>
            <p:ph type="sldNum" sz="quarter" idx="5"/>
          </p:nvPr>
        </p:nvSpPr>
        <p:spPr/>
        <p:txBody>
          <a:bodyPr/>
          <a:lstStyle/>
          <a:p>
            <a:fld id="{42801CE1-13F7-4C75-8F45-2EA85A067B40}" type="slidenum">
              <a:rPr lang="en-US" smtClean="0"/>
              <a:t>10</a:t>
            </a:fld>
            <a:endParaRPr lang="en-US"/>
          </a:p>
        </p:txBody>
      </p:sp>
    </p:spTree>
    <p:extLst>
      <p:ext uri="{BB962C8B-B14F-4D97-AF65-F5344CB8AC3E}">
        <p14:creationId xmlns:p14="http://schemas.microsoft.com/office/powerpoint/2010/main" val="2860618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ru-RU" dirty="0"/>
              <a:t>,</a:t>
            </a:r>
            <a:r>
              <a:rPr lang="en-US" dirty="0"/>
              <a:t> we compare binary detection performance under full retraining and incremental updates for small and large synthetic datasets.</a:t>
            </a:r>
            <a:r>
              <a:rPr lang="ru-RU" dirty="0"/>
              <a:t> </a:t>
            </a:r>
            <a:r>
              <a:rPr lang="en-US" dirty="0"/>
              <a:t>For Syn100, balancing methods significantly improve precision and reduce false positives, with XGB combined with SMOTE achieving the best trade-off. In contrast, for Syn500, resampling degrades performance, and the unbalanced baseline provides the most stable results.</a:t>
            </a:r>
            <a:r>
              <a:rPr lang="ru-RU" dirty="0"/>
              <a:t> </a:t>
            </a:r>
            <a:r>
              <a:rPr lang="en-US" dirty="0"/>
              <a:t>Overall, incremental learning slightly reduces quality but preserves the same ranking of methods.</a:t>
            </a:r>
          </a:p>
          <a:p>
            <a:endParaRPr lang="en-US" dirty="0"/>
          </a:p>
          <a:p>
            <a:r>
              <a:rPr lang="en-US" dirty="0"/>
              <a:t>For the small dataset, balanced training is essential, while for the large dataset</a:t>
            </a:r>
            <a:r>
              <a:rPr lang="ru-RU" dirty="0"/>
              <a:t>,</a:t>
            </a:r>
            <a:r>
              <a:rPr lang="en-US" dirty="0"/>
              <a:t> the baseline performs best. </a:t>
            </a:r>
            <a:r>
              <a:rPr lang="ru-RU" dirty="0" err="1"/>
              <a:t>Incremental</a:t>
            </a:r>
            <a:r>
              <a:rPr lang="en-US" dirty="0"/>
              <a:t> learning shows a minor degradation but remains stable across models.</a:t>
            </a:r>
            <a:endParaRPr lang="ru-RU" dirty="0"/>
          </a:p>
          <a:p>
            <a:endParaRPr lang="ru-RU" dirty="0"/>
          </a:p>
          <a:p>
            <a:r>
              <a:rPr lang="en-US" dirty="0"/>
              <a:t>This slide compares full retraining and incremental learning on small and large datasets. Full retraining is selected as the preferred strategy, as it consistently yields higher PR-AUC and lower false positives. On small data (Syn100), XGB with balancing performs best, while XGB trained on baseline data shows comparable AUC, confirming that balancing is not always critical. On larger data (Syn500), the baseline setup is the most stable, and resampling does not provide additional benefit.</a:t>
            </a:r>
          </a:p>
        </p:txBody>
      </p:sp>
      <p:sp>
        <p:nvSpPr>
          <p:cNvPr id="4" name="Slide Number Placeholder 3"/>
          <p:cNvSpPr>
            <a:spLocks noGrp="1"/>
          </p:cNvSpPr>
          <p:nvPr>
            <p:ph type="sldNum" sz="quarter" idx="5"/>
          </p:nvPr>
        </p:nvSpPr>
        <p:spPr/>
        <p:txBody>
          <a:bodyPr/>
          <a:lstStyle/>
          <a:p>
            <a:fld id="{42801CE1-13F7-4C75-8F45-2EA85A067B40}" type="slidenum">
              <a:rPr lang="en-US" smtClean="0"/>
              <a:t>11</a:t>
            </a:fld>
            <a:endParaRPr lang="en-US"/>
          </a:p>
        </p:txBody>
      </p:sp>
    </p:spTree>
    <p:extLst>
      <p:ext uri="{BB962C8B-B14F-4D97-AF65-F5344CB8AC3E}">
        <p14:creationId xmlns:p14="http://schemas.microsoft.com/office/powerpoint/2010/main" val="1645711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Probability calibration was evaluated on two dataset scales using out-of-fold predictions and Platt scaling. As expected, ROC-AUC and PR-AUC remain almost unchanged, because calibration does not improve class separation. Instead, it improves the reliability of risk scores: the Brier score decreases for several configurations, and the reliability curve moves closer to the ideal diagonal. From an AML perspective, this means the risk score can be interpreted more consistently and used to set a stable alert threshold under the Recall ≥ 0.98 constraint.</a:t>
            </a:r>
          </a:p>
          <a:p>
            <a:endParaRPr lang="en-US" i="1" dirty="0"/>
          </a:p>
          <a:p>
            <a:r>
              <a:rPr lang="ru-RU" b="0" i="0" dirty="0">
                <a:solidFill>
                  <a:srgbClr val="E6E8F0"/>
                </a:solidFill>
                <a:effectLst/>
                <a:latin typeface="Google Sans"/>
              </a:rPr>
              <a:t>В задачах AML методы OOF и </a:t>
            </a:r>
            <a:r>
              <a:rPr lang="ru-RU" b="0" i="0" dirty="0" err="1">
                <a:solidFill>
                  <a:srgbClr val="E6E8F0"/>
                </a:solidFill>
                <a:effectLst/>
                <a:latin typeface="Google Sans"/>
              </a:rPr>
              <a:t>Platt</a:t>
            </a:r>
            <a:r>
              <a:rPr lang="ru-RU" b="0" i="0" dirty="0">
                <a:solidFill>
                  <a:srgbClr val="E6E8F0"/>
                </a:solidFill>
                <a:effectLst/>
                <a:latin typeface="Google Sans"/>
              </a:rPr>
              <a:t> </a:t>
            </a:r>
            <a:r>
              <a:rPr lang="ru-RU" b="0" i="0" dirty="0" err="1">
                <a:solidFill>
                  <a:srgbClr val="E6E8F0"/>
                </a:solidFill>
                <a:effectLst/>
                <a:latin typeface="Google Sans"/>
              </a:rPr>
              <a:t>Scaling</a:t>
            </a:r>
            <a:r>
              <a:rPr lang="ru-RU" b="0" i="0" dirty="0">
                <a:solidFill>
                  <a:srgbClr val="E6E8F0"/>
                </a:solidFill>
                <a:effectLst/>
                <a:latin typeface="Google Sans"/>
              </a:rPr>
              <a:t> используются для того, чтобы модель не переобучалась на подозрительных схемах и выдавала честную, математически точную вероятность риска для каждой транзакции.</a:t>
            </a:r>
          </a:p>
          <a:p>
            <a:r>
              <a:rPr lang="ru-RU" b="0" i="0" dirty="0">
                <a:solidFill>
                  <a:srgbClr val="E6E8F0"/>
                </a:solidFill>
                <a:effectLst/>
                <a:latin typeface="Google Sans"/>
              </a:rPr>
              <a:t>Эти методы не делают модель «умнее» в разделении легальных и преступных операций, а </a:t>
            </a:r>
            <a:r>
              <a:rPr lang="ru-RU" b="1" i="0" dirty="0">
                <a:solidFill>
                  <a:srgbClr val="E6E8F0"/>
                </a:solidFill>
                <a:effectLst/>
                <a:latin typeface="Google Sans"/>
              </a:rPr>
              <a:t>лишь калибруют её предсказания, чтобы выдаваемые цифры соответствовали реальной вероятности мошенничества.</a:t>
            </a:r>
          </a:p>
          <a:p>
            <a:r>
              <a:rPr lang="ru-RU" b="0" i="0" dirty="0">
                <a:solidFill>
                  <a:srgbClr val="E6E8F0"/>
                </a:solidFill>
                <a:effectLst/>
                <a:latin typeface="Google Sans"/>
              </a:rPr>
              <a:t>OOF и </a:t>
            </a:r>
            <a:r>
              <a:rPr lang="ru-RU" b="0" i="0" dirty="0" err="1">
                <a:solidFill>
                  <a:srgbClr val="E6E8F0"/>
                </a:solidFill>
                <a:effectLst/>
                <a:latin typeface="Google Sans"/>
              </a:rPr>
              <a:t>Platt</a:t>
            </a:r>
            <a:r>
              <a:rPr lang="ru-RU" b="0" i="0" dirty="0">
                <a:solidFill>
                  <a:srgbClr val="E6E8F0"/>
                </a:solidFill>
                <a:effectLst/>
                <a:latin typeface="Google Sans"/>
              </a:rPr>
              <a:t> </a:t>
            </a:r>
            <a:r>
              <a:rPr lang="ru-RU" b="0" i="0" dirty="0" err="1">
                <a:solidFill>
                  <a:srgbClr val="E6E8F0"/>
                </a:solidFill>
                <a:effectLst/>
                <a:latin typeface="Google Sans"/>
              </a:rPr>
              <a:t>Scaling</a:t>
            </a:r>
            <a:r>
              <a:rPr lang="ru-RU" b="0" i="0" dirty="0">
                <a:solidFill>
                  <a:srgbClr val="E6E8F0"/>
                </a:solidFill>
                <a:effectLst/>
                <a:latin typeface="Google Sans"/>
              </a:rPr>
              <a:t> не научили модель лучше отличать «плохих» от «хороших» (поэтому ROC/PR те же), но они заставили модель выдавать честные вероятности, которые теперь можно использовать для оценки реального риска. </a:t>
            </a:r>
          </a:p>
          <a:p>
            <a:endParaRPr lang="ru-RU" b="0" i="0" dirty="0">
              <a:solidFill>
                <a:srgbClr val="E6E8F0"/>
              </a:solidFill>
              <a:effectLst/>
              <a:latin typeface="Google Sans"/>
            </a:endParaRPr>
          </a:p>
          <a:p>
            <a:r>
              <a:rPr lang="en-US" b="1" dirty="0"/>
              <a:t>Q:</a:t>
            </a:r>
            <a:r>
              <a:rPr lang="en-US" dirty="0"/>
              <a:t> </a:t>
            </a:r>
            <a:r>
              <a:rPr lang="en-US" i="1" dirty="0"/>
              <a:t>Did Platt scaling make the model better?</a:t>
            </a:r>
            <a:br>
              <a:rPr lang="en-US" dirty="0"/>
            </a:br>
            <a:r>
              <a:rPr lang="en-US" b="1" dirty="0"/>
              <a:t>A:</a:t>
            </a:r>
            <a:r>
              <a:rPr lang="ru-RU" b="1" dirty="0"/>
              <a:t> </a:t>
            </a:r>
            <a:r>
              <a:rPr lang="en-US" dirty="0"/>
              <a:t>It makes the probabilities more reliable, not the classifier more discriminative, which is exactly what is needed for AML risk scoring.</a:t>
            </a:r>
          </a:p>
          <a:p>
            <a:endParaRPr lang="en-US" dirty="0"/>
          </a:p>
        </p:txBody>
      </p:sp>
      <p:sp>
        <p:nvSpPr>
          <p:cNvPr id="4" name="Slide Number Placeholder 3"/>
          <p:cNvSpPr>
            <a:spLocks noGrp="1"/>
          </p:cNvSpPr>
          <p:nvPr>
            <p:ph type="sldNum" sz="quarter" idx="5"/>
          </p:nvPr>
        </p:nvSpPr>
        <p:spPr/>
        <p:txBody>
          <a:bodyPr/>
          <a:lstStyle/>
          <a:p>
            <a:fld id="{42801CE1-13F7-4C75-8F45-2EA85A067B40}" type="slidenum">
              <a:rPr lang="en-US" smtClean="0"/>
              <a:t>12</a:t>
            </a:fld>
            <a:endParaRPr lang="en-US"/>
          </a:p>
        </p:txBody>
      </p:sp>
    </p:spTree>
    <p:extLst>
      <p:ext uri="{BB962C8B-B14F-4D97-AF65-F5344CB8AC3E}">
        <p14:creationId xmlns:p14="http://schemas.microsoft.com/office/powerpoint/2010/main" val="3911903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For Syn500, the effect is more mixed, but baseline models without resampling show the clearest Brier improvement. Metrics again remain nearly unchanged, while the reliability diagram indicates better probability ordering after calibration. In AML terms, this supports more predictable alert volumes and reduces threshold drift across data packages, even when raw model scores are not directly comparable.</a:t>
            </a:r>
            <a:endParaRPr lang="ru-RU" i="0" dirty="0"/>
          </a:p>
          <a:p>
            <a:endParaRPr lang="ru-RU" i="0" dirty="0"/>
          </a:p>
          <a:p>
            <a:r>
              <a:rPr lang="en-US" i="0" dirty="0"/>
              <a:t>aggregated results of model forecasts, grouped to assess the calibration (reliability) of the model.</a:t>
            </a:r>
          </a:p>
        </p:txBody>
      </p:sp>
      <p:sp>
        <p:nvSpPr>
          <p:cNvPr id="4" name="Slide Number Placeholder 3"/>
          <p:cNvSpPr>
            <a:spLocks noGrp="1"/>
          </p:cNvSpPr>
          <p:nvPr>
            <p:ph type="sldNum" sz="quarter" idx="5"/>
          </p:nvPr>
        </p:nvSpPr>
        <p:spPr/>
        <p:txBody>
          <a:bodyPr/>
          <a:lstStyle/>
          <a:p>
            <a:fld id="{42801CE1-13F7-4C75-8F45-2EA85A067B40}" type="slidenum">
              <a:rPr lang="en-US" smtClean="0"/>
              <a:t>13</a:t>
            </a:fld>
            <a:endParaRPr lang="en-US"/>
          </a:p>
        </p:txBody>
      </p:sp>
    </p:spTree>
    <p:extLst>
      <p:ext uri="{BB962C8B-B14F-4D97-AF65-F5344CB8AC3E}">
        <p14:creationId xmlns:p14="http://schemas.microsoft.com/office/powerpoint/2010/main" val="3036649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reports scenario typing performance after the binary detector stage. At this point, the input stream is already filtered as suspicious, so the task is no longer “suspicious vs normal”, but identifying the most likely scenario. Because the number of labelled transactions per scenario is limited, multiclass resampling is not reliable; therefore, the typing model is trained on the baseline data only. We report Top-K accuracy to reflect AML triage: even when the top prediction is wrong, the correct scenario can still appear among the first two or three candidate labels.</a:t>
            </a:r>
          </a:p>
          <a:p>
            <a:endParaRPr lang="en-US" dirty="0"/>
          </a:p>
          <a:p>
            <a:r>
              <a:rPr lang="en-US" dirty="0"/>
              <a:t>Now I move from binary detection to scenario typing. Importantly, this multiclass model is trained on transactions already flagged as suspicious by the binary stage—so the problem is not “suspicious or not”, but “which scenario is most likely”. Because each scenario has very few examples, reliable multiclass balancing is not feasible, so I train only on baseline data. I report Top-K accuracy because in AML practice</a:t>
            </a:r>
            <a:r>
              <a:rPr lang="ru-RU" dirty="0"/>
              <a:t>,</a:t>
            </a:r>
            <a:r>
              <a:rPr lang="en-US" dirty="0"/>
              <a:t> it is useful if the correct scenario appears among the first two or three suggestions for analyst triage.</a:t>
            </a:r>
            <a:endParaRPr lang="ru-RU" dirty="0"/>
          </a:p>
          <a:p>
            <a:endParaRPr lang="ru-RU" dirty="0"/>
          </a:p>
          <a:p>
            <a:r>
              <a:rPr lang="en-US" dirty="0"/>
              <a:t>Since the multiclass stage is applied only after the binary detector, all cases are already suspicious; therefore</a:t>
            </a:r>
            <a:r>
              <a:rPr lang="ru-RU" dirty="0"/>
              <a:t>,</a:t>
            </a:r>
            <a:r>
              <a:rPr lang="en-US" dirty="0"/>
              <a:t> the key goal is correct scenario assignment for triage. In this stage, overall accuracy is relevant, but it should be complemented with macro-F1 or balanced accuracy and per-class recall to avoid bias towards frequent scenarios</a:t>
            </a:r>
          </a:p>
          <a:p>
            <a:endParaRPr lang="en-US" dirty="0"/>
          </a:p>
          <a:p>
            <a:r>
              <a:rPr lang="ru-RU" b="1" i="0" dirty="0">
                <a:solidFill>
                  <a:srgbClr val="E6E8F0"/>
                </a:solidFill>
                <a:effectLst/>
                <a:latin typeface="Google Sans"/>
              </a:rPr>
              <a:t>F1-мера</a:t>
            </a:r>
            <a:r>
              <a:rPr lang="ru-RU" b="0" i="0" dirty="0">
                <a:solidFill>
                  <a:srgbClr val="E6E8F0"/>
                </a:solidFill>
                <a:effectLst/>
                <a:latin typeface="Google Sans"/>
              </a:rPr>
              <a:t> — это гармоническое среднее между двумя другими важными метриками: </a:t>
            </a:r>
            <a:r>
              <a:rPr lang="ru-RU" b="1" i="0" dirty="0">
                <a:solidFill>
                  <a:srgbClr val="E6E8F0"/>
                </a:solidFill>
                <a:effectLst/>
                <a:latin typeface="Google Sans"/>
              </a:rPr>
              <a:t>точностью</a:t>
            </a:r>
            <a:r>
              <a:rPr lang="ru-RU" b="0" i="0" dirty="0">
                <a:solidFill>
                  <a:srgbClr val="E6E8F0"/>
                </a:solidFill>
                <a:effectLst/>
                <a:latin typeface="Google Sans"/>
              </a:rPr>
              <a:t> (</a:t>
            </a:r>
            <a:r>
              <a:rPr lang="ru-RU" b="0" i="1" dirty="0">
                <a:solidFill>
                  <a:srgbClr val="E6E8F0"/>
                </a:solidFill>
                <a:effectLst/>
                <a:latin typeface="Google Sans"/>
              </a:rPr>
              <a:t>Precision</a:t>
            </a:r>
            <a:r>
              <a:rPr lang="ru-RU" b="0" i="0" dirty="0">
                <a:solidFill>
                  <a:srgbClr val="E6E8F0"/>
                </a:solidFill>
                <a:effectLst/>
                <a:latin typeface="Google Sans"/>
              </a:rPr>
              <a:t>) и </a:t>
            </a:r>
            <a:r>
              <a:rPr lang="ru-RU" b="1" i="0" dirty="0">
                <a:solidFill>
                  <a:srgbClr val="E6E8F0"/>
                </a:solidFill>
                <a:effectLst/>
                <a:latin typeface="Google Sans"/>
              </a:rPr>
              <a:t>полнотой</a:t>
            </a:r>
            <a:r>
              <a:rPr lang="ru-RU" b="0" i="0" dirty="0">
                <a:solidFill>
                  <a:srgbClr val="E6E8F0"/>
                </a:solidFill>
                <a:effectLst/>
                <a:latin typeface="Google Sans"/>
              </a:rPr>
              <a:t> (</a:t>
            </a:r>
            <a:r>
              <a:rPr lang="ru-RU" b="0" i="1" dirty="0" err="1">
                <a:solidFill>
                  <a:srgbClr val="E6E8F0"/>
                </a:solidFill>
                <a:effectLst/>
                <a:latin typeface="Google Sans"/>
              </a:rPr>
              <a:t>Recall</a:t>
            </a:r>
            <a:r>
              <a:rPr lang="ru-RU" b="0" i="0" dirty="0">
                <a:solidFill>
                  <a:srgbClr val="E6E8F0"/>
                </a:solidFill>
                <a:effectLst/>
                <a:latin typeface="Google Sans"/>
              </a:rPr>
              <a:t>). </a:t>
            </a:r>
            <a:endParaRPr lang="en-US" dirty="0"/>
          </a:p>
          <a:p>
            <a:endParaRPr lang="en-US" dirty="0"/>
          </a:p>
        </p:txBody>
      </p:sp>
      <p:sp>
        <p:nvSpPr>
          <p:cNvPr id="4" name="Slide Number Placeholder 3"/>
          <p:cNvSpPr>
            <a:spLocks noGrp="1"/>
          </p:cNvSpPr>
          <p:nvPr>
            <p:ph type="sldNum" sz="quarter" idx="5"/>
          </p:nvPr>
        </p:nvSpPr>
        <p:spPr/>
        <p:txBody>
          <a:bodyPr/>
          <a:lstStyle/>
          <a:p>
            <a:fld id="{42801CE1-13F7-4C75-8F45-2EA85A067B40}" type="slidenum">
              <a:rPr lang="en-US" smtClean="0"/>
              <a:t>14</a:t>
            </a:fld>
            <a:endParaRPr lang="en-US"/>
          </a:p>
        </p:txBody>
      </p:sp>
    </p:spTree>
    <p:extLst>
      <p:ext uri="{BB962C8B-B14F-4D97-AF65-F5344CB8AC3E}">
        <p14:creationId xmlns:p14="http://schemas.microsoft.com/office/powerpoint/2010/main" val="20679046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Syn500, the same post-detection typing setup is used. Balancing is again avoided, as oversampling can distort class structure and earlier results showed that resampling does not consistently improve performance at scale. The metrics indicate that scenario assignment is less stable than binary detection, which is expected due to overlap between scenario patterns and class imbalance. In AML terms, the model is more suitable for </a:t>
            </a:r>
            <a:r>
              <a:rPr lang="en-US" dirty="0" err="1"/>
              <a:t>prioritisation</a:t>
            </a:r>
            <a:r>
              <a:rPr lang="en-US" dirty="0"/>
              <a:t> and analyst guidance using Top-K suggestions rather than fully automated scenario labelling</a:t>
            </a:r>
          </a:p>
          <a:p>
            <a:endParaRPr lang="en-US" dirty="0"/>
          </a:p>
          <a:p>
            <a:r>
              <a:rPr lang="en-US" dirty="0"/>
              <a:t>For Syn500, the same logic applies: typing after detection, baseline training only. Earlier results also showed balancing is not always beneficial at scale. Here we see that scenario typing is harder and less stable than binary detection, so the model is better used to support analysts with Top-K suggestions rather than to assign final scenario labels automatically.</a:t>
            </a:r>
          </a:p>
        </p:txBody>
      </p:sp>
      <p:sp>
        <p:nvSpPr>
          <p:cNvPr id="4" name="Slide Number Placeholder 3"/>
          <p:cNvSpPr>
            <a:spLocks noGrp="1"/>
          </p:cNvSpPr>
          <p:nvPr>
            <p:ph type="sldNum" sz="quarter" idx="5"/>
          </p:nvPr>
        </p:nvSpPr>
        <p:spPr/>
        <p:txBody>
          <a:bodyPr/>
          <a:lstStyle/>
          <a:p>
            <a:fld id="{42801CE1-13F7-4C75-8F45-2EA85A067B40}" type="slidenum">
              <a:rPr lang="en-US" smtClean="0"/>
              <a:t>15</a:t>
            </a:fld>
            <a:endParaRPr lang="en-US"/>
          </a:p>
        </p:txBody>
      </p:sp>
    </p:spTree>
    <p:extLst>
      <p:ext uri="{BB962C8B-B14F-4D97-AF65-F5344CB8AC3E}">
        <p14:creationId xmlns:p14="http://schemas.microsoft.com/office/powerpoint/2010/main" val="42458402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dataset supports privacy requirements and still provides enough signal to train high-recall binary detectors. Because the synthetic data is close to realistic behaviour, suspicious and normal transactions overlap, so forcing recall to 0.98 naturally leads to low precision and high FP/1000. For adaptation, binary models remain stable across waves under both incremental learning and full retraining, which indicates that the pipeline can be updated over time without major degradation. However, multiclass scenario prediction is significantly more difficult: stacking can separate frequent and well-defined scenarios, but overall macro performance remains moderate and rare classes are unstable due to few samples and intentional overlap. Therefore, scenario prediction should be treated as a supporting tool for alert triage, not as the only source of scenario labels.</a:t>
            </a:r>
            <a:r>
              <a:rPr lang="ru-RU" dirty="0"/>
              <a:t> </a:t>
            </a:r>
            <a:r>
              <a:rPr lang="en-US" dirty="0"/>
              <a:t>Binary detection remains stable across different data packages, and it preserves high recall on subsequent packages under both training regimes (incremental learning vs full retraining). The performance gap between incremental updates and full retraining is small, which indicates that the system can be updated in smaller batches without catastrophic degradation. When a new fraud scenario appears, the binary component can still flag a transaction as suspicious, but it cannot reliably assign the correct suspicious category, so scenario typing is better suited for triage than for final labelling.</a:t>
            </a:r>
          </a:p>
          <a:p>
            <a:endParaRPr lang="en-US" dirty="0"/>
          </a:p>
          <a:p>
            <a:r>
              <a:rPr lang="en-US" dirty="0"/>
              <a:t>The hypothesis is partly confirmed. Rule-based synthetic data can train ML detectors for risk screening, but it is not sufficient for fully automated risk decisions. Binary detection remains stable across data packages and update regimes, while scenario typing is mainly useful for triage. Quality is best described as privacy-preserving and useful for controlled benchmarking, but fidelity is limited by simplified rules and business logic.</a:t>
            </a:r>
          </a:p>
        </p:txBody>
      </p:sp>
      <p:sp>
        <p:nvSpPr>
          <p:cNvPr id="4" name="Slide Number Placeholder 3"/>
          <p:cNvSpPr>
            <a:spLocks noGrp="1"/>
          </p:cNvSpPr>
          <p:nvPr>
            <p:ph type="sldNum" sz="quarter" idx="5"/>
          </p:nvPr>
        </p:nvSpPr>
        <p:spPr/>
        <p:txBody>
          <a:bodyPr/>
          <a:lstStyle/>
          <a:p>
            <a:fld id="{42801CE1-13F7-4C75-8F45-2EA85A067B40}" type="slidenum">
              <a:rPr lang="en-US" smtClean="0"/>
              <a:t>16</a:t>
            </a:fld>
            <a:endParaRPr lang="en-US"/>
          </a:p>
        </p:txBody>
      </p:sp>
    </p:spTree>
    <p:extLst>
      <p:ext uri="{BB962C8B-B14F-4D97-AF65-F5344CB8AC3E}">
        <p14:creationId xmlns:p14="http://schemas.microsoft.com/office/powerpoint/2010/main" val="7250898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My contribution is a complete experimental prototype: data generation, quality checks, model selection, training under drift-like updates, calibration, and evaluation for both detection and typing. The system is designed to be reproducible and extendable as new scenarios are added.</a:t>
            </a:r>
          </a:p>
          <a:p>
            <a:pPr>
              <a:buFont typeface="Arial" panose="020B0604020202020204" pitchFamily="34" charset="0"/>
              <a:buChar char="•"/>
            </a:pPr>
            <a:endParaRPr lang="en-US" dirty="0"/>
          </a:p>
          <a:p>
            <a:pPr>
              <a:buFont typeface="Arial" panose="020B0604020202020204" pitchFamily="34" charset="0"/>
              <a:buChar char="•"/>
            </a:pPr>
            <a:r>
              <a:rPr lang="en-US" dirty="0"/>
              <a:t>The main value is not “perfect accuracy”, but a </a:t>
            </a:r>
            <a:r>
              <a:rPr lang="en-US" b="1" dirty="0"/>
              <a:t>controlled boundary</a:t>
            </a:r>
            <a:r>
              <a:rPr lang="en-US" dirty="0"/>
              <a:t> between </a:t>
            </a:r>
            <a:r>
              <a:rPr lang="en-US" i="1" dirty="0"/>
              <a:t>too-easy synthetic data</a:t>
            </a:r>
            <a:r>
              <a:rPr lang="en-US" dirty="0"/>
              <a:t> and </a:t>
            </a:r>
            <a:r>
              <a:rPr lang="en-US" i="1" dirty="0"/>
              <a:t>realistic AML complexity</a:t>
            </a:r>
            <a:r>
              <a:rPr lang="en-US" dirty="0"/>
              <a:t>.</a:t>
            </a:r>
          </a:p>
          <a:p>
            <a:pPr>
              <a:buFont typeface="Arial" panose="020B0604020202020204" pitchFamily="34" charset="0"/>
              <a:buChar char="•"/>
            </a:pPr>
            <a:r>
              <a:rPr lang="en-US" dirty="0"/>
              <a:t>Shows that with correct distributions and clean structure, synthetic data can be made </a:t>
            </a:r>
            <a:r>
              <a:rPr lang="en-US" b="1" dirty="0"/>
              <a:t>close enough to reality</a:t>
            </a:r>
            <a:r>
              <a:rPr lang="en-US" dirty="0"/>
              <a:t> so that standard models start to struggle (class overlap, higher FP/FN).</a:t>
            </a:r>
          </a:p>
          <a:p>
            <a:pPr>
              <a:buFont typeface="Arial" panose="020B0604020202020204" pitchFamily="34" charset="0"/>
              <a:buChar char="•"/>
            </a:pPr>
            <a:r>
              <a:rPr lang="en-US" dirty="0"/>
              <a:t>Demonstrates a practical limitation: with </a:t>
            </a:r>
            <a:r>
              <a:rPr lang="en-US" b="1" dirty="0"/>
              <a:t>~1000 real rows</a:t>
            </a:r>
            <a:r>
              <a:rPr lang="en-US" dirty="0"/>
              <a:t>, GAN/VAE can match the “middle” of distributions but often </a:t>
            </a:r>
            <a:r>
              <a:rPr lang="en-US" b="1" dirty="0"/>
              <a:t>miss the heavy tail</a:t>
            </a:r>
            <a:r>
              <a:rPr lang="en-US" dirty="0"/>
              <a:t> (large</a:t>
            </a:r>
            <a:r>
              <a:rPr lang="ru-RU" dirty="0"/>
              <a:t>,</a:t>
            </a:r>
            <a:r>
              <a:rPr lang="en-US" dirty="0"/>
              <a:t> rare amounts).</a:t>
            </a:r>
          </a:p>
          <a:p>
            <a:pPr>
              <a:buFont typeface="Arial" panose="020B0604020202020204" pitchFamily="34" charset="0"/>
              <a:buChar char="•"/>
            </a:pPr>
            <a:r>
              <a:rPr lang="en-US" dirty="0"/>
              <a:t>Proposes an interpretable </a:t>
            </a:r>
            <a:r>
              <a:rPr lang="en-US" b="1" dirty="0"/>
              <a:t>rule-based scenario library + waves (B1–B5)</a:t>
            </a:r>
            <a:r>
              <a:rPr lang="en-US" dirty="0"/>
              <a:t> for reproducible testing of drift and new patterns.</a:t>
            </a:r>
          </a:p>
          <a:p>
            <a:pPr>
              <a:buFont typeface="Arial" panose="020B0604020202020204" pitchFamily="34" charset="0"/>
              <a:buChar char="•"/>
            </a:pPr>
            <a:r>
              <a:rPr lang="en-US" dirty="0"/>
              <a:t>Makes the operational trade-off explicit: at </a:t>
            </a:r>
            <a:r>
              <a:rPr lang="en-US" b="1" dirty="0"/>
              <a:t>Recall = 0.98</a:t>
            </a:r>
            <a:r>
              <a:rPr lang="en-US" dirty="0"/>
              <a:t>, precision can fall to </a:t>
            </a:r>
            <a:r>
              <a:rPr lang="en-US" b="1" dirty="0"/>
              <a:t>~4–6%</a:t>
            </a:r>
            <a:r>
              <a:rPr lang="en-US" dirty="0"/>
              <a:t>, so an extra ranking / filtering layer is needed.</a:t>
            </a:r>
          </a:p>
          <a:p>
            <a:pPr>
              <a:buFont typeface="Arial" panose="020B0604020202020204" pitchFamily="34" charset="0"/>
              <a:buChar char="•"/>
            </a:pPr>
            <a:r>
              <a:rPr lang="en-US" dirty="0"/>
              <a:t>Finds that oversampling (SMOTE/ADASYN/ROSE) is not always a win under a strict recall target, and </a:t>
            </a:r>
            <a:r>
              <a:rPr lang="en-US" b="1" dirty="0"/>
              <a:t>incremental vs full retrain</a:t>
            </a:r>
            <a:r>
              <a:rPr lang="en-US" dirty="0"/>
              <a:t> gives similar quality.</a:t>
            </a:r>
          </a:p>
          <a:p>
            <a:pPr>
              <a:buFont typeface="Arial" panose="020B0604020202020204" pitchFamily="34" charset="0"/>
              <a:buChar char="•"/>
            </a:pPr>
            <a:r>
              <a:rPr lang="en-US" dirty="0"/>
              <a:t>Adds multiclass stacking as a </a:t>
            </a:r>
            <a:r>
              <a:rPr lang="en-US" b="1" dirty="0"/>
              <a:t>support tool</a:t>
            </a:r>
            <a:r>
              <a:rPr lang="en-US" dirty="0"/>
              <a:t>: useful for triage, but not reliable enough for final scenario labels.</a:t>
            </a:r>
          </a:p>
          <a:p>
            <a:r>
              <a:rPr lang="en-US" b="1" dirty="0"/>
              <a:t>Notes </a:t>
            </a:r>
          </a:p>
          <a:p>
            <a:r>
              <a:rPr lang="en-US" dirty="0"/>
              <a:t>This thesis contributes a methodology for building synthetic AML data that is </a:t>
            </a:r>
            <a:r>
              <a:rPr lang="en-US" i="1" dirty="0"/>
              <a:t>not artificially simple</a:t>
            </a:r>
            <a:r>
              <a:rPr lang="en-US" dirty="0"/>
              <a:t>. When the generator is tuned to be closer to real conditions, suspicious and normal transactions overlap</a:t>
            </a:r>
            <a:r>
              <a:rPr lang="ru-RU" dirty="0"/>
              <a:t>,</a:t>
            </a:r>
            <a:r>
              <a:rPr lang="en-US" dirty="0"/>
              <a:t> and the models stop relying on trivial signals, which is closer to industry reality (alerts grow, mistakes appear). This helps to test which extra information is truly needed (context, history, graph relations), instead of training on convenient markers only.</a:t>
            </a:r>
            <a:br>
              <a:rPr lang="en-US" dirty="0"/>
            </a:br>
            <a:r>
              <a:rPr lang="en-US" dirty="0"/>
              <a:t>A second contribution is the negative result on GAN/VAE under limited real data: even if training loss looks stable, the generator can still fail to reproduce rare extreme values (the heavy tail), which is exactly where </a:t>
            </a:r>
            <a:r>
              <a:rPr lang="ru-RU" dirty="0" err="1"/>
              <a:t>the</a:t>
            </a:r>
            <a:r>
              <a:rPr lang="ru-RU" dirty="0"/>
              <a:t> </a:t>
            </a:r>
            <a:r>
              <a:rPr lang="en-US" dirty="0"/>
              <a:t>risk signal often sits.</a:t>
            </a:r>
            <a:br>
              <a:rPr lang="en-US" dirty="0"/>
            </a:br>
            <a:r>
              <a:rPr lang="en-US" dirty="0"/>
              <a:t>Third, the rules-based generator is modular and explainable, with scenario mapping and wave packages (B1–B5), allowing controlled experiments for concept drift and gradual scenario introduction.</a:t>
            </a:r>
            <a:br>
              <a:rPr lang="en-US" dirty="0"/>
            </a:br>
            <a:r>
              <a:rPr lang="en-US" dirty="0"/>
              <a:t>Finally, the evaluation is operational: models are compared under a fixed high-recall constraint and with FP/1000 checks, plus balancing and retraining strategies. The multiclass stacking layer shows promise for alert triage, but due to small per-class samples and intentional scenario overlap, it cannot be used as the only source of scenario labelling (a two-level design is more realistic).</a:t>
            </a:r>
          </a:p>
        </p:txBody>
      </p:sp>
      <p:sp>
        <p:nvSpPr>
          <p:cNvPr id="4" name="Slide Number Placeholder 3"/>
          <p:cNvSpPr>
            <a:spLocks noGrp="1"/>
          </p:cNvSpPr>
          <p:nvPr>
            <p:ph type="sldNum" sz="quarter" idx="5"/>
          </p:nvPr>
        </p:nvSpPr>
        <p:spPr/>
        <p:txBody>
          <a:bodyPr/>
          <a:lstStyle/>
          <a:p>
            <a:fld id="{42801CE1-13F7-4C75-8F45-2EA85A067B40}" type="slidenum">
              <a:rPr lang="en-US" smtClean="0"/>
              <a:t>17</a:t>
            </a:fld>
            <a:endParaRPr lang="en-US"/>
          </a:p>
        </p:txBody>
      </p:sp>
    </p:spTree>
    <p:extLst>
      <p:ext uri="{BB962C8B-B14F-4D97-AF65-F5344CB8AC3E}">
        <p14:creationId xmlns:p14="http://schemas.microsoft.com/office/powerpoint/2010/main" val="2248381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I would like to thank my supervisors for their valuable supervision and advice at every stage of the research</a:t>
            </a:r>
            <a:endParaRPr lang="en-US" dirty="0"/>
          </a:p>
        </p:txBody>
      </p:sp>
      <p:sp>
        <p:nvSpPr>
          <p:cNvPr id="4" name="Slide Number Placeholder 3"/>
          <p:cNvSpPr>
            <a:spLocks noGrp="1"/>
          </p:cNvSpPr>
          <p:nvPr>
            <p:ph type="sldNum" sz="quarter" idx="5"/>
          </p:nvPr>
        </p:nvSpPr>
        <p:spPr/>
        <p:txBody>
          <a:bodyPr/>
          <a:lstStyle/>
          <a:p>
            <a:fld id="{42801CE1-13F7-4C75-8F45-2EA85A067B40}" type="slidenum">
              <a:rPr lang="en-US" smtClean="0"/>
              <a:t>18</a:t>
            </a:fld>
            <a:endParaRPr lang="en-US"/>
          </a:p>
        </p:txBody>
      </p:sp>
    </p:spTree>
    <p:extLst>
      <p:ext uri="{BB962C8B-B14F-4D97-AF65-F5344CB8AC3E}">
        <p14:creationId xmlns:p14="http://schemas.microsoft.com/office/powerpoint/2010/main" val="35690152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thank my supervisors for their valuable supervision and advice at every stage of the research</a:t>
            </a:r>
          </a:p>
        </p:txBody>
      </p:sp>
      <p:sp>
        <p:nvSpPr>
          <p:cNvPr id="4" name="Slide Number Placeholder 3"/>
          <p:cNvSpPr>
            <a:spLocks noGrp="1"/>
          </p:cNvSpPr>
          <p:nvPr>
            <p:ph type="sldNum" sz="quarter" idx="5"/>
          </p:nvPr>
        </p:nvSpPr>
        <p:spPr/>
        <p:txBody>
          <a:bodyPr/>
          <a:lstStyle/>
          <a:p>
            <a:fld id="{42801CE1-13F7-4C75-8F45-2EA85A067B40}" type="slidenum">
              <a:rPr lang="en-US" smtClean="0"/>
              <a:t>19</a:t>
            </a:fld>
            <a:endParaRPr lang="en-US"/>
          </a:p>
        </p:txBody>
      </p:sp>
    </p:spTree>
    <p:extLst>
      <p:ext uri="{BB962C8B-B14F-4D97-AF65-F5344CB8AC3E}">
        <p14:creationId xmlns:p14="http://schemas.microsoft.com/office/powerpoint/2010/main" val="4294124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workflow summarises the pipeline: generate </a:t>
            </a:r>
            <a:r>
              <a:rPr lang="en-US" b="1" dirty="0"/>
              <a:t>five synthetic packages for each dataset scale</a:t>
            </a:r>
            <a:r>
              <a:rPr lang="en-US" dirty="0"/>
              <a:t>, apply balancing only where justified, train models under </a:t>
            </a:r>
            <a:r>
              <a:rPr lang="en-US" b="1" dirty="0"/>
              <a:t>full retraining</a:t>
            </a:r>
            <a:r>
              <a:rPr lang="en-US" dirty="0"/>
              <a:t> and </a:t>
            </a:r>
            <a:r>
              <a:rPr lang="en-US" b="1" dirty="0"/>
              <a:t>incremental updates</a:t>
            </a:r>
            <a:r>
              <a:rPr lang="en-US" dirty="0"/>
              <a:t>, calibrate probabilities,</a:t>
            </a:r>
            <a:r>
              <a:rPr lang="ru-RU" dirty="0"/>
              <a:t> </a:t>
            </a:r>
            <a:r>
              <a:rPr lang="en-US" dirty="0"/>
              <a:t>and then evaluate </a:t>
            </a:r>
            <a:r>
              <a:rPr lang="en-US" b="1" dirty="0"/>
              <a:t>binary detection </a:t>
            </a:r>
            <a:r>
              <a:rPr lang="en-US" dirty="0"/>
              <a:t>and </a:t>
            </a:r>
            <a:r>
              <a:rPr lang="en-US" b="1" dirty="0"/>
              <a:t>multiclass scenario typing</a:t>
            </a:r>
            <a:r>
              <a:rPr lang="en-US" dirty="0"/>
              <a:t>.</a:t>
            </a:r>
          </a:p>
        </p:txBody>
      </p:sp>
      <p:sp>
        <p:nvSpPr>
          <p:cNvPr id="4" name="Slide Number Placeholder 3"/>
          <p:cNvSpPr>
            <a:spLocks noGrp="1"/>
          </p:cNvSpPr>
          <p:nvPr>
            <p:ph type="sldNum" sz="quarter" idx="5"/>
          </p:nvPr>
        </p:nvSpPr>
        <p:spPr/>
        <p:txBody>
          <a:bodyPr/>
          <a:lstStyle/>
          <a:p>
            <a:fld id="{42801CE1-13F7-4C75-8F45-2EA85A067B40}" type="slidenum">
              <a:rPr lang="en-US" smtClean="0"/>
              <a:t>20</a:t>
            </a:fld>
            <a:endParaRPr lang="en-US"/>
          </a:p>
        </p:txBody>
      </p:sp>
    </p:spTree>
    <p:extLst>
      <p:ext uri="{BB962C8B-B14F-4D97-AF65-F5344CB8AC3E}">
        <p14:creationId xmlns:p14="http://schemas.microsoft.com/office/powerpoint/2010/main" val="2365936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parallel, H2O AutoML was used as an automated check. It confirmed that tree-based models are consistently strong candidates. So manual reasoning and automated search lead to the same conclusion.</a:t>
            </a:r>
          </a:p>
          <a:p>
            <a:endParaRPr lang="en-US" dirty="0"/>
          </a:p>
          <a:p>
            <a:r>
              <a:rPr lang="en-US" dirty="0" err="1"/>
              <a:t>LogLoss</a:t>
            </a:r>
            <a:r>
              <a:rPr lang="en-US" dirty="0"/>
              <a:t> (the average logarithmic loss across all classes); Mean per-class error (the average error across all classes), which reflects balanced performance across frequent and rare classes by averaging the error per class; and RMSE (the root mean square error), which measures the average "error" in the model's predicted probabilities (the closer the results are to zero, the better all three metrics).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an AutoML cross-check using H2O to reduce selection bias. Both approaches consistently </a:t>
            </a:r>
            <a:r>
              <a:rPr lang="ru-RU" dirty="0" err="1"/>
              <a:t>favoured</a:t>
            </a:r>
            <a:r>
              <a:rPr lang="en-US" dirty="0"/>
              <a:t> gradient-boosted models as the best-performing family, with Random Forest retained as a drift-aware baseline.</a:t>
            </a: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ru-RU"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LogLoss</a:t>
            </a:r>
            <a:r>
              <a:rPr lang="en-US" dirty="0"/>
              <a:t> by data packets (less is better)</a:t>
            </a:r>
            <a:r>
              <a:rPr lang="ru-RU" dirty="0"/>
              <a:t> показывает, насколько хорошо модель оценивает вероятности риска на каждом пакете данных.;</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Mean Per-Class Error per data packet (lower is better)</a:t>
            </a:r>
            <a:r>
              <a:rPr lang="ru-RU" dirty="0"/>
              <a:t> отражает стабильность классификации по всем классам, а не только по доминирующему.</a:t>
            </a:r>
          </a:p>
          <a:p>
            <a:r>
              <a:rPr lang="ru-RU" dirty="0" err="1"/>
              <a:t>Leader</a:t>
            </a:r>
            <a:r>
              <a:rPr lang="ru-RU" dirty="0"/>
              <a:t> </a:t>
            </a:r>
            <a:r>
              <a:rPr lang="ru-RU" dirty="0" err="1"/>
              <a:t>algorithm</a:t>
            </a:r>
            <a:r>
              <a:rPr lang="ru-RU" dirty="0"/>
              <a:t> — какая модель оказалась лучшей на каждом пакете (GBM или XGB).MSE / RMSE — ошибки вероятностей (связаны с калибровкой).</a:t>
            </a:r>
            <a:r>
              <a:rPr lang="ru-RU" dirty="0" err="1"/>
              <a:t>LogLoss</a:t>
            </a:r>
            <a:r>
              <a:rPr lang="ru-RU" dirty="0"/>
              <a:t> — то же, что на графике (численно).</a:t>
            </a:r>
            <a:r>
              <a:rPr lang="ru-RU" dirty="0" err="1"/>
              <a:t>Mean</a:t>
            </a:r>
            <a:r>
              <a:rPr lang="ru-RU" dirty="0"/>
              <a:t> </a:t>
            </a:r>
            <a:r>
              <a:rPr lang="ru-RU" dirty="0" err="1"/>
              <a:t>per-class</a:t>
            </a:r>
            <a:r>
              <a:rPr lang="ru-RU" dirty="0"/>
              <a:t> </a:t>
            </a:r>
            <a:r>
              <a:rPr lang="ru-RU" dirty="0" err="1"/>
              <a:t>error</a:t>
            </a:r>
            <a:r>
              <a:rPr lang="ru-RU" dirty="0"/>
              <a:t> — как на правом </a:t>
            </a:r>
            <a:r>
              <a:rPr lang="ru-RU" dirty="0" err="1"/>
              <a:t>графике.HitRatio</a:t>
            </a:r>
            <a:r>
              <a:rPr lang="ru-RU" dirty="0"/>
              <a:t> — доля правильно классифицированных наблюдений (всегда высокая из-за дисбаланса).</a:t>
            </a:r>
          </a:p>
          <a:p>
            <a:r>
              <a:rPr lang="en-US" dirty="0"/>
              <a:t>High </a:t>
            </a:r>
            <a:r>
              <a:rPr lang="en-US" dirty="0" err="1"/>
              <a:t>HitRatio</a:t>
            </a:r>
            <a:r>
              <a:rPr lang="en-US" dirty="0"/>
              <a:t> alone is misleading in imbalanced AML data, therefore </a:t>
            </a:r>
            <a:r>
              <a:rPr lang="en-US" dirty="0" err="1"/>
              <a:t>LogLoss</a:t>
            </a:r>
            <a:r>
              <a:rPr lang="en-US" dirty="0"/>
              <a:t> and per-class error are more informative.</a:t>
            </a:r>
            <a:endParaRPr lang="ru-RU" dirty="0"/>
          </a:p>
          <a:p>
            <a:r>
              <a:rPr lang="en-US" dirty="0"/>
              <a:t>These plots show how probability calibration and class-wise performance change across data batches: even with high overall accuracy, </a:t>
            </a:r>
            <a:r>
              <a:rPr lang="en-US" dirty="0" err="1"/>
              <a:t>LogLoss</a:t>
            </a:r>
            <a:r>
              <a:rPr lang="en-US" dirty="0"/>
              <a:t> and per-class error reveal instability when new scenarios appear, which reflects realistic AML behaviour and motivates batch-wise updates and calibration.</a:t>
            </a:r>
          </a:p>
        </p:txBody>
      </p:sp>
      <p:sp>
        <p:nvSpPr>
          <p:cNvPr id="4" name="Slide Number Placeholder 3"/>
          <p:cNvSpPr>
            <a:spLocks noGrp="1"/>
          </p:cNvSpPr>
          <p:nvPr>
            <p:ph type="sldNum" sz="quarter" idx="5"/>
          </p:nvPr>
        </p:nvSpPr>
        <p:spPr/>
        <p:txBody>
          <a:bodyPr/>
          <a:lstStyle/>
          <a:p>
            <a:fld id="{42801CE1-13F7-4C75-8F45-2EA85A067B40}" type="slidenum">
              <a:rPr lang="en-US" smtClean="0"/>
              <a:t>21</a:t>
            </a:fld>
            <a:endParaRPr lang="en-US"/>
          </a:p>
        </p:txBody>
      </p:sp>
    </p:spTree>
    <p:extLst>
      <p:ext uri="{BB962C8B-B14F-4D97-AF65-F5344CB8AC3E}">
        <p14:creationId xmlns:p14="http://schemas.microsoft.com/office/powerpoint/2010/main" val="12162298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01CE1-13F7-4C75-8F45-2EA85A067B40}" type="slidenum">
              <a:rPr lang="en-US" smtClean="0"/>
              <a:t>22</a:t>
            </a:fld>
            <a:endParaRPr lang="en-US"/>
          </a:p>
        </p:txBody>
      </p:sp>
    </p:spTree>
    <p:extLst>
      <p:ext uri="{BB962C8B-B14F-4D97-AF65-F5344CB8AC3E}">
        <p14:creationId xmlns:p14="http://schemas.microsoft.com/office/powerpoint/2010/main" val="1620425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2801CE1-13F7-4C75-8F45-2EA85A067B40}" type="slidenum">
              <a:rPr lang="en-US" smtClean="0"/>
              <a:t>23</a:t>
            </a:fld>
            <a:endParaRPr lang="en-US"/>
          </a:p>
        </p:txBody>
      </p:sp>
    </p:spTree>
    <p:extLst>
      <p:ext uri="{BB962C8B-B14F-4D97-AF65-F5344CB8AC3E}">
        <p14:creationId xmlns:p14="http://schemas.microsoft.com/office/powerpoint/2010/main" val="40171866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801CE1-13F7-4C75-8F45-2EA85A067B40}" type="slidenum">
              <a:rPr lang="en-US" smtClean="0"/>
              <a:t>24</a:t>
            </a:fld>
            <a:endParaRPr lang="en-US"/>
          </a:p>
        </p:txBody>
      </p:sp>
    </p:spTree>
    <p:extLst>
      <p:ext uri="{BB962C8B-B14F-4D97-AF65-F5344CB8AC3E}">
        <p14:creationId xmlns:p14="http://schemas.microsoft.com/office/powerpoint/2010/main" val="22719278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2801CE1-13F7-4C75-8F45-2EA85A067B40}" type="slidenum">
              <a:rPr lang="en-US" smtClean="0"/>
              <a:t>25</a:t>
            </a:fld>
            <a:endParaRPr lang="en-US"/>
          </a:p>
        </p:txBody>
      </p:sp>
    </p:spTree>
    <p:extLst>
      <p:ext uri="{BB962C8B-B14F-4D97-AF65-F5344CB8AC3E}">
        <p14:creationId xmlns:p14="http://schemas.microsoft.com/office/powerpoint/2010/main" val="30084868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A0D2D-E468-41DD-871C-B95069416933}"/>
              </a:ext>
            </a:extLst>
          </p:cNvPr>
          <p:cNvSpPr>
            <a:spLocks noGrp="1"/>
          </p:cNvSpPr>
          <p:nvPr>
            <p:ph type="ctrTitle"/>
          </p:nvPr>
        </p:nvSpPr>
        <p:spPr>
          <a:xfrm>
            <a:off x="1459345" y="1648836"/>
            <a:ext cx="9144000" cy="2387600"/>
          </a:xfrm>
        </p:spPr>
        <p:txBody>
          <a:bodyPr anchor="ctr"/>
          <a:lstStyle>
            <a:lvl1pPr algn="ctr">
              <a:defRPr lang="en-US" sz="4800" i="1" kern="1200" dirty="0">
                <a:solidFill>
                  <a:srgbClr val="144774"/>
                </a:solidFill>
                <a:latin typeface="Arial" panose="020B0604020202020204" pitchFamily="34" charset="0"/>
                <a:ea typeface="+mj-ea"/>
                <a:cs typeface="Arial" panose="020B0604020202020204" pitchFamily="34" charset="0"/>
              </a:defRPr>
            </a:lvl1pPr>
          </a:lstStyle>
          <a:p>
            <a:endParaRPr lang="en-US" dirty="0"/>
          </a:p>
        </p:txBody>
      </p:sp>
      <p:sp>
        <p:nvSpPr>
          <p:cNvPr id="3" name="Subtitle 2">
            <a:extLst>
              <a:ext uri="{FF2B5EF4-FFF2-40B4-BE49-F238E27FC236}">
                <a16:creationId xmlns:a16="http://schemas.microsoft.com/office/drawing/2014/main" id="{F13EB58E-1983-4DF2-995F-A771BE0605B5}"/>
              </a:ext>
            </a:extLst>
          </p:cNvPr>
          <p:cNvSpPr>
            <a:spLocks noGrp="1"/>
          </p:cNvSpPr>
          <p:nvPr>
            <p:ph type="subTitle" idx="1"/>
          </p:nvPr>
        </p:nvSpPr>
        <p:spPr>
          <a:xfrm>
            <a:off x="240146" y="5661602"/>
            <a:ext cx="9482759" cy="499052"/>
          </a:xfrm>
        </p:spPr>
        <p:txBody>
          <a:bodyPr/>
          <a:lstStyle>
            <a:lvl1pPr marL="0" indent="0" algn="l">
              <a:buNone/>
              <a:defRPr lang="en-US" sz="2000" b="0" i="1" kern="1200" dirty="0">
                <a:solidFill>
                  <a:schemeClr val="tx1"/>
                </a:solidFill>
                <a:latin typeface="Arial" panose="020B0604020202020204" pitchFamily="34" charset="0"/>
                <a:ea typeface="+mn-ea"/>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en-US" dirty="0"/>
          </a:p>
        </p:txBody>
      </p:sp>
      <p:pic>
        <p:nvPicPr>
          <p:cNvPr id="8" name="Picture 2" descr="http://www.tsi.lv/images/logoTSI.jpg">
            <a:extLst>
              <a:ext uri="{FF2B5EF4-FFF2-40B4-BE49-F238E27FC236}">
                <a16:creationId xmlns:a16="http://schemas.microsoft.com/office/drawing/2014/main" id="{01058AE7-6B14-4E3B-A0A0-A1B41252DD9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780" y="64886"/>
            <a:ext cx="2284964" cy="96126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11D1FFA8-2FB4-4133-ABD5-060B15D54EB5}"/>
              </a:ext>
            </a:extLst>
          </p:cNvPr>
          <p:cNvPicPr>
            <a:picLocks noChangeAspect="1"/>
          </p:cNvPicPr>
          <p:nvPr userDrawn="1"/>
        </p:nvPicPr>
        <p:blipFill rotWithShape="1">
          <a:blip r:embed="rId3"/>
          <a:srcRect l="25491" r="3530"/>
          <a:stretch/>
        </p:blipFill>
        <p:spPr>
          <a:xfrm>
            <a:off x="9722905" y="4179437"/>
            <a:ext cx="2469095" cy="2678563"/>
          </a:xfrm>
          <a:prstGeom prst="rect">
            <a:avLst/>
          </a:prstGeom>
        </p:spPr>
      </p:pic>
      <p:pic>
        <p:nvPicPr>
          <p:cNvPr id="5" name="Picture 4">
            <a:extLst>
              <a:ext uri="{FF2B5EF4-FFF2-40B4-BE49-F238E27FC236}">
                <a16:creationId xmlns:a16="http://schemas.microsoft.com/office/drawing/2014/main" id="{9D8A5955-95DB-43BD-9CF0-44052AC3F5F8}"/>
              </a:ext>
            </a:extLst>
          </p:cNvPr>
          <p:cNvPicPr>
            <a:picLocks noChangeAspect="1"/>
          </p:cNvPicPr>
          <p:nvPr userDrawn="1"/>
        </p:nvPicPr>
        <p:blipFill>
          <a:blip r:embed="rId4"/>
          <a:stretch>
            <a:fillRect/>
          </a:stretch>
        </p:blipFill>
        <p:spPr>
          <a:xfrm>
            <a:off x="2375743" y="-1"/>
            <a:ext cx="2039785" cy="1026149"/>
          </a:xfrm>
          <a:prstGeom prst="rect">
            <a:avLst/>
          </a:prstGeom>
        </p:spPr>
      </p:pic>
    </p:spTree>
    <p:extLst>
      <p:ext uri="{BB962C8B-B14F-4D97-AF65-F5344CB8AC3E}">
        <p14:creationId xmlns:p14="http://schemas.microsoft.com/office/powerpoint/2010/main" val="23962785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4F0CBCD-8624-49A8-992F-0B99B9A17BFC}"/>
              </a:ext>
            </a:extLst>
          </p:cNvPr>
          <p:cNvSpPr>
            <a:spLocks noGrp="1"/>
          </p:cNvSpPr>
          <p:nvPr>
            <p:ph type="title" hasCustomPrompt="1"/>
          </p:nvPr>
        </p:nvSpPr>
        <p:spPr>
          <a:xfrm>
            <a:off x="293255" y="101600"/>
            <a:ext cx="10005290" cy="713004"/>
          </a:xfrm>
          <a:prstGeom prst="rect">
            <a:avLst/>
          </a:prstGeom>
        </p:spPr>
        <p:txBody>
          <a:bodyPr/>
          <a:lstStyle>
            <a:lvl1pPr>
              <a:defRPr>
                <a:solidFill>
                  <a:srgbClr val="144774"/>
                </a:solidFill>
                <a:latin typeface="Arial" panose="020B0604020202020204" pitchFamily="34" charset="0"/>
                <a:cs typeface="Arial" panose="020B0604020202020204" pitchFamily="34" charset="0"/>
              </a:defRPr>
            </a:lvl1pPr>
          </a:lstStyle>
          <a:p>
            <a:r>
              <a:rPr lang="en-US" dirty="0"/>
              <a:t>Header</a:t>
            </a:r>
          </a:p>
        </p:txBody>
      </p:sp>
      <p:sp>
        <p:nvSpPr>
          <p:cNvPr id="8" name="Content Placeholder 2">
            <a:extLst>
              <a:ext uri="{FF2B5EF4-FFF2-40B4-BE49-F238E27FC236}">
                <a16:creationId xmlns:a16="http://schemas.microsoft.com/office/drawing/2014/main" id="{D23F8E95-B97A-4AC0-8C0B-3B552B42CF9F}"/>
              </a:ext>
            </a:extLst>
          </p:cNvPr>
          <p:cNvSpPr>
            <a:spLocks noGrp="1"/>
          </p:cNvSpPr>
          <p:nvPr>
            <p:ph idx="1" hasCustomPrompt="1"/>
          </p:nvPr>
        </p:nvSpPr>
        <p:spPr>
          <a:xfrm>
            <a:off x="293255" y="1253331"/>
            <a:ext cx="10515600" cy="5165942"/>
          </a:xfrm>
          <a:prstGeom prst="rect">
            <a:avLst/>
          </a:prstGeom>
        </p:spPr>
        <p:txBody>
          <a:bodyPr/>
          <a:lstStyle>
            <a:lvl1pPr>
              <a:buFontTx/>
              <a:buBlip>
                <a:blip r:embed="rId2"/>
              </a:buBlip>
              <a:defRPr>
                <a:latin typeface="Arial" panose="020B0604020202020204" pitchFamily="34" charset="0"/>
                <a:cs typeface="Arial" panose="020B0604020202020204" pitchFamily="34" charset="0"/>
              </a:defRPr>
            </a:lvl1pPr>
            <a:lvl2pPr>
              <a:buFontTx/>
              <a:buBlip>
                <a:blip r:embed="rId3"/>
              </a:buBlip>
              <a:defRPr>
                <a:latin typeface="Arial" panose="020B0604020202020204" pitchFamily="34" charset="0"/>
                <a:cs typeface="Arial" panose="020B0604020202020204" pitchFamily="34" charset="0"/>
              </a:defRPr>
            </a:lvl2pPr>
            <a:lvl3pPr>
              <a:buFontTx/>
              <a:buBlip>
                <a:blip r:embed="rId3"/>
              </a:buBlip>
              <a:defRPr>
                <a:latin typeface="Arial" panose="020B0604020202020204" pitchFamily="34" charset="0"/>
                <a:cs typeface="Arial" panose="020B0604020202020204" pitchFamily="34" charset="0"/>
              </a:defRPr>
            </a:lvl3pPr>
            <a:lvl4pPr>
              <a:buFontTx/>
              <a:buBlip>
                <a:blip r:embed="rId3"/>
              </a:buBlip>
              <a:defRPr>
                <a:latin typeface="Arial" panose="020B0604020202020204" pitchFamily="34" charset="0"/>
                <a:cs typeface="Arial" panose="020B0604020202020204" pitchFamily="34" charset="0"/>
              </a:defRPr>
            </a:lvl4pPr>
            <a:lvl5pPr>
              <a:buFontTx/>
              <a:buBlip>
                <a:blip r:embed="rId3"/>
              </a:buBlip>
              <a:defRPr>
                <a:latin typeface="Arial" panose="020B0604020202020204" pitchFamily="34" charset="0"/>
                <a:cs typeface="Arial" panose="020B0604020202020204" pitchFamily="34" charset="0"/>
              </a:defRPr>
            </a:lvl5pPr>
          </a:lstStyle>
          <a:p>
            <a:pPr lvl="0"/>
            <a:r>
              <a:rPr lang="en-US" dirty="0"/>
              <a:t> Click to edit Master text styles</a:t>
            </a:r>
          </a:p>
          <a:p>
            <a:pPr lvl="1"/>
            <a:r>
              <a:rPr lang="en-US" dirty="0"/>
              <a:t> Second level</a:t>
            </a:r>
          </a:p>
          <a:p>
            <a:pPr lvl="2"/>
            <a:r>
              <a:rPr lang="en-US" dirty="0"/>
              <a:t>Third level</a:t>
            </a:r>
          </a:p>
          <a:p>
            <a:pPr lvl="3"/>
            <a:r>
              <a:rPr lang="en-US" dirty="0"/>
              <a:t>Fourth level</a:t>
            </a:r>
          </a:p>
          <a:p>
            <a:pPr lvl="4"/>
            <a:r>
              <a:rPr lang="en-US" dirty="0"/>
              <a:t>Fifth level</a:t>
            </a:r>
          </a:p>
        </p:txBody>
      </p:sp>
      <p:sp>
        <p:nvSpPr>
          <p:cNvPr id="9" name="Slide Number Placeholder 5">
            <a:extLst>
              <a:ext uri="{FF2B5EF4-FFF2-40B4-BE49-F238E27FC236}">
                <a16:creationId xmlns:a16="http://schemas.microsoft.com/office/drawing/2014/main" id="{5048AA40-A3C7-423C-BD19-2330F4E29575}"/>
              </a:ext>
            </a:extLst>
          </p:cNvPr>
          <p:cNvSpPr>
            <a:spLocks noGrp="1"/>
          </p:cNvSpPr>
          <p:nvPr>
            <p:ph type="sldNum" sz="quarter" idx="12"/>
          </p:nvPr>
        </p:nvSpPr>
        <p:spPr>
          <a:xfrm>
            <a:off x="11499271" y="6310312"/>
            <a:ext cx="519545" cy="365125"/>
          </a:xfrm>
          <a:prstGeom prst="rect">
            <a:avLst/>
          </a:prstGeom>
        </p:spPr>
        <p:txBody>
          <a:bodyPr/>
          <a:lstStyle>
            <a:lvl1pPr algn="ctr">
              <a:defRPr sz="1800" b="1">
                <a:solidFill>
                  <a:srgbClr val="144774"/>
                </a:solidFill>
              </a:defRPr>
            </a:lvl1pPr>
          </a:lstStyle>
          <a:p>
            <a:pPr algn="ctr"/>
            <a:fld id="{1478D195-628D-428E-B98B-35B3E9B486B6}" type="slidenum">
              <a:rPr lang="en-US" smtClean="0"/>
              <a:pPr/>
              <a:t>‹#›</a:t>
            </a:fld>
            <a:endParaRPr lang="en-US"/>
          </a:p>
        </p:txBody>
      </p:sp>
      <p:pic>
        <p:nvPicPr>
          <p:cNvPr id="10" name="Picture 9">
            <a:extLst>
              <a:ext uri="{FF2B5EF4-FFF2-40B4-BE49-F238E27FC236}">
                <a16:creationId xmlns:a16="http://schemas.microsoft.com/office/drawing/2014/main" id="{C02242D5-3299-4585-8B81-2A99F8079DDA}"/>
              </a:ext>
            </a:extLst>
          </p:cNvPr>
          <p:cNvPicPr>
            <a:picLocks noChangeAspect="1"/>
          </p:cNvPicPr>
          <p:nvPr userDrawn="1"/>
        </p:nvPicPr>
        <p:blipFill>
          <a:blip r:embed="rId4">
            <a:alphaModFix amt="25000"/>
          </a:blip>
          <a:stretch>
            <a:fillRect/>
          </a:stretch>
        </p:blipFill>
        <p:spPr>
          <a:xfrm>
            <a:off x="10882860" y="-11158"/>
            <a:ext cx="1260786" cy="604282"/>
          </a:xfrm>
          <a:prstGeom prst="rect">
            <a:avLst/>
          </a:prstGeom>
        </p:spPr>
      </p:pic>
      <p:pic>
        <p:nvPicPr>
          <p:cNvPr id="11" name="Picture 10">
            <a:extLst>
              <a:ext uri="{FF2B5EF4-FFF2-40B4-BE49-F238E27FC236}">
                <a16:creationId xmlns:a16="http://schemas.microsoft.com/office/drawing/2014/main" id="{F6DBA938-527A-4507-A06E-4BCFE539BFF5}"/>
              </a:ext>
            </a:extLst>
          </p:cNvPr>
          <p:cNvPicPr>
            <a:picLocks noChangeAspect="1"/>
          </p:cNvPicPr>
          <p:nvPr userDrawn="1"/>
        </p:nvPicPr>
        <p:blipFill>
          <a:blip r:embed="rId5">
            <a:alphaModFix amt="25000"/>
          </a:blip>
          <a:stretch>
            <a:fillRect/>
          </a:stretch>
        </p:blipFill>
        <p:spPr>
          <a:xfrm>
            <a:off x="10200706" y="5324475"/>
            <a:ext cx="1991294" cy="1533525"/>
          </a:xfrm>
          <a:prstGeom prst="rect">
            <a:avLst/>
          </a:prstGeom>
        </p:spPr>
      </p:pic>
      <p:pic>
        <p:nvPicPr>
          <p:cNvPr id="2" name="Picture 1">
            <a:extLst>
              <a:ext uri="{FF2B5EF4-FFF2-40B4-BE49-F238E27FC236}">
                <a16:creationId xmlns:a16="http://schemas.microsoft.com/office/drawing/2014/main" id="{C185AA2B-63EF-4C9D-9C7A-089871CFA7C1}"/>
              </a:ext>
            </a:extLst>
          </p:cNvPr>
          <p:cNvPicPr>
            <a:picLocks noChangeAspect="1"/>
          </p:cNvPicPr>
          <p:nvPr userDrawn="1"/>
        </p:nvPicPr>
        <p:blipFill>
          <a:blip r:embed="rId6">
            <a:lum bright="70000" contrast="-70000"/>
          </a:blip>
          <a:stretch>
            <a:fillRect/>
          </a:stretch>
        </p:blipFill>
        <p:spPr>
          <a:xfrm>
            <a:off x="10096923" y="79008"/>
            <a:ext cx="872230" cy="447365"/>
          </a:xfrm>
          <a:prstGeom prst="rect">
            <a:avLst/>
          </a:prstGeom>
        </p:spPr>
      </p:pic>
    </p:spTree>
    <p:extLst>
      <p:ext uri="{BB962C8B-B14F-4D97-AF65-F5344CB8AC3E}">
        <p14:creationId xmlns:p14="http://schemas.microsoft.com/office/powerpoint/2010/main" val="1348160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BD20713-9921-4ECD-AAB3-AAEB203CFB56}"/>
              </a:ext>
            </a:extLst>
          </p:cNvPr>
          <p:cNvSpPr>
            <a:spLocks noGrp="1"/>
          </p:cNvSpPr>
          <p:nvPr>
            <p:ph type="title"/>
          </p:nvPr>
        </p:nvSpPr>
        <p:spPr>
          <a:xfrm>
            <a:off x="831850" y="1118613"/>
            <a:ext cx="9023350" cy="2852737"/>
          </a:xfrm>
          <a:prstGeom prst="rect">
            <a:avLst/>
          </a:prstGeom>
        </p:spPr>
        <p:txBody>
          <a:bodyPr anchor="b">
            <a:normAutofit/>
          </a:bodyPr>
          <a:lstStyle>
            <a:lvl1pPr>
              <a:defRPr sz="4800">
                <a:solidFill>
                  <a:srgbClr val="144774"/>
                </a:solidFill>
                <a:latin typeface="Arial" panose="020B0604020202020204" pitchFamily="34" charset="0"/>
                <a:cs typeface="Arial" panose="020B0604020202020204" pitchFamily="34" charset="0"/>
              </a:defRPr>
            </a:lvl1pPr>
          </a:lstStyle>
          <a:p>
            <a:r>
              <a:rPr lang="en-US" dirty="0"/>
              <a:t>Click to edit Master title style</a:t>
            </a:r>
          </a:p>
        </p:txBody>
      </p:sp>
      <p:sp>
        <p:nvSpPr>
          <p:cNvPr id="8" name="Text Placeholder 2">
            <a:extLst>
              <a:ext uri="{FF2B5EF4-FFF2-40B4-BE49-F238E27FC236}">
                <a16:creationId xmlns:a16="http://schemas.microsoft.com/office/drawing/2014/main" id="{6A8D678E-EE38-4EA0-8D15-222FF67BEF6C}"/>
              </a:ext>
            </a:extLst>
          </p:cNvPr>
          <p:cNvSpPr>
            <a:spLocks noGrp="1"/>
          </p:cNvSpPr>
          <p:nvPr>
            <p:ph type="body" idx="1"/>
          </p:nvPr>
        </p:nvSpPr>
        <p:spPr>
          <a:xfrm>
            <a:off x="831850" y="3998338"/>
            <a:ext cx="9023350" cy="1500187"/>
          </a:xfrm>
          <a:prstGeom prst="rect">
            <a:avLst/>
          </a:prstGeom>
        </p:spPr>
        <p:txBody>
          <a:bodyPr/>
          <a:lstStyle>
            <a:lvl1pPr marL="0" indent="0">
              <a:buNone/>
              <a:defRPr sz="2400">
                <a:solidFill>
                  <a:schemeClr val="tx1">
                    <a:tint val="75000"/>
                  </a:schemeClr>
                </a:solidFill>
                <a:latin typeface="Arial" panose="020B0604020202020204" pitchFamily="34" charset="0"/>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pic>
        <p:nvPicPr>
          <p:cNvPr id="9" name="Picture 8">
            <a:extLst>
              <a:ext uri="{FF2B5EF4-FFF2-40B4-BE49-F238E27FC236}">
                <a16:creationId xmlns:a16="http://schemas.microsoft.com/office/drawing/2014/main" id="{3980BCD7-52F8-4A40-A890-8C315A3BB0D0}"/>
              </a:ext>
            </a:extLst>
          </p:cNvPr>
          <p:cNvPicPr>
            <a:picLocks noChangeAspect="1"/>
          </p:cNvPicPr>
          <p:nvPr userDrawn="1"/>
        </p:nvPicPr>
        <p:blipFill rotWithShape="1">
          <a:blip r:embed="rId2"/>
          <a:srcRect l="25491" r="3530"/>
          <a:stretch/>
        </p:blipFill>
        <p:spPr>
          <a:xfrm>
            <a:off x="9722905" y="4179437"/>
            <a:ext cx="2469095" cy="2678563"/>
          </a:xfrm>
          <a:prstGeom prst="rect">
            <a:avLst/>
          </a:prstGeom>
        </p:spPr>
      </p:pic>
      <p:pic>
        <p:nvPicPr>
          <p:cNvPr id="11" name="Picture 10">
            <a:extLst>
              <a:ext uri="{FF2B5EF4-FFF2-40B4-BE49-F238E27FC236}">
                <a16:creationId xmlns:a16="http://schemas.microsoft.com/office/drawing/2014/main" id="{59D41C6F-A532-4F0E-8D1E-ABC77A5E80FE}"/>
              </a:ext>
            </a:extLst>
          </p:cNvPr>
          <p:cNvPicPr>
            <a:picLocks noChangeAspect="1"/>
          </p:cNvPicPr>
          <p:nvPr userDrawn="1"/>
        </p:nvPicPr>
        <p:blipFill>
          <a:blip r:embed="rId3">
            <a:alphaModFix amt="25000"/>
          </a:blip>
          <a:stretch>
            <a:fillRect/>
          </a:stretch>
        </p:blipFill>
        <p:spPr>
          <a:xfrm>
            <a:off x="10882860" y="-11158"/>
            <a:ext cx="1260786" cy="604282"/>
          </a:xfrm>
          <a:prstGeom prst="rect">
            <a:avLst/>
          </a:prstGeom>
        </p:spPr>
      </p:pic>
      <p:pic>
        <p:nvPicPr>
          <p:cNvPr id="12" name="Picture 11">
            <a:extLst>
              <a:ext uri="{FF2B5EF4-FFF2-40B4-BE49-F238E27FC236}">
                <a16:creationId xmlns:a16="http://schemas.microsoft.com/office/drawing/2014/main" id="{60A9607C-463B-44DD-AE03-219882CCC1E5}"/>
              </a:ext>
            </a:extLst>
          </p:cNvPr>
          <p:cNvPicPr>
            <a:picLocks noChangeAspect="1"/>
          </p:cNvPicPr>
          <p:nvPr userDrawn="1"/>
        </p:nvPicPr>
        <p:blipFill>
          <a:blip r:embed="rId4">
            <a:lum bright="70000" contrast="-70000"/>
          </a:blip>
          <a:stretch>
            <a:fillRect/>
          </a:stretch>
        </p:blipFill>
        <p:spPr>
          <a:xfrm>
            <a:off x="10096923" y="79008"/>
            <a:ext cx="872230" cy="447365"/>
          </a:xfrm>
          <a:prstGeom prst="rect">
            <a:avLst/>
          </a:prstGeom>
        </p:spPr>
      </p:pic>
    </p:spTree>
    <p:extLst>
      <p:ext uri="{BB962C8B-B14F-4D97-AF65-F5344CB8AC3E}">
        <p14:creationId xmlns:p14="http://schemas.microsoft.com/office/powerpoint/2010/main" val="1268308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22ED2C62-EC56-48FF-ABDA-7C4EF702E3A7}"/>
              </a:ext>
            </a:extLst>
          </p:cNvPr>
          <p:cNvSpPr>
            <a:spLocks noGrp="1"/>
          </p:cNvSpPr>
          <p:nvPr>
            <p:ph type="body" idx="1"/>
          </p:nvPr>
        </p:nvSpPr>
        <p:spPr>
          <a:xfrm>
            <a:off x="293255" y="960392"/>
            <a:ext cx="5157787" cy="823912"/>
          </a:xfrm>
          <a:prstGeom prst="rect">
            <a:avLst/>
          </a:prstGeom>
        </p:spPr>
        <p:txBody>
          <a:bodyPr anchor="b">
            <a:normAutofit/>
          </a:bodyPr>
          <a:lstStyle>
            <a:lvl1pPr marL="0" indent="0">
              <a:buNone/>
              <a:defRPr sz="20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9" name="Content Placeholder 3">
            <a:extLst>
              <a:ext uri="{FF2B5EF4-FFF2-40B4-BE49-F238E27FC236}">
                <a16:creationId xmlns:a16="http://schemas.microsoft.com/office/drawing/2014/main" id="{00365BEC-0143-474F-9380-73546746321C}"/>
              </a:ext>
            </a:extLst>
          </p:cNvPr>
          <p:cNvSpPr>
            <a:spLocks noGrp="1"/>
          </p:cNvSpPr>
          <p:nvPr>
            <p:ph sz="half" idx="2" hasCustomPrompt="1"/>
          </p:nvPr>
        </p:nvSpPr>
        <p:spPr>
          <a:xfrm>
            <a:off x="293255" y="1784303"/>
            <a:ext cx="5157787" cy="4385587"/>
          </a:xfrm>
          <a:prstGeom prst="rect">
            <a:avLst/>
          </a:prstGeom>
        </p:spPr>
        <p:txBody>
          <a:bodyPr>
            <a:normAutofit/>
          </a:bodyPr>
          <a:lstStyle>
            <a:lvl1pPr>
              <a:buFontTx/>
              <a:buBlip>
                <a:blip r:embed="rId2"/>
              </a:buBlip>
              <a:defRPr sz="2400">
                <a:latin typeface="Arial" panose="020B0604020202020204" pitchFamily="34" charset="0"/>
                <a:cs typeface="Arial" panose="020B0604020202020204" pitchFamily="34" charset="0"/>
              </a:defRPr>
            </a:lvl1pPr>
            <a:lvl2pPr>
              <a:buFontTx/>
              <a:buBlip>
                <a:blip r:embed="rId3"/>
              </a:buBlip>
              <a:defRPr sz="2000">
                <a:latin typeface="Arial" panose="020B0604020202020204" pitchFamily="34" charset="0"/>
                <a:cs typeface="Arial" panose="020B0604020202020204" pitchFamily="34" charset="0"/>
              </a:defRPr>
            </a:lvl2pPr>
            <a:lvl3pPr>
              <a:buFontTx/>
              <a:buBlip>
                <a:blip r:embed="rId3"/>
              </a:buBlip>
              <a:defRPr sz="1800">
                <a:latin typeface="Arial" panose="020B0604020202020204" pitchFamily="34" charset="0"/>
                <a:cs typeface="Arial" panose="020B0604020202020204" pitchFamily="34" charset="0"/>
              </a:defRPr>
            </a:lvl3pPr>
            <a:lvl4pPr>
              <a:buFontTx/>
              <a:buBlip>
                <a:blip r:embed="rId3"/>
              </a:buBlip>
              <a:defRPr sz="1600">
                <a:latin typeface="Arial" panose="020B0604020202020204" pitchFamily="34" charset="0"/>
                <a:cs typeface="Arial" panose="020B0604020202020204" pitchFamily="34" charset="0"/>
              </a:defRPr>
            </a:lvl4pPr>
            <a:lvl5pPr>
              <a:buFontTx/>
              <a:buBlip>
                <a:blip r:embed="rId3"/>
              </a:buBlip>
              <a:defRPr sz="1600">
                <a:latin typeface="Arial" panose="020B0604020202020204" pitchFamily="34" charset="0"/>
                <a:cs typeface="Arial" panose="020B0604020202020204" pitchFamily="34" charset="0"/>
              </a:defRPr>
            </a:lvl5pPr>
          </a:lstStyle>
          <a:p>
            <a:pPr lvl="0"/>
            <a:r>
              <a:rPr lang="en-US" dirty="0"/>
              <a:t> Click to edit Master text styles</a:t>
            </a:r>
          </a:p>
          <a:p>
            <a:pPr lvl="1"/>
            <a:r>
              <a:rPr lang="en-US" dirty="0"/>
              <a:t> 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890FA92-C51A-44BB-8CDD-437878CF64DD}"/>
              </a:ext>
            </a:extLst>
          </p:cNvPr>
          <p:cNvSpPr>
            <a:spLocks noGrp="1"/>
          </p:cNvSpPr>
          <p:nvPr>
            <p:ph type="body" sz="quarter" idx="3"/>
          </p:nvPr>
        </p:nvSpPr>
        <p:spPr>
          <a:xfrm>
            <a:off x="5625667" y="960392"/>
            <a:ext cx="5183188" cy="823912"/>
          </a:xfrm>
          <a:prstGeom prst="rect">
            <a:avLst/>
          </a:prstGeom>
        </p:spPr>
        <p:txBody>
          <a:bodyPr anchor="b"/>
          <a:lstStyle>
            <a:lvl1pPr marL="0" indent="0">
              <a:buNone/>
              <a:defRPr sz="20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806D7006-9B63-4FEC-8BB8-A7ED2B582316}"/>
              </a:ext>
            </a:extLst>
          </p:cNvPr>
          <p:cNvSpPr>
            <a:spLocks noGrp="1"/>
          </p:cNvSpPr>
          <p:nvPr>
            <p:ph sz="quarter" idx="4" hasCustomPrompt="1"/>
          </p:nvPr>
        </p:nvSpPr>
        <p:spPr>
          <a:xfrm>
            <a:off x="5625667" y="1784304"/>
            <a:ext cx="5183188" cy="4364082"/>
          </a:xfrm>
          <a:prstGeom prst="rect">
            <a:avLst/>
          </a:prstGeom>
        </p:spPr>
        <p:txBody>
          <a:bodyPr>
            <a:normAutofit/>
          </a:bodyPr>
          <a:lstStyle>
            <a:lvl1pPr>
              <a:buFontTx/>
              <a:buBlip>
                <a:blip r:embed="rId2"/>
              </a:buBlip>
              <a:defRPr sz="2400">
                <a:latin typeface="Arial" panose="020B0604020202020204" pitchFamily="34" charset="0"/>
                <a:cs typeface="Arial" panose="020B0604020202020204" pitchFamily="34" charset="0"/>
              </a:defRPr>
            </a:lvl1pPr>
            <a:lvl2pPr>
              <a:buFontTx/>
              <a:buBlip>
                <a:blip r:embed="rId3"/>
              </a:buBlip>
              <a:defRPr sz="2000">
                <a:latin typeface="Arial" panose="020B0604020202020204" pitchFamily="34" charset="0"/>
                <a:cs typeface="Arial" panose="020B0604020202020204" pitchFamily="34" charset="0"/>
              </a:defRPr>
            </a:lvl2pPr>
            <a:lvl3pPr>
              <a:buFontTx/>
              <a:buBlip>
                <a:blip r:embed="rId3"/>
              </a:buBlip>
              <a:defRPr sz="1800">
                <a:latin typeface="Arial" panose="020B0604020202020204" pitchFamily="34" charset="0"/>
                <a:cs typeface="Arial" panose="020B0604020202020204" pitchFamily="34" charset="0"/>
              </a:defRPr>
            </a:lvl3pPr>
            <a:lvl4pPr>
              <a:buFontTx/>
              <a:buBlip>
                <a:blip r:embed="rId3"/>
              </a:buBlip>
              <a:defRPr sz="1600">
                <a:latin typeface="Arial" panose="020B0604020202020204" pitchFamily="34" charset="0"/>
                <a:cs typeface="Arial" panose="020B0604020202020204" pitchFamily="34" charset="0"/>
              </a:defRPr>
            </a:lvl4pPr>
            <a:lvl5pPr>
              <a:buFontTx/>
              <a:buBlip>
                <a:blip r:embed="rId3"/>
              </a:buBlip>
              <a:defRPr sz="1600">
                <a:latin typeface="Arial" panose="020B0604020202020204" pitchFamily="34" charset="0"/>
                <a:cs typeface="Arial" panose="020B0604020202020204" pitchFamily="34" charset="0"/>
              </a:defRPr>
            </a:lvl5pPr>
          </a:lstStyle>
          <a:p>
            <a:pPr lvl="0"/>
            <a:r>
              <a:rPr lang="en-US" dirty="0"/>
              <a:t> Click to edit Master text styles</a:t>
            </a:r>
          </a:p>
          <a:p>
            <a:pPr lvl="1"/>
            <a:r>
              <a:rPr lang="en-US" dirty="0"/>
              <a:t> Second level</a:t>
            </a:r>
          </a:p>
          <a:p>
            <a:pPr lvl="2"/>
            <a:r>
              <a:rPr lang="en-US" dirty="0"/>
              <a:t>Third level</a:t>
            </a:r>
          </a:p>
          <a:p>
            <a:pPr lvl="3"/>
            <a:r>
              <a:rPr lang="en-US" dirty="0"/>
              <a:t>Fourth level</a:t>
            </a:r>
          </a:p>
          <a:p>
            <a:pPr lvl="4"/>
            <a:r>
              <a:rPr lang="en-US" dirty="0"/>
              <a:t>Fifth level</a:t>
            </a:r>
          </a:p>
        </p:txBody>
      </p:sp>
      <p:pic>
        <p:nvPicPr>
          <p:cNvPr id="13" name="Picture 12">
            <a:extLst>
              <a:ext uri="{FF2B5EF4-FFF2-40B4-BE49-F238E27FC236}">
                <a16:creationId xmlns:a16="http://schemas.microsoft.com/office/drawing/2014/main" id="{208A2199-D586-4437-AE1A-A37D5FDA333B}"/>
              </a:ext>
            </a:extLst>
          </p:cNvPr>
          <p:cNvPicPr>
            <a:picLocks noChangeAspect="1"/>
          </p:cNvPicPr>
          <p:nvPr userDrawn="1"/>
        </p:nvPicPr>
        <p:blipFill>
          <a:blip r:embed="rId4">
            <a:alphaModFix amt="25000"/>
          </a:blip>
          <a:stretch>
            <a:fillRect/>
          </a:stretch>
        </p:blipFill>
        <p:spPr>
          <a:xfrm>
            <a:off x="10200706" y="5324474"/>
            <a:ext cx="1991294" cy="1533525"/>
          </a:xfrm>
          <a:prstGeom prst="rect">
            <a:avLst/>
          </a:prstGeom>
        </p:spPr>
      </p:pic>
      <p:sp>
        <p:nvSpPr>
          <p:cNvPr id="14" name="Title 1">
            <a:extLst>
              <a:ext uri="{FF2B5EF4-FFF2-40B4-BE49-F238E27FC236}">
                <a16:creationId xmlns:a16="http://schemas.microsoft.com/office/drawing/2014/main" id="{9730E793-0FB1-49E0-809B-71767F320A37}"/>
              </a:ext>
            </a:extLst>
          </p:cNvPr>
          <p:cNvSpPr>
            <a:spLocks noGrp="1"/>
          </p:cNvSpPr>
          <p:nvPr>
            <p:ph type="title" hasCustomPrompt="1"/>
          </p:nvPr>
        </p:nvSpPr>
        <p:spPr>
          <a:xfrm>
            <a:off x="293255" y="101600"/>
            <a:ext cx="10005290" cy="713004"/>
          </a:xfrm>
          <a:prstGeom prst="rect">
            <a:avLst/>
          </a:prstGeom>
        </p:spPr>
        <p:txBody>
          <a:bodyPr/>
          <a:lstStyle>
            <a:lvl1pPr>
              <a:defRPr>
                <a:solidFill>
                  <a:srgbClr val="144774"/>
                </a:solidFill>
                <a:latin typeface="Arial" panose="020B0604020202020204" pitchFamily="34" charset="0"/>
                <a:cs typeface="Arial" panose="020B0604020202020204" pitchFamily="34" charset="0"/>
              </a:defRPr>
            </a:lvl1pPr>
          </a:lstStyle>
          <a:p>
            <a:r>
              <a:rPr lang="en-US" dirty="0"/>
              <a:t>Header</a:t>
            </a:r>
          </a:p>
        </p:txBody>
      </p:sp>
      <p:sp>
        <p:nvSpPr>
          <p:cNvPr id="15" name="Slide Number Placeholder 5">
            <a:extLst>
              <a:ext uri="{FF2B5EF4-FFF2-40B4-BE49-F238E27FC236}">
                <a16:creationId xmlns:a16="http://schemas.microsoft.com/office/drawing/2014/main" id="{AC0401BA-3D41-496F-8C15-6E015BD71ED0}"/>
              </a:ext>
            </a:extLst>
          </p:cNvPr>
          <p:cNvSpPr>
            <a:spLocks noGrp="1"/>
          </p:cNvSpPr>
          <p:nvPr>
            <p:ph type="sldNum" sz="quarter" idx="12"/>
          </p:nvPr>
        </p:nvSpPr>
        <p:spPr>
          <a:xfrm>
            <a:off x="11499271" y="6310312"/>
            <a:ext cx="519545" cy="365125"/>
          </a:xfrm>
          <a:prstGeom prst="rect">
            <a:avLst/>
          </a:prstGeom>
        </p:spPr>
        <p:txBody>
          <a:bodyPr/>
          <a:lstStyle>
            <a:lvl1pPr algn="ctr">
              <a:defRPr sz="1800" b="1">
                <a:solidFill>
                  <a:srgbClr val="144774"/>
                </a:solidFill>
              </a:defRPr>
            </a:lvl1pPr>
          </a:lstStyle>
          <a:p>
            <a:pPr algn="ctr"/>
            <a:fld id="{1478D195-628D-428E-B98B-35B3E9B486B6}" type="slidenum">
              <a:rPr lang="en-US" smtClean="0"/>
              <a:pPr/>
              <a:t>‹#›</a:t>
            </a:fld>
            <a:endParaRPr lang="en-US"/>
          </a:p>
        </p:txBody>
      </p:sp>
      <p:pic>
        <p:nvPicPr>
          <p:cNvPr id="16" name="Picture 15">
            <a:extLst>
              <a:ext uri="{FF2B5EF4-FFF2-40B4-BE49-F238E27FC236}">
                <a16:creationId xmlns:a16="http://schemas.microsoft.com/office/drawing/2014/main" id="{1213FC43-0E02-4ACB-AD8C-D0CE69959477}"/>
              </a:ext>
            </a:extLst>
          </p:cNvPr>
          <p:cNvPicPr>
            <a:picLocks noChangeAspect="1"/>
          </p:cNvPicPr>
          <p:nvPr userDrawn="1"/>
        </p:nvPicPr>
        <p:blipFill>
          <a:blip r:embed="rId5">
            <a:alphaModFix amt="25000"/>
          </a:blip>
          <a:stretch>
            <a:fillRect/>
          </a:stretch>
        </p:blipFill>
        <p:spPr>
          <a:xfrm>
            <a:off x="10882860" y="-11158"/>
            <a:ext cx="1260786" cy="604282"/>
          </a:xfrm>
          <a:prstGeom prst="rect">
            <a:avLst/>
          </a:prstGeom>
        </p:spPr>
      </p:pic>
      <p:pic>
        <p:nvPicPr>
          <p:cNvPr id="17" name="Picture 16">
            <a:extLst>
              <a:ext uri="{FF2B5EF4-FFF2-40B4-BE49-F238E27FC236}">
                <a16:creationId xmlns:a16="http://schemas.microsoft.com/office/drawing/2014/main" id="{2B4339DD-8FA5-4F0B-8258-7E0F9DB4699C}"/>
              </a:ext>
            </a:extLst>
          </p:cNvPr>
          <p:cNvPicPr>
            <a:picLocks noChangeAspect="1"/>
          </p:cNvPicPr>
          <p:nvPr userDrawn="1"/>
        </p:nvPicPr>
        <p:blipFill>
          <a:blip r:embed="rId6">
            <a:lum bright="70000" contrast="-70000"/>
          </a:blip>
          <a:stretch>
            <a:fillRect/>
          </a:stretch>
        </p:blipFill>
        <p:spPr>
          <a:xfrm>
            <a:off x="10096923" y="79008"/>
            <a:ext cx="872230" cy="447365"/>
          </a:xfrm>
          <a:prstGeom prst="rect">
            <a:avLst/>
          </a:prstGeom>
        </p:spPr>
      </p:pic>
    </p:spTree>
    <p:extLst>
      <p:ext uri="{BB962C8B-B14F-4D97-AF65-F5344CB8AC3E}">
        <p14:creationId xmlns:p14="http://schemas.microsoft.com/office/powerpoint/2010/main" val="1682218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9869D6C5-8AA4-4E19-881A-5D4B946D7C89}"/>
              </a:ext>
            </a:extLst>
          </p:cNvPr>
          <p:cNvSpPr>
            <a:spLocks noGrp="1"/>
          </p:cNvSpPr>
          <p:nvPr>
            <p:ph sz="half" idx="2" hasCustomPrompt="1"/>
          </p:nvPr>
        </p:nvSpPr>
        <p:spPr>
          <a:xfrm>
            <a:off x="293255" y="1025237"/>
            <a:ext cx="5157787" cy="5144654"/>
          </a:xfrm>
          <a:prstGeom prst="rect">
            <a:avLst/>
          </a:prstGeom>
        </p:spPr>
        <p:txBody>
          <a:bodyPr>
            <a:normAutofit/>
          </a:bodyPr>
          <a:lstStyle>
            <a:lvl1pPr>
              <a:buFontTx/>
              <a:buBlip>
                <a:blip r:embed="rId2"/>
              </a:buBlip>
              <a:defRPr sz="2400">
                <a:latin typeface="Arial" panose="020B0604020202020204" pitchFamily="34" charset="0"/>
                <a:cs typeface="Arial" panose="020B0604020202020204" pitchFamily="34" charset="0"/>
              </a:defRPr>
            </a:lvl1pPr>
            <a:lvl2pPr>
              <a:buFontTx/>
              <a:buBlip>
                <a:blip r:embed="rId3"/>
              </a:buBlip>
              <a:defRPr sz="2000">
                <a:latin typeface="Arial" panose="020B0604020202020204" pitchFamily="34" charset="0"/>
                <a:cs typeface="Arial" panose="020B0604020202020204" pitchFamily="34" charset="0"/>
              </a:defRPr>
            </a:lvl2pPr>
            <a:lvl3pPr>
              <a:buFontTx/>
              <a:buBlip>
                <a:blip r:embed="rId3"/>
              </a:buBlip>
              <a:defRPr sz="1800">
                <a:latin typeface="Arial" panose="020B0604020202020204" pitchFamily="34" charset="0"/>
                <a:cs typeface="Arial" panose="020B0604020202020204" pitchFamily="34" charset="0"/>
              </a:defRPr>
            </a:lvl3pPr>
            <a:lvl4pPr>
              <a:buFontTx/>
              <a:buBlip>
                <a:blip r:embed="rId3"/>
              </a:buBlip>
              <a:defRPr sz="1600">
                <a:latin typeface="Arial" panose="020B0604020202020204" pitchFamily="34" charset="0"/>
                <a:cs typeface="Arial" panose="020B0604020202020204" pitchFamily="34" charset="0"/>
              </a:defRPr>
            </a:lvl4pPr>
            <a:lvl5pPr>
              <a:buFontTx/>
              <a:buBlip>
                <a:blip r:embed="rId3"/>
              </a:buBlip>
              <a:defRPr sz="1600">
                <a:latin typeface="Arial" panose="020B0604020202020204" pitchFamily="34" charset="0"/>
                <a:cs typeface="Arial" panose="020B0604020202020204" pitchFamily="34" charset="0"/>
              </a:defRPr>
            </a:lvl5pPr>
          </a:lstStyle>
          <a:p>
            <a:pPr lvl="0"/>
            <a:r>
              <a:rPr lang="en-US" dirty="0"/>
              <a:t> Click to edit Master text styles</a:t>
            </a:r>
          </a:p>
          <a:p>
            <a:pPr lvl="1"/>
            <a:r>
              <a:rPr lang="en-US" dirty="0"/>
              <a:t> Second level</a:t>
            </a:r>
          </a:p>
          <a:p>
            <a:pPr lvl="2"/>
            <a:r>
              <a:rPr lang="en-US" dirty="0"/>
              <a:t>Third level</a:t>
            </a:r>
          </a:p>
          <a:p>
            <a:pPr lvl="3"/>
            <a:r>
              <a:rPr lang="en-US" dirty="0"/>
              <a:t>Fourth level</a:t>
            </a:r>
          </a:p>
          <a:p>
            <a:pPr lvl="4"/>
            <a:r>
              <a:rPr lang="en-US" dirty="0"/>
              <a:t>Fifth level</a:t>
            </a:r>
          </a:p>
        </p:txBody>
      </p:sp>
      <p:sp>
        <p:nvSpPr>
          <p:cNvPr id="13" name="Content Placeholder 5">
            <a:extLst>
              <a:ext uri="{FF2B5EF4-FFF2-40B4-BE49-F238E27FC236}">
                <a16:creationId xmlns:a16="http://schemas.microsoft.com/office/drawing/2014/main" id="{1DCAF0B6-5DBE-46FD-A7D1-5CBB2A9D4738}"/>
              </a:ext>
            </a:extLst>
          </p:cNvPr>
          <p:cNvSpPr>
            <a:spLocks noGrp="1"/>
          </p:cNvSpPr>
          <p:nvPr>
            <p:ph sz="quarter" idx="4" hasCustomPrompt="1"/>
          </p:nvPr>
        </p:nvSpPr>
        <p:spPr>
          <a:xfrm>
            <a:off x="5625667" y="1025237"/>
            <a:ext cx="5183188" cy="5123149"/>
          </a:xfrm>
          <a:prstGeom prst="rect">
            <a:avLst/>
          </a:prstGeom>
        </p:spPr>
        <p:txBody>
          <a:bodyPr>
            <a:normAutofit/>
          </a:bodyPr>
          <a:lstStyle>
            <a:lvl1pPr>
              <a:buFontTx/>
              <a:buBlip>
                <a:blip r:embed="rId2"/>
              </a:buBlip>
              <a:defRPr sz="2400">
                <a:latin typeface="Arial" panose="020B0604020202020204" pitchFamily="34" charset="0"/>
                <a:cs typeface="Arial" panose="020B0604020202020204" pitchFamily="34" charset="0"/>
              </a:defRPr>
            </a:lvl1pPr>
            <a:lvl2pPr>
              <a:buFontTx/>
              <a:buBlip>
                <a:blip r:embed="rId3"/>
              </a:buBlip>
              <a:defRPr sz="2000">
                <a:latin typeface="Arial" panose="020B0604020202020204" pitchFamily="34" charset="0"/>
                <a:cs typeface="Arial" panose="020B0604020202020204" pitchFamily="34" charset="0"/>
              </a:defRPr>
            </a:lvl2pPr>
            <a:lvl3pPr>
              <a:buFontTx/>
              <a:buBlip>
                <a:blip r:embed="rId3"/>
              </a:buBlip>
              <a:defRPr sz="1800">
                <a:latin typeface="Arial" panose="020B0604020202020204" pitchFamily="34" charset="0"/>
                <a:cs typeface="Arial" panose="020B0604020202020204" pitchFamily="34" charset="0"/>
              </a:defRPr>
            </a:lvl3pPr>
            <a:lvl4pPr>
              <a:buFontTx/>
              <a:buBlip>
                <a:blip r:embed="rId3"/>
              </a:buBlip>
              <a:defRPr sz="1600">
                <a:latin typeface="Arial" panose="020B0604020202020204" pitchFamily="34" charset="0"/>
                <a:cs typeface="Arial" panose="020B0604020202020204" pitchFamily="34" charset="0"/>
              </a:defRPr>
            </a:lvl4pPr>
            <a:lvl5pPr>
              <a:buFontTx/>
              <a:buBlip>
                <a:blip r:embed="rId3"/>
              </a:buBlip>
              <a:defRPr sz="1600">
                <a:latin typeface="Arial" panose="020B0604020202020204" pitchFamily="34" charset="0"/>
                <a:cs typeface="Arial" panose="020B0604020202020204" pitchFamily="34" charset="0"/>
              </a:defRPr>
            </a:lvl5pPr>
          </a:lstStyle>
          <a:p>
            <a:pPr lvl="0"/>
            <a:r>
              <a:rPr lang="en-US" dirty="0"/>
              <a:t> Click to edit Master text styles</a:t>
            </a:r>
          </a:p>
          <a:p>
            <a:pPr lvl="1"/>
            <a:r>
              <a:rPr lang="en-US" dirty="0"/>
              <a:t> Second level</a:t>
            </a:r>
          </a:p>
          <a:p>
            <a:pPr lvl="2"/>
            <a:r>
              <a:rPr lang="en-US" dirty="0"/>
              <a:t>Third level</a:t>
            </a:r>
          </a:p>
          <a:p>
            <a:pPr lvl="3"/>
            <a:r>
              <a:rPr lang="en-US" dirty="0"/>
              <a:t>Fourth level</a:t>
            </a:r>
          </a:p>
          <a:p>
            <a:pPr lvl="4"/>
            <a:r>
              <a:rPr lang="en-US" dirty="0"/>
              <a:t>Fifth level</a:t>
            </a:r>
          </a:p>
        </p:txBody>
      </p:sp>
      <p:pic>
        <p:nvPicPr>
          <p:cNvPr id="15" name="Picture 14">
            <a:extLst>
              <a:ext uri="{FF2B5EF4-FFF2-40B4-BE49-F238E27FC236}">
                <a16:creationId xmlns:a16="http://schemas.microsoft.com/office/drawing/2014/main" id="{B905308F-7674-43A4-ABA4-A868831F4A44}"/>
              </a:ext>
            </a:extLst>
          </p:cNvPr>
          <p:cNvPicPr>
            <a:picLocks noChangeAspect="1"/>
          </p:cNvPicPr>
          <p:nvPr userDrawn="1"/>
        </p:nvPicPr>
        <p:blipFill>
          <a:blip r:embed="rId4">
            <a:alphaModFix amt="25000"/>
          </a:blip>
          <a:stretch>
            <a:fillRect/>
          </a:stretch>
        </p:blipFill>
        <p:spPr>
          <a:xfrm>
            <a:off x="10200706" y="5324474"/>
            <a:ext cx="1991294" cy="1533525"/>
          </a:xfrm>
          <a:prstGeom prst="rect">
            <a:avLst/>
          </a:prstGeom>
        </p:spPr>
      </p:pic>
      <p:sp>
        <p:nvSpPr>
          <p:cNvPr id="16" name="Title 1">
            <a:extLst>
              <a:ext uri="{FF2B5EF4-FFF2-40B4-BE49-F238E27FC236}">
                <a16:creationId xmlns:a16="http://schemas.microsoft.com/office/drawing/2014/main" id="{EDB2D64D-63BE-4A05-A8A2-D129B0ED58A1}"/>
              </a:ext>
            </a:extLst>
          </p:cNvPr>
          <p:cNvSpPr>
            <a:spLocks noGrp="1"/>
          </p:cNvSpPr>
          <p:nvPr>
            <p:ph type="title" hasCustomPrompt="1"/>
          </p:nvPr>
        </p:nvSpPr>
        <p:spPr>
          <a:xfrm>
            <a:off x="293255" y="101600"/>
            <a:ext cx="10005290" cy="713004"/>
          </a:xfrm>
          <a:prstGeom prst="rect">
            <a:avLst/>
          </a:prstGeom>
        </p:spPr>
        <p:txBody>
          <a:bodyPr/>
          <a:lstStyle>
            <a:lvl1pPr>
              <a:defRPr>
                <a:solidFill>
                  <a:srgbClr val="144774"/>
                </a:solidFill>
                <a:latin typeface="Arial" panose="020B0604020202020204" pitchFamily="34" charset="0"/>
                <a:cs typeface="Arial" panose="020B0604020202020204" pitchFamily="34" charset="0"/>
              </a:defRPr>
            </a:lvl1pPr>
          </a:lstStyle>
          <a:p>
            <a:r>
              <a:rPr lang="en-US" dirty="0"/>
              <a:t>Header</a:t>
            </a:r>
          </a:p>
        </p:txBody>
      </p:sp>
      <p:sp>
        <p:nvSpPr>
          <p:cNvPr id="17" name="Slide Number Placeholder 5">
            <a:extLst>
              <a:ext uri="{FF2B5EF4-FFF2-40B4-BE49-F238E27FC236}">
                <a16:creationId xmlns:a16="http://schemas.microsoft.com/office/drawing/2014/main" id="{AB0AA8A4-B4BC-45C0-B5E8-05559E65A7FC}"/>
              </a:ext>
            </a:extLst>
          </p:cNvPr>
          <p:cNvSpPr>
            <a:spLocks noGrp="1"/>
          </p:cNvSpPr>
          <p:nvPr>
            <p:ph type="sldNum" sz="quarter" idx="12"/>
          </p:nvPr>
        </p:nvSpPr>
        <p:spPr>
          <a:xfrm>
            <a:off x="11499271" y="6310312"/>
            <a:ext cx="519545" cy="365125"/>
          </a:xfrm>
          <a:prstGeom prst="rect">
            <a:avLst/>
          </a:prstGeom>
        </p:spPr>
        <p:txBody>
          <a:bodyPr/>
          <a:lstStyle>
            <a:lvl1pPr algn="ctr">
              <a:defRPr sz="1800" b="1">
                <a:solidFill>
                  <a:srgbClr val="144774"/>
                </a:solidFill>
              </a:defRPr>
            </a:lvl1pPr>
          </a:lstStyle>
          <a:p>
            <a:pPr algn="ctr"/>
            <a:fld id="{1478D195-628D-428E-B98B-35B3E9B486B6}" type="slidenum">
              <a:rPr lang="en-US" smtClean="0"/>
              <a:pPr/>
              <a:t>‹#›</a:t>
            </a:fld>
            <a:endParaRPr lang="en-US"/>
          </a:p>
        </p:txBody>
      </p:sp>
      <p:pic>
        <p:nvPicPr>
          <p:cNvPr id="8" name="Picture 7">
            <a:extLst>
              <a:ext uri="{FF2B5EF4-FFF2-40B4-BE49-F238E27FC236}">
                <a16:creationId xmlns:a16="http://schemas.microsoft.com/office/drawing/2014/main" id="{6ABC14F5-A342-49CB-B959-A6DC413DEB40}"/>
              </a:ext>
            </a:extLst>
          </p:cNvPr>
          <p:cNvPicPr>
            <a:picLocks noChangeAspect="1"/>
          </p:cNvPicPr>
          <p:nvPr userDrawn="1"/>
        </p:nvPicPr>
        <p:blipFill>
          <a:blip r:embed="rId5">
            <a:alphaModFix amt="25000"/>
          </a:blip>
          <a:stretch>
            <a:fillRect/>
          </a:stretch>
        </p:blipFill>
        <p:spPr>
          <a:xfrm>
            <a:off x="10882860" y="-11158"/>
            <a:ext cx="1260786" cy="604282"/>
          </a:xfrm>
          <a:prstGeom prst="rect">
            <a:avLst/>
          </a:prstGeom>
        </p:spPr>
      </p:pic>
      <p:pic>
        <p:nvPicPr>
          <p:cNvPr id="9" name="Picture 8">
            <a:extLst>
              <a:ext uri="{FF2B5EF4-FFF2-40B4-BE49-F238E27FC236}">
                <a16:creationId xmlns:a16="http://schemas.microsoft.com/office/drawing/2014/main" id="{E77C5FAC-D766-450E-8068-B0529A43506F}"/>
              </a:ext>
            </a:extLst>
          </p:cNvPr>
          <p:cNvPicPr>
            <a:picLocks noChangeAspect="1"/>
          </p:cNvPicPr>
          <p:nvPr userDrawn="1"/>
        </p:nvPicPr>
        <p:blipFill>
          <a:blip r:embed="rId6">
            <a:lum bright="70000" contrast="-70000"/>
          </a:blip>
          <a:stretch>
            <a:fillRect/>
          </a:stretch>
        </p:blipFill>
        <p:spPr>
          <a:xfrm>
            <a:off x="10096923" y="79008"/>
            <a:ext cx="872230" cy="447365"/>
          </a:xfrm>
          <a:prstGeom prst="rect">
            <a:avLst/>
          </a:prstGeom>
        </p:spPr>
      </p:pic>
    </p:spTree>
    <p:extLst>
      <p:ext uri="{BB962C8B-B14F-4D97-AF65-F5344CB8AC3E}">
        <p14:creationId xmlns:p14="http://schemas.microsoft.com/office/powerpoint/2010/main" val="1292209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CCA3746D-11D3-4B67-9D9B-EFEC4F26F774}"/>
              </a:ext>
            </a:extLst>
          </p:cNvPr>
          <p:cNvSpPr>
            <a:spLocks noGrp="1"/>
          </p:cNvSpPr>
          <p:nvPr>
            <p:ph type="sldNum" sz="quarter" idx="12"/>
          </p:nvPr>
        </p:nvSpPr>
        <p:spPr>
          <a:xfrm>
            <a:off x="11499271" y="6310312"/>
            <a:ext cx="519545" cy="365125"/>
          </a:xfrm>
          <a:prstGeom prst="rect">
            <a:avLst/>
          </a:prstGeom>
        </p:spPr>
        <p:txBody>
          <a:bodyPr/>
          <a:lstStyle>
            <a:lvl1pPr algn="ctr">
              <a:defRPr sz="1800" b="1">
                <a:solidFill>
                  <a:srgbClr val="144774"/>
                </a:solidFill>
              </a:defRPr>
            </a:lvl1pPr>
          </a:lstStyle>
          <a:p>
            <a:pPr algn="ctr"/>
            <a:fld id="{1478D195-628D-428E-B98B-35B3E9B486B6}" type="slidenum">
              <a:rPr lang="en-US" smtClean="0"/>
              <a:pPr/>
              <a:t>‹#›</a:t>
            </a:fld>
            <a:endParaRPr lang="en-US"/>
          </a:p>
        </p:txBody>
      </p:sp>
      <p:sp>
        <p:nvSpPr>
          <p:cNvPr id="11" name="Title 1">
            <a:extLst>
              <a:ext uri="{FF2B5EF4-FFF2-40B4-BE49-F238E27FC236}">
                <a16:creationId xmlns:a16="http://schemas.microsoft.com/office/drawing/2014/main" id="{72083141-C065-41F5-AB23-11C1726E4F7A}"/>
              </a:ext>
            </a:extLst>
          </p:cNvPr>
          <p:cNvSpPr>
            <a:spLocks noGrp="1"/>
          </p:cNvSpPr>
          <p:nvPr>
            <p:ph type="title" hasCustomPrompt="1"/>
          </p:nvPr>
        </p:nvSpPr>
        <p:spPr>
          <a:xfrm>
            <a:off x="293255" y="101600"/>
            <a:ext cx="10005290" cy="713004"/>
          </a:xfrm>
          <a:prstGeom prst="rect">
            <a:avLst/>
          </a:prstGeom>
        </p:spPr>
        <p:txBody>
          <a:bodyPr/>
          <a:lstStyle>
            <a:lvl1pPr>
              <a:defRPr>
                <a:solidFill>
                  <a:srgbClr val="144774"/>
                </a:solidFill>
                <a:latin typeface="Arial" panose="020B0604020202020204" pitchFamily="34" charset="0"/>
                <a:cs typeface="Arial" panose="020B0604020202020204" pitchFamily="34" charset="0"/>
              </a:defRPr>
            </a:lvl1pPr>
          </a:lstStyle>
          <a:p>
            <a:r>
              <a:rPr lang="en-US" dirty="0"/>
              <a:t>Header</a:t>
            </a:r>
          </a:p>
        </p:txBody>
      </p:sp>
      <p:pic>
        <p:nvPicPr>
          <p:cNvPr id="12" name="Picture 11">
            <a:extLst>
              <a:ext uri="{FF2B5EF4-FFF2-40B4-BE49-F238E27FC236}">
                <a16:creationId xmlns:a16="http://schemas.microsoft.com/office/drawing/2014/main" id="{1A211BED-874F-4181-ABEE-6C2AFF4167C1}"/>
              </a:ext>
            </a:extLst>
          </p:cNvPr>
          <p:cNvPicPr>
            <a:picLocks noChangeAspect="1"/>
          </p:cNvPicPr>
          <p:nvPr userDrawn="1"/>
        </p:nvPicPr>
        <p:blipFill>
          <a:blip r:embed="rId2">
            <a:alphaModFix amt="25000"/>
          </a:blip>
          <a:stretch>
            <a:fillRect/>
          </a:stretch>
        </p:blipFill>
        <p:spPr>
          <a:xfrm>
            <a:off x="10200706" y="5324474"/>
            <a:ext cx="1991294" cy="1533525"/>
          </a:xfrm>
          <a:prstGeom prst="rect">
            <a:avLst/>
          </a:prstGeom>
        </p:spPr>
      </p:pic>
      <p:pic>
        <p:nvPicPr>
          <p:cNvPr id="6" name="Picture 5">
            <a:extLst>
              <a:ext uri="{FF2B5EF4-FFF2-40B4-BE49-F238E27FC236}">
                <a16:creationId xmlns:a16="http://schemas.microsoft.com/office/drawing/2014/main" id="{915D7840-AE45-4497-B9D5-EC689A3F1B9C}"/>
              </a:ext>
            </a:extLst>
          </p:cNvPr>
          <p:cNvPicPr>
            <a:picLocks noChangeAspect="1"/>
          </p:cNvPicPr>
          <p:nvPr userDrawn="1"/>
        </p:nvPicPr>
        <p:blipFill>
          <a:blip r:embed="rId3">
            <a:alphaModFix amt="25000"/>
          </a:blip>
          <a:stretch>
            <a:fillRect/>
          </a:stretch>
        </p:blipFill>
        <p:spPr>
          <a:xfrm>
            <a:off x="10882860" y="-11158"/>
            <a:ext cx="1260786" cy="604282"/>
          </a:xfrm>
          <a:prstGeom prst="rect">
            <a:avLst/>
          </a:prstGeom>
        </p:spPr>
      </p:pic>
      <p:pic>
        <p:nvPicPr>
          <p:cNvPr id="7" name="Picture 6">
            <a:extLst>
              <a:ext uri="{FF2B5EF4-FFF2-40B4-BE49-F238E27FC236}">
                <a16:creationId xmlns:a16="http://schemas.microsoft.com/office/drawing/2014/main" id="{9AE1D8C1-3035-422D-82A2-8D71A86A75D9}"/>
              </a:ext>
            </a:extLst>
          </p:cNvPr>
          <p:cNvPicPr>
            <a:picLocks noChangeAspect="1"/>
          </p:cNvPicPr>
          <p:nvPr userDrawn="1"/>
        </p:nvPicPr>
        <p:blipFill>
          <a:blip r:embed="rId4">
            <a:lum bright="70000" contrast="-70000"/>
          </a:blip>
          <a:stretch>
            <a:fillRect/>
          </a:stretch>
        </p:blipFill>
        <p:spPr>
          <a:xfrm>
            <a:off x="10096923" y="79008"/>
            <a:ext cx="872230" cy="447365"/>
          </a:xfrm>
          <a:prstGeom prst="rect">
            <a:avLst/>
          </a:prstGeom>
        </p:spPr>
      </p:pic>
    </p:spTree>
    <p:extLst>
      <p:ext uri="{BB962C8B-B14F-4D97-AF65-F5344CB8AC3E}">
        <p14:creationId xmlns:p14="http://schemas.microsoft.com/office/powerpoint/2010/main" val="436600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A89CBF-9DB6-46C7-93D8-E0A7E5205D7C}"/>
              </a:ext>
            </a:extLst>
          </p:cNvPr>
          <p:cNvPicPr>
            <a:picLocks noChangeAspect="1"/>
          </p:cNvPicPr>
          <p:nvPr userDrawn="1"/>
        </p:nvPicPr>
        <p:blipFill>
          <a:blip r:embed="rId2">
            <a:alphaModFix amt="25000"/>
          </a:blip>
          <a:stretch>
            <a:fillRect/>
          </a:stretch>
        </p:blipFill>
        <p:spPr>
          <a:xfrm>
            <a:off x="10200706" y="5324474"/>
            <a:ext cx="1991294" cy="1533525"/>
          </a:xfrm>
          <a:prstGeom prst="rect">
            <a:avLst/>
          </a:prstGeom>
        </p:spPr>
      </p:pic>
      <p:sp>
        <p:nvSpPr>
          <p:cNvPr id="6" name="Slide Number Placeholder 5">
            <a:extLst>
              <a:ext uri="{FF2B5EF4-FFF2-40B4-BE49-F238E27FC236}">
                <a16:creationId xmlns:a16="http://schemas.microsoft.com/office/drawing/2014/main" id="{22AF6FF2-31B3-4E23-A1DD-B94CC87878BD}"/>
              </a:ext>
            </a:extLst>
          </p:cNvPr>
          <p:cNvSpPr>
            <a:spLocks noGrp="1"/>
          </p:cNvSpPr>
          <p:nvPr>
            <p:ph type="sldNum" sz="quarter" idx="12"/>
          </p:nvPr>
        </p:nvSpPr>
        <p:spPr>
          <a:xfrm>
            <a:off x="11499271" y="6310312"/>
            <a:ext cx="519545" cy="365125"/>
          </a:xfrm>
          <a:prstGeom prst="rect">
            <a:avLst/>
          </a:prstGeom>
        </p:spPr>
        <p:txBody>
          <a:bodyPr/>
          <a:lstStyle>
            <a:lvl1pPr algn="ctr">
              <a:defRPr sz="1800" b="1">
                <a:solidFill>
                  <a:srgbClr val="144774"/>
                </a:solidFill>
              </a:defRPr>
            </a:lvl1pPr>
          </a:lstStyle>
          <a:p>
            <a:pPr algn="ctr"/>
            <a:fld id="{1478D195-628D-428E-B98B-35B3E9B486B6}" type="slidenum">
              <a:rPr lang="en-US" smtClean="0"/>
              <a:pPr/>
              <a:t>‹#›</a:t>
            </a:fld>
            <a:endParaRPr lang="en-US"/>
          </a:p>
        </p:txBody>
      </p:sp>
    </p:spTree>
    <p:extLst>
      <p:ext uri="{BB962C8B-B14F-4D97-AF65-F5344CB8AC3E}">
        <p14:creationId xmlns:p14="http://schemas.microsoft.com/office/powerpoint/2010/main" val="3668792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A0D3E0-D60B-4C32-9A0C-6ABE5C8AC4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9FFF2F-4D45-420A-B4F9-D8B64298D5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18F8D4-8E73-4B47-936B-073335F3BE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18AC883E-D77D-4DF3-AC14-4B075A7BF9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26B6F39-EBC1-4203-87B4-EF8708BD2A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44C2FF-776D-4A98-9BE5-0BF427ADFA1D}" type="slidenum">
              <a:rPr lang="en-US" smtClean="0"/>
              <a:t>‹#›</a:t>
            </a:fld>
            <a:endParaRPr lang="en-US"/>
          </a:p>
        </p:txBody>
      </p:sp>
    </p:spTree>
    <p:extLst>
      <p:ext uri="{BB962C8B-B14F-4D97-AF65-F5344CB8AC3E}">
        <p14:creationId xmlns:p14="http://schemas.microsoft.com/office/powerpoint/2010/main" val="25710098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8.png"/><Relationship Id="rId7" Type="http://schemas.openxmlformats.org/officeDocument/2006/relationships/diagramQuickStyle" Target="../diagrams/quickStyle3.xml"/><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9.png"/><Relationship Id="rId9" Type="http://schemas.microsoft.com/office/2007/relationships/diagramDrawing" Target="../diagrams/drawing3.xml"/></Relationships>
</file>

<file path=ppt/slides/_rels/slide8.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0.png"/><Relationship Id="rId7" Type="http://schemas.openxmlformats.org/officeDocument/2006/relationships/diagramColors" Target="../diagrams/colors4.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69679-7076-46F2-9D13-58521EA71651}"/>
              </a:ext>
            </a:extLst>
          </p:cNvPr>
          <p:cNvSpPr>
            <a:spLocks noGrp="1"/>
          </p:cNvSpPr>
          <p:nvPr>
            <p:ph type="ctrTitle"/>
          </p:nvPr>
        </p:nvSpPr>
        <p:spPr/>
        <p:txBody>
          <a:bodyPr>
            <a:normAutofit/>
          </a:bodyPr>
          <a:lstStyle/>
          <a:p>
            <a:r>
              <a:rPr lang="en-US" dirty="0"/>
              <a:t>Automated Risk-Scoring System (Framework) for Financial Institutions</a:t>
            </a:r>
          </a:p>
        </p:txBody>
      </p:sp>
      <p:sp>
        <p:nvSpPr>
          <p:cNvPr id="5" name="TextBox 4">
            <a:extLst>
              <a:ext uri="{FF2B5EF4-FFF2-40B4-BE49-F238E27FC236}">
                <a16:creationId xmlns:a16="http://schemas.microsoft.com/office/drawing/2014/main" id="{9B994804-B5DD-4623-A04C-0984E8068C78}"/>
              </a:ext>
            </a:extLst>
          </p:cNvPr>
          <p:cNvSpPr txBox="1"/>
          <p:nvPr/>
        </p:nvSpPr>
        <p:spPr>
          <a:xfrm>
            <a:off x="326571" y="5512841"/>
            <a:ext cx="8537510" cy="719171"/>
          </a:xfrm>
          <a:prstGeom prst="rect">
            <a:avLst/>
          </a:prstGeom>
          <a:noFill/>
        </p:spPr>
        <p:txBody>
          <a:bodyPr wrap="square">
            <a:spAutoFit/>
          </a:body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i="1" dirty="0"/>
              <a:t>Natalja Krjuckova</a:t>
            </a:r>
            <a:r>
              <a:rPr lang="ru-RU" i="1" dirty="0"/>
              <a:t>  </a:t>
            </a:r>
            <a:r>
              <a:rPr lang="en-US" i="1" dirty="0"/>
              <a:t>ST</a:t>
            </a:r>
            <a:r>
              <a:rPr lang="ru-RU" i="1" dirty="0"/>
              <a:t>50446</a:t>
            </a:r>
            <a:endParaRPr lang="en-US" i="1" dirty="0"/>
          </a:p>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i="1" dirty="0"/>
              <a:t>Computer Sciences: Data Analytics and Artificial Intelligence</a:t>
            </a:r>
          </a:p>
        </p:txBody>
      </p:sp>
      <p:sp>
        <p:nvSpPr>
          <p:cNvPr id="6" name="TextBox 5">
            <a:extLst>
              <a:ext uri="{FF2B5EF4-FFF2-40B4-BE49-F238E27FC236}">
                <a16:creationId xmlns:a16="http://schemas.microsoft.com/office/drawing/2014/main" id="{0F171CC8-AAD5-4309-B865-5FD840DE6FCF}"/>
              </a:ext>
            </a:extLst>
          </p:cNvPr>
          <p:cNvSpPr txBox="1"/>
          <p:nvPr/>
        </p:nvSpPr>
        <p:spPr>
          <a:xfrm>
            <a:off x="326571" y="6232012"/>
            <a:ext cx="9237307" cy="341632"/>
          </a:xfrm>
          <a:prstGeom prst="rect">
            <a:avLst/>
          </a:prstGeom>
          <a:noFill/>
        </p:spPr>
        <p:txBody>
          <a:bodyPr wrap="square">
            <a:spAutoFit/>
          </a:body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i="1" dirty="0"/>
              <a:t>Supervisor</a:t>
            </a:r>
            <a:r>
              <a:rPr lang="en-GB" dirty="0"/>
              <a:t>: </a:t>
            </a:r>
            <a:r>
              <a:rPr lang="en-GB" i="1" dirty="0" err="1"/>
              <a:t>Dr.Sc.Eng</a:t>
            </a:r>
            <a:r>
              <a:rPr lang="en-GB" i="1" dirty="0"/>
              <a:t>. </a:t>
            </a:r>
            <a:r>
              <a:rPr lang="en-GB" i="1" dirty="0" err="1"/>
              <a:t>Nadezda</a:t>
            </a:r>
            <a:r>
              <a:rPr lang="en-GB" i="1" dirty="0"/>
              <a:t> </a:t>
            </a:r>
            <a:r>
              <a:rPr lang="en-GB" i="1" dirty="0" err="1"/>
              <a:t>Spiridovska</a:t>
            </a:r>
            <a:r>
              <a:rPr lang="en-GB" i="1" dirty="0"/>
              <a:t>, </a:t>
            </a:r>
            <a:r>
              <a:rPr lang="en-GB" i="1" dirty="0" err="1"/>
              <a:t>Dr.Sc.Eng</a:t>
            </a:r>
            <a:r>
              <a:rPr lang="en-GB" i="1" dirty="0"/>
              <a:t>. Jelena </a:t>
            </a:r>
            <a:r>
              <a:rPr lang="en-GB" i="1" dirty="0" err="1"/>
              <a:t>Kijonoka</a:t>
            </a:r>
            <a:r>
              <a:rPr lang="en-GB" i="1" dirty="0"/>
              <a:t>. </a:t>
            </a:r>
          </a:p>
        </p:txBody>
      </p:sp>
    </p:spTree>
    <p:extLst>
      <p:ext uri="{BB962C8B-B14F-4D97-AF65-F5344CB8AC3E}">
        <p14:creationId xmlns:p14="http://schemas.microsoft.com/office/powerpoint/2010/main" val="875274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E583E7-4C12-4978-B744-44A2CD79D19A}"/>
              </a:ext>
            </a:extLst>
          </p:cNvPr>
          <p:cNvSpPr>
            <a:spLocks noGrp="1"/>
          </p:cNvSpPr>
          <p:nvPr>
            <p:ph type="title"/>
          </p:nvPr>
        </p:nvSpPr>
        <p:spPr/>
        <p:txBody>
          <a:bodyPr/>
          <a:lstStyle/>
          <a:p>
            <a:r>
              <a:rPr lang="en-US" dirty="0"/>
              <a:t>Problem Statement</a:t>
            </a:r>
          </a:p>
        </p:txBody>
      </p:sp>
      <p:sp>
        <p:nvSpPr>
          <p:cNvPr id="4" name="Slide Number Placeholder 3">
            <a:extLst>
              <a:ext uri="{FF2B5EF4-FFF2-40B4-BE49-F238E27FC236}">
                <a16:creationId xmlns:a16="http://schemas.microsoft.com/office/drawing/2014/main" id="{D974AA58-FCF6-4E97-81C0-E5F169F4ED01}"/>
              </a:ext>
            </a:extLst>
          </p:cNvPr>
          <p:cNvSpPr>
            <a:spLocks noGrp="1"/>
          </p:cNvSpPr>
          <p:nvPr>
            <p:ph type="sldNum" sz="quarter" idx="12"/>
          </p:nvPr>
        </p:nvSpPr>
        <p:spPr/>
        <p:txBody>
          <a:bodyPr/>
          <a:lstStyle/>
          <a:p>
            <a:pPr algn="ctr"/>
            <a:fld id="{1478D195-628D-428E-B98B-35B3E9B486B6}" type="slidenum">
              <a:rPr lang="en-US" smtClean="0"/>
              <a:pPr algn="ctr"/>
              <a:t>2</a:t>
            </a:fld>
            <a:endParaRPr lang="en-US"/>
          </a:p>
        </p:txBody>
      </p:sp>
      <p:grpSp>
        <p:nvGrpSpPr>
          <p:cNvPr id="21" name="Group 20">
            <a:extLst>
              <a:ext uri="{FF2B5EF4-FFF2-40B4-BE49-F238E27FC236}">
                <a16:creationId xmlns:a16="http://schemas.microsoft.com/office/drawing/2014/main" id="{B71C4A6D-5027-4683-A767-BAFF1398A5C6}"/>
              </a:ext>
            </a:extLst>
          </p:cNvPr>
          <p:cNvGrpSpPr/>
          <p:nvPr/>
        </p:nvGrpSpPr>
        <p:grpSpPr>
          <a:xfrm>
            <a:off x="599440" y="747654"/>
            <a:ext cx="10327198" cy="4019898"/>
            <a:chOff x="301748" y="1373826"/>
            <a:chExt cx="10499477" cy="4339379"/>
          </a:xfrm>
        </p:grpSpPr>
        <p:grpSp>
          <p:nvGrpSpPr>
            <p:cNvPr id="3" name="Group 2">
              <a:extLst>
                <a:ext uri="{FF2B5EF4-FFF2-40B4-BE49-F238E27FC236}">
                  <a16:creationId xmlns:a16="http://schemas.microsoft.com/office/drawing/2014/main" id="{D3C00399-FF58-44DC-886D-8E93F7DB4DEA}"/>
                </a:ext>
              </a:extLst>
            </p:cNvPr>
            <p:cNvGrpSpPr/>
            <p:nvPr/>
          </p:nvGrpSpPr>
          <p:grpSpPr>
            <a:xfrm>
              <a:off x="301748" y="1373826"/>
              <a:ext cx="10499477" cy="4339379"/>
              <a:chOff x="301749" y="1288101"/>
              <a:chExt cx="10499477" cy="4339379"/>
            </a:xfrm>
          </p:grpSpPr>
          <p:sp>
            <p:nvSpPr>
              <p:cNvPr id="7" name="Freeform: Shape 6">
                <a:extLst>
                  <a:ext uri="{FF2B5EF4-FFF2-40B4-BE49-F238E27FC236}">
                    <a16:creationId xmlns:a16="http://schemas.microsoft.com/office/drawing/2014/main" id="{EB89B61E-2C0D-4ADE-AE72-7018E556EC52}"/>
                  </a:ext>
                </a:extLst>
              </p:cNvPr>
              <p:cNvSpPr/>
              <p:nvPr/>
            </p:nvSpPr>
            <p:spPr>
              <a:xfrm>
                <a:off x="3334480" y="2152741"/>
                <a:ext cx="667342" cy="91440"/>
              </a:xfrm>
              <a:custGeom>
                <a:avLst/>
                <a:gdLst>
                  <a:gd name="connsiteX0" fmla="*/ 0 w 667342"/>
                  <a:gd name="connsiteY0" fmla="*/ 45720 h 91440"/>
                  <a:gd name="connsiteX1" fmla="*/ 667342 w 667342"/>
                  <a:gd name="connsiteY1" fmla="*/ 45720 h 91440"/>
                </a:gdLst>
                <a:ahLst/>
                <a:cxnLst>
                  <a:cxn ang="0">
                    <a:pos x="connsiteX0" y="connsiteY0"/>
                  </a:cxn>
                  <a:cxn ang="0">
                    <a:pos x="connsiteX1" y="connsiteY1"/>
                  </a:cxn>
                </a:cxnLst>
                <a:rect l="l" t="t" r="r" b="b"/>
                <a:pathLst>
                  <a:path w="667342" h="91440">
                    <a:moveTo>
                      <a:pt x="0" y="45720"/>
                    </a:moveTo>
                    <a:lnTo>
                      <a:pt x="667342" y="45720"/>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28922" tIns="42230" rIns="328923" bIns="42231"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p:txBody>
          </p:sp>
          <p:sp>
            <p:nvSpPr>
              <p:cNvPr id="8" name="Freeform: Shape 7">
                <a:extLst>
                  <a:ext uri="{FF2B5EF4-FFF2-40B4-BE49-F238E27FC236}">
                    <a16:creationId xmlns:a16="http://schemas.microsoft.com/office/drawing/2014/main" id="{96808FFA-E5BB-4D79-9B45-08328651D4C2}"/>
                  </a:ext>
                </a:extLst>
              </p:cNvPr>
              <p:cNvSpPr/>
              <p:nvPr/>
            </p:nvSpPr>
            <p:spPr>
              <a:xfrm>
                <a:off x="301749" y="1288101"/>
                <a:ext cx="3034531" cy="1820718"/>
              </a:xfrm>
              <a:custGeom>
                <a:avLst/>
                <a:gdLst>
                  <a:gd name="connsiteX0" fmla="*/ 0 w 3034531"/>
                  <a:gd name="connsiteY0" fmla="*/ 0 h 1820718"/>
                  <a:gd name="connsiteX1" fmla="*/ 3034531 w 3034531"/>
                  <a:gd name="connsiteY1" fmla="*/ 0 h 1820718"/>
                  <a:gd name="connsiteX2" fmla="*/ 3034531 w 3034531"/>
                  <a:gd name="connsiteY2" fmla="*/ 1820718 h 1820718"/>
                  <a:gd name="connsiteX3" fmla="*/ 0 w 3034531"/>
                  <a:gd name="connsiteY3" fmla="*/ 1820718 h 1820718"/>
                  <a:gd name="connsiteX4" fmla="*/ 0 w 3034531"/>
                  <a:gd name="connsiteY4" fmla="*/ 0 h 1820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4531" h="1820718">
                    <a:moveTo>
                      <a:pt x="0" y="0"/>
                    </a:moveTo>
                    <a:lnTo>
                      <a:pt x="3034531" y="0"/>
                    </a:lnTo>
                    <a:lnTo>
                      <a:pt x="3034531" y="1820718"/>
                    </a:lnTo>
                    <a:lnTo>
                      <a:pt x="0" y="1820718"/>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latin typeface="Arial" panose="020B0604020202020204" pitchFamily="34" charset="0"/>
                    <a:cs typeface="Arial" panose="020B0604020202020204" pitchFamily="34" charset="0"/>
                  </a:rPr>
                  <a:t>Payment flows</a:t>
                </a:r>
                <a:endParaRPr lang="en-US" sz="2100" kern="1200" dirty="0">
                  <a:latin typeface="Arial" panose="020B0604020202020204" pitchFamily="34" charset="0"/>
                  <a:cs typeface="Arial" panose="020B0604020202020204" pitchFamily="34" charset="0"/>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WIRE • SEPA • SWIFT</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Cash deposit/withdrawal</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Currency exchange</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Daily high volume</a:t>
                </a:r>
              </a:p>
            </p:txBody>
          </p:sp>
          <p:sp>
            <p:nvSpPr>
              <p:cNvPr id="9" name="Freeform: Shape 8">
                <a:extLst>
                  <a:ext uri="{FF2B5EF4-FFF2-40B4-BE49-F238E27FC236}">
                    <a16:creationId xmlns:a16="http://schemas.microsoft.com/office/drawing/2014/main" id="{E0957C26-36A7-44D6-8EDA-B7C887E132E4}"/>
                  </a:ext>
                </a:extLst>
              </p:cNvPr>
              <p:cNvSpPr/>
              <p:nvPr/>
            </p:nvSpPr>
            <p:spPr>
              <a:xfrm>
                <a:off x="7066953" y="2152741"/>
                <a:ext cx="667342" cy="91440"/>
              </a:xfrm>
              <a:custGeom>
                <a:avLst/>
                <a:gdLst>
                  <a:gd name="connsiteX0" fmla="*/ 0 w 667342"/>
                  <a:gd name="connsiteY0" fmla="*/ 45720 h 91440"/>
                  <a:gd name="connsiteX1" fmla="*/ 667342 w 667342"/>
                  <a:gd name="connsiteY1" fmla="*/ 45720 h 91440"/>
                </a:gdLst>
                <a:ahLst/>
                <a:cxnLst>
                  <a:cxn ang="0">
                    <a:pos x="connsiteX0" y="connsiteY0"/>
                  </a:cxn>
                  <a:cxn ang="0">
                    <a:pos x="connsiteX1" y="connsiteY1"/>
                  </a:cxn>
                </a:cxnLst>
                <a:rect l="l" t="t" r="r" b="b"/>
                <a:pathLst>
                  <a:path w="667342" h="91440">
                    <a:moveTo>
                      <a:pt x="0" y="45720"/>
                    </a:moveTo>
                    <a:lnTo>
                      <a:pt x="667342" y="45720"/>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28923" tIns="42230" rIns="328922" bIns="42231"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p:txBody>
          </p:sp>
          <p:sp>
            <p:nvSpPr>
              <p:cNvPr id="10" name="Freeform: Shape 9">
                <a:extLst>
                  <a:ext uri="{FF2B5EF4-FFF2-40B4-BE49-F238E27FC236}">
                    <a16:creationId xmlns:a16="http://schemas.microsoft.com/office/drawing/2014/main" id="{EC061C71-BAD1-4266-998E-62D144ED53D7}"/>
                  </a:ext>
                </a:extLst>
              </p:cNvPr>
              <p:cNvSpPr/>
              <p:nvPr/>
            </p:nvSpPr>
            <p:spPr>
              <a:xfrm>
                <a:off x="4034222" y="1288101"/>
                <a:ext cx="3034531" cy="1820718"/>
              </a:xfrm>
              <a:custGeom>
                <a:avLst/>
                <a:gdLst>
                  <a:gd name="connsiteX0" fmla="*/ 0 w 3034531"/>
                  <a:gd name="connsiteY0" fmla="*/ 0 h 1820718"/>
                  <a:gd name="connsiteX1" fmla="*/ 3034531 w 3034531"/>
                  <a:gd name="connsiteY1" fmla="*/ 0 h 1820718"/>
                  <a:gd name="connsiteX2" fmla="*/ 3034531 w 3034531"/>
                  <a:gd name="connsiteY2" fmla="*/ 1820718 h 1820718"/>
                  <a:gd name="connsiteX3" fmla="*/ 0 w 3034531"/>
                  <a:gd name="connsiteY3" fmla="*/ 1820718 h 1820718"/>
                  <a:gd name="connsiteX4" fmla="*/ 0 w 3034531"/>
                  <a:gd name="connsiteY4" fmla="*/ 0 h 1820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4531" h="1820718">
                    <a:moveTo>
                      <a:pt x="0" y="0"/>
                    </a:moveTo>
                    <a:lnTo>
                      <a:pt x="3034531" y="0"/>
                    </a:lnTo>
                    <a:lnTo>
                      <a:pt x="3034531" y="1820718"/>
                    </a:lnTo>
                    <a:lnTo>
                      <a:pt x="0" y="1820718"/>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latin typeface="Arial"/>
                    <a:cs typeface="Arial"/>
                  </a:rPr>
                  <a:t>Detection models</a:t>
                </a:r>
                <a:endParaRPr lang="en-US" sz="2100" kern="1200" dirty="0">
                  <a:latin typeface="Arial"/>
                  <a:cs typeface="Aria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Risk scoring / classification</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Rules + ML</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Thresholds &amp; calibration</a:t>
                </a:r>
              </a:p>
            </p:txBody>
          </p:sp>
          <p:sp>
            <p:nvSpPr>
              <p:cNvPr id="12" name="Freeform: Shape 11">
                <a:extLst>
                  <a:ext uri="{FF2B5EF4-FFF2-40B4-BE49-F238E27FC236}">
                    <a16:creationId xmlns:a16="http://schemas.microsoft.com/office/drawing/2014/main" id="{ED2F1BF8-870C-444E-B184-7132135D5EAF}"/>
                  </a:ext>
                </a:extLst>
              </p:cNvPr>
              <p:cNvSpPr/>
              <p:nvPr/>
            </p:nvSpPr>
            <p:spPr>
              <a:xfrm>
                <a:off x="7766695" y="1288101"/>
                <a:ext cx="3034531" cy="1820718"/>
              </a:xfrm>
              <a:custGeom>
                <a:avLst/>
                <a:gdLst>
                  <a:gd name="connsiteX0" fmla="*/ 0 w 3034531"/>
                  <a:gd name="connsiteY0" fmla="*/ 0 h 1820718"/>
                  <a:gd name="connsiteX1" fmla="*/ 3034531 w 3034531"/>
                  <a:gd name="connsiteY1" fmla="*/ 0 h 1820718"/>
                  <a:gd name="connsiteX2" fmla="*/ 3034531 w 3034531"/>
                  <a:gd name="connsiteY2" fmla="*/ 1820718 h 1820718"/>
                  <a:gd name="connsiteX3" fmla="*/ 0 w 3034531"/>
                  <a:gd name="connsiteY3" fmla="*/ 1820718 h 1820718"/>
                  <a:gd name="connsiteX4" fmla="*/ 0 w 3034531"/>
                  <a:gd name="connsiteY4" fmla="*/ 0 h 1820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4531" h="1820718">
                    <a:moveTo>
                      <a:pt x="0" y="0"/>
                    </a:moveTo>
                    <a:lnTo>
                      <a:pt x="3034531" y="0"/>
                    </a:lnTo>
                    <a:lnTo>
                      <a:pt x="3034531" y="1820718"/>
                    </a:lnTo>
                    <a:lnTo>
                      <a:pt x="0" y="1820718"/>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latin typeface="Arial"/>
                    <a:cs typeface="Arial"/>
                  </a:rPr>
                  <a:t>Alerts </a:t>
                </a:r>
                <a:r>
                  <a:rPr lang="en-US" sz="2100" b="1" dirty="0">
                    <a:latin typeface="Arial"/>
                    <a:cs typeface="Arial"/>
                  </a:rPr>
                  <a:t>and</a:t>
                </a:r>
                <a:r>
                  <a:rPr lang="en-US" sz="2100" b="1" kern="1200" dirty="0">
                    <a:latin typeface="Arial"/>
                    <a:cs typeface="Arial"/>
                  </a:rPr>
                  <a:t> investigation</a:t>
                </a:r>
                <a:endParaRPr lang="en-US" sz="2100" kern="1200" dirty="0">
                  <a:latin typeface="Arial"/>
                  <a:cs typeface="Aria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Alert queue for analysts</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Case review &amp; escalation</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Regulatory reporting</a:t>
                </a:r>
              </a:p>
            </p:txBody>
          </p:sp>
          <p:sp>
            <p:nvSpPr>
              <p:cNvPr id="13" name="Freeform: Shape 12">
                <a:extLst>
                  <a:ext uri="{FF2B5EF4-FFF2-40B4-BE49-F238E27FC236}">
                    <a16:creationId xmlns:a16="http://schemas.microsoft.com/office/drawing/2014/main" id="{30C5F935-2FBE-4D93-B4C0-21D16E668532}"/>
                  </a:ext>
                </a:extLst>
              </p:cNvPr>
              <p:cNvSpPr/>
              <p:nvPr/>
            </p:nvSpPr>
            <p:spPr>
              <a:xfrm rot="16200000">
                <a:off x="1485343" y="3452523"/>
                <a:ext cx="667342" cy="91440"/>
              </a:xfrm>
              <a:custGeom>
                <a:avLst/>
                <a:gdLst>
                  <a:gd name="connsiteX0" fmla="*/ 0 w 667342"/>
                  <a:gd name="connsiteY0" fmla="*/ 45720 h 91440"/>
                  <a:gd name="connsiteX1" fmla="*/ 667342 w 667342"/>
                  <a:gd name="connsiteY1" fmla="*/ 45720 h 91440"/>
                </a:gdLst>
                <a:ahLst/>
                <a:cxnLst>
                  <a:cxn ang="0">
                    <a:pos x="connsiteX0" y="connsiteY0"/>
                  </a:cxn>
                  <a:cxn ang="0">
                    <a:pos x="connsiteX1" y="connsiteY1"/>
                  </a:cxn>
                </a:cxnLst>
                <a:rect l="l" t="t" r="r" b="b"/>
                <a:pathLst>
                  <a:path w="667342" h="91440">
                    <a:moveTo>
                      <a:pt x="0" y="45720"/>
                    </a:moveTo>
                    <a:lnTo>
                      <a:pt x="667342" y="45720"/>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28922" tIns="42231" rIns="328923" bIns="4223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p:txBody>
          </p:sp>
          <p:sp>
            <p:nvSpPr>
              <p:cNvPr id="14" name="Freeform: Shape 13">
                <a:extLst>
                  <a:ext uri="{FF2B5EF4-FFF2-40B4-BE49-F238E27FC236}">
                    <a16:creationId xmlns:a16="http://schemas.microsoft.com/office/drawing/2014/main" id="{83233268-5BCE-4530-9C1B-66A1333A0C07}"/>
                  </a:ext>
                </a:extLst>
              </p:cNvPr>
              <p:cNvSpPr/>
              <p:nvPr/>
            </p:nvSpPr>
            <p:spPr>
              <a:xfrm>
                <a:off x="301749" y="3806762"/>
                <a:ext cx="3034531" cy="1820718"/>
              </a:xfrm>
              <a:custGeom>
                <a:avLst/>
                <a:gdLst>
                  <a:gd name="connsiteX0" fmla="*/ 0 w 3034531"/>
                  <a:gd name="connsiteY0" fmla="*/ 0 h 1820718"/>
                  <a:gd name="connsiteX1" fmla="*/ 3034531 w 3034531"/>
                  <a:gd name="connsiteY1" fmla="*/ 0 h 1820718"/>
                  <a:gd name="connsiteX2" fmla="*/ 3034531 w 3034531"/>
                  <a:gd name="connsiteY2" fmla="*/ 1820718 h 1820718"/>
                  <a:gd name="connsiteX3" fmla="*/ 0 w 3034531"/>
                  <a:gd name="connsiteY3" fmla="*/ 1820718 h 1820718"/>
                  <a:gd name="connsiteX4" fmla="*/ 0 w 3034531"/>
                  <a:gd name="connsiteY4" fmla="*/ 0 h 1820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4531" h="1820718">
                    <a:moveTo>
                      <a:pt x="0" y="0"/>
                    </a:moveTo>
                    <a:lnTo>
                      <a:pt x="3034531" y="0"/>
                    </a:lnTo>
                    <a:lnTo>
                      <a:pt x="3034531" y="1820718"/>
                    </a:lnTo>
                    <a:lnTo>
                      <a:pt x="0" y="1820718"/>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latin typeface="Arial"/>
                    <a:cs typeface="Arial"/>
                  </a:rPr>
                  <a:t>Operational reality</a:t>
                </a:r>
                <a:endParaRPr lang="en-US" sz="2100" kern="1200" dirty="0">
                  <a:latin typeface="Arial"/>
                  <a:cs typeface="Aria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Low base rate (≈1% suspicious)</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High FP → heavy workload</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Need explainable decisions</a:t>
                </a:r>
              </a:p>
            </p:txBody>
          </p:sp>
          <p:sp>
            <p:nvSpPr>
              <p:cNvPr id="16" name="Freeform: Shape 15">
                <a:extLst>
                  <a:ext uri="{FF2B5EF4-FFF2-40B4-BE49-F238E27FC236}">
                    <a16:creationId xmlns:a16="http://schemas.microsoft.com/office/drawing/2014/main" id="{0AF455B4-98E8-4977-A37A-EBE5675B60C6}"/>
                  </a:ext>
                </a:extLst>
              </p:cNvPr>
              <p:cNvSpPr/>
              <p:nvPr/>
            </p:nvSpPr>
            <p:spPr>
              <a:xfrm>
                <a:off x="4034222" y="3806762"/>
                <a:ext cx="3034531" cy="1820718"/>
              </a:xfrm>
              <a:custGeom>
                <a:avLst/>
                <a:gdLst>
                  <a:gd name="connsiteX0" fmla="*/ 0 w 3034531"/>
                  <a:gd name="connsiteY0" fmla="*/ 0 h 1820718"/>
                  <a:gd name="connsiteX1" fmla="*/ 3034531 w 3034531"/>
                  <a:gd name="connsiteY1" fmla="*/ 0 h 1820718"/>
                  <a:gd name="connsiteX2" fmla="*/ 3034531 w 3034531"/>
                  <a:gd name="connsiteY2" fmla="*/ 1820718 h 1820718"/>
                  <a:gd name="connsiteX3" fmla="*/ 0 w 3034531"/>
                  <a:gd name="connsiteY3" fmla="*/ 1820718 h 1820718"/>
                  <a:gd name="connsiteX4" fmla="*/ 0 w 3034531"/>
                  <a:gd name="connsiteY4" fmla="*/ 0 h 1820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4531" h="1820718">
                    <a:moveTo>
                      <a:pt x="0" y="0"/>
                    </a:moveTo>
                    <a:lnTo>
                      <a:pt x="3034531" y="0"/>
                    </a:lnTo>
                    <a:lnTo>
                      <a:pt x="3034531" y="1820718"/>
                    </a:lnTo>
                    <a:lnTo>
                      <a:pt x="0" y="1820718"/>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latin typeface="Arial"/>
                    <a:cs typeface="Arial"/>
                  </a:rPr>
                  <a:t>Evolving typologies</a:t>
                </a:r>
                <a:endParaRPr lang="en-US" sz="2100" kern="1200" dirty="0">
                  <a:latin typeface="Arial"/>
                  <a:cs typeface="Aria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b="1" kern="1200" dirty="0">
                    <a:latin typeface="Arial" panose="020B0604020202020204" pitchFamily="34" charset="0"/>
                    <a:cs typeface="Arial" panose="020B0604020202020204" pitchFamily="34" charset="0"/>
                  </a:rPr>
                  <a:t>New fraud/AML patterns appear</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Scenario overlap increases</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Concept drift over time</a:t>
                </a:r>
              </a:p>
            </p:txBody>
          </p:sp>
          <p:sp>
            <p:nvSpPr>
              <p:cNvPr id="17" name="Freeform: Shape 16">
                <a:extLst>
                  <a:ext uri="{FF2B5EF4-FFF2-40B4-BE49-F238E27FC236}">
                    <a16:creationId xmlns:a16="http://schemas.microsoft.com/office/drawing/2014/main" id="{B64D5E0E-2A5A-4C5D-9766-0CCC199D4361}"/>
                  </a:ext>
                </a:extLst>
              </p:cNvPr>
              <p:cNvSpPr/>
              <p:nvPr/>
            </p:nvSpPr>
            <p:spPr>
              <a:xfrm>
                <a:off x="7766695" y="3806762"/>
                <a:ext cx="3034531" cy="1820718"/>
              </a:xfrm>
              <a:custGeom>
                <a:avLst/>
                <a:gdLst>
                  <a:gd name="connsiteX0" fmla="*/ 0 w 3034531"/>
                  <a:gd name="connsiteY0" fmla="*/ 0 h 1820718"/>
                  <a:gd name="connsiteX1" fmla="*/ 3034531 w 3034531"/>
                  <a:gd name="connsiteY1" fmla="*/ 0 h 1820718"/>
                  <a:gd name="connsiteX2" fmla="*/ 3034531 w 3034531"/>
                  <a:gd name="connsiteY2" fmla="*/ 1820718 h 1820718"/>
                  <a:gd name="connsiteX3" fmla="*/ 0 w 3034531"/>
                  <a:gd name="connsiteY3" fmla="*/ 1820718 h 1820718"/>
                  <a:gd name="connsiteX4" fmla="*/ 0 w 3034531"/>
                  <a:gd name="connsiteY4" fmla="*/ 0 h 1820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34531" h="1820718">
                    <a:moveTo>
                      <a:pt x="0" y="0"/>
                    </a:moveTo>
                    <a:lnTo>
                      <a:pt x="3034531" y="0"/>
                    </a:lnTo>
                    <a:lnTo>
                      <a:pt x="3034531" y="1820718"/>
                    </a:lnTo>
                    <a:lnTo>
                      <a:pt x="0" y="1820718"/>
                    </a:lnTo>
                    <a:lnTo>
                      <a:pt x="0" y="0"/>
                    </a:lnTo>
                    <a:close/>
                  </a:path>
                </a:pathLst>
              </a:custGeom>
            </p:spPr>
            <p:style>
              <a:lnRef idx="2">
                <a:schemeClr val="accent1">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149352" tIns="149352" rIns="149352" bIns="149352" numCol="1" spcCol="1270" anchor="t" anchorCtr="0">
                <a:noAutofit/>
              </a:bodyPr>
              <a:lstStyle/>
              <a:p>
                <a:pPr marL="0" lvl="0" indent="0" algn="l" defTabSz="933450">
                  <a:lnSpc>
                    <a:spcPct val="90000"/>
                  </a:lnSpc>
                  <a:spcBef>
                    <a:spcPct val="0"/>
                  </a:spcBef>
                  <a:spcAft>
                    <a:spcPct val="35000"/>
                  </a:spcAft>
                  <a:buNone/>
                </a:pPr>
                <a:r>
                  <a:rPr lang="en-US" sz="2100" b="1" kern="1200" dirty="0">
                    <a:latin typeface="Arial"/>
                    <a:cs typeface="Arial"/>
                  </a:rPr>
                  <a:t>Data constraints</a:t>
                </a:r>
                <a:endParaRPr lang="en-US" sz="2100" kern="1200" dirty="0">
                  <a:latin typeface="Arial"/>
                  <a:cs typeface="Arial"/>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b="1" kern="1200" dirty="0">
                    <a:latin typeface="Arial" panose="020B0604020202020204" pitchFamily="34" charset="0"/>
                    <a:cs typeface="Arial" panose="020B0604020202020204" pitchFamily="34" charset="0"/>
                  </a:rPr>
                  <a:t>Limited labelled cases</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Privacy restrictions</a:t>
                </a:r>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latin typeface="Arial" panose="020B0604020202020204" pitchFamily="34" charset="0"/>
                    <a:cs typeface="Arial" panose="020B0604020202020204" pitchFamily="34" charset="0"/>
                  </a:rPr>
                  <a:t>Reproducible benchmarking is difficult</a:t>
                </a:r>
              </a:p>
            </p:txBody>
          </p:sp>
        </p:grpSp>
        <p:sp>
          <p:nvSpPr>
            <p:cNvPr id="19" name="Freeform: Shape 18">
              <a:extLst>
                <a:ext uri="{FF2B5EF4-FFF2-40B4-BE49-F238E27FC236}">
                  <a16:creationId xmlns:a16="http://schemas.microsoft.com/office/drawing/2014/main" id="{7AF3E2D9-947F-4091-AC09-95851F9BBEC5}"/>
                </a:ext>
              </a:extLst>
            </p:cNvPr>
            <p:cNvSpPr/>
            <p:nvPr/>
          </p:nvSpPr>
          <p:spPr>
            <a:xfrm rot="16200000">
              <a:off x="5217815" y="3515004"/>
              <a:ext cx="667342" cy="91440"/>
            </a:xfrm>
            <a:custGeom>
              <a:avLst/>
              <a:gdLst>
                <a:gd name="connsiteX0" fmla="*/ 0 w 667342"/>
                <a:gd name="connsiteY0" fmla="*/ 45720 h 91440"/>
                <a:gd name="connsiteX1" fmla="*/ 667342 w 667342"/>
                <a:gd name="connsiteY1" fmla="*/ 45720 h 91440"/>
              </a:gdLst>
              <a:ahLst/>
              <a:cxnLst>
                <a:cxn ang="0">
                  <a:pos x="connsiteX0" y="connsiteY0"/>
                </a:cxn>
                <a:cxn ang="0">
                  <a:pos x="connsiteX1" y="connsiteY1"/>
                </a:cxn>
              </a:cxnLst>
              <a:rect l="l" t="t" r="r" b="b"/>
              <a:pathLst>
                <a:path w="667342" h="91440">
                  <a:moveTo>
                    <a:pt x="0" y="45720"/>
                  </a:moveTo>
                  <a:lnTo>
                    <a:pt x="667342" y="45720"/>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28922" tIns="42231" rIns="328923" bIns="4223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p:txBody>
        </p:sp>
        <p:sp>
          <p:nvSpPr>
            <p:cNvPr id="20" name="Freeform: Shape 19">
              <a:extLst>
                <a:ext uri="{FF2B5EF4-FFF2-40B4-BE49-F238E27FC236}">
                  <a16:creationId xmlns:a16="http://schemas.microsoft.com/office/drawing/2014/main" id="{15654AF7-AE52-436C-BE24-F5619C2312D1}"/>
                </a:ext>
              </a:extLst>
            </p:cNvPr>
            <p:cNvSpPr/>
            <p:nvPr/>
          </p:nvSpPr>
          <p:spPr>
            <a:xfrm rot="16200000">
              <a:off x="8950288" y="3536407"/>
              <a:ext cx="667342" cy="91440"/>
            </a:xfrm>
            <a:custGeom>
              <a:avLst/>
              <a:gdLst>
                <a:gd name="connsiteX0" fmla="*/ 0 w 667342"/>
                <a:gd name="connsiteY0" fmla="*/ 45720 h 91440"/>
                <a:gd name="connsiteX1" fmla="*/ 667342 w 667342"/>
                <a:gd name="connsiteY1" fmla="*/ 45720 h 91440"/>
              </a:gdLst>
              <a:ahLst/>
              <a:cxnLst>
                <a:cxn ang="0">
                  <a:pos x="connsiteX0" y="connsiteY0"/>
                </a:cxn>
                <a:cxn ang="0">
                  <a:pos x="connsiteX1" y="connsiteY1"/>
                </a:cxn>
              </a:cxnLst>
              <a:rect l="l" t="t" r="r" b="b"/>
              <a:pathLst>
                <a:path w="667342" h="91440">
                  <a:moveTo>
                    <a:pt x="0" y="45720"/>
                  </a:moveTo>
                  <a:lnTo>
                    <a:pt x="667342" y="45720"/>
                  </a:lnTo>
                </a:path>
              </a:pathLst>
            </a:custGeom>
            <a:noFill/>
            <a:ln>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328922" tIns="42231" rIns="328923" bIns="42230" numCol="1" spcCol="1270" anchor="ctr" anchorCtr="0">
              <a:noAutofit/>
            </a:bodyPr>
            <a:lstStyle/>
            <a:p>
              <a:pPr marL="0" lvl="0" indent="0" algn="ctr" defTabSz="222250">
                <a:lnSpc>
                  <a:spcPct val="90000"/>
                </a:lnSpc>
                <a:spcBef>
                  <a:spcPct val="0"/>
                </a:spcBef>
                <a:spcAft>
                  <a:spcPct val="35000"/>
                </a:spcAft>
                <a:buNone/>
              </a:pPr>
              <a:endParaRPr lang="en-US" sz="500" kern="1200">
                <a:latin typeface="Arial" panose="020B0604020202020204" pitchFamily="34" charset="0"/>
                <a:cs typeface="Arial" panose="020B0604020202020204" pitchFamily="34" charset="0"/>
              </a:endParaRPr>
            </a:p>
          </p:txBody>
        </p:sp>
      </p:grpSp>
      <p:sp>
        <p:nvSpPr>
          <p:cNvPr id="18" name="Content Placeholder 2">
            <a:extLst>
              <a:ext uri="{FF2B5EF4-FFF2-40B4-BE49-F238E27FC236}">
                <a16:creationId xmlns:a16="http://schemas.microsoft.com/office/drawing/2014/main" id="{F4B8A6AE-D417-4CCE-B0BD-C083CB539D04}"/>
              </a:ext>
            </a:extLst>
          </p:cNvPr>
          <p:cNvSpPr>
            <a:spLocks noGrp="1"/>
          </p:cNvSpPr>
          <p:nvPr>
            <p:ph idx="1"/>
          </p:nvPr>
        </p:nvSpPr>
        <p:spPr>
          <a:xfrm>
            <a:off x="599440" y="4873010"/>
            <a:ext cx="10515600" cy="1835309"/>
          </a:xfrm>
        </p:spPr>
        <p:txBody>
          <a:bodyPr>
            <a:normAutofit/>
          </a:bodyPr>
          <a:lstStyle/>
          <a:p>
            <a:r>
              <a:rPr lang="en-US" sz="1800" dirty="0"/>
              <a:t>Problem: Evaluate detection that stays reliable under high volume, class imbalance, and changing scenarios, without using real customer data.</a:t>
            </a:r>
          </a:p>
          <a:p>
            <a:r>
              <a:rPr lang="en-US" sz="1800" dirty="0"/>
              <a:t>Research Object: Procedures for risk assessment and detection of suspicious transactions in financial institutions.	</a:t>
            </a:r>
          </a:p>
          <a:p>
            <a:r>
              <a:rPr lang="en-US" sz="1800" dirty="0"/>
              <a:t>Research Subject: Scenario-based synthetic transaction data generation and classification for suspicious activity detection and scenario typing.</a:t>
            </a:r>
          </a:p>
        </p:txBody>
      </p:sp>
    </p:spTree>
    <p:extLst>
      <p:ext uri="{BB962C8B-B14F-4D97-AF65-F5344CB8AC3E}">
        <p14:creationId xmlns:p14="http://schemas.microsoft.com/office/powerpoint/2010/main" val="1455718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5748F6-B94F-49F5-9215-A56234E3E9D5}"/>
              </a:ext>
            </a:extLst>
          </p:cNvPr>
          <p:cNvSpPr>
            <a:spLocks noGrp="1"/>
          </p:cNvSpPr>
          <p:nvPr>
            <p:ph idx="1"/>
          </p:nvPr>
        </p:nvSpPr>
        <p:spPr>
          <a:xfrm>
            <a:off x="407173" y="295275"/>
            <a:ext cx="11472647" cy="6380162"/>
          </a:xfrm>
        </p:spPr>
        <p:txBody>
          <a:bodyPr>
            <a:normAutofit/>
          </a:bodyPr>
          <a:lstStyle/>
          <a:p>
            <a:r>
              <a:rPr lang="en-US" sz="3200" dirty="0"/>
              <a:t>Research G</a:t>
            </a:r>
            <a:r>
              <a:rPr lang="lv-LV" sz="3200" dirty="0"/>
              <a:t>oal</a:t>
            </a:r>
            <a:r>
              <a:rPr lang="en-US" sz="3200" dirty="0"/>
              <a:t>:</a:t>
            </a:r>
          </a:p>
          <a:p>
            <a:pPr lvl="1"/>
            <a:r>
              <a:rPr lang="en-US" sz="2800" dirty="0"/>
              <a:t>Develop and experimentally validate a demonstrative prototype of an automated risk-scoring framework. </a:t>
            </a:r>
          </a:p>
          <a:p>
            <a:r>
              <a:rPr lang="en-US" sz="3200" dirty="0"/>
              <a:t>Hypothesis:</a:t>
            </a:r>
          </a:p>
          <a:p>
            <a:pPr lvl="1"/>
            <a:r>
              <a:rPr lang="en-US" sz="2800" dirty="0"/>
              <a:t> Synthetic transaction data created through scenario and rule‑based methods is suitable for training ML models that automate risk assessment in the financial sector</a:t>
            </a:r>
          </a:p>
          <a:p>
            <a:r>
              <a:rPr lang="en-US" sz="3200" dirty="0"/>
              <a:t>Research questions:</a:t>
            </a:r>
          </a:p>
          <a:p>
            <a:pPr lvl="1"/>
            <a:r>
              <a:rPr lang="en-US" sz="2800" dirty="0"/>
              <a:t> Can realistic synthetic data replicate both normal and suspicious behaviours, including complex fraud schemes?</a:t>
            </a:r>
          </a:p>
          <a:p>
            <a:pPr lvl="1"/>
            <a:r>
              <a:rPr lang="en-US" sz="2800" dirty="0"/>
              <a:t> What technical and regulatory challenges arise when creating such data, and how can quality be evaluated?</a:t>
            </a:r>
          </a:p>
          <a:p>
            <a:pPr lvl="1"/>
            <a:r>
              <a:rPr lang="en-US" sz="2800" dirty="0"/>
              <a:t> How well do ML models trained on multiple synthetic data packages adapt to evolving fraud strategies?</a:t>
            </a:r>
          </a:p>
        </p:txBody>
      </p:sp>
      <p:sp>
        <p:nvSpPr>
          <p:cNvPr id="4" name="Slide Number Placeholder 3">
            <a:extLst>
              <a:ext uri="{FF2B5EF4-FFF2-40B4-BE49-F238E27FC236}">
                <a16:creationId xmlns:a16="http://schemas.microsoft.com/office/drawing/2014/main" id="{C9DCAD00-A455-4A3E-A025-F4282092E3CF}"/>
              </a:ext>
            </a:extLst>
          </p:cNvPr>
          <p:cNvSpPr>
            <a:spLocks noGrp="1"/>
          </p:cNvSpPr>
          <p:nvPr>
            <p:ph type="sldNum" sz="quarter" idx="12"/>
          </p:nvPr>
        </p:nvSpPr>
        <p:spPr/>
        <p:txBody>
          <a:bodyPr/>
          <a:lstStyle/>
          <a:p>
            <a:pPr algn="ctr"/>
            <a:fld id="{1478D195-628D-428E-B98B-35B3E9B486B6}" type="slidenum">
              <a:rPr lang="en-US" smtClean="0"/>
              <a:pPr algn="ctr"/>
              <a:t>3</a:t>
            </a:fld>
            <a:endParaRPr lang="en-US"/>
          </a:p>
        </p:txBody>
      </p:sp>
    </p:spTree>
    <p:extLst>
      <p:ext uri="{BB962C8B-B14F-4D97-AF65-F5344CB8AC3E}">
        <p14:creationId xmlns:p14="http://schemas.microsoft.com/office/powerpoint/2010/main" val="4123261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7D67-69BA-455C-8A4D-FBEDC3E7F84A}"/>
              </a:ext>
            </a:extLst>
          </p:cNvPr>
          <p:cNvSpPr>
            <a:spLocks noGrp="1"/>
          </p:cNvSpPr>
          <p:nvPr>
            <p:ph type="title"/>
          </p:nvPr>
        </p:nvSpPr>
        <p:spPr>
          <a:xfrm>
            <a:off x="304978" y="101599"/>
            <a:ext cx="10005290" cy="713004"/>
          </a:xfrm>
        </p:spPr>
        <p:txBody>
          <a:bodyPr>
            <a:normAutofit/>
          </a:bodyPr>
          <a:lstStyle/>
          <a:p>
            <a:r>
              <a:rPr lang="en-US" dirty="0"/>
              <a:t>Literature Review and Research Gaps</a:t>
            </a:r>
          </a:p>
        </p:txBody>
      </p:sp>
      <p:graphicFrame>
        <p:nvGraphicFramePr>
          <p:cNvPr id="5" name="Content Placeholder 5">
            <a:extLst>
              <a:ext uri="{FF2B5EF4-FFF2-40B4-BE49-F238E27FC236}">
                <a16:creationId xmlns:a16="http://schemas.microsoft.com/office/drawing/2014/main" id="{DC6BE392-75A7-4375-BB16-8ACBCB7A8115}"/>
              </a:ext>
            </a:extLst>
          </p:cNvPr>
          <p:cNvGraphicFramePr>
            <a:graphicFrameLocks noGrp="1"/>
          </p:cNvGraphicFramePr>
          <p:nvPr>
            <p:ph idx="1"/>
            <p:extLst>
              <p:ext uri="{D42A27DB-BD31-4B8C-83A1-F6EECF244321}">
                <p14:modId xmlns:p14="http://schemas.microsoft.com/office/powerpoint/2010/main" val="4045245925"/>
              </p:ext>
            </p:extLst>
          </p:nvPr>
        </p:nvGraphicFramePr>
        <p:xfrm>
          <a:off x="573396" y="2358963"/>
          <a:ext cx="11083306" cy="4128340"/>
        </p:xfrm>
        <a:graphic>
          <a:graphicData uri="http://schemas.openxmlformats.org/drawingml/2006/table">
            <a:tbl>
              <a:tblPr firstRow="1" firstCol="1" bandRow="1">
                <a:tableStyleId>{2D5ABB26-0587-4C30-8999-92F81FD0307C}</a:tableStyleId>
              </a:tblPr>
              <a:tblGrid>
                <a:gridCol w="5541653">
                  <a:extLst>
                    <a:ext uri="{9D8B030D-6E8A-4147-A177-3AD203B41FA5}">
                      <a16:colId xmlns:a16="http://schemas.microsoft.com/office/drawing/2014/main" val="322668070"/>
                    </a:ext>
                  </a:extLst>
                </a:gridCol>
                <a:gridCol w="5541653">
                  <a:extLst>
                    <a:ext uri="{9D8B030D-6E8A-4147-A177-3AD203B41FA5}">
                      <a16:colId xmlns:a16="http://schemas.microsoft.com/office/drawing/2014/main" val="3988852566"/>
                    </a:ext>
                  </a:extLst>
                </a:gridCol>
              </a:tblGrid>
              <a:tr h="275656">
                <a:tc>
                  <a:txBody>
                    <a:bodyPr/>
                    <a:lstStyle/>
                    <a:p>
                      <a:pPr algn="ctr">
                        <a:lnSpc>
                          <a:spcPct val="115000"/>
                        </a:lnSpc>
                        <a:spcAft>
                          <a:spcPts val="1000"/>
                        </a:spcAft>
                      </a:pPr>
                      <a:r>
                        <a:rPr lang="en-US" sz="1800" b="1" dirty="0">
                          <a:effectLst/>
                          <a:latin typeface="Arial" panose="020B0604020202020204" pitchFamily="34" charset="0"/>
                          <a:cs typeface="Arial" panose="020B0604020202020204" pitchFamily="34" charset="0"/>
                        </a:rPr>
                        <a:t>Key limitations</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R w="12700" cap="flat" cmpd="sng" algn="ctr">
                      <a:solidFill>
                        <a:schemeClr val="accent5"/>
                      </a:solidFill>
                      <a:prstDash val="solid"/>
                      <a:round/>
                      <a:headEnd type="none" w="med" len="med"/>
                      <a:tailEnd type="none" w="med" len="med"/>
                    </a:lnR>
                    <a:lnB w="12700" cap="flat" cmpd="sng" algn="ctr">
                      <a:solidFill>
                        <a:schemeClr val="accent5"/>
                      </a:solidFill>
                      <a:prstDash val="solid"/>
                      <a:round/>
                      <a:headEnd type="none" w="med" len="med"/>
                      <a:tailEnd type="none" w="med" len="med"/>
                    </a:lnB>
                  </a:tcPr>
                </a:tc>
                <a:tc>
                  <a:txBody>
                    <a:bodyPr/>
                    <a:lstStyle/>
                    <a:p>
                      <a:pPr algn="ctr">
                        <a:lnSpc>
                          <a:spcPct val="115000"/>
                        </a:lnSpc>
                        <a:spcAft>
                          <a:spcPts val="1000"/>
                        </a:spcAft>
                      </a:pPr>
                      <a:r>
                        <a:rPr lang="en-US" sz="1800" b="1" dirty="0">
                          <a:solidFill>
                            <a:srgbClr val="000000"/>
                          </a:solidFill>
                          <a:effectLst/>
                          <a:latin typeface="Arial" panose="020B0604020202020204" pitchFamily="34" charset="0"/>
                          <a:cs typeface="Arial" panose="020B0604020202020204" pitchFamily="34" charset="0"/>
                        </a:rPr>
                        <a:t>Research gaps</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16585291"/>
                  </a:ext>
                </a:extLst>
              </a:tr>
              <a:tr h="3488544">
                <a:tc>
                  <a:txBody>
                    <a:bodyPr/>
                    <a:lstStyle/>
                    <a:p>
                      <a:pPr marL="285750" indent="-285750" algn="l" defTabSz="914400" rtl="0" eaLnBrk="1" latinLnBrk="0" hangingPunct="1">
                        <a:lnSpc>
                          <a:spcPct val="150000"/>
                        </a:lnSpc>
                        <a:spcAft>
                          <a:spcPts val="0"/>
                        </a:spcAft>
                        <a:buFont typeface="Arial" panose="020B0604020202020204" pitchFamily="34" charset="0"/>
                        <a:buChar char="•"/>
                      </a:pPr>
                      <a:r>
                        <a:rPr lang="en-US" sz="1800" b="1" kern="1200" dirty="0">
                          <a:solidFill>
                            <a:srgbClr val="000000"/>
                          </a:solidFill>
                          <a:effectLst/>
                          <a:latin typeface="Arial" panose="020B0604020202020204" pitchFamily="34" charset="0"/>
                          <a:cs typeface="Arial" panose="020B0604020202020204" pitchFamily="34" charset="0"/>
                        </a:rPr>
                        <a:t>High volume</a:t>
                      </a:r>
                    </a:p>
                    <a:p>
                      <a:pPr marL="285750" indent="-285750" algn="l" defTabSz="914400" rtl="0" eaLnBrk="1" latinLnBrk="0" hangingPunct="1">
                        <a:lnSpc>
                          <a:spcPct val="150000"/>
                        </a:lnSpc>
                        <a:spcAft>
                          <a:spcPts val="0"/>
                        </a:spcAft>
                        <a:buFont typeface="Arial" panose="020B0604020202020204" pitchFamily="34" charset="0"/>
                        <a:buChar char="•"/>
                      </a:pPr>
                      <a:r>
                        <a:rPr lang="en-US" sz="1800" b="1" kern="1200" dirty="0">
                          <a:solidFill>
                            <a:srgbClr val="000000"/>
                          </a:solidFill>
                          <a:effectLst/>
                          <a:latin typeface="Arial" panose="020B0604020202020204" pitchFamily="34" charset="0"/>
                          <a:cs typeface="Arial" panose="020B0604020202020204" pitchFamily="34" charset="0"/>
                        </a:rPr>
                        <a:t>High false positives </a:t>
                      </a:r>
                    </a:p>
                    <a:p>
                      <a:pPr marL="285750" indent="-285750" algn="l" defTabSz="914400" rtl="0" eaLnBrk="1" latinLnBrk="0" hangingPunct="1">
                        <a:lnSpc>
                          <a:spcPct val="150000"/>
                        </a:lnSpc>
                        <a:spcAft>
                          <a:spcPts val="0"/>
                        </a:spcAft>
                        <a:buFont typeface="Arial" panose="020B0604020202020204" pitchFamily="34" charset="0"/>
                        <a:buChar char="•"/>
                      </a:pPr>
                      <a:r>
                        <a:rPr lang="en-US" sz="1800" b="1" kern="1200" dirty="0">
                          <a:solidFill>
                            <a:srgbClr val="000000"/>
                          </a:solidFill>
                          <a:effectLst/>
                          <a:latin typeface="Arial" panose="020B0604020202020204" pitchFamily="34" charset="0"/>
                          <a:cs typeface="Arial" panose="020B0604020202020204" pitchFamily="34" charset="0"/>
                        </a:rPr>
                        <a:t>Explainability </a:t>
                      </a:r>
                      <a:r>
                        <a:rPr lang="en-US" sz="1800" b="0" kern="1200" dirty="0">
                          <a:solidFill>
                            <a:srgbClr val="000000"/>
                          </a:solidFill>
                          <a:effectLst/>
                          <a:latin typeface="Arial" panose="020B0604020202020204" pitchFamily="34" charset="0"/>
                          <a:cs typeface="Arial" panose="020B0604020202020204" pitchFamily="34" charset="0"/>
                        </a:rPr>
                        <a:t>required</a:t>
                      </a:r>
                    </a:p>
                    <a:p>
                      <a:pPr marL="285750" indent="-285750" algn="l" defTabSz="914400" rtl="0" eaLnBrk="1" latinLnBrk="0" hangingPunct="1">
                        <a:lnSpc>
                          <a:spcPct val="150000"/>
                        </a:lnSpc>
                        <a:spcAft>
                          <a:spcPts val="0"/>
                        </a:spcAft>
                        <a:buFont typeface="Arial" panose="020B0604020202020204" pitchFamily="34" charset="0"/>
                        <a:buChar char="•"/>
                      </a:pPr>
                      <a:r>
                        <a:rPr lang="en-US" sz="1800" b="0" kern="1200" dirty="0">
                          <a:solidFill>
                            <a:srgbClr val="000000"/>
                          </a:solidFill>
                          <a:effectLst/>
                          <a:latin typeface="Arial" panose="020B0604020202020204" pitchFamily="34" charset="0"/>
                          <a:cs typeface="Arial" panose="020B0604020202020204" pitchFamily="34" charset="0"/>
                        </a:rPr>
                        <a:t>Limited</a:t>
                      </a:r>
                      <a:r>
                        <a:rPr lang="en-US" sz="1800" b="1" kern="1200" dirty="0">
                          <a:solidFill>
                            <a:srgbClr val="000000"/>
                          </a:solidFill>
                          <a:effectLst/>
                          <a:latin typeface="Arial" panose="020B0604020202020204" pitchFamily="34" charset="0"/>
                          <a:cs typeface="Arial" panose="020B0604020202020204" pitchFamily="34" charset="0"/>
                        </a:rPr>
                        <a:t> </a:t>
                      </a:r>
                      <a:r>
                        <a:rPr lang="en-US" sz="1800" b="0" kern="1200" dirty="0">
                          <a:solidFill>
                            <a:srgbClr val="000000"/>
                          </a:solidFill>
                          <a:effectLst/>
                          <a:latin typeface="Arial" panose="020B0604020202020204" pitchFamily="34" charset="0"/>
                          <a:cs typeface="Arial" panose="020B0604020202020204" pitchFamily="34" charset="0"/>
                        </a:rPr>
                        <a:t>real-world data</a:t>
                      </a:r>
                    </a:p>
                    <a:p>
                      <a:pPr marL="285750" indent="-285750" algn="l" defTabSz="914400" rtl="0" eaLnBrk="1" latinLnBrk="0" hangingPunct="1">
                        <a:lnSpc>
                          <a:spcPct val="150000"/>
                        </a:lnSpc>
                        <a:spcAft>
                          <a:spcPts val="0"/>
                        </a:spcAft>
                        <a:buFont typeface="Arial" panose="020B0604020202020204" pitchFamily="34" charset="0"/>
                        <a:buChar char="•"/>
                      </a:pPr>
                      <a:r>
                        <a:rPr lang="en-US" sz="1800" kern="1200" dirty="0">
                          <a:solidFill>
                            <a:srgbClr val="000000"/>
                          </a:solidFill>
                          <a:effectLst/>
                          <a:latin typeface="Arial" panose="020B0604020202020204" pitchFamily="34" charset="0"/>
                          <a:cs typeface="Arial" panose="020B0604020202020204" pitchFamily="34" charset="0"/>
                        </a:rPr>
                        <a:t>Limited control over explicit AML scenarios/typologies</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800" kern="1200" dirty="0">
                          <a:solidFill>
                            <a:srgbClr val="000000"/>
                          </a:solidFill>
                          <a:effectLst/>
                          <a:latin typeface="Arial" panose="020B0604020202020204" pitchFamily="34" charset="0"/>
                          <a:cs typeface="Arial" panose="020B0604020202020204" pitchFamily="34" charset="0"/>
                        </a:rPr>
                        <a:t>Multi-dataset / drift evaluation not standardised</a:t>
                      </a:r>
                      <a:endParaRPr lang="en-US" sz="1800" kern="1200" dirty="0">
                        <a:solidFill>
                          <a:srgbClr val="000000"/>
                        </a:solidFill>
                        <a:effectLst/>
                        <a:latin typeface="Arial" panose="020B0604020202020204" pitchFamily="34" charset="0"/>
                        <a:ea typeface="+mn-ea"/>
                        <a:cs typeface="Arial" panose="020B0604020202020204" pitchFamily="34" charset="0"/>
                      </a:endParaRPr>
                    </a:p>
                  </a:txBody>
                  <a:tcPr marL="68580" marR="68580" marT="0" marB="0" anchor="ctr">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tc>
                  <a:txBody>
                    <a:bodyPr/>
                    <a:lstStyle/>
                    <a:p>
                      <a:pPr marL="285750" indent="-285750">
                        <a:lnSpc>
                          <a:spcPct val="150000"/>
                        </a:lnSpc>
                        <a:spcAft>
                          <a:spcPts val="0"/>
                        </a:spcAft>
                        <a:buFont typeface="Arial" panose="020B0604020202020204" pitchFamily="34" charset="0"/>
                        <a:buChar char="•"/>
                      </a:pPr>
                      <a:r>
                        <a:rPr lang="en-US" sz="1800" dirty="0">
                          <a:solidFill>
                            <a:srgbClr val="000000"/>
                          </a:solidFill>
                          <a:effectLst/>
                          <a:latin typeface="Arial" panose="020B0604020202020204" pitchFamily="34" charset="0"/>
                          <a:cs typeface="Arial" panose="020B0604020202020204" pitchFamily="34" charset="0"/>
                        </a:rPr>
                        <a:t>No standard </a:t>
                      </a:r>
                      <a:r>
                        <a:rPr lang="en-US" sz="1800" b="1" dirty="0">
                          <a:solidFill>
                            <a:srgbClr val="000000"/>
                          </a:solidFill>
                          <a:effectLst/>
                          <a:latin typeface="Arial" panose="020B0604020202020204" pitchFamily="34" charset="0"/>
                          <a:cs typeface="Arial" panose="020B0604020202020204" pitchFamily="34" charset="0"/>
                        </a:rPr>
                        <a:t>reproducible</a:t>
                      </a:r>
                      <a:r>
                        <a:rPr lang="en-US" sz="1800" dirty="0">
                          <a:solidFill>
                            <a:srgbClr val="000000"/>
                          </a:solidFill>
                          <a:effectLst/>
                          <a:latin typeface="Arial" panose="020B0604020202020204" pitchFamily="34" charset="0"/>
                          <a:cs typeface="Arial" panose="020B0604020202020204" pitchFamily="34" charset="0"/>
                        </a:rPr>
                        <a:t> </a:t>
                      </a:r>
                      <a:r>
                        <a:rPr lang="en-US" sz="1800" b="1" dirty="0">
                          <a:solidFill>
                            <a:srgbClr val="000000"/>
                          </a:solidFill>
                          <a:effectLst/>
                          <a:latin typeface="Arial" panose="020B0604020202020204" pitchFamily="34" charset="0"/>
                          <a:cs typeface="Arial" panose="020B0604020202020204" pitchFamily="34" charset="0"/>
                        </a:rPr>
                        <a:t>benchmark</a:t>
                      </a:r>
                    </a:p>
                    <a:p>
                      <a:pPr marL="285750" indent="-285750">
                        <a:lnSpc>
                          <a:spcPct val="150000"/>
                        </a:lnSpc>
                        <a:spcAft>
                          <a:spcPts val="0"/>
                        </a:spcAft>
                        <a:buFont typeface="Arial" panose="020B0604020202020204" pitchFamily="34" charset="0"/>
                        <a:buChar char="•"/>
                      </a:pPr>
                      <a:r>
                        <a:rPr lang="en-US" sz="1800" b="1" dirty="0">
                          <a:solidFill>
                            <a:srgbClr val="000000"/>
                          </a:solidFill>
                          <a:effectLst/>
                          <a:latin typeface="Arial" panose="020B0604020202020204" pitchFamily="34" charset="0"/>
                          <a:cs typeface="Arial" panose="020B0604020202020204" pitchFamily="34" charset="0"/>
                        </a:rPr>
                        <a:t>Synthetic realism </a:t>
                      </a:r>
                      <a:r>
                        <a:rPr lang="en-US" sz="1800" dirty="0">
                          <a:solidFill>
                            <a:srgbClr val="000000"/>
                          </a:solidFill>
                          <a:effectLst/>
                          <a:latin typeface="Arial" panose="020B0604020202020204" pitchFamily="34" charset="0"/>
                          <a:cs typeface="Arial" panose="020B0604020202020204" pitchFamily="34" charset="0"/>
                        </a:rPr>
                        <a:t>is rarely calibrated</a:t>
                      </a:r>
                    </a:p>
                    <a:p>
                      <a:pPr marL="285750" indent="-285750">
                        <a:lnSpc>
                          <a:spcPct val="150000"/>
                        </a:lnSpc>
                        <a:spcAft>
                          <a:spcPts val="0"/>
                        </a:spcAft>
                        <a:buFont typeface="Arial" panose="020B0604020202020204" pitchFamily="34" charset="0"/>
                        <a:buChar char="•"/>
                      </a:pPr>
                      <a:r>
                        <a:rPr lang="en-US" sz="1800" b="1" dirty="0">
                          <a:solidFill>
                            <a:srgbClr val="000000"/>
                          </a:solidFill>
                          <a:effectLst/>
                          <a:latin typeface="Arial" panose="020B0604020202020204" pitchFamily="34" charset="0"/>
                          <a:cs typeface="Arial" panose="020B0604020202020204" pitchFamily="34" charset="0"/>
                        </a:rPr>
                        <a:t>Real-data</a:t>
                      </a:r>
                      <a:r>
                        <a:rPr lang="en-US" sz="1800" dirty="0">
                          <a:solidFill>
                            <a:srgbClr val="000000"/>
                          </a:solidFill>
                          <a:effectLst/>
                          <a:latin typeface="Arial" panose="020B0604020202020204" pitchFamily="34" charset="0"/>
                          <a:cs typeface="Arial" panose="020B0604020202020204" pitchFamily="34" charset="0"/>
                        </a:rPr>
                        <a:t> studies are hard to </a:t>
                      </a:r>
                      <a:r>
                        <a:rPr lang="en-US" sz="1800" b="0" dirty="0">
                          <a:solidFill>
                            <a:srgbClr val="000000"/>
                          </a:solidFill>
                          <a:effectLst/>
                          <a:latin typeface="Arial" panose="020B0604020202020204" pitchFamily="34" charset="0"/>
                          <a:cs typeface="Arial" panose="020B0604020202020204" pitchFamily="34" charset="0"/>
                        </a:rPr>
                        <a:t>reproduce</a:t>
                      </a:r>
                    </a:p>
                    <a:p>
                      <a:pPr marL="285750" indent="-285750">
                        <a:lnSpc>
                          <a:spcPct val="150000"/>
                        </a:lnSpc>
                        <a:spcAft>
                          <a:spcPts val="0"/>
                        </a:spcAft>
                        <a:buFont typeface="Arial" panose="020B0604020202020204" pitchFamily="34" charset="0"/>
                        <a:buChar char="•"/>
                      </a:pPr>
                      <a:r>
                        <a:rPr lang="en-US" sz="1800" dirty="0">
                          <a:solidFill>
                            <a:srgbClr val="000000"/>
                          </a:solidFill>
                          <a:effectLst/>
                          <a:latin typeface="Arial" panose="020B0604020202020204" pitchFamily="34" charset="0"/>
                          <a:cs typeface="Arial" panose="020B0604020202020204" pitchFamily="34" charset="0"/>
                        </a:rPr>
                        <a:t>Explainability is limited</a:t>
                      </a:r>
                    </a:p>
                    <a:p>
                      <a:pPr marL="285750" indent="-285750">
                        <a:lnSpc>
                          <a:spcPct val="150000"/>
                        </a:lnSpc>
                        <a:spcAft>
                          <a:spcPts val="0"/>
                        </a:spcAft>
                        <a:buFont typeface="Arial" panose="020B0604020202020204" pitchFamily="34" charset="0"/>
                        <a:buChar char="•"/>
                      </a:pPr>
                      <a:r>
                        <a:rPr lang="en-US" sz="1800" dirty="0">
                          <a:solidFill>
                            <a:srgbClr val="000000"/>
                          </a:solidFill>
                          <a:effectLst/>
                          <a:latin typeface="Arial" panose="020B0604020202020204" pitchFamily="34" charset="0"/>
                          <a:cs typeface="Arial" panose="020B0604020202020204" pitchFamily="34" charset="0"/>
                        </a:rPr>
                        <a:t>Needs enough </a:t>
                      </a:r>
                      <a:r>
                        <a:rPr lang="en-US" sz="1800" b="0" dirty="0">
                          <a:solidFill>
                            <a:srgbClr val="000000"/>
                          </a:solidFill>
                          <a:effectLst/>
                          <a:latin typeface="Arial" panose="020B0604020202020204" pitchFamily="34" charset="0"/>
                          <a:cs typeface="Arial" panose="020B0604020202020204" pitchFamily="34" charset="0"/>
                        </a:rPr>
                        <a:t>real data</a:t>
                      </a:r>
                    </a:p>
                    <a:p>
                      <a:pPr marL="285750" indent="-285750">
                        <a:lnSpc>
                          <a:spcPct val="150000"/>
                        </a:lnSpc>
                        <a:spcAft>
                          <a:spcPts val="0"/>
                        </a:spcAft>
                        <a:buFont typeface="Arial" panose="020B0604020202020204" pitchFamily="34" charset="0"/>
                        <a:buChar char="•"/>
                      </a:pPr>
                      <a:r>
                        <a:rPr lang="en-US" sz="1800" dirty="0">
                          <a:solidFill>
                            <a:srgbClr val="000000"/>
                          </a:solidFill>
                          <a:effectLst/>
                          <a:latin typeface="Arial" panose="020B0604020202020204" pitchFamily="34" charset="0"/>
                          <a:cs typeface="Arial" panose="020B0604020202020204" pitchFamily="34" charset="0"/>
                        </a:rPr>
                        <a:t>Weak scenario control</a:t>
                      </a:r>
                    </a:p>
                    <a:p>
                      <a:pPr marL="285750" indent="-285750">
                        <a:lnSpc>
                          <a:spcPct val="150000"/>
                        </a:lnSpc>
                        <a:spcAft>
                          <a:spcPts val="0"/>
                        </a:spcAft>
                        <a:buFont typeface="Arial" panose="020B0604020202020204" pitchFamily="34" charset="0"/>
                        <a:buChar char="•"/>
                      </a:pPr>
                      <a:r>
                        <a:rPr lang="en-US" sz="1800" dirty="0">
                          <a:solidFill>
                            <a:srgbClr val="000000"/>
                          </a:solidFill>
                          <a:effectLst/>
                          <a:latin typeface="Arial" panose="020B0604020202020204" pitchFamily="34" charset="0"/>
                          <a:cs typeface="Arial" panose="020B0604020202020204" pitchFamily="34" charset="0"/>
                        </a:rPr>
                        <a:t>Multi-datasets </a:t>
                      </a:r>
                      <a:r>
                        <a:rPr lang="en-US" sz="1800" b="1" dirty="0">
                          <a:solidFill>
                            <a:srgbClr val="000000"/>
                          </a:solidFill>
                          <a:effectLst/>
                          <a:latin typeface="Arial" panose="020B0604020202020204" pitchFamily="34" charset="0"/>
                          <a:cs typeface="Arial" panose="020B0604020202020204" pitchFamily="34" charset="0"/>
                        </a:rPr>
                        <a:t>evaluation</a:t>
                      </a:r>
                      <a:r>
                        <a:rPr lang="en-US" sz="1800" dirty="0">
                          <a:solidFill>
                            <a:srgbClr val="000000"/>
                          </a:solidFill>
                          <a:effectLst/>
                          <a:latin typeface="Arial" panose="020B0604020202020204" pitchFamily="34" charset="0"/>
                          <a:cs typeface="Arial" panose="020B0604020202020204" pitchFamily="34" charset="0"/>
                        </a:rPr>
                        <a:t> is not standard</a:t>
                      </a:r>
                    </a:p>
                    <a:p>
                      <a:pPr marL="285750" indent="-285750">
                        <a:lnSpc>
                          <a:spcPct val="150000"/>
                        </a:lnSpc>
                        <a:spcAft>
                          <a:spcPts val="0"/>
                        </a:spcAft>
                        <a:buFont typeface="Arial" panose="020B0604020202020204" pitchFamily="34" charset="0"/>
                        <a:buChar char="•"/>
                      </a:pPr>
                      <a:r>
                        <a:rPr lang="en-US" sz="1800" dirty="0">
                          <a:solidFill>
                            <a:srgbClr val="000000"/>
                          </a:solidFill>
                          <a:effectLst/>
                          <a:latin typeface="Arial" panose="020B0604020202020204" pitchFamily="34" charset="0"/>
                          <a:cs typeface="Arial" panose="020B0604020202020204" pitchFamily="34" charset="0"/>
                        </a:rPr>
                        <a:t>Hard to guarantee </a:t>
                      </a:r>
                      <a:r>
                        <a:rPr lang="en-US" sz="1800" b="1" dirty="0">
                          <a:solidFill>
                            <a:srgbClr val="000000"/>
                          </a:solidFill>
                          <a:effectLst/>
                          <a:latin typeface="Arial" panose="020B0604020202020204" pitchFamily="34" charset="0"/>
                          <a:cs typeface="Arial" panose="020B0604020202020204" pitchFamily="34" charset="0"/>
                        </a:rPr>
                        <a:t>scenario coverage</a:t>
                      </a:r>
                    </a:p>
                    <a:p>
                      <a:pPr marL="285750" indent="-285750">
                        <a:lnSpc>
                          <a:spcPct val="150000"/>
                        </a:lnSpc>
                        <a:spcAft>
                          <a:spcPts val="0"/>
                        </a:spcAft>
                        <a:buFont typeface="Arial" panose="020B0604020202020204" pitchFamily="34" charset="0"/>
                        <a:buChar char="•"/>
                      </a:pPr>
                      <a:endParaRPr lang="en-US" sz="1800" dirty="0">
                        <a:solidFill>
                          <a:srgbClr val="000000"/>
                        </a:solidFill>
                        <a:effectLst/>
                        <a:latin typeface="Arial" panose="020B0604020202020204" pitchFamily="34" charset="0"/>
                        <a:cs typeface="Arial" panose="020B0604020202020204" pitchFamily="34" charset="0"/>
                      </a:endParaRPr>
                    </a:p>
                  </a:txBody>
                  <a:tcPr marL="68580" marR="68580" marT="0" marB="0" anchor="ctr">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764750269"/>
                  </a:ext>
                </a:extLst>
              </a:tr>
              <a:tr h="187149">
                <a:tc gridSpan="2">
                  <a:txBody>
                    <a:bodyPr/>
                    <a:lstStyle/>
                    <a:p>
                      <a:pPr marL="0" indent="0" algn="ctr">
                        <a:lnSpc>
                          <a:spcPct val="100000"/>
                        </a:lnSpc>
                        <a:spcAft>
                          <a:spcPts val="0"/>
                        </a:spcAft>
                        <a:buFont typeface="Arial" panose="020B0604020202020204" pitchFamily="34" charset="0"/>
                        <a:buNone/>
                      </a:pPr>
                      <a:r>
                        <a:rPr lang="en-US" sz="1100" b="0" dirty="0">
                          <a:solidFill>
                            <a:srgbClr val="000000"/>
                          </a:solidFill>
                          <a:effectLst/>
                          <a:latin typeface="Arial" panose="020B0604020202020204" pitchFamily="34" charset="0"/>
                          <a:cs typeface="Arial" panose="020B0604020202020204" pitchFamily="34" charset="0"/>
                        </a:rPr>
                        <a:t>(</a:t>
                      </a:r>
                      <a:r>
                        <a:rPr lang="en-US" sz="1100" b="0" dirty="0" err="1">
                          <a:solidFill>
                            <a:srgbClr val="000000"/>
                          </a:solidFill>
                          <a:effectLst/>
                          <a:latin typeface="Arial" panose="020B0604020202020204" pitchFamily="34" charset="0"/>
                          <a:cs typeface="Arial" panose="020B0604020202020204" pitchFamily="34" charset="0"/>
                        </a:rPr>
                        <a:t>Oztas</a:t>
                      </a:r>
                      <a:r>
                        <a:rPr lang="en-US" sz="1100" b="0" dirty="0">
                          <a:solidFill>
                            <a:srgbClr val="000000"/>
                          </a:solidFill>
                          <a:effectLst/>
                          <a:latin typeface="Arial" panose="020B0604020202020204" pitchFamily="34" charset="0"/>
                          <a:cs typeface="Arial" panose="020B0604020202020204" pitchFamily="34" charset="0"/>
                        </a:rPr>
                        <a:t> et al., 2024; </a:t>
                      </a:r>
                      <a:r>
                        <a:rPr lang="en-US" sz="1100" b="0" dirty="0" err="1">
                          <a:solidFill>
                            <a:srgbClr val="000000"/>
                          </a:solidFill>
                          <a:effectLst/>
                          <a:latin typeface="Arial" panose="020B0604020202020204" pitchFamily="34" charset="0"/>
                          <a:cs typeface="Arial" panose="020B0604020202020204" pitchFamily="34" charset="0"/>
                        </a:rPr>
                        <a:t>Kute</a:t>
                      </a:r>
                      <a:r>
                        <a:rPr lang="en-US" sz="1100" b="0" dirty="0">
                          <a:solidFill>
                            <a:srgbClr val="000000"/>
                          </a:solidFill>
                          <a:effectLst/>
                          <a:latin typeface="Arial" panose="020B0604020202020204" pitchFamily="34" charset="0"/>
                          <a:cs typeface="Arial" panose="020B0604020202020204" pitchFamily="34" charset="0"/>
                        </a:rPr>
                        <a:t> et al., 2021; Altman et al., 2023; Alexandre &amp; Balsa, 2023; </a:t>
                      </a:r>
                      <a:r>
                        <a:rPr lang="en-US" sz="1100" b="0" dirty="0">
                          <a:effectLst/>
                          <a:latin typeface="Arial" panose="020B0604020202020204" pitchFamily="34" charset="0"/>
                          <a:cs typeface="Arial" panose="020B0604020202020204" pitchFamily="34" charset="0"/>
                        </a:rPr>
                        <a:t>Chen et al., 2021; Altman et al., 2023; </a:t>
                      </a:r>
                      <a:r>
                        <a:rPr lang="en-US" sz="1100" b="0" dirty="0" err="1">
                          <a:effectLst/>
                          <a:latin typeface="Arial" panose="020B0604020202020204" pitchFamily="34" charset="0"/>
                          <a:cs typeface="Arial" panose="020B0604020202020204" pitchFamily="34" charset="0"/>
                        </a:rPr>
                        <a:t>Kute</a:t>
                      </a:r>
                      <a:r>
                        <a:rPr lang="en-US" sz="1100" b="0" dirty="0">
                          <a:effectLst/>
                          <a:latin typeface="Arial" panose="020B0604020202020204" pitchFamily="34" charset="0"/>
                          <a:cs typeface="Arial" panose="020B0604020202020204" pitchFamily="34" charset="0"/>
                        </a:rPr>
                        <a:t> et al., 2021</a:t>
                      </a:r>
                      <a:r>
                        <a:rPr lang="en-US" sz="1100" b="0" dirty="0">
                          <a:solidFill>
                            <a:srgbClr val="000000"/>
                          </a:solidFill>
                          <a:effectLst/>
                          <a:latin typeface="Arial" panose="020B0604020202020204" pitchFamily="34" charset="0"/>
                          <a:cs typeface="Arial" panose="020B0604020202020204" pitchFamily="34" charset="0"/>
                        </a:rPr>
                        <a:t>)</a:t>
                      </a:r>
                      <a:endParaRPr lang="en-US" sz="11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5"/>
                      </a:solidFill>
                      <a:prstDash val="solid"/>
                      <a:round/>
                      <a:headEnd type="none" w="med" len="med"/>
                      <a:tailEnd type="none" w="med" len="med"/>
                    </a:lnT>
                  </a:tcPr>
                </a:tc>
                <a:tc hMerge="1">
                  <a:txBody>
                    <a:bodyPr/>
                    <a:lstStyle/>
                    <a:p>
                      <a:pPr marL="0" indent="0" algn="l" defTabSz="914400" rtl="0" eaLnBrk="1" latinLnBrk="0" hangingPunct="1">
                        <a:lnSpc>
                          <a:spcPct val="100000"/>
                        </a:lnSpc>
                        <a:spcAft>
                          <a:spcPts val="0"/>
                        </a:spcAft>
                        <a:buFont typeface="Arial" panose="020B0604020202020204" pitchFamily="34" charset="0"/>
                        <a:buChar char="•"/>
                      </a:pPr>
                      <a:endParaRPr lang="en-US" sz="1400" kern="1200" dirty="0">
                        <a:solidFill>
                          <a:srgbClr val="000000"/>
                        </a:solidFill>
                        <a:effectLst/>
                        <a:latin typeface="Arial" panose="020B0604020202020204" pitchFamily="34" charset="0"/>
                        <a:ea typeface="+mn-ea"/>
                        <a:cs typeface="Arial" panose="020B0604020202020204" pitchFamily="34" charset="0"/>
                      </a:endParaRPr>
                    </a:p>
                  </a:txBody>
                  <a:tcPr marL="68580" marR="68580" marT="0" marB="0" anchor="ctr"/>
                </a:tc>
                <a:extLst>
                  <a:ext uri="{0D108BD9-81ED-4DB2-BD59-A6C34878D82A}">
                    <a16:rowId xmlns:a16="http://schemas.microsoft.com/office/drawing/2014/main" val="3593266255"/>
                  </a:ext>
                </a:extLst>
              </a:tr>
            </a:tbl>
          </a:graphicData>
        </a:graphic>
      </p:graphicFrame>
      <p:sp>
        <p:nvSpPr>
          <p:cNvPr id="4" name="Slide Number Placeholder 3">
            <a:extLst>
              <a:ext uri="{FF2B5EF4-FFF2-40B4-BE49-F238E27FC236}">
                <a16:creationId xmlns:a16="http://schemas.microsoft.com/office/drawing/2014/main" id="{C9DCAD00-A455-4A3E-A025-F4282092E3CF}"/>
              </a:ext>
            </a:extLst>
          </p:cNvPr>
          <p:cNvSpPr>
            <a:spLocks noGrp="1"/>
          </p:cNvSpPr>
          <p:nvPr>
            <p:ph type="sldNum" sz="quarter" idx="12"/>
          </p:nvPr>
        </p:nvSpPr>
        <p:spPr/>
        <p:txBody>
          <a:bodyPr/>
          <a:lstStyle/>
          <a:p>
            <a:pPr algn="ctr"/>
            <a:fld id="{1478D195-628D-428E-B98B-35B3E9B486B6}" type="slidenum">
              <a:rPr lang="en-US" smtClean="0"/>
              <a:pPr algn="ctr"/>
              <a:t>4</a:t>
            </a:fld>
            <a:endParaRPr lang="en-US"/>
          </a:p>
        </p:txBody>
      </p:sp>
      <p:graphicFrame>
        <p:nvGraphicFramePr>
          <p:cNvPr id="10" name="Diagram 9">
            <a:extLst>
              <a:ext uri="{FF2B5EF4-FFF2-40B4-BE49-F238E27FC236}">
                <a16:creationId xmlns:a16="http://schemas.microsoft.com/office/drawing/2014/main" id="{CAFE8302-B5BE-435F-B3E1-D988FFD6FC26}"/>
              </a:ext>
            </a:extLst>
          </p:cNvPr>
          <p:cNvGraphicFramePr/>
          <p:nvPr>
            <p:extLst>
              <p:ext uri="{D42A27DB-BD31-4B8C-83A1-F6EECF244321}">
                <p14:modId xmlns:p14="http://schemas.microsoft.com/office/powerpoint/2010/main" val="3605806452"/>
              </p:ext>
            </p:extLst>
          </p:nvPr>
        </p:nvGraphicFramePr>
        <p:xfrm>
          <a:off x="611497" y="955420"/>
          <a:ext cx="11045205" cy="13020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02715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7D67-69BA-455C-8A4D-FBEDC3E7F84A}"/>
              </a:ext>
            </a:extLst>
          </p:cNvPr>
          <p:cNvSpPr>
            <a:spLocks noGrp="1"/>
          </p:cNvSpPr>
          <p:nvPr>
            <p:ph type="title"/>
          </p:nvPr>
        </p:nvSpPr>
        <p:spPr/>
        <p:txBody>
          <a:bodyPr>
            <a:normAutofit/>
          </a:bodyPr>
          <a:lstStyle/>
          <a:p>
            <a:r>
              <a:rPr lang="en-US" dirty="0"/>
              <a:t>Research Limitations</a:t>
            </a:r>
          </a:p>
        </p:txBody>
      </p:sp>
      <p:sp>
        <p:nvSpPr>
          <p:cNvPr id="5" name="Content Placeholder 4">
            <a:extLst>
              <a:ext uri="{FF2B5EF4-FFF2-40B4-BE49-F238E27FC236}">
                <a16:creationId xmlns:a16="http://schemas.microsoft.com/office/drawing/2014/main" id="{E9A9F88A-08C5-455D-89E0-41F406DFCA9E}"/>
              </a:ext>
            </a:extLst>
          </p:cNvPr>
          <p:cNvSpPr>
            <a:spLocks noGrp="1"/>
          </p:cNvSpPr>
          <p:nvPr>
            <p:ph idx="1"/>
          </p:nvPr>
        </p:nvSpPr>
        <p:spPr/>
        <p:txBody>
          <a:bodyPr>
            <a:normAutofit/>
          </a:bodyPr>
          <a:lstStyle/>
          <a:p>
            <a:pPr algn="just">
              <a:lnSpc>
                <a:spcPct val="150000"/>
              </a:lnSpc>
            </a:pPr>
            <a:r>
              <a:rPr lang="en-US" sz="2600" dirty="0">
                <a:effectLst/>
                <a:ea typeface="Times New Roman" panose="02020603050405020304" pitchFamily="18" charset="0"/>
              </a:rPr>
              <a:t>Real data: </a:t>
            </a:r>
            <a:r>
              <a:rPr lang="en-US" sz="2600" b="1" dirty="0">
                <a:effectLst/>
                <a:ea typeface="Times New Roman" panose="02020603050405020304" pitchFamily="18" charset="0"/>
              </a:rPr>
              <a:t>&lt;500</a:t>
            </a:r>
            <a:r>
              <a:rPr lang="en-US" sz="2600" dirty="0">
                <a:effectLst/>
                <a:ea typeface="Times New Roman" panose="02020603050405020304" pitchFamily="18" charset="0"/>
              </a:rPr>
              <a:t> rows</a:t>
            </a:r>
            <a:endParaRPr lang="ru-RU" sz="2600" dirty="0">
              <a:effectLst/>
              <a:ea typeface="Times New Roman" panose="02020603050405020304" pitchFamily="18" charset="0"/>
            </a:endParaRPr>
          </a:p>
          <a:p>
            <a:pPr algn="just">
              <a:lnSpc>
                <a:spcPct val="150000"/>
              </a:lnSpc>
            </a:pPr>
            <a:r>
              <a:rPr lang="en-US" sz="2600" dirty="0">
                <a:effectLst/>
                <a:ea typeface="Times New Roman" panose="02020603050405020304" pitchFamily="18" charset="0"/>
              </a:rPr>
              <a:t>Synthetic data: </a:t>
            </a:r>
            <a:r>
              <a:rPr lang="en-US" sz="2600" b="1" dirty="0">
                <a:effectLst/>
                <a:ea typeface="Times New Roman" panose="02020603050405020304" pitchFamily="18" charset="0"/>
              </a:rPr>
              <a:t>10,000/100</a:t>
            </a:r>
            <a:r>
              <a:rPr lang="en-US" sz="2600" dirty="0">
                <a:effectLst/>
                <a:ea typeface="Times New Roman" panose="02020603050405020304" pitchFamily="18" charset="0"/>
              </a:rPr>
              <a:t> and </a:t>
            </a:r>
            <a:r>
              <a:rPr lang="en-US" sz="2600" b="1" dirty="0">
                <a:effectLst/>
                <a:ea typeface="Times New Roman" panose="02020603050405020304" pitchFamily="18" charset="0"/>
              </a:rPr>
              <a:t>50,000/500</a:t>
            </a:r>
            <a:r>
              <a:rPr lang="en-US" sz="2600" dirty="0">
                <a:effectLst/>
                <a:ea typeface="Times New Roman" panose="02020603050405020304" pitchFamily="18" charset="0"/>
              </a:rPr>
              <a:t> (normal</a:t>
            </a:r>
            <a:r>
              <a:rPr lang="ru-RU" sz="2600" dirty="0">
                <a:effectLst/>
                <a:ea typeface="Times New Roman" panose="02020603050405020304" pitchFamily="18" charset="0"/>
              </a:rPr>
              <a:t>/</a:t>
            </a:r>
            <a:r>
              <a:rPr lang="en-US" sz="2600" dirty="0">
                <a:effectLst/>
                <a:ea typeface="Times New Roman" panose="02020603050405020304" pitchFamily="18" charset="0"/>
              </a:rPr>
              <a:t>suspicious</a:t>
            </a:r>
            <a:r>
              <a:rPr lang="ru-RU" sz="2600" dirty="0">
                <a:effectLst/>
                <a:ea typeface="Times New Roman" panose="02020603050405020304" pitchFamily="18" charset="0"/>
              </a:rPr>
              <a:t> </a:t>
            </a:r>
            <a:r>
              <a:rPr lang="en-US" sz="2600" dirty="0">
                <a:effectLst/>
                <a:ea typeface="Times New Roman" panose="02020603050405020304" pitchFamily="18" charset="0"/>
              </a:rPr>
              <a:t>≈</a:t>
            </a:r>
            <a:r>
              <a:rPr lang="en-US" sz="2600" b="1" dirty="0">
                <a:effectLst/>
                <a:ea typeface="Times New Roman" panose="02020603050405020304" pitchFamily="18" charset="0"/>
              </a:rPr>
              <a:t>1%</a:t>
            </a:r>
            <a:r>
              <a:rPr lang="ru-RU" sz="2600" b="1" dirty="0">
                <a:effectLst/>
                <a:ea typeface="Times New Roman" panose="02020603050405020304" pitchFamily="18" charset="0"/>
              </a:rPr>
              <a:t>)</a:t>
            </a:r>
            <a:endParaRPr lang="ru-RU" sz="2600" dirty="0">
              <a:effectLst/>
              <a:ea typeface="Times New Roman" panose="02020603050405020304" pitchFamily="18" charset="0"/>
            </a:endParaRPr>
          </a:p>
          <a:p>
            <a:pPr algn="just">
              <a:lnSpc>
                <a:spcPct val="150000"/>
              </a:lnSpc>
            </a:pPr>
            <a:r>
              <a:rPr lang="en-US" sz="2600" b="1" dirty="0">
                <a:effectLst/>
                <a:ea typeface="Times New Roman" panose="02020603050405020304" pitchFamily="18" charset="0"/>
              </a:rPr>
              <a:t>Privacy/compliance</a:t>
            </a:r>
            <a:r>
              <a:rPr lang="en-US" sz="2600" dirty="0">
                <a:effectLst/>
                <a:ea typeface="Times New Roman" panose="02020603050405020304" pitchFamily="18" charset="0"/>
              </a:rPr>
              <a:t> </a:t>
            </a:r>
            <a:r>
              <a:rPr lang="ru-RU" sz="2600" dirty="0">
                <a:effectLst/>
                <a:ea typeface="Times New Roman" panose="02020603050405020304" pitchFamily="18" charset="0"/>
              </a:rPr>
              <a:t>restricts</a:t>
            </a:r>
            <a:r>
              <a:rPr lang="en-US" sz="2600" dirty="0">
                <a:effectLst/>
                <a:ea typeface="Times New Roman" panose="02020603050405020304" pitchFamily="18" charset="0"/>
              </a:rPr>
              <a:t> real-data reuse</a:t>
            </a:r>
            <a:endParaRPr lang="ru-RU" sz="2600" dirty="0">
              <a:effectLst/>
              <a:ea typeface="Times New Roman" panose="02020603050405020304" pitchFamily="18" charset="0"/>
            </a:endParaRPr>
          </a:p>
          <a:p>
            <a:pPr algn="just">
              <a:lnSpc>
                <a:spcPct val="150000"/>
              </a:lnSpc>
            </a:pPr>
            <a:r>
              <a:rPr lang="en-US" sz="2600" b="1" dirty="0">
                <a:effectLst/>
                <a:ea typeface="Times New Roman" panose="02020603050405020304" pitchFamily="18" charset="0"/>
              </a:rPr>
              <a:t>Scenario evolution: </a:t>
            </a:r>
            <a:r>
              <a:rPr lang="en-US" sz="2600" dirty="0">
                <a:effectLst/>
                <a:ea typeface="Times New Roman" panose="02020603050405020304" pitchFamily="18" charset="0"/>
              </a:rPr>
              <a:t>the scenario catalogue expands over time</a:t>
            </a:r>
            <a:endParaRPr lang="ru-RU" sz="2600" dirty="0">
              <a:effectLst/>
              <a:ea typeface="Times New Roman" panose="02020603050405020304" pitchFamily="18" charset="0"/>
            </a:endParaRPr>
          </a:p>
          <a:p>
            <a:pPr algn="just">
              <a:lnSpc>
                <a:spcPct val="150000"/>
              </a:lnSpc>
            </a:pPr>
            <a:r>
              <a:rPr lang="en-US" sz="2600" dirty="0">
                <a:effectLst/>
                <a:ea typeface="Times New Roman" panose="02020603050405020304" pitchFamily="18" charset="0"/>
              </a:rPr>
              <a:t>Recall </a:t>
            </a:r>
            <a:r>
              <a:rPr lang="en-US" sz="2600" b="1" dirty="0">
                <a:effectLst/>
                <a:ea typeface="Times New Roman" panose="02020603050405020304" pitchFamily="18" charset="0"/>
              </a:rPr>
              <a:t>≥0.98</a:t>
            </a:r>
            <a:r>
              <a:rPr lang="en-US" sz="2600" dirty="0">
                <a:effectLst/>
                <a:ea typeface="Times New Roman" panose="02020603050405020304" pitchFamily="18" charset="0"/>
              </a:rPr>
              <a:t> (primary)</a:t>
            </a:r>
            <a:endParaRPr lang="ru-RU" sz="2600" dirty="0">
              <a:effectLst/>
              <a:ea typeface="Times New Roman" panose="02020603050405020304" pitchFamily="18" charset="0"/>
            </a:endParaRPr>
          </a:p>
        </p:txBody>
      </p:sp>
      <p:sp>
        <p:nvSpPr>
          <p:cNvPr id="4" name="Slide Number Placeholder 3">
            <a:extLst>
              <a:ext uri="{FF2B5EF4-FFF2-40B4-BE49-F238E27FC236}">
                <a16:creationId xmlns:a16="http://schemas.microsoft.com/office/drawing/2014/main" id="{C9DCAD00-A455-4A3E-A025-F4282092E3CF}"/>
              </a:ext>
            </a:extLst>
          </p:cNvPr>
          <p:cNvSpPr>
            <a:spLocks noGrp="1"/>
          </p:cNvSpPr>
          <p:nvPr>
            <p:ph type="sldNum" sz="quarter" idx="12"/>
          </p:nvPr>
        </p:nvSpPr>
        <p:spPr/>
        <p:txBody>
          <a:bodyPr/>
          <a:lstStyle/>
          <a:p>
            <a:pPr algn="ctr"/>
            <a:fld id="{1478D195-628D-428E-B98B-35B3E9B486B6}" type="slidenum">
              <a:rPr lang="en-US" smtClean="0"/>
              <a:pPr algn="ctr"/>
              <a:t>5</a:t>
            </a:fld>
            <a:endParaRPr lang="en-US"/>
          </a:p>
        </p:txBody>
      </p:sp>
    </p:spTree>
    <p:extLst>
      <p:ext uri="{BB962C8B-B14F-4D97-AF65-F5344CB8AC3E}">
        <p14:creationId xmlns:p14="http://schemas.microsoft.com/office/powerpoint/2010/main" val="1165880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7D67-69BA-455C-8A4D-FBEDC3E7F84A}"/>
              </a:ext>
            </a:extLst>
          </p:cNvPr>
          <p:cNvSpPr>
            <a:spLocks noGrp="1"/>
          </p:cNvSpPr>
          <p:nvPr>
            <p:ph type="title"/>
          </p:nvPr>
        </p:nvSpPr>
        <p:spPr/>
        <p:txBody>
          <a:bodyPr>
            <a:normAutofit/>
          </a:bodyPr>
          <a:lstStyle/>
          <a:p>
            <a:r>
              <a:rPr lang="en-US" dirty="0"/>
              <a:t>Framework</a:t>
            </a:r>
            <a:r>
              <a:rPr lang="ru-RU" dirty="0"/>
              <a:t> </a:t>
            </a:r>
            <a:r>
              <a:rPr lang="en-US" dirty="0"/>
              <a:t>Design</a:t>
            </a:r>
          </a:p>
        </p:txBody>
      </p:sp>
      <p:sp>
        <p:nvSpPr>
          <p:cNvPr id="4" name="Slide Number Placeholder 3">
            <a:extLst>
              <a:ext uri="{FF2B5EF4-FFF2-40B4-BE49-F238E27FC236}">
                <a16:creationId xmlns:a16="http://schemas.microsoft.com/office/drawing/2014/main" id="{C9DCAD00-A455-4A3E-A025-F4282092E3CF}"/>
              </a:ext>
            </a:extLst>
          </p:cNvPr>
          <p:cNvSpPr>
            <a:spLocks noGrp="1"/>
          </p:cNvSpPr>
          <p:nvPr>
            <p:ph type="sldNum" sz="quarter" idx="12"/>
          </p:nvPr>
        </p:nvSpPr>
        <p:spPr/>
        <p:txBody>
          <a:bodyPr/>
          <a:lstStyle/>
          <a:p>
            <a:pPr algn="ctr"/>
            <a:fld id="{1478D195-628D-428E-B98B-35B3E9B486B6}" type="slidenum">
              <a:rPr lang="en-US" smtClean="0"/>
              <a:pPr algn="ctr"/>
              <a:t>6</a:t>
            </a:fld>
            <a:endParaRPr lang="en-US"/>
          </a:p>
        </p:txBody>
      </p:sp>
      <p:graphicFrame>
        <p:nvGraphicFramePr>
          <p:cNvPr id="5" name="Content Placeholder 6">
            <a:extLst>
              <a:ext uri="{FF2B5EF4-FFF2-40B4-BE49-F238E27FC236}">
                <a16:creationId xmlns:a16="http://schemas.microsoft.com/office/drawing/2014/main" id="{7D4A240B-6131-4A39-8BC2-7D74AA43409C}"/>
              </a:ext>
            </a:extLst>
          </p:cNvPr>
          <p:cNvGraphicFramePr>
            <a:graphicFrameLocks noGrp="1"/>
          </p:cNvGraphicFramePr>
          <p:nvPr>
            <p:ph idx="1"/>
            <p:extLst>
              <p:ext uri="{D42A27DB-BD31-4B8C-83A1-F6EECF244321}">
                <p14:modId xmlns:p14="http://schemas.microsoft.com/office/powerpoint/2010/main" val="277245651"/>
              </p:ext>
            </p:extLst>
          </p:nvPr>
        </p:nvGraphicFramePr>
        <p:xfrm>
          <a:off x="876300" y="1143000"/>
          <a:ext cx="10515600" cy="5167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0466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1431-2866-4691-94F8-FDC860E98401}"/>
              </a:ext>
            </a:extLst>
          </p:cNvPr>
          <p:cNvSpPr>
            <a:spLocks noGrp="1"/>
          </p:cNvSpPr>
          <p:nvPr>
            <p:ph type="title"/>
          </p:nvPr>
        </p:nvSpPr>
        <p:spPr/>
        <p:txBody>
          <a:bodyPr>
            <a:normAutofit/>
          </a:bodyPr>
          <a:lstStyle/>
          <a:p>
            <a:r>
              <a:rPr lang="en-US" dirty="0"/>
              <a:t>GAN-Based Synthetic Data</a:t>
            </a:r>
          </a:p>
        </p:txBody>
      </p:sp>
      <p:sp>
        <p:nvSpPr>
          <p:cNvPr id="4" name="Slide Number Placeholder 3">
            <a:extLst>
              <a:ext uri="{FF2B5EF4-FFF2-40B4-BE49-F238E27FC236}">
                <a16:creationId xmlns:a16="http://schemas.microsoft.com/office/drawing/2014/main" id="{D182D9A5-910F-4B56-B29D-3AFD6EADD209}"/>
              </a:ext>
            </a:extLst>
          </p:cNvPr>
          <p:cNvSpPr>
            <a:spLocks noGrp="1"/>
          </p:cNvSpPr>
          <p:nvPr>
            <p:ph type="sldNum" sz="quarter" idx="12"/>
          </p:nvPr>
        </p:nvSpPr>
        <p:spPr/>
        <p:txBody>
          <a:bodyPr/>
          <a:lstStyle/>
          <a:p>
            <a:pPr algn="ctr"/>
            <a:fld id="{1478D195-628D-428E-B98B-35B3E9B486B6}" type="slidenum">
              <a:rPr lang="en-US" smtClean="0"/>
              <a:pPr algn="ctr"/>
              <a:t>7</a:t>
            </a:fld>
            <a:endParaRPr lang="en-US"/>
          </a:p>
        </p:txBody>
      </p:sp>
      <p:pic>
        <p:nvPicPr>
          <p:cNvPr id="8" name="Picture 7">
            <a:extLst>
              <a:ext uri="{FF2B5EF4-FFF2-40B4-BE49-F238E27FC236}">
                <a16:creationId xmlns:a16="http://schemas.microsoft.com/office/drawing/2014/main" id="{F4F236BD-D4F8-4009-9C9A-427B5B4F7C4F}"/>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3255" y="695063"/>
            <a:ext cx="5039986" cy="2595368"/>
          </a:xfrm>
          <a:prstGeom prst="rect">
            <a:avLst/>
          </a:prstGeom>
          <a:noFill/>
          <a:ln>
            <a:noFill/>
          </a:ln>
        </p:spPr>
      </p:pic>
      <p:pic>
        <p:nvPicPr>
          <p:cNvPr id="9" name="Picture 8">
            <a:extLst>
              <a:ext uri="{FF2B5EF4-FFF2-40B4-BE49-F238E27FC236}">
                <a16:creationId xmlns:a16="http://schemas.microsoft.com/office/drawing/2014/main" id="{0D28C68F-78B9-4D8A-810A-F9313BCFB81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293255" y="3502687"/>
            <a:ext cx="5086350" cy="2595368"/>
          </a:xfrm>
          <a:prstGeom prst="rect">
            <a:avLst/>
          </a:prstGeom>
          <a:noFill/>
          <a:ln>
            <a:noFill/>
          </a:ln>
        </p:spPr>
      </p:pic>
      <p:sp>
        <p:nvSpPr>
          <p:cNvPr id="16" name="Content Placeholder 15">
            <a:extLst>
              <a:ext uri="{FF2B5EF4-FFF2-40B4-BE49-F238E27FC236}">
                <a16:creationId xmlns:a16="http://schemas.microsoft.com/office/drawing/2014/main" id="{087E8D5A-D031-442B-810A-403346CBD5B4}"/>
              </a:ext>
            </a:extLst>
          </p:cNvPr>
          <p:cNvSpPr>
            <a:spLocks noGrp="1"/>
          </p:cNvSpPr>
          <p:nvPr>
            <p:ph sz="quarter" idx="4"/>
          </p:nvPr>
        </p:nvSpPr>
        <p:spPr>
          <a:xfrm>
            <a:off x="6163107" y="833632"/>
            <a:ext cx="5735638" cy="2376293"/>
          </a:xfrm>
        </p:spPr>
        <p:txBody>
          <a:bodyPr>
            <a:normAutofit fontScale="92500"/>
          </a:bodyPr>
          <a:lstStyle/>
          <a:p>
            <a:pPr lvl="0">
              <a:lnSpc>
                <a:spcPct val="150000"/>
              </a:lnSpc>
            </a:pPr>
            <a:r>
              <a:rPr lang="en-US" dirty="0"/>
              <a:t>Results</a:t>
            </a:r>
          </a:p>
          <a:p>
            <a:pPr lvl="1">
              <a:lnSpc>
                <a:spcPct val="120000"/>
              </a:lnSpc>
            </a:pPr>
            <a:r>
              <a:rPr lang="en-US" dirty="0"/>
              <a:t>Amounts: </a:t>
            </a:r>
            <a:r>
              <a:rPr lang="en-US" b="1" dirty="0"/>
              <a:t>strong mismatch </a:t>
            </a:r>
            <a:r>
              <a:rPr lang="en-US" dirty="0"/>
              <a:t>in the upper tail</a:t>
            </a:r>
            <a:endParaRPr lang="ru-RU" dirty="0"/>
          </a:p>
          <a:p>
            <a:pPr marL="457200" lvl="1" indent="0">
              <a:lnSpc>
                <a:spcPct val="120000"/>
              </a:lnSpc>
              <a:buNone/>
            </a:pPr>
            <a:r>
              <a:rPr lang="ru-RU" dirty="0"/>
              <a:t>   </a:t>
            </a:r>
            <a:r>
              <a:rPr lang="en-US" dirty="0"/>
              <a:t>(KS = 0.66, p ≪ 0.001)</a:t>
            </a:r>
            <a:endParaRPr lang="ru-RU" dirty="0"/>
          </a:p>
          <a:p>
            <a:pPr lvl="1">
              <a:lnSpc>
                <a:spcPct val="120000"/>
              </a:lnSpc>
            </a:pPr>
            <a:r>
              <a:rPr lang="en-US" dirty="0"/>
              <a:t>Categories: no significant difference</a:t>
            </a:r>
            <a:endParaRPr lang="ru-RU" dirty="0"/>
          </a:p>
          <a:p>
            <a:pPr marL="457200" lvl="1" indent="0">
              <a:lnSpc>
                <a:spcPct val="120000"/>
              </a:lnSpc>
              <a:buNone/>
            </a:pPr>
            <a:r>
              <a:rPr lang="ru-RU" dirty="0"/>
              <a:t>   </a:t>
            </a:r>
            <a:r>
              <a:rPr lang="en-US" dirty="0"/>
              <a:t>(χ² p ≈ 1.0)</a:t>
            </a:r>
            <a:endParaRPr lang="ru-RU" dirty="0"/>
          </a:p>
        </p:txBody>
      </p:sp>
      <p:sp>
        <p:nvSpPr>
          <p:cNvPr id="20" name="TextBox 19">
            <a:extLst>
              <a:ext uri="{FF2B5EF4-FFF2-40B4-BE49-F238E27FC236}">
                <a16:creationId xmlns:a16="http://schemas.microsoft.com/office/drawing/2014/main" id="{9B2A86DA-5B78-4472-8143-D6D6B7DA9453}"/>
              </a:ext>
            </a:extLst>
          </p:cNvPr>
          <p:cNvSpPr txBox="1"/>
          <p:nvPr/>
        </p:nvSpPr>
        <p:spPr>
          <a:xfrm>
            <a:off x="781050" y="6310312"/>
            <a:ext cx="3609976" cy="276999"/>
          </a:xfrm>
          <a:prstGeom prst="rect">
            <a:avLst/>
          </a:prstGeom>
          <a:noFill/>
        </p:spPr>
        <p:txBody>
          <a:bodyPr wrap="square" rtlCol="0">
            <a:spAutoFit/>
          </a:bodyPr>
          <a:lstStyle/>
          <a:p>
            <a:r>
              <a:rPr lang="en-US" sz="1200">
                <a:latin typeface="Arial" panose="020B0604020202020204" pitchFamily="34" charset="0"/>
                <a:cs typeface="Arial" panose="020B0604020202020204" pitchFamily="34" charset="0"/>
              </a:rPr>
              <a:t>Extreme values are not preserved in synthetic data</a:t>
            </a:r>
            <a:endParaRPr lang="en-US" sz="12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9570FAC6-4204-4A40-9DE8-53A1AA6FC3A1}"/>
              </a:ext>
            </a:extLst>
          </p:cNvPr>
          <p:cNvSpPr txBox="1"/>
          <p:nvPr/>
        </p:nvSpPr>
        <p:spPr>
          <a:xfrm>
            <a:off x="6705600" y="3990975"/>
            <a:ext cx="4410075" cy="2224998"/>
          </a:xfrm>
          <a:prstGeom prst="rect">
            <a:avLst/>
          </a:prstGeom>
          <a:noFill/>
        </p:spPr>
        <p:txBody>
          <a:bodyPr wrap="square" rtlCol="0">
            <a:spAutoFit/>
          </a:bodyPr>
          <a:lstStyle/>
          <a:p>
            <a:endParaRPr lang="en-US" dirty="0"/>
          </a:p>
        </p:txBody>
      </p:sp>
      <p:graphicFrame>
        <p:nvGraphicFramePr>
          <p:cNvPr id="23" name="Diagram 22">
            <a:extLst>
              <a:ext uri="{FF2B5EF4-FFF2-40B4-BE49-F238E27FC236}">
                <a16:creationId xmlns:a16="http://schemas.microsoft.com/office/drawing/2014/main" id="{A5C6E7ED-7740-4671-9885-CE3D438AFBDF}"/>
              </a:ext>
            </a:extLst>
          </p:cNvPr>
          <p:cNvGraphicFramePr/>
          <p:nvPr>
            <p:extLst>
              <p:ext uri="{D42A27DB-BD31-4B8C-83A1-F6EECF244321}">
                <p14:modId xmlns:p14="http://schemas.microsoft.com/office/powerpoint/2010/main" val="2500618407"/>
              </p:ext>
            </p:extLst>
          </p:nvPr>
        </p:nvGraphicFramePr>
        <p:xfrm>
          <a:off x="6575855" y="3914991"/>
          <a:ext cx="5183188" cy="259536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902196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1431-2866-4691-94F8-FDC860E98401}"/>
              </a:ext>
            </a:extLst>
          </p:cNvPr>
          <p:cNvSpPr>
            <a:spLocks noGrp="1"/>
          </p:cNvSpPr>
          <p:nvPr>
            <p:ph type="title"/>
          </p:nvPr>
        </p:nvSpPr>
        <p:spPr/>
        <p:txBody>
          <a:bodyPr>
            <a:normAutofit/>
          </a:bodyPr>
          <a:lstStyle/>
          <a:p>
            <a:r>
              <a:rPr lang="en-US" noProof="1"/>
              <a:t>Rule-Based Synthetic Data</a:t>
            </a:r>
          </a:p>
        </p:txBody>
      </p:sp>
      <p:sp>
        <p:nvSpPr>
          <p:cNvPr id="4" name="Slide Number Placeholder 3">
            <a:extLst>
              <a:ext uri="{FF2B5EF4-FFF2-40B4-BE49-F238E27FC236}">
                <a16:creationId xmlns:a16="http://schemas.microsoft.com/office/drawing/2014/main" id="{D182D9A5-910F-4B56-B29D-3AFD6EADD209}"/>
              </a:ext>
            </a:extLst>
          </p:cNvPr>
          <p:cNvSpPr>
            <a:spLocks noGrp="1"/>
          </p:cNvSpPr>
          <p:nvPr>
            <p:ph type="sldNum" sz="quarter" idx="12"/>
          </p:nvPr>
        </p:nvSpPr>
        <p:spPr/>
        <p:txBody>
          <a:bodyPr/>
          <a:lstStyle/>
          <a:p>
            <a:pPr algn="ctr"/>
            <a:fld id="{1478D195-628D-428E-B98B-35B3E9B486B6}" type="slidenum">
              <a:rPr lang="en-US" noProof="1" dirty="0" smtClean="0"/>
              <a:pPr algn="ctr"/>
              <a:t>8</a:t>
            </a:fld>
            <a:endParaRPr lang="en-US" noProof="1"/>
          </a:p>
        </p:txBody>
      </p:sp>
      <p:pic>
        <p:nvPicPr>
          <p:cNvPr id="13" name="Picture 12">
            <a:extLst>
              <a:ext uri="{FF2B5EF4-FFF2-40B4-BE49-F238E27FC236}">
                <a16:creationId xmlns:a16="http://schemas.microsoft.com/office/drawing/2014/main" id="{5E728AF6-C665-478F-BF41-22ADB30F0915}"/>
              </a:ext>
            </a:extLst>
          </p:cNvPr>
          <p:cNvPicPr>
            <a:picLocks noChangeAspect="1"/>
          </p:cNvPicPr>
          <p:nvPr/>
        </p:nvPicPr>
        <p:blipFill>
          <a:blip r:embed="rId3"/>
          <a:stretch>
            <a:fillRect/>
          </a:stretch>
        </p:blipFill>
        <p:spPr>
          <a:xfrm>
            <a:off x="156303" y="4146780"/>
            <a:ext cx="9431828" cy="1597863"/>
          </a:xfrm>
          <a:prstGeom prst="rect">
            <a:avLst/>
          </a:prstGeom>
        </p:spPr>
      </p:pic>
      <p:sp>
        <p:nvSpPr>
          <p:cNvPr id="24" name="Freeform: Shape 23">
            <a:extLst>
              <a:ext uri="{FF2B5EF4-FFF2-40B4-BE49-F238E27FC236}">
                <a16:creationId xmlns:a16="http://schemas.microsoft.com/office/drawing/2014/main" id="{DDAD6B08-A872-44DE-B484-A45E0F5DC5AC}"/>
              </a:ext>
            </a:extLst>
          </p:cNvPr>
          <p:cNvSpPr/>
          <p:nvPr/>
        </p:nvSpPr>
        <p:spPr>
          <a:xfrm>
            <a:off x="6811862" y="4065374"/>
            <a:ext cx="2638364" cy="695197"/>
          </a:xfrm>
          <a:custGeom>
            <a:avLst/>
            <a:gdLst>
              <a:gd name="connsiteX0" fmla="*/ 0 w 2638364"/>
              <a:gd name="connsiteY0" fmla="*/ 0 h 695197"/>
              <a:gd name="connsiteX1" fmla="*/ 2638364 w 2638364"/>
              <a:gd name="connsiteY1" fmla="*/ 0 h 695197"/>
              <a:gd name="connsiteX2" fmla="*/ 2638364 w 2638364"/>
              <a:gd name="connsiteY2" fmla="*/ 695197 h 695197"/>
              <a:gd name="connsiteX3" fmla="*/ 0 w 2638364"/>
              <a:gd name="connsiteY3" fmla="*/ 695197 h 695197"/>
              <a:gd name="connsiteX4" fmla="*/ 0 w 2638364"/>
              <a:gd name="connsiteY4" fmla="*/ 0 h 6951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8364" h="695197">
                <a:moveTo>
                  <a:pt x="0" y="0"/>
                </a:moveTo>
                <a:lnTo>
                  <a:pt x="2638364" y="0"/>
                </a:lnTo>
                <a:lnTo>
                  <a:pt x="2638364" y="695197"/>
                </a:lnTo>
                <a:lnTo>
                  <a:pt x="0" y="695197"/>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endParaRPr lang="en-US" sz="3200" kern="1200" noProof="1">
              <a:latin typeface="Arial" panose="020B0604020202020204" pitchFamily="34" charset="0"/>
              <a:cs typeface="Arial" panose="020B0604020202020204" pitchFamily="34" charset="0"/>
            </a:endParaRPr>
          </a:p>
        </p:txBody>
      </p:sp>
      <p:grpSp>
        <p:nvGrpSpPr>
          <p:cNvPr id="6" name="Group 5">
            <a:extLst>
              <a:ext uri="{FF2B5EF4-FFF2-40B4-BE49-F238E27FC236}">
                <a16:creationId xmlns:a16="http://schemas.microsoft.com/office/drawing/2014/main" id="{CA115B3D-7EE4-47DE-AD38-0BC8BC94CFDD}"/>
              </a:ext>
            </a:extLst>
          </p:cNvPr>
          <p:cNvGrpSpPr/>
          <p:nvPr/>
        </p:nvGrpSpPr>
        <p:grpSpPr>
          <a:xfrm>
            <a:off x="54029" y="939270"/>
            <a:ext cx="11040893" cy="3543900"/>
            <a:chOff x="-500850" y="995145"/>
            <a:chExt cx="11040893" cy="3543900"/>
          </a:xfrm>
        </p:grpSpPr>
        <p:sp>
          <p:nvSpPr>
            <p:cNvPr id="19" name="Block Arc 18">
              <a:extLst>
                <a:ext uri="{FF2B5EF4-FFF2-40B4-BE49-F238E27FC236}">
                  <a16:creationId xmlns:a16="http://schemas.microsoft.com/office/drawing/2014/main" id="{C9F39302-EC4F-401F-9D07-03CBECAB7ED0}"/>
                </a:ext>
              </a:extLst>
            </p:cNvPr>
            <p:cNvSpPr/>
            <p:nvPr/>
          </p:nvSpPr>
          <p:spPr>
            <a:xfrm rot="5400000">
              <a:off x="-500583" y="994878"/>
              <a:ext cx="3474871" cy="3475405"/>
            </a:xfrm>
            <a:prstGeom prst="blockArc">
              <a:avLst>
                <a:gd name="adj1" fmla="val 13500000"/>
                <a:gd name="adj2" fmla="val 18900000"/>
                <a:gd name="adj3" fmla="val 4960"/>
              </a:avLst>
            </a:prstGeom>
          </p:spPr>
          <p:style>
            <a:lnRef idx="3">
              <a:schemeClr val="lt1">
                <a:hueOff val="0"/>
                <a:satOff val="0"/>
                <a:lumOff val="0"/>
                <a:alphaOff val="0"/>
              </a:schemeClr>
            </a:lnRef>
            <a:fillRef idx="1">
              <a:schemeClr val="accent1">
                <a:shade val="50000"/>
                <a:hueOff val="0"/>
                <a:satOff val="0"/>
                <a:lumOff val="0"/>
                <a:alphaOff val="0"/>
              </a:schemeClr>
            </a:fillRef>
            <a:effectRef idx="1">
              <a:schemeClr val="accent1">
                <a:shade val="50000"/>
                <a:hueOff val="0"/>
                <a:satOff val="0"/>
                <a:lumOff val="0"/>
                <a:alphaOff val="0"/>
              </a:schemeClr>
            </a:effectRef>
            <a:fontRef idx="minor">
              <a:schemeClr val="lt1"/>
            </a:fontRef>
          </p:style>
        </p:sp>
        <p:sp>
          <p:nvSpPr>
            <p:cNvPr id="20" name="Block Arc 19">
              <a:extLst>
                <a:ext uri="{FF2B5EF4-FFF2-40B4-BE49-F238E27FC236}">
                  <a16:creationId xmlns:a16="http://schemas.microsoft.com/office/drawing/2014/main" id="{01490C05-F8CE-4337-B510-110E7097B60E}"/>
                </a:ext>
              </a:extLst>
            </p:cNvPr>
            <p:cNvSpPr/>
            <p:nvPr/>
          </p:nvSpPr>
          <p:spPr>
            <a:xfrm rot="16200000">
              <a:off x="2993989" y="1007727"/>
              <a:ext cx="3474871" cy="3475405"/>
            </a:xfrm>
            <a:prstGeom prst="blockArc">
              <a:avLst>
                <a:gd name="adj1" fmla="val 13500000"/>
                <a:gd name="adj2" fmla="val 18900000"/>
                <a:gd name="adj3" fmla="val 4960"/>
              </a:avLst>
            </a:prstGeom>
          </p:spPr>
          <p:style>
            <a:lnRef idx="3">
              <a:schemeClr val="lt1">
                <a:hueOff val="0"/>
                <a:satOff val="0"/>
                <a:lumOff val="0"/>
                <a:alphaOff val="0"/>
              </a:schemeClr>
            </a:lnRef>
            <a:fillRef idx="1">
              <a:schemeClr val="accent1">
                <a:shade val="50000"/>
                <a:hueOff val="201247"/>
                <a:satOff val="-4901"/>
                <a:lumOff val="21448"/>
                <a:alphaOff val="0"/>
              </a:schemeClr>
            </a:fillRef>
            <a:effectRef idx="1">
              <a:schemeClr val="accent1">
                <a:shade val="50000"/>
                <a:hueOff val="201247"/>
                <a:satOff val="-4901"/>
                <a:lumOff val="21448"/>
                <a:alphaOff val="0"/>
              </a:schemeClr>
            </a:effectRef>
            <a:fontRef idx="minor">
              <a:schemeClr val="lt1"/>
            </a:fontRef>
          </p:style>
        </p:sp>
        <p:sp>
          <p:nvSpPr>
            <p:cNvPr id="22" name="Block Arc 21">
              <a:extLst>
                <a:ext uri="{FF2B5EF4-FFF2-40B4-BE49-F238E27FC236}">
                  <a16:creationId xmlns:a16="http://schemas.microsoft.com/office/drawing/2014/main" id="{73616014-6419-4406-96B2-92BF9216E0DA}"/>
                </a:ext>
              </a:extLst>
            </p:cNvPr>
            <p:cNvSpPr/>
            <p:nvPr/>
          </p:nvSpPr>
          <p:spPr>
            <a:xfrm rot="5400000">
              <a:off x="2046548" y="1022636"/>
              <a:ext cx="3474871" cy="3475405"/>
            </a:xfrm>
            <a:prstGeom prst="blockArc">
              <a:avLst>
                <a:gd name="adj1" fmla="val 13500000"/>
                <a:gd name="adj2" fmla="val 18900000"/>
                <a:gd name="adj3" fmla="val 4960"/>
              </a:avLst>
            </a:prstGeom>
          </p:spPr>
          <p:style>
            <a:lnRef idx="3">
              <a:schemeClr val="lt1">
                <a:hueOff val="0"/>
                <a:satOff val="0"/>
                <a:lumOff val="0"/>
                <a:alphaOff val="0"/>
              </a:schemeClr>
            </a:lnRef>
            <a:fillRef idx="1">
              <a:schemeClr val="accent1">
                <a:shade val="50000"/>
                <a:hueOff val="402493"/>
                <a:satOff val="-9802"/>
                <a:lumOff val="42896"/>
                <a:alphaOff val="0"/>
              </a:schemeClr>
            </a:fillRef>
            <a:effectRef idx="1">
              <a:schemeClr val="accent1">
                <a:shade val="50000"/>
                <a:hueOff val="402493"/>
                <a:satOff val="-9802"/>
                <a:lumOff val="42896"/>
                <a:alphaOff val="0"/>
              </a:schemeClr>
            </a:effectRef>
            <a:fontRef idx="minor">
              <a:schemeClr val="lt1"/>
            </a:fontRef>
          </p:style>
        </p:sp>
        <p:sp>
          <p:nvSpPr>
            <p:cNvPr id="23" name="Block Arc 22">
              <a:extLst>
                <a:ext uri="{FF2B5EF4-FFF2-40B4-BE49-F238E27FC236}">
                  <a16:creationId xmlns:a16="http://schemas.microsoft.com/office/drawing/2014/main" id="{09521D6B-C570-407F-A427-3F9459CAA1E8}"/>
                </a:ext>
              </a:extLst>
            </p:cNvPr>
            <p:cNvSpPr/>
            <p:nvPr/>
          </p:nvSpPr>
          <p:spPr>
            <a:xfrm rot="16200000">
              <a:off x="7064905" y="1063907"/>
              <a:ext cx="3474871" cy="3475405"/>
            </a:xfrm>
            <a:prstGeom prst="blockArc">
              <a:avLst>
                <a:gd name="adj1" fmla="val 13500000"/>
                <a:gd name="adj2" fmla="val 18900000"/>
                <a:gd name="adj3" fmla="val 4960"/>
              </a:avLst>
            </a:prstGeom>
          </p:spPr>
          <p:style>
            <a:lnRef idx="3">
              <a:schemeClr val="lt1">
                <a:hueOff val="0"/>
                <a:satOff val="0"/>
                <a:lumOff val="0"/>
                <a:alphaOff val="0"/>
              </a:schemeClr>
            </a:lnRef>
            <a:fillRef idx="1">
              <a:schemeClr val="accent1">
                <a:shade val="50000"/>
                <a:hueOff val="201247"/>
                <a:satOff val="-4901"/>
                <a:lumOff val="21448"/>
                <a:alphaOff val="0"/>
              </a:schemeClr>
            </a:fillRef>
            <a:effectRef idx="1">
              <a:schemeClr val="accent1">
                <a:shade val="50000"/>
                <a:hueOff val="201247"/>
                <a:satOff val="-4901"/>
                <a:lumOff val="21448"/>
                <a:alphaOff val="0"/>
              </a:schemeClr>
            </a:effectRef>
            <a:fontRef idx="minor">
              <a:schemeClr val="lt1"/>
            </a:fontRef>
          </p:style>
        </p:sp>
        <p:sp>
          <p:nvSpPr>
            <p:cNvPr id="28" name="Freeform: Shape 27">
              <a:extLst>
                <a:ext uri="{FF2B5EF4-FFF2-40B4-BE49-F238E27FC236}">
                  <a16:creationId xmlns:a16="http://schemas.microsoft.com/office/drawing/2014/main" id="{B4F458AB-856F-4D0E-ABBD-E5E57CBD9FAD}"/>
                </a:ext>
              </a:extLst>
            </p:cNvPr>
            <p:cNvSpPr/>
            <p:nvPr/>
          </p:nvSpPr>
          <p:spPr>
            <a:xfrm>
              <a:off x="210637" y="2188196"/>
              <a:ext cx="1163896" cy="1198550"/>
            </a:xfrm>
            <a:custGeom>
              <a:avLst/>
              <a:gdLst>
                <a:gd name="connsiteX0" fmla="*/ 0 w 1163896"/>
                <a:gd name="connsiteY0" fmla="*/ 581878 h 1163756"/>
                <a:gd name="connsiteX1" fmla="*/ 581948 w 1163896"/>
                <a:gd name="connsiteY1" fmla="*/ 0 h 1163756"/>
                <a:gd name="connsiteX2" fmla="*/ 1163896 w 1163896"/>
                <a:gd name="connsiteY2" fmla="*/ 581878 h 1163756"/>
                <a:gd name="connsiteX3" fmla="*/ 581948 w 1163896"/>
                <a:gd name="connsiteY3" fmla="*/ 1163756 h 1163756"/>
                <a:gd name="connsiteX4" fmla="*/ 0 w 1163896"/>
                <a:gd name="connsiteY4" fmla="*/ 581878 h 1163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896" h="1163756">
                  <a:moveTo>
                    <a:pt x="0" y="581878"/>
                  </a:moveTo>
                  <a:cubicBezTo>
                    <a:pt x="0" y="260516"/>
                    <a:pt x="260547" y="0"/>
                    <a:pt x="581948" y="0"/>
                  </a:cubicBezTo>
                  <a:cubicBezTo>
                    <a:pt x="903349" y="0"/>
                    <a:pt x="1163896" y="260516"/>
                    <a:pt x="1163896" y="581878"/>
                  </a:cubicBezTo>
                  <a:cubicBezTo>
                    <a:pt x="1163896" y="903240"/>
                    <a:pt x="903349" y="1163756"/>
                    <a:pt x="581948" y="1163756"/>
                  </a:cubicBezTo>
                  <a:cubicBezTo>
                    <a:pt x="260547" y="1163756"/>
                    <a:pt x="0" y="903240"/>
                    <a:pt x="0" y="581878"/>
                  </a:cubicBezTo>
                  <a:close/>
                </a:path>
              </a:pathLst>
            </a:custGeom>
          </p:spPr>
          <p:style>
            <a:lnRef idx="3">
              <a:schemeClr val="lt1">
                <a:hueOff val="0"/>
                <a:satOff val="0"/>
                <a:lumOff val="0"/>
                <a:alphaOff val="0"/>
              </a:schemeClr>
            </a:lnRef>
            <a:fillRef idx="1">
              <a:schemeClr val="accent1">
                <a:shade val="80000"/>
                <a:alpha val="50000"/>
                <a:hueOff val="311613"/>
                <a:satOff val="-6859"/>
                <a:lumOff val="26801"/>
                <a:alphaOff val="0"/>
              </a:schemeClr>
            </a:fillRef>
            <a:effectRef idx="0">
              <a:schemeClr val="accent1">
                <a:shade val="80000"/>
                <a:alpha val="50000"/>
                <a:hueOff val="311613"/>
                <a:satOff val="-6859"/>
                <a:lumOff val="26801"/>
                <a:alphaOff val="0"/>
              </a:schemeClr>
            </a:effectRef>
            <a:fontRef idx="minor">
              <a:schemeClr val="tx1"/>
            </a:fontRef>
          </p:style>
          <p:txBody>
            <a:bodyPr spcFirstLastPara="0" vert="horz" wrap="square" lIns="200929" tIns="200908" rIns="200929" bIns="200908" numCol="1" spcCol="1270" anchor="ctr" anchorCtr="0">
              <a:noAutofit/>
            </a:bodyPr>
            <a:lstStyle/>
            <a:p>
              <a:pPr marL="0" lvl="0" indent="0" algn="ctr" defTabSz="355600">
                <a:lnSpc>
                  <a:spcPct val="90000"/>
                </a:lnSpc>
                <a:spcBef>
                  <a:spcPct val="0"/>
                </a:spcBef>
                <a:spcAft>
                  <a:spcPct val="35000"/>
                </a:spcAft>
                <a:buNone/>
              </a:pPr>
              <a:r>
                <a:rPr lang="en-US" sz="1050" kern="1200" noProof="1">
                  <a:latin typeface="Arial" panose="020B0604020202020204" pitchFamily="34" charset="0"/>
                  <a:cs typeface="Arial" panose="020B0604020202020204" pitchFamily="34" charset="0"/>
                </a:rPr>
                <a:t>1. Uploading data by country and offshore corporations</a:t>
              </a:r>
            </a:p>
          </p:txBody>
        </p:sp>
        <p:sp>
          <p:nvSpPr>
            <p:cNvPr id="31" name="Freeform: Shape 30">
              <a:extLst>
                <a:ext uri="{FF2B5EF4-FFF2-40B4-BE49-F238E27FC236}">
                  <a16:creationId xmlns:a16="http://schemas.microsoft.com/office/drawing/2014/main" id="{75AF58BD-DBAC-4D51-B7FE-40AA3E187D0C}"/>
                </a:ext>
              </a:extLst>
            </p:cNvPr>
            <p:cNvSpPr/>
            <p:nvPr/>
          </p:nvSpPr>
          <p:spPr>
            <a:xfrm>
              <a:off x="1451128" y="2188196"/>
              <a:ext cx="1163896" cy="1198550"/>
            </a:xfrm>
            <a:custGeom>
              <a:avLst/>
              <a:gdLst>
                <a:gd name="connsiteX0" fmla="*/ 0 w 1163896"/>
                <a:gd name="connsiteY0" fmla="*/ 581878 h 1163756"/>
                <a:gd name="connsiteX1" fmla="*/ 581948 w 1163896"/>
                <a:gd name="connsiteY1" fmla="*/ 0 h 1163756"/>
                <a:gd name="connsiteX2" fmla="*/ 1163896 w 1163896"/>
                <a:gd name="connsiteY2" fmla="*/ 581878 h 1163756"/>
                <a:gd name="connsiteX3" fmla="*/ 581948 w 1163896"/>
                <a:gd name="connsiteY3" fmla="*/ 1163756 h 1163756"/>
                <a:gd name="connsiteX4" fmla="*/ 0 w 1163896"/>
                <a:gd name="connsiteY4" fmla="*/ 581878 h 1163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896" h="1163756">
                  <a:moveTo>
                    <a:pt x="0" y="581878"/>
                  </a:moveTo>
                  <a:cubicBezTo>
                    <a:pt x="0" y="260516"/>
                    <a:pt x="260547" y="0"/>
                    <a:pt x="581948" y="0"/>
                  </a:cubicBezTo>
                  <a:cubicBezTo>
                    <a:pt x="903349" y="0"/>
                    <a:pt x="1163896" y="260516"/>
                    <a:pt x="1163896" y="581878"/>
                  </a:cubicBezTo>
                  <a:cubicBezTo>
                    <a:pt x="1163896" y="903240"/>
                    <a:pt x="903349" y="1163756"/>
                    <a:pt x="581948" y="1163756"/>
                  </a:cubicBezTo>
                  <a:cubicBezTo>
                    <a:pt x="260547" y="1163756"/>
                    <a:pt x="0" y="903240"/>
                    <a:pt x="0" y="581878"/>
                  </a:cubicBezTo>
                  <a:close/>
                </a:path>
              </a:pathLst>
            </a:custGeom>
          </p:spPr>
          <p:style>
            <a:lnRef idx="3">
              <a:schemeClr val="lt1">
                <a:hueOff val="0"/>
                <a:satOff val="0"/>
                <a:lumOff val="0"/>
                <a:alphaOff val="0"/>
              </a:schemeClr>
            </a:lnRef>
            <a:fillRef idx="1">
              <a:schemeClr val="accent1">
                <a:shade val="80000"/>
                <a:alpha val="50000"/>
                <a:hueOff val="207742"/>
                <a:satOff val="-4573"/>
                <a:lumOff val="17867"/>
                <a:alphaOff val="0"/>
              </a:schemeClr>
            </a:fillRef>
            <a:effectRef idx="0">
              <a:schemeClr val="accent1">
                <a:shade val="80000"/>
                <a:alpha val="50000"/>
                <a:hueOff val="207742"/>
                <a:satOff val="-4573"/>
                <a:lumOff val="17867"/>
                <a:alphaOff val="0"/>
              </a:schemeClr>
            </a:effectRef>
            <a:fontRef idx="minor">
              <a:schemeClr val="tx1"/>
            </a:fontRef>
          </p:style>
          <p:txBody>
            <a:bodyPr spcFirstLastPara="0" vert="horz" wrap="square" lIns="200929" tIns="200908" rIns="200929" bIns="200908" numCol="1" spcCol="1270" anchor="ctr" anchorCtr="0">
              <a:noAutofit/>
            </a:bodyPr>
            <a:lstStyle/>
            <a:p>
              <a:pPr marL="0" lvl="0" indent="0" algn="ctr" defTabSz="355600">
                <a:lnSpc>
                  <a:spcPct val="90000"/>
                </a:lnSpc>
                <a:spcBef>
                  <a:spcPct val="0"/>
                </a:spcBef>
                <a:spcAft>
                  <a:spcPct val="35000"/>
                </a:spcAft>
                <a:buNone/>
              </a:pPr>
              <a:r>
                <a:rPr lang="en-US" sz="1050" kern="1200" noProof="1">
                  <a:latin typeface="Arial" panose="020B0604020202020204" pitchFamily="34" charset="0"/>
                  <a:cs typeface="Arial" panose="020B0604020202020204" pitchFamily="34" charset="0"/>
                </a:rPr>
                <a:t>2. Client environment generation</a:t>
              </a:r>
            </a:p>
          </p:txBody>
        </p:sp>
        <p:sp>
          <p:nvSpPr>
            <p:cNvPr id="33" name="Freeform: Shape 32">
              <a:extLst>
                <a:ext uri="{FF2B5EF4-FFF2-40B4-BE49-F238E27FC236}">
                  <a16:creationId xmlns:a16="http://schemas.microsoft.com/office/drawing/2014/main" id="{FC463E79-066D-42C0-AA9A-A1712A539C5F}"/>
                </a:ext>
              </a:extLst>
            </p:cNvPr>
            <p:cNvSpPr/>
            <p:nvPr/>
          </p:nvSpPr>
          <p:spPr>
            <a:xfrm>
              <a:off x="7273374" y="2064563"/>
              <a:ext cx="1542493" cy="1438841"/>
            </a:xfrm>
            <a:custGeom>
              <a:avLst/>
              <a:gdLst>
                <a:gd name="connsiteX0" fmla="*/ 0 w 2029510"/>
                <a:gd name="connsiteY0" fmla="*/ 1014572 h 2029143"/>
                <a:gd name="connsiteX1" fmla="*/ 1014755 w 2029510"/>
                <a:gd name="connsiteY1" fmla="*/ 0 h 2029143"/>
                <a:gd name="connsiteX2" fmla="*/ 2029510 w 2029510"/>
                <a:gd name="connsiteY2" fmla="*/ 1014572 h 2029143"/>
                <a:gd name="connsiteX3" fmla="*/ 1014755 w 2029510"/>
                <a:gd name="connsiteY3" fmla="*/ 2029144 h 2029143"/>
                <a:gd name="connsiteX4" fmla="*/ 0 w 2029510"/>
                <a:gd name="connsiteY4" fmla="*/ 1014572 h 20291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9510" h="2029143">
                  <a:moveTo>
                    <a:pt x="0" y="1014572"/>
                  </a:moveTo>
                  <a:cubicBezTo>
                    <a:pt x="0" y="454239"/>
                    <a:pt x="454321" y="0"/>
                    <a:pt x="1014755" y="0"/>
                  </a:cubicBezTo>
                  <a:cubicBezTo>
                    <a:pt x="1575189" y="0"/>
                    <a:pt x="2029510" y="454239"/>
                    <a:pt x="2029510" y="1014572"/>
                  </a:cubicBezTo>
                  <a:cubicBezTo>
                    <a:pt x="2029510" y="1574905"/>
                    <a:pt x="1575189" y="2029144"/>
                    <a:pt x="1014755" y="2029144"/>
                  </a:cubicBezTo>
                  <a:cubicBezTo>
                    <a:pt x="454321" y="2029144"/>
                    <a:pt x="0" y="1574905"/>
                    <a:pt x="0" y="1014572"/>
                  </a:cubicBezTo>
                  <a:close/>
                </a:path>
              </a:pathLst>
            </a:custGeom>
          </p:spPr>
          <p:style>
            <a:lnRef idx="3">
              <a:schemeClr val="lt1">
                <a:hueOff val="0"/>
                <a:satOff val="0"/>
                <a:lumOff val="0"/>
                <a:alphaOff val="0"/>
              </a:schemeClr>
            </a:lnRef>
            <a:fillRef idx="1">
              <a:schemeClr val="accent1">
                <a:shade val="80000"/>
                <a:hueOff val="0"/>
                <a:satOff val="0"/>
                <a:lumOff val="0"/>
                <a:alphaOff val="0"/>
              </a:schemeClr>
            </a:fillRef>
            <a:effectRef idx="1">
              <a:schemeClr val="accent1">
                <a:shade val="80000"/>
                <a:hueOff val="0"/>
                <a:satOff val="0"/>
                <a:lumOff val="0"/>
                <a:alphaOff val="0"/>
              </a:schemeClr>
            </a:effectRef>
            <a:fontRef idx="minor">
              <a:schemeClr val="lt1"/>
            </a:fontRef>
          </p:style>
          <p:txBody>
            <a:bodyPr spcFirstLastPara="0" vert="horz" wrap="square" lIns="342935" tIns="342881" rIns="342935" bIns="342881" numCol="1" spcCol="1270" anchor="ctr" anchorCtr="0">
              <a:noAutofit/>
            </a:bodyPr>
            <a:lstStyle/>
            <a:p>
              <a:pPr marL="0" lvl="0" indent="0" algn="ctr" defTabSz="533400">
                <a:lnSpc>
                  <a:spcPct val="90000"/>
                </a:lnSpc>
                <a:spcBef>
                  <a:spcPct val="0"/>
                </a:spcBef>
                <a:spcAft>
                  <a:spcPct val="35000"/>
                </a:spcAft>
                <a:buNone/>
              </a:pPr>
              <a:r>
                <a:rPr lang="en-US" sz="1050" kern="1200" noProof="1">
                  <a:latin typeface="Arial" panose="020B0604020202020204" pitchFamily="34" charset="0"/>
                  <a:cs typeface="Arial" panose="020B0604020202020204" pitchFamily="34" charset="0"/>
                </a:rPr>
                <a:t>6. Configuring </a:t>
              </a:r>
              <a:r>
                <a:rPr lang="en-US" sz="1050" b="1" kern="1200" noProof="1">
                  <a:latin typeface="Arial" panose="020B0604020202020204" pitchFamily="34" charset="0"/>
                  <a:cs typeface="Arial" panose="020B0604020202020204" pitchFamily="34" charset="0"/>
                </a:rPr>
                <a:t>34 </a:t>
              </a:r>
              <a:r>
                <a:rPr lang="en-US" sz="1050" kern="1200" noProof="1">
                  <a:latin typeface="Arial" panose="020B0604020202020204" pitchFamily="34" charset="0"/>
                  <a:cs typeface="Arial" panose="020B0604020202020204" pitchFamily="34" charset="0"/>
                </a:rPr>
                <a:t>scenarios and exporting datasets</a:t>
              </a:r>
            </a:p>
          </p:txBody>
        </p:sp>
        <p:sp>
          <p:nvSpPr>
            <p:cNvPr id="39" name="Freeform: Shape 38">
              <a:extLst>
                <a:ext uri="{FF2B5EF4-FFF2-40B4-BE49-F238E27FC236}">
                  <a16:creationId xmlns:a16="http://schemas.microsoft.com/office/drawing/2014/main" id="{4C44B139-26C3-4034-9F3B-387A19EEF5CD}"/>
                </a:ext>
              </a:extLst>
            </p:cNvPr>
            <p:cNvSpPr/>
            <p:nvPr/>
          </p:nvSpPr>
          <p:spPr>
            <a:xfrm>
              <a:off x="5601185" y="2092634"/>
              <a:ext cx="1442167" cy="1438841"/>
            </a:xfrm>
            <a:custGeom>
              <a:avLst/>
              <a:gdLst>
                <a:gd name="connsiteX0" fmla="*/ 0 w 1163896"/>
                <a:gd name="connsiteY0" fmla="*/ 581878 h 1163756"/>
                <a:gd name="connsiteX1" fmla="*/ 581948 w 1163896"/>
                <a:gd name="connsiteY1" fmla="*/ 0 h 1163756"/>
                <a:gd name="connsiteX2" fmla="*/ 1163896 w 1163896"/>
                <a:gd name="connsiteY2" fmla="*/ 581878 h 1163756"/>
                <a:gd name="connsiteX3" fmla="*/ 581948 w 1163896"/>
                <a:gd name="connsiteY3" fmla="*/ 1163756 h 1163756"/>
                <a:gd name="connsiteX4" fmla="*/ 0 w 1163896"/>
                <a:gd name="connsiteY4" fmla="*/ 581878 h 1163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896" h="1163756">
                  <a:moveTo>
                    <a:pt x="0" y="581878"/>
                  </a:moveTo>
                  <a:cubicBezTo>
                    <a:pt x="0" y="260516"/>
                    <a:pt x="260547" y="0"/>
                    <a:pt x="581948" y="0"/>
                  </a:cubicBezTo>
                  <a:cubicBezTo>
                    <a:pt x="903349" y="0"/>
                    <a:pt x="1163896" y="260516"/>
                    <a:pt x="1163896" y="581878"/>
                  </a:cubicBezTo>
                  <a:cubicBezTo>
                    <a:pt x="1163896" y="903240"/>
                    <a:pt x="903349" y="1163756"/>
                    <a:pt x="581948" y="1163756"/>
                  </a:cubicBezTo>
                  <a:cubicBezTo>
                    <a:pt x="260547" y="1163756"/>
                    <a:pt x="0" y="903240"/>
                    <a:pt x="0" y="581878"/>
                  </a:cubicBezTo>
                  <a:close/>
                </a:path>
              </a:pathLst>
            </a:custGeom>
            <a:solidFill>
              <a:srgbClr val="BDCAE6"/>
            </a:solidFill>
          </p:spPr>
          <p:style>
            <a:lnRef idx="3">
              <a:schemeClr val="lt1">
                <a:hueOff val="0"/>
                <a:satOff val="0"/>
                <a:lumOff val="0"/>
                <a:alphaOff val="0"/>
              </a:schemeClr>
            </a:lnRef>
            <a:fillRef idx="1">
              <a:schemeClr val="accent1">
                <a:shade val="80000"/>
                <a:alpha val="50000"/>
                <a:hueOff val="207742"/>
                <a:satOff val="-4573"/>
                <a:lumOff val="17867"/>
                <a:alphaOff val="0"/>
              </a:schemeClr>
            </a:fillRef>
            <a:effectRef idx="0">
              <a:schemeClr val="accent1">
                <a:shade val="80000"/>
                <a:alpha val="50000"/>
                <a:hueOff val="207742"/>
                <a:satOff val="-4573"/>
                <a:lumOff val="17867"/>
                <a:alphaOff val="0"/>
              </a:schemeClr>
            </a:effectRef>
            <a:fontRef idx="minor">
              <a:schemeClr val="tx1"/>
            </a:fontRef>
          </p:style>
          <p:txBody>
            <a:bodyPr spcFirstLastPara="0" vert="horz" wrap="square" lIns="200929" tIns="200908" rIns="200929" bIns="200908" numCol="1" spcCol="1270" anchor="ctr" anchorCtr="0">
              <a:noAutofit/>
            </a:bodyPr>
            <a:lstStyle/>
            <a:p>
              <a:pPr marL="0" lvl="0" indent="0" algn="ctr" defTabSz="355600">
                <a:lnSpc>
                  <a:spcPct val="90000"/>
                </a:lnSpc>
                <a:spcBef>
                  <a:spcPct val="0"/>
                </a:spcBef>
                <a:spcAft>
                  <a:spcPct val="35000"/>
                </a:spcAft>
                <a:buNone/>
              </a:pPr>
              <a:r>
                <a:rPr lang="en-US" sz="1050" kern="1200" noProof="1">
                  <a:latin typeface="Arial" panose="020B0604020202020204" pitchFamily="34" charset="0"/>
                  <a:cs typeface="Arial" panose="020B0604020202020204" pitchFamily="34" charset="0"/>
                </a:rPr>
                <a:t>5. Generate normal transactions and suspicious patterns with an alert rate</a:t>
              </a:r>
            </a:p>
          </p:txBody>
        </p:sp>
        <p:grpSp>
          <p:nvGrpSpPr>
            <p:cNvPr id="42" name="Group 41">
              <a:extLst>
                <a:ext uri="{FF2B5EF4-FFF2-40B4-BE49-F238E27FC236}">
                  <a16:creationId xmlns:a16="http://schemas.microsoft.com/office/drawing/2014/main" id="{3C19A9B3-B131-4B67-97EB-C908D4A5A4C7}"/>
                </a:ext>
              </a:extLst>
            </p:cNvPr>
            <p:cNvGrpSpPr/>
            <p:nvPr/>
          </p:nvGrpSpPr>
          <p:grpSpPr>
            <a:xfrm>
              <a:off x="3243689" y="2133305"/>
              <a:ext cx="2044586" cy="1222854"/>
              <a:chOff x="3513474" y="2167848"/>
              <a:chExt cx="2044586" cy="1187354"/>
            </a:xfrm>
          </p:grpSpPr>
          <p:sp>
            <p:nvSpPr>
              <p:cNvPr id="40" name="Freeform: Shape 39">
                <a:extLst>
                  <a:ext uri="{FF2B5EF4-FFF2-40B4-BE49-F238E27FC236}">
                    <a16:creationId xmlns:a16="http://schemas.microsoft.com/office/drawing/2014/main" id="{82215D90-C9C3-444F-BECE-239E2D6E8B3C}"/>
                  </a:ext>
                </a:extLst>
              </p:cNvPr>
              <p:cNvSpPr/>
              <p:nvPr/>
            </p:nvSpPr>
            <p:spPr>
              <a:xfrm>
                <a:off x="3513474" y="2167848"/>
                <a:ext cx="1163896" cy="1163756"/>
              </a:xfrm>
              <a:custGeom>
                <a:avLst/>
                <a:gdLst>
                  <a:gd name="connsiteX0" fmla="*/ 0 w 1163896"/>
                  <a:gd name="connsiteY0" fmla="*/ 581878 h 1163756"/>
                  <a:gd name="connsiteX1" fmla="*/ 581948 w 1163896"/>
                  <a:gd name="connsiteY1" fmla="*/ 0 h 1163756"/>
                  <a:gd name="connsiteX2" fmla="*/ 1163896 w 1163896"/>
                  <a:gd name="connsiteY2" fmla="*/ 581878 h 1163756"/>
                  <a:gd name="connsiteX3" fmla="*/ 581948 w 1163896"/>
                  <a:gd name="connsiteY3" fmla="*/ 1163756 h 1163756"/>
                  <a:gd name="connsiteX4" fmla="*/ 0 w 1163896"/>
                  <a:gd name="connsiteY4" fmla="*/ 581878 h 1163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896" h="1163756">
                    <a:moveTo>
                      <a:pt x="0" y="581878"/>
                    </a:moveTo>
                    <a:cubicBezTo>
                      <a:pt x="0" y="260516"/>
                      <a:pt x="260547" y="0"/>
                      <a:pt x="581948" y="0"/>
                    </a:cubicBezTo>
                    <a:cubicBezTo>
                      <a:pt x="903349" y="0"/>
                      <a:pt x="1163896" y="260516"/>
                      <a:pt x="1163896" y="581878"/>
                    </a:cubicBezTo>
                    <a:cubicBezTo>
                      <a:pt x="1163896" y="903240"/>
                      <a:pt x="903349" y="1163756"/>
                      <a:pt x="581948" y="1163756"/>
                    </a:cubicBezTo>
                    <a:cubicBezTo>
                      <a:pt x="260547" y="1163756"/>
                      <a:pt x="0" y="903240"/>
                      <a:pt x="0" y="581878"/>
                    </a:cubicBezTo>
                    <a:close/>
                  </a:path>
                </a:pathLst>
              </a:custGeom>
            </p:spPr>
            <p:style>
              <a:lnRef idx="3">
                <a:schemeClr val="lt1">
                  <a:hueOff val="0"/>
                  <a:satOff val="0"/>
                  <a:lumOff val="0"/>
                  <a:alphaOff val="0"/>
                </a:schemeClr>
              </a:lnRef>
              <a:fillRef idx="1">
                <a:schemeClr val="accent1">
                  <a:shade val="80000"/>
                  <a:alpha val="50000"/>
                  <a:hueOff val="311613"/>
                  <a:satOff val="-6859"/>
                  <a:lumOff val="26801"/>
                  <a:alphaOff val="0"/>
                </a:schemeClr>
              </a:fillRef>
              <a:effectRef idx="0">
                <a:schemeClr val="accent1">
                  <a:shade val="80000"/>
                  <a:alpha val="50000"/>
                  <a:hueOff val="311613"/>
                  <a:satOff val="-6859"/>
                  <a:lumOff val="26801"/>
                  <a:alphaOff val="0"/>
                </a:schemeClr>
              </a:effectRef>
              <a:fontRef idx="minor">
                <a:schemeClr val="tx1"/>
              </a:fontRef>
            </p:style>
            <p:txBody>
              <a:bodyPr spcFirstLastPara="0" vert="horz" wrap="square" lIns="200929" tIns="200908" rIns="200929" bIns="200908" numCol="1" spcCol="1270" anchor="ctr" anchorCtr="0">
                <a:noAutofit/>
              </a:bodyPr>
              <a:lstStyle/>
              <a:p>
                <a:pPr marL="0" lvl="0" indent="0" defTabSz="355600">
                  <a:lnSpc>
                    <a:spcPct val="90000"/>
                  </a:lnSpc>
                  <a:spcBef>
                    <a:spcPct val="0"/>
                  </a:spcBef>
                  <a:spcAft>
                    <a:spcPct val="35000"/>
                  </a:spcAft>
                  <a:buNone/>
                </a:pPr>
                <a:r>
                  <a:rPr lang="en-US" sz="1050" kern="1200" noProof="1">
                    <a:latin typeface="Arial" panose="020B0604020202020204" pitchFamily="34" charset="0"/>
                    <a:cs typeface="Arial" panose="020B0604020202020204" pitchFamily="34" charset="0"/>
                  </a:rPr>
                  <a:t>3. Modelling normal transaction behaviour:</a:t>
                </a:r>
              </a:p>
            </p:txBody>
          </p:sp>
          <p:sp>
            <p:nvSpPr>
              <p:cNvPr id="41" name="Freeform: Shape 40">
                <a:extLst>
                  <a:ext uri="{FF2B5EF4-FFF2-40B4-BE49-F238E27FC236}">
                    <a16:creationId xmlns:a16="http://schemas.microsoft.com/office/drawing/2014/main" id="{5EE52C4E-6B67-4850-9391-5B1868D37DFC}"/>
                  </a:ext>
                </a:extLst>
              </p:cNvPr>
              <p:cNvSpPr/>
              <p:nvPr/>
            </p:nvSpPr>
            <p:spPr>
              <a:xfrm>
                <a:off x="4394164" y="2191446"/>
                <a:ext cx="1163896" cy="1163756"/>
              </a:xfrm>
              <a:custGeom>
                <a:avLst/>
                <a:gdLst>
                  <a:gd name="connsiteX0" fmla="*/ 0 w 1163896"/>
                  <a:gd name="connsiteY0" fmla="*/ 581878 h 1163756"/>
                  <a:gd name="connsiteX1" fmla="*/ 581948 w 1163896"/>
                  <a:gd name="connsiteY1" fmla="*/ 0 h 1163756"/>
                  <a:gd name="connsiteX2" fmla="*/ 1163896 w 1163896"/>
                  <a:gd name="connsiteY2" fmla="*/ 581878 h 1163756"/>
                  <a:gd name="connsiteX3" fmla="*/ 581948 w 1163896"/>
                  <a:gd name="connsiteY3" fmla="*/ 1163756 h 1163756"/>
                  <a:gd name="connsiteX4" fmla="*/ 0 w 1163896"/>
                  <a:gd name="connsiteY4" fmla="*/ 581878 h 11637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3896" h="1163756">
                    <a:moveTo>
                      <a:pt x="0" y="581878"/>
                    </a:moveTo>
                    <a:cubicBezTo>
                      <a:pt x="0" y="260516"/>
                      <a:pt x="260547" y="0"/>
                      <a:pt x="581948" y="0"/>
                    </a:cubicBezTo>
                    <a:cubicBezTo>
                      <a:pt x="903349" y="0"/>
                      <a:pt x="1163896" y="260516"/>
                      <a:pt x="1163896" y="581878"/>
                    </a:cubicBezTo>
                    <a:cubicBezTo>
                      <a:pt x="1163896" y="903240"/>
                      <a:pt x="903349" y="1163756"/>
                      <a:pt x="581948" y="1163756"/>
                    </a:cubicBezTo>
                    <a:cubicBezTo>
                      <a:pt x="260547" y="1163756"/>
                      <a:pt x="0" y="903240"/>
                      <a:pt x="0" y="581878"/>
                    </a:cubicBezTo>
                    <a:close/>
                  </a:path>
                </a:pathLst>
              </a:custGeom>
            </p:spPr>
            <p:style>
              <a:lnRef idx="3">
                <a:schemeClr val="lt1">
                  <a:hueOff val="0"/>
                  <a:satOff val="0"/>
                  <a:lumOff val="0"/>
                  <a:alphaOff val="0"/>
                </a:schemeClr>
              </a:lnRef>
              <a:fillRef idx="1">
                <a:schemeClr val="accent1">
                  <a:shade val="80000"/>
                  <a:alpha val="50000"/>
                  <a:hueOff val="311613"/>
                  <a:satOff val="-6859"/>
                  <a:lumOff val="26801"/>
                  <a:alphaOff val="0"/>
                </a:schemeClr>
              </a:fillRef>
              <a:effectRef idx="0">
                <a:schemeClr val="accent1">
                  <a:shade val="80000"/>
                  <a:alpha val="50000"/>
                  <a:hueOff val="311613"/>
                  <a:satOff val="-6859"/>
                  <a:lumOff val="26801"/>
                  <a:alphaOff val="0"/>
                </a:schemeClr>
              </a:effectRef>
              <a:fontRef idx="minor">
                <a:schemeClr val="tx1"/>
              </a:fontRef>
            </p:style>
            <p:txBody>
              <a:bodyPr spcFirstLastPara="0" vert="horz" wrap="square" lIns="200929" tIns="200908" rIns="200929" bIns="200908" numCol="1" spcCol="1270" anchor="ctr" anchorCtr="0">
                <a:noAutofit/>
              </a:bodyPr>
              <a:lstStyle/>
              <a:p>
                <a:pPr marL="0" lvl="0" indent="0" algn="r" defTabSz="355600">
                  <a:lnSpc>
                    <a:spcPct val="90000"/>
                  </a:lnSpc>
                  <a:spcBef>
                    <a:spcPct val="0"/>
                  </a:spcBef>
                  <a:spcAft>
                    <a:spcPct val="35000"/>
                  </a:spcAft>
                  <a:buNone/>
                </a:pPr>
                <a:r>
                  <a:rPr lang="en-US" sz="1050" kern="1200" noProof="1">
                    <a:latin typeface="Arial" panose="020B0604020202020204" pitchFamily="34" charset="0"/>
                    <a:cs typeface="Arial" panose="020B0604020202020204" pitchFamily="34" charset="0"/>
                  </a:rPr>
                  <a:t>4. Suspicious scenario library</a:t>
                </a:r>
              </a:p>
            </p:txBody>
          </p:sp>
        </p:grpSp>
      </p:grpSp>
      <p:sp>
        <p:nvSpPr>
          <p:cNvPr id="3" name="TextBox 2">
            <a:extLst>
              <a:ext uri="{FF2B5EF4-FFF2-40B4-BE49-F238E27FC236}">
                <a16:creationId xmlns:a16="http://schemas.microsoft.com/office/drawing/2014/main" id="{65355F81-97D7-4DB7-AAFA-9AECFB70367E}"/>
              </a:ext>
            </a:extLst>
          </p:cNvPr>
          <p:cNvSpPr txBox="1"/>
          <p:nvPr/>
        </p:nvSpPr>
        <p:spPr>
          <a:xfrm>
            <a:off x="223551" y="6070694"/>
            <a:ext cx="10701850" cy="307777"/>
          </a:xfrm>
          <a:prstGeom prst="rect">
            <a:avLst/>
          </a:prstGeom>
          <a:noFill/>
        </p:spPr>
        <p:txBody>
          <a:bodyPr wrap="square" rtlCol="0">
            <a:spAutoFit/>
          </a:bodyPr>
          <a:lstStyle/>
          <a:p>
            <a:r>
              <a:rPr lang="en-US" sz="1400" b="1" dirty="0">
                <a:latin typeface="Arial" panose="020B0604020202020204" pitchFamily="34" charset="0"/>
                <a:cs typeface="Arial" panose="020B0604020202020204" pitchFamily="34" charset="0"/>
              </a:rPr>
              <a:t>Syn100</a:t>
            </a:r>
            <a:r>
              <a:rPr lang="en-US" sz="1400" dirty="0">
                <a:latin typeface="Arial" panose="020B0604020202020204" pitchFamily="34" charset="0"/>
                <a:cs typeface="Arial" panose="020B0604020202020204" pitchFamily="34" charset="0"/>
              </a:rPr>
              <a:t>: 5 packages </a:t>
            </a:r>
            <a:r>
              <a:rPr lang="ru-RU" sz="1400" dirty="0">
                <a:latin typeface="Arial" panose="020B0604020202020204" pitchFamily="34" charset="0"/>
                <a:cs typeface="Arial" panose="020B0604020202020204" pitchFamily="34" charset="0"/>
              </a:rPr>
              <a:t>(</a:t>
            </a:r>
            <a:r>
              <a:rPr lang="en-US" sz="1400" b="1" dirty="0">
                <a:latin typeface="Arial" panose="020B0604020202020204" pitchFamily="34" charset="0"/>
                <a:cs typeface="Arial" panose="020B0604020202020204" pitchFamily="34" charset="0"/>
              </a:rPr>
              <a:t>B1–B5</a:t>
            </a:r>
            <a:r>
              <a:rPr lang="ru-RU" sz="1400" dirty="0"/>
              <a:t>) </a:t>
            </a:r>
            <a:r>
              <a:rPr lang="en-US" sz="1400" dirty="0">
                <a:latin typeface="Arial" panose="020B0604020202020204" pitchFamily="34" charset="0"/>
                <a:cs typeface="Arial" panose="020B0604020202020204" pitchFamily="34" charset="0"/>
              </a:rPr>
              <a:t>× (10,000 normal + 100 suspicious)</a:t>
            </a:r>
            <a:r>
              <a:rPr lang="ru-RU"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Syn500</a:t>
            </a:r>
            <a:r>
              <a:rPr lang="en-US" sz="1400" dirty="0">
                <a:latin typeface="Arial" panose="020B0604020202020204" pitchFamily="34" charset="0"/>
                <a:cs typeface="Arial" panose="020B0604020202020204" pitchFamily="34" charset="0"/>
              </a:rPr>
              <a:t>: 5 packages</a:t>
            </a:r>
            <a:r>
              <a:rPr lang="ru-RU" sz="1400" dirty="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B1–B5</a:t>
            </a:r>
            <a:r>
              <a:rPr lang="ru-RU" sz="1400" dirty="0"/>
              <a:t>)</a:t>
            </a:r>
            <a:r>
              <a:rPr lang="en-US" sz="1400" dirty="0">
                <a:latin typeface="Arial" panose="020B0604020202020204" pitchFamily="34" charset="0"/>
                <a:cs typeface="Arial" panose="020B0604020202020204" pitchFamily="34" charset="0"/>
              </a:rPr>
              <a:t> × (50,000 normal + 500 suspicious)</a:t>
            </a:r>
            <a:r>
              <a:rPr lang="ru-RU" sz="1400" dirty="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graphicFrame>
        <p:nvGraphicFramePr>
          <p:cNvPr id="5" name="Diagram 4">
            <a:extLst>
              <a:ext uri="{FF2B5EF4-FFF2-40B4-BE49-F238E27FC236}">
                <a16:creationId xmlns:a16="http://schemas.microsoft.com/office/drawing/2014/main" id="{75C39E76-2FD3-46BD-A83D-C357E4CA5BA1}"/>
              </a:ext>
            </a:extLst>
          </p:cNvPr>
          <p:cNvGraphicFramePr/>
          <p:nvPr>
            <p:extLst>
              <p:ext uri="{D42A27DB-BD31-4B8C-83A1-F6EECF244321}">
                <p14:modId xmlns:p14="http://schemas.microsoft.com/office/powerpoint/2010/main" val="2626345261"/>
              </p:ext>
            </p:extLst>
          </p:nvPr>
        </p:nvGraphicFramePr>
        <p:xfrm>
          <a:off x="9606861" y="19144"/>
          <a:ext cx="1996518" cy="60515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85549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20EBE-D4ED-4EAC-9208-DAF1ABB803B1}"/>
              </a:ext>
            </a:extLst>
          </p:cNvPr>
          <p:cNvSpPr>
            <a:spLocks noGrp="1"/>
          </p:cNvSpPr>
          <p:nvPr>
            <p:ph type="title"/>
          </p:nvPr>
        </p:nvSpPr>
        <p:spPr/>
        <p:txBody>
          <a:bodyPr>
            <a:normAutofit/>
          </a:bodyPr>
          <a:lstStyle/>
          <a:p>
            <a:r>
              <a:rPr lang="en-US" dirty="0"/>
              <a:t>Model Selection</a:t>
            </a:r>
          </a:p>
        </p:txBody>
      </p:sp>
      <p:graphicFrame>
        <p:nvGraphicFramePr>
          <p:cNvPr id="5" name="Content Placeholder 4">
            <a:extLst>
              <a:ext uri="{FF2B5EF4-FFF2-40B4-BE49-F238E27FC236}">
                <a16:creationId xmlns:a16="http://schemas.microsoft.com/office/drawing/2014/main" id="{CD650506-2835-4303-9ACD-40E80647D3A7}"/>
              </a:ext>
            </a:extLst>
          </p:cNvPr>
          <p:cNvGraphicFramePr>
            <a:graphicFrameLocks noGrp="1"/>
          </p:cNvGraphicFramePr>
          <p:nvPr>
            <p:ph idx="1"/>
            <p:extLst>
              <p:ext uri="{D42A27DB-BD31-4B8C-83A1-F6EECF244321}">
                <p14:modId xmlns:p14="http://schemas.microsoft.com/office/powerpoint/2010/main" val="2846335653"/>
              </p:ext>
            </p:extLst>
          </p:nvPr>
        </p:nvGraphicFramePr>
        <p:xfrm>
          <a:off x="363967" y="1435254"/>
          <a:ext cx="11534778" cy="2233995"/>
        </p:xfrm>
        <a:graphic>
          <a:graphicData uri="http://schemas.openxmlformats.org/drawingml/2006/table">
            <a:tbl>
              <a:tblPr firstRow="1" firstCol="1" bandRow="1">
                <a:tableStyleId>{5FD0F851-EC5A-4D38-B0AD-8093EC10F338}</a:tableStyleId>
              </a:tblPr>
              <a:tblGrid>
                <a:gridCol w="1922463">
                  <a:extLst>
                    <a:ext uri="{9D8B030D-6E8A-4147-A177-3AD203B41FA5}">
                      <a16:colId xmlns:a16="http://schemas.microsoft.com/office/drawing/2014/main" val="890023610"/>
                    </a:ext>
                  </a:extLst>
                </a:gridCol>
                <a:gridCol w="1922463">
                  <a:extLst>
                    <a:ext uri="{9D8B030D-6E8A-4147-A177-3AD203B41FA5}">
                      <a16:colId xmlns:a16="http://schemas.microsoft.com/office/drawing/2014/main" val="3576736153"/>
                    </a:ext>
                  </a:extLst>
                </a:gridCol>
                <a:gridCol w="1922463">
                  <a:extLst>
                    <a:ext uri="{9D8B030D-6E8A-4147-A177-3AD203B41FA5}">
                      <a16:colId xmlns:a16="http://schemas.microsoft.com/office/drawing/2014/main" val="173116563"/>
                    </a:ext>
                  </a:extLst>
                </a:gridCol>
                <a:gridCol w="1922463">
                  <a:extLst>
                    <a:ext uri="{9D8B030D-6E8A-4147-A177-3AD203B41FA5}">
                      <a16:colId xmlns:a16="http://schemas.microsoft.com/office/drawing/2014/main" val="3174414256"/>
                    </a:ext>
                  </a:extLst>
                </a:gridCol>
                <a:gridCol w="1747837">
                  <a:extLst>
                    <a:ext uri="{9D8B030D-6E8A-4147-A177-3AD203B41FA5}">
                      <a16:colId xmlns:a16="http://schemas.microsoft.com/office/drawing/2014/main" val="522697276"/>
                    </a:ext>
                  </a:extLst>
                </a:gridCol>
                <a:gridCol w="2097089">
                  <a:extLst>
                    <a:ext uri="{9D8B030D-6E8A-4147-A177-3AD203B41FA5}">
                      <a16:colId xmlns:a16="http://schemas.microsoft.com/office/drawing/2014/main" val="636856206"/>
                    </a:ext>
                  </a:extLst>
                </a:gridCol>
              </a:tblGrid>
              <a:tr h="119008">
                <a:tc>
                  <a:txBody>
                    <a:bodyPr/>
                    <a:lstStyle/>
                    <a:p>
                      <a:pPr algn="ctr">
                        <a:lnSpc>
                          <a:spcPct val="115000"/>
                        </a:lnSpc>
                        <a:spcAft>
                          <a:spcPts val="1000"/>
                        </a:spcAft>
                      </a:pPr>
                      <a:r>
                        <a:rPr lang="en-US" sz="1400" dirty="0">
                          <a:effectLst/>
                          <a:latin typeface="Arial" panose="020B0604020202020204" pitchFamily="34" charset="0"/>
                          <a:cs typeface="Arial" panose="020B0604020202020204" pitchFamily="34" charset="0"/>
                        </a:rPr>
                        <a:t>Model family</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a:txBody>
                    <a:bodyPr/>
                    <a:lstStyle/>
                    <a:p>
                      <a:pPr algn="ctr">
                        <a:lnSpc>
                          <a:spcPct val="115000"/>
                        </a:lnSpc>
                        <a:spcAft>
                          <a:spcPts val="1000"/>
                        </a:spcAft>
                      </a:pPr>
                      <a:r>
                        <a:rPr lang="en-US" sz="1400" dirty="0">
                          <a:effectLst/>
                          <a:latin typeface="Arial" panose="020B0604020202020204" pitchFamily="34" charset="0"/>
                          <a:cs typeface="Arial" panose="020B0604020202020204" pitchFamily="34" charset="0"/>
                        </a:rPr>
                        <a:t>Interpretability</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a:txBody>
                    <a:bodyPr/>
                    <a:lstStyle/>
                    <a:p>
                      <a:pPr algn="ctr">
                        <a:lnSpc>
                          <a:spcPct val="115000"/>
                        </a:lnSpc>
                        <a:spcAft>
                          <a:spcPts val="1000"/>
                        </a:spcAft>
                      </a:pPr>
                      <a:r>
                        <a:rPr lang="en-US" sz="1400" dirty="0">
                          <a:effectLst/>
                          <a:latin typeface="Arial" panose="020B0604020202020204" pitchFamily="34" charset="0"/>
                          <a:cs typeface="Arial" panose="020B0604020202020204" pitchFamily="34" charset="0"/>
                        </a:rPr>
                        <a:t>Class imbalance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a:txBody>
                    <a:bodyPr/>
                    <a:lstStyle/>
                    <a:p>
                      <a:pPr algn="ctr">
                        <a:lnSpc>
                          <a:spcPct val="115000"/>
                        </a:lnSpc>
                        <a:spcAft>
                          <a:spcPts val="1000"/>
                        </a:spcAft>
                      </a:pPr>
                      <a:r>
                        <a:rPr lang="en-US" sz="1400" dirty="0">
                          <a:effectLst/>
                          <a:latin typeface="Arial" panose="020B0604020202020204" pitchFamily="34" charset="0"/>
                          <a:cs typeface="Arial" panose="020B0604020202020204" pitchFamily="34" charset="0"/>
                        </a:rPr>
                        <a:t>Batch-wise update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a:txBody>
                    <a:bodyPr/>
                    <a:lstStyle/>
                    <a:p>
                      <a:pPr algn="ctr">
                        <a:lnSpc>
                          <a:spcPct val="115000"/>
                        </a:lnSpc>
                        <a:spcAft>
                          <a:spcPts val="1000"/>
                        </a:spcAft>
                      </a:pPr>
                      <a:r>
                        <a:rPr lang="en-US" sz="1400" dirty="0">
                          <a:effectLst/>
                          <a:latin typeface="Arial" panose="020B0604020202020204" pitchFamily="34" charset="0"/>
                          <a:cs typeface="Arial" panose="020B0604020202020204" pitchFamily="34" charset="0"/>
                        </a:rPr>
                        <a:t>Data scale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a:txBody>
                    <a:bodyPr/>
                    <a:lstStyle/>
                    <a:p>
                      <a:pPr algn="ctr">
                        <a:lnSpc>
                          <a:spcPct val="115000"/>
                        </a:lnSpc>
                        <a:spcAft>
                          <a:spcPts val="1000"/>
                        </a:spcAft>
                      </a:pPr>
                      <a:r>
                        <a:rPr lang="en-US" sz="1400" dirty="0">
                          <a:effectLst/>
                          <a:latin typeface="Arial" panose="020B0604020202020204" pitchFamily="34" charset="0"/>
                          <a:cs typeface="Arial" panose="020B0604020202020204" pitchFamily="34" charset="0"/>
                        </a:rPr>
                        <a:t>Limitations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extLst>
                  <a:ext uri="{0D108BD9-81ED-4DB2-BD59-A6C34878D82A}">
                    <a16:rowId xmlns:a16="http://schemas.microsoft.com/office/drawing/2014/main" val="1613632492"/>
                  </a:ext>
                </a:extLst>
              </a:tr>
              <a:tr h="625258">
                <a:tc>
                  <a:txBody>
                    <a:bodyPr/>
                    <a:lstStyle/>
                    <a:p>
                      <a:pPr>
                        <a:lnSpc>
                          <a:spcPct val="115000"/>
                        </a:lnSpc>
                        <a:spcAft>
                          <a:spcPts val="1000"/>
                        </a:spcAft>
                      </a:pPr>
                      <a:r>
                        <a:rPr lang="en-US" sz="1400" dirty="0">
                          <a:effectLst/>
                          <a:latin typeface="Arial" panose="020B0604020202020204" pitchFamily="34" charset="0"/>
                          <a:cs typeface="Arial" panose="020B0604020202020204" pitchFamily="34" charset="0"/>
                        </a:rPr>
                        <a:t>Gradient‑Boosted (GBM, XGB)</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B w="12700"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b="1" dirty="0">
                          <a:solidFill>
                            <a:schemeClr val="accent6">
                              <a:lumMod val="75000"/>
                            </a:schemeClr>
                          </a:solidFill>
                          <a:effectLst/>
                          <a:latin typeface="Arial" panose="020B0604020202020204" pitchFamily="34" charset="0"/>
                          <a:cs typeface="Arial" panose="020B0604020202020204" pitchFamily="34" charset="0"/>
                        </a:rPr>
                        <a:t>✓</a:t>
                      </a:r>
                      <a:r>
                        <a:rPr lang="en-US" sz="1400" dirty="0">
                          <a:effectLst/>
                          <a:latin typeface="Arial" panose="020B0604020202020204" pitchFamily="34" charset="0"/>
                          <a:cs typeface="Arial" panose="020B0604020202020204" pitchFamily="34" charset="0"/>
                        </a:rPr>
                        <a:t> (post‑hoc SHAP)</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B w="12700"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b="1" dirty="0">
                          <a:solidFill>
                            <a:schemeClr val="accent6">
                              <a:lumMod val="75000"/>
                            </a:schemeClr>
                          </a:solidFill>
                          <a:effectLst/>
                          <a:latin typeface="Arial" panose="020B0604020202020204" pitchFamily="34" charset="0"/>
                          <a:cs typeface="Arial" panose="020B0604020202020204" pitchFamily="34" charset="0"/>
                        </a:rPr>
                        <a:t>✓</a:t>
                      </a:r>
                      <a:r>
                        <a:rPr lang="en-US" sz="1400" dirty="0">
                          <a:effectLst/>
                          <a:latin typeface="Arial" panose="020B0604020202020204" pitchFamily="34" charset="0"/>
                          <a:cs typeface="Arial" panose="020B0604020202020204" pitchFamily="34" charset="0"/>
                        </a:rPr>
                        <a:t> (class‑weights / focal / scale pos weight)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B w="12700"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b="1" dirty="0">
                          <a:solidFill>
                            <a:schemeClr val="accent6">
                              <a:lumMod val="75000"/>
                            </a:schemeClr>
                          </a:solidFill>
                          <a:effectLst/>
                          <a:latin typeface="Arial" panose="020B0604020202020204" pitchFamily="34" charset="0"/>
                          <a:cs typeface="Arial" panose="020B0604020202020204" pitchFamily="34" charset="0"/>
                        </a:rPr>
                        <a:t>✓</a:t>
                      </a:r>
                      <a:r>
                        <a:rPr lang="en-US" sz="1400" dirty="0">
                          <a:effectLst/>
                          <a:latin typeface="Arial" panose="020B0604020202020204" pitchFamily="34" charset="0"/>
                          <a:cs typeface="Arial" panose="020B0604020202020204" pitchFamily="34" charset="0"/>
                        </a:rPr>
                        <a:t> (batch updates; not online)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B w="12700" cap="flat" cmpd="sng" algn="ctr">
                      <a:solidFill>
                        <a:srgbClr val="8DBAE2"/>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400" dirty="0">
                          <a:effectLst/>
                          <a:latin typeface="Arial" panose="020B0604020202020204" pitchFamily="34" charset="0"/>
                          <a:cs typeface="Arial" panose="020B0604020202020204" pitchFamily="34" charset="0"/>
                        </a:rPr>
                        <a:t>5 k – 1 M</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B w="12700"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dirty="0">
                          <a:effectLst/>
                          <a:latin typeface="Arial" panose="020B0604020202020204" pitchFamily="34" charset="0"/>
                          <a:cs typeface="Arial" panose="020B0604020202020204" pitchFamily="34" charset="0"/>
                        </a:rPr>
                        <a:t>Needs careful probability calibration in tail regions; sensitive to feature leakage.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B w="12700" cap="flat" cmpd="sng" algn="ctr">
                      <a:solidFill>
                        <a:srgbClr val="8DBAE2"/>
                      </a:solidFill>
                      <a:prstDash val="solid"/>
                      <a:round/>
                      <a:headEnd type="none" w="med" len="med"/>
                      <a:tailEnd type="none" w="med" len="med"/>
                    </a:lnB>
                    <a:solidFill>
                      <a:schemeClr val="bg1"/>
                    </a:solidFill>
                  </a:tcPr>
                </a:tc>
                <a:extLst>
                  <a:ext uri="{0D108BD9-81ED-4DB2-BD59-A6C34878D82A}">
                    <a16:rowId xmlns:a16="http://schemas.microsoft.com/office/drawing/2014/main" val="3950444710"/>
                  </a:ext>
                </a:extLst>
              </a:tr>
              <a:tr h="370822">
                <a:tc>
                  <a:txBody>
                    <a:bodyPr/>
                    <a:lstStyle/>
                    <a:p>
                      <a:pPr>
                        <a:lnSpc>
                          <a:spcPct val="115000"/>
                        </a:lnSpc>
                        <a:spcAft>
                          <a:spcPts val="1000"/>
                        </a:spcAft>
                      </a:pPr>
                      <a:r>
                        <a:rPr lang="en-US" sz="1400" dirty="0">
                          <a:effectLst/>
                          <a:latin typeface="Arial" panose="020B0604020202020204" pitchFamily="34" charset="0"/>
                          <a:cs typeface="Arial" panose="020B0604020202020204" pitchFamily="34" charset="0"/>
                        </a:rPr>
                        <a:t>Random Forest (RF)</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T w="12700" cap="flat" cmpd="sng" algn="ctr">
                      <a:solidFill>
                        <a:srgbClr val="8DBAE2"/>
                      </a:solidFill>
                      <a:prstDash val="solid"/>
                      <a:round/>
                      <a:headEnd type="none" w="med" len="med"/>
                      <a:tailEnd type="none" w="med" len="med"/>
                    </a:lnT>
                    <a:lnB w="12700"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b="1" dirty="0">
                          <a:effectLst/>
                          <a:latin typeface="Arial" panose="020B0604020202020204" pitchFamily="34" charset="0"/>
                          <a:cs typeface="Arial" panose="020B0604020202020204" pitchFamily="34" charset="0"/>
                        </a:rPr>
                        <a:t>±</a:t>
                      </a:r>
                      <a:r>
                        <a:rPr lang="en-US" sz="1400" dirty="0">
                          <a:effectLst/>
                          <a:latin typeface="Arial" panose="020B0604020202020204" pitchFamily="34" charset="0"/>
                          <a:cs typeface="Arial" panose="020B0604020202020204" pitchFamily="34" charset="0"/>
                        </a:rPr>
                        <a:t> (feature importance / partial interpretability)</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T w="12700" cap="flat" cmpd="sng" algn="ctr">
                      <a:solidFill>
                        <a:srgbClr val="8DBAE2"/>
                      </a:solidFill>
                      <a:prstDash val="solid"/>
                      <a:round/>
                      <a:headEnd type="none" w="med" len="med"/>
                      <a:tailEnd type="none" w="med" len="med"/>
                    </a:lnT>
                    <a:lnB w="12700"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b="1" dirty="0">
                          <a:effectLst/>
                          <a:latin typeface="Arial" panose="020B0604020202020204" pitchFamily="34" charset="0"/>
                          <a:cs typeface="Arial" panose="020B0604020202020204" pitchFamily="34" charset="0"/>
                        </a:rPr>
                        <a:t>±</a:t>
                      </a:r>
                      <a:r>
                        <a:rPr lang="en-US" sz="1400" dirty="0">
                          <a:effectLst/>
                          <a:latin typeface="Arial" panose="020B0604020202020204" pitchFamily="34" charset="0"/>
                          <a:cs typeface="Arial" panose="020B0604020202020204" pitchFamily="34" charset="0"/>
                        </a:rPr>
                        <a:t> (class weights / sampling)</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T w="12700" cap="flat" cmpd="sng" algn="ctr">
                      <a:solidFill>
                        <a:srgbClr val="8DBAE2"/>
                      </a:solidFill>
                      <a:prstDash val="solid"/>
                      <a:round/>
                      <a:headEnd type="none" w="med" len="med"/>
                      <a:tailEnd type="none" w="med" len="med"/>
                    </a:lnT>
                    <a:lnB w="12700"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b="1" dirty="0">
                          <a:solidFill>
                            <a:schemeClr val="accent6">
                              <a:lumMod val="75000"/>
                            </a:schemeClr>
                          </a:solidFill>
                          <a:effectLst/>
                          <a:latin typeface="Arial" panose="020B0604020202020204" pitchFamily="34" charset="0"/>
                          <a:cs typeface="Arial" panose="020B0604020202020204" pitchFamily="34" charset="0"/>
                        </a:rPr>
                        <a:t>✓</a:t>
                      </a:r>
                      <a:r>
                        <a:rPr lang="en-US" sz="1400" dirty="0">
                          <a:effectLst/>
                          <a:latin typeface="Arial" panose="020B0604020202020204" pitchFamily="34" charset="0"/>
                          <a:cs typeface="Arial" panose="020B0604020202020204" pitchFamily="34" charset="0"/>
                        </a:rPr>
                        <a:t> (batch updates; not online)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T w="12700" cap="flat" cmpd="sng" algn="ctr">
                      <a:solidFill>
                        <a:srgbClr val="8DBAE2"/>
                      </a:solidFill>
                      <a:prstDash val="solid"/>
                      <a:round/>
                      <a:headEnd type="none" w="med" len="med"/>
                      <a:tailEnd type="none" w="med" len="med"/>
                    </a:lnT>
                    <a:lnB w="12700" cap="flat" cmpd="sng" algn="ctr">
                      <a:solidFill>
                        <a:srgbClr val="8DBAE2"/>
                      </a:solidFill>
                      <a:prstDash val="solid"/>
                      <a:round/>
                      <a:headEnd type="none" w="med" len="med"/>
                      <a:tailEnd type="none" w="med" len="med"/>
                    </a:lnB>
                    <a:solidFill>
                      <a:schemeClr val="bg1"/>
                    </a:solidFill>
                  </a:tcPr>
                </a:tc>
                <a:tc>
                  <a:txBody>
                    <a:bodyPr/>
                    <a:lstStyle/>
                    <a:p>
                      <a:pPr algn="ctr">
                        <a:lnSpc>
                          <a:spcPct val="115000"/>
                        </a:lnSpc>
                        <a:spcAft>
                          <a:spcPts val="1000"/>
                        </a:spcAft>
                      </a:pPr>
                      <a:r>
                        <a:rPr lang="en-US" sz="1400" dirty="0">
                          <a:effectLst/>
                          <a:latin typeface="Arial" panose="020B0604020202020204" pitchFamily="34" charset="0"/>
                          <a:cs typeface="Arial" panose="020B0604020202020204" pitchFamily="34" charset="0"/>
                        </a:rPr>
                        <a:t>≥ 1 k</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T w="12700" cap="flat" cmpd="sng" algn="ctr">
                      <a:solidFill>
                        <a:srgbClr val="8DBAE2"/>
                      </a:solidFill>
                      <a:prstDash val="solid"/>
                      <a:round/>
                      <a:headEnd type="none" w="med" len="med"/>
                      <a:tailEnd type="none" w="med" len="med"/>
                    </a:lnT>
                    <a:lnB w="12700"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dirty="0">
                          <a:effectLst/>
                          <a:latin typeface="Arial" panose="020B0604020202020204" pitchFamily="34" charset="0"/>
                          <a:cs typeface="Arial" panose="020B0604020202020204" pitchFamily="34" charset="0"/>
                        </a:rPr>
                        <a:t>Lower quality ceiling than GBM.</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T w="12700" cap="flat" cmpd="sng" algn="ctr">
                      <a:solidFill>
                        <a:srgbClr val="8DBAE2"/>
                      </a:solidFill>
                      <a:prstDash val="solid"/>
                      <a:round/>
                      <a:headEnd type="none" w="med" len="med"/>
                      <a:tailEnd type="none" w="med" len="med"/>
                    </a:lnT>
                    <a:lnB w="12700" cap="flat" cmpd="sng" algn="ctr">
                      <a:solidFill>
                        <a:srgbClr val="8DBAE2"/>
                      </a:solidFill>
                      <a:prstDash val="solid"/>
                      <a:round/>
                      <a:headEnd type="none" w="med" len="med"/>
                      <a:tailEnd type="none" w="med" len="med"/>
                    </a:lnB>
                    <a:solidFill>
                      <a:schemeClr val="bg1"/>
                    </a:solidFill>
                  </a:tcPr>
                </a:tc>
                <a:extLst>
                  <a:ext uri="{0D108BD9-81ED-4DB2-BD59-A6C34878D82A}">
                    <a16:rowId xmlns:a16="http://schemas.microsoft.com/office/drawing/2014/main" val="268548327"/>
                  </a:ext>
                </a:extLst>
              </a:tr>
              <a:tr h="251210">
                <a:tc gridSpan="6">
                  <a:txBody>
                    <a:bodyPr/>
                    <a:lstStyle/>
                    <a:p>
                      <a:pPr>
                        <a:lnSpc>
                          <a:spcPct val="100000"/>
                        </a:lnSpc>
                        <a:spcAft>
                          <a:spcPts val="0"/>
                        </a:spcAft>
                      </a:pPr>
                      <a:r>
                        <a:rPr lang="en-US" sz="1050" b="0" dirty="0">
                          <a:effectLst/>
                          <a:latin typeface="Arial" panose="020B0604020202020204" pitchFamily="34" charset="0"/>
                          <a:cs typeface="Arial" panose="020B0604020202020204" pitchFamily="34" charset="0"/>
                        </a:rPr>
                        <a:t>Legend: </a:t>
                      </a:r>
                      <a:r>
                        <a:rPr lang="en-US" sz="1050" b="1" dirty="0">
                          <a:solidFill>
                            <a:schemeClr val="accent6">
                              <a:lumMod val="75000"/>
                            </a:schemeClr>
                          </a:solidFill>
                          <a:effectLst/>
                          <a:latin typeface="Arial" panose="020B0604020202020204" pitchFamily="34" charset="0"/>
                          <a:cs typeface="Arial" panose="020B0604020202020204" pitchFamily="34" charset="0"/>
                        </a:rPr>
                        <a:t>✓</a:t>
                      </a:r>
                      <a:r>
                        <a:rPr lang="en-US" sz="1050" b="0" dirty="0">
                          <a:effectLst/>
                          <a:latin typeface="Arial" panose="020B0604020202020204" pitchFamily="34" charset="0"/>
                          <a:cs typeface="Arial" panose="020B0604020202020204" pitchFamily="34" charset="0"/>
                        </a:rPr>
                        <a:t>is a strength; </a:t>
                      </a:r>
                      <a:r>
                        <a:rPr lang="en-US" sz="1050" b="1" dirty="0">
                          <a:effectLst/>
                          <a:latin typeface="Arial" panose="020B0604020202020204" pitchFamily="34" charset="0"/>
                          <a:cs typeface="Arial" panose="020B0604020202020204" pitchFamily="34" charset="0"/>
                        </a:rPr>
                        <a:t>±</a:t>
                      </a:r>
                      <a:r>
                        <a:rPr lang="en-US" sz="1050" b="0" dirty="0">
                          <a:effectLst/>
                          <a:latin typeface="Arial" panose="020B0604020202020204" pitchFamily="34" charset="0"/>
                          <a:cs typeface="Arial" panose="020B0604020202020204" pitchFamily="34" charset="0"/>
                        </a:rPr>
                        <a:t> is an acceptable/tuning dependent; </a:t>
                      </a:r>
                      <a:r>
                        <a:rPr lang="en-US" sz="1050" b="1" dirty="0">
                          <a:solidFill>
                            <a:srgbClr val="C00000"/>
                          </a:solidFill>
                          <a:effectLst/>
                          <a:latin typeface="Arial" panose="020B0604020202020204" pitchFamily="34" charset="0"/>
                          <a:cs typeface="Arial" panose="020B0604020202020204" pitchFamily="34" charset="0"/>
                        </a:rPr>
                        <a:t>✗</a:t>
                      </a:r>
                      <a:r>
                        <a:rPr lang="en-US" sz="1050" b="0" dirty="0">
                          <a:effectLst/>
                          <a:latin typeface="Arial" panose="020B0604020202020204" pitchFamily="34" charset="0"/>
                          <a:cs typeface="Arial" panose="020B0604020202020204" pitchFamily="34" charset="0"/>
                        </a:rPr>
                        <a:t>is a weakness; k is a thousand.</a:t>
                      </a:r>
                      <a:endParaRPr lang="ru-RU" sz="1050" b="0" dirty="0">
                        <a:effectLst/>
                        <a:latin typeface="Arial" panose="020B0604020202020204" pitchFamily="34" charset="0"/>
                        <a:cs typeface="Arial" panose="020B0604020202020204" pitchFamily="34" charset="0"/>
                      </a:endParaRPr>
                    </a:p>
                    <a:p>
                      <a:pPr>
                        <a:lnSpc>
                          <a:spcPct val="100000"/>
                        </a:lnSpc>
                        <a:spcAft>
                          <a:spcPts val="0"/>
                        </a:spcAft>
                      </a:pPr>
                      <a:endParaRPr lang="ru-RU" sz="500" b="0" dirty="0">
                        <a:effectLst/>
                        <a:latin typeface="Arial" panose="020B0604020202020204" pitchFamily="34" charset="0"/>
                        <a:cs typeface="Arial" panose="020B0604020202020204" pitchFamily="34" charset="0"/>
                      </a:endParaRPr>
                    </a:p>
                    <a:p>
                      <a:pPr>
                        <a:lnSpc>
                          <a:spcPct val="100000"/>
                        </a:lnSpc>
                        <a:spcAft>
                          <a:spcPts val="0"/>
                        </a:spcAft>
                      </a:pPr>
                      <a:r>
                        <a:rPr lang="en-US" sz="1050" b="0" dirty="0">
                          <a:effectLst/>
                          <a:latin typeface="Arial" panose="020B0604020202020204" pitchFamily="34" charset="0"/>
                          <a:cs typeface="Arial" panose="020B0604020202020204" pitchFamily="34" charset="0"/>
                        </a:rPr>
                        <a:t>Note: “Batch-wise update” refers to model maintenance using new data batches and retraining</a:t>
                      </a:r>
                      <a:r>
                        <a:rPr lang="ru-RU" sz="1050" b="0" dirty="0">
                          <a:effectLst/>
                          <a:latin typeface="Arial" panose="020B0604020202020204" pitchFamily="34" charset="0"/>
                          <a:cs typeface="Arial" panose="020B0604020202020204" pitchFamily="34" charset="0"/>
                        </a:rPr>
                        <a:t>, </a:t>
                      </a:r>
                      <a:r>
                        <a:rPr lang="en-US" sz="1050" b="0" dirty="0">
                          <a:effectLst/>
                          <a:latin typeface="Arial" panose="020B0604020202020204" pitchFamily="34" charset="0"/>
                          <a:cs typeface="Arial" panose="020B0604020202020204" pitchFamily="34" charset="0"/>
                        </a:rPr>
                        <a:t>not true online learning</a:t>
                      </a:r>
                      <a:r>
                        <a:rPr lang="ru-RU" sz="1050" b="0" dirty="0">
                          <a:effectLst/>
                          <a:latin typeface="Arial" panose="020B0604020202020204" pitchFamily="34" charset="0"/>
                          <a:cs typeface="Arial" panose="020B0604020202020204" pitchFamily="34" charset="0"/>
                        </a:rPr>
                        <a:t>.</a:t>
                      </a:r>
                    </a:p>
                    <a:p>
                      <a:pPr>
                        <a:lnSpc>
                          <a:spcPct val="100000"/>
                        </a:lnSpc>
                        <a:spcAft>
                          <a:spcPts val="0"/>
                        </a:spcAft>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lnT w="12700" cap="flat" cmpd="sng" algn="ctr">
                      <a:solidFill>
                        <a:srgbClr val="8DBAE2"/>
                      </a:solidFill>
                      <a:prstDash val="solid"/>
                      <a:round/>
                      <a:headEnd type="none" w="med" len="med"/>
                      <a:tailEnd type="none" w="med" len="med"/>
                    </a:lnT>
                    <a:lnB w="38100" cap="flat" cmpd="sng" algn="ctr">
                      <a:solidFill>
                        <a:srgbClr val="8DBAE2"/>
                      </a:solidFill>
                      <a:prstDash val="solid"/>
                      <a:round/>
                      <a:headEnd type="none" w="med" len="med"/>
                      <a:tailEnd type="none" w="med" len="med"/>
                    </a:lnB>
                    <a:solidFill>
                      <a:schemeClr val="bg1"/>
                    </a:solidFill>
                  </a:tcPr>
                </a:tc>
                <a:tc hMerge="1">
                  <a:txBody>
                    <a:bodyPr/>
                    <a:lstStyle/>
                    <a:p>
                      <a:pPr>
                        <a:lnSpc>
                          <a:spcPct val="115000"/>
                        </a:lnSpc>
                        <a:spcAft>
                          <a:spcPts val="1000"/>
                        </a:spcAft>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hMerge="1">
                  <a:txBody>
                    <a:bodyPr/>
                    <a:lstStyle/>
                    <a:p>
                      <a:pPr>
                        <a:lnSpc>
                          <a:spcPct val="115000"/>
                        </a:lnSpc>
                        <a:spcAft>
                          <a:spcPts val="1000"/>
                        </a:spcAft>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hMerge="1">
                  <a:txBody>
                    <a:bodyPr/>
                    <a:lstStyle/>
                    <a:p>
                      <a:pPr>
                        <a:lnSpc>
                          <a:spcPct val="115000"/>
                        </a:lnSpc>
                        <a:spcAft>
                          <a:spcPts val="1000"/>
                        </a:spcAft>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hMerge="1">
                  <a:txBody>
                    <a:bodyPr/>
                    <a:lstStyle/>
                    <a:p>
                      <a:pPr>
                        <a:lnSpc>
                          <a:spcPct val="115000"/>
                        </a:lnSpc>
                        <a:spcAft>
                          <a:spcPts val="1000"/>
                        </a:spcAft>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tc hMerge="1">
                  <a:txBody>
                    <a:bodyPr/>
                    <a:lstStyle/>
                    <a:p>
                      <a:pPr>
                        <a:lnSpc>
                          <a:spcPct val="115000"/>
                        </a:lnSpc>
                        <a:spcAft>
                          <a:spcPts val="1000"/>
                        </a:spcAft>
                      </a:pP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24530" marR="24530" marT="0" marB="0" anchor="ctr"/>
                </a:tc>
                <a:extLst>
                  <a:ext uri="{0D108BD9-81ED-4DB2-BD59-A6C34878D82A}">
                    <a16:rowId xmlns:a16="http://schemas.microsoft.com/office/drawing/2014/main" val="4117254663"/>
                  </a:ext>
                </a:extLst>
              </a:tr>
            </a:tbl>
          </a:graphicData>
        </a:graphic>
      </p:graphicFrame>
      <p:sp>
        <p:nvSpPr>
          <p:cNvPr id="4" name="Slide Number Placeholder 3">
            <a:extLst>
              <a:ext uri="{FF2B5EF4-FFF2-40B4-BE49-F238E27FC236}">
                <a16:creationId xmlns:a16="http://schemas.microsoft.com/office/drawing/2014/main" id="{57503F1E-46B4-4F01-8F8F-D8AE66263EC8}"/>
              </a:ext>
            </a:extLst>
          </p:cNvPr>
          <p:cNvSpPr>
            <a:spLocks noGrp="1"/>
          </p:cNvSpPr>
          <p:nvPr>
            <p:ph type="sldNum" sz="quarter" idx="12"/>
          </p:nvPr>
        </p:nvSpPr>
        <p:spPr/>
        <p:txBody>
          <a:bodyPr/>
          <a:lstStyle/>
          <a:p>
            <a:pPr algn="ctr"/>
            <a:fld id="{1478D195-628D-428E-B98B-35B3E9B486B6}" type="slidenum">
              <a:rPr lang="en-US" smtClean="0">
                <a:latin typeface="Arial" panose="020B0604020202020204" pitchFamily="34" charset="0"/>
                <a:cs typeface="Arial" panose="020B0604020202020204" pitchFamily="34" charset="0"/>
              </a:rPr>
              <a:pPr algn="ctr"/>
              <a:t>9</a:t>
            </a:fld>
            <a:endParaRPr lang="en-US">
              <a:latin typeface="Arial" panose="020B0604020202020204" pitchFamily="34" charset="0"/>
              <a:cs typeface="Arial" panose="020B0604020202020204" pitchFamily="34" charset="0"/>
            </a:endParaRPr>
          </a:p>
        </p:txBody>
      </p:sp>
      <p:sp>
        <p:nvSpPr>
          <p:cNvPr id="12" name="Content Placeholder 2">
            <a:extLst>
              <a:ext uri="{FF2B5EF4-FFF2-40B4-BE49-F238E27FC236}">
                <a16:creationId xmlns:a16="http://schemas.microsoft.com/office/drawing/2014/main" id="{4C1A26AB-432F-4FD6-89BB-3C1B873F7E78}"/>
              </a:ext>
            </a:extLst>
          </p:cNvPr>
          <p:cNvSpPr txBox="1">
            <a:spLocks/>
          </p:cNvSpPr>
          <p:nvPr/>
        </p:nvSpPr>
        <p:spPr>
          <a:xfrm>
            <a:off x="363967" y="963691"/>
            <a:ext cx="10515600" cy="33833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Tx/>
              <a:buBlip>
                <a:blip r:embed="rId3"/>
              </a:buBlip>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4"/>
              </a:buBlip>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4"/>
              </a:buBlip>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4"/>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4"/>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200" dirty="0"/>
              <a:t>Manual</a:t>
            </a:r>
            <a:endParaRPr lang="ru-RU" dirty="0"/>
          </a:p>
          <a:p>
            <a:pPr marL="0" indent="0">
              <a:buFontTx/>
              <a:buNone/>
            </a:pPr>
            <a:endParaRPr lang="en-US" dirty="0"/>
          </a:p>
        </p:txBody>
      </p:sp>
      <p:graphicFrame>
        <p:nvGraphicFramePr>
          <p:cNvPr id="14" name="Table 13">
            <a:extLst>
              <a:ext uri="{FF2B5EF4-FFF2-40B4-BE49-F238E27FC236}">
                <a16:creationId xmlns:a16="http://schemas.microsoft.com/office/drawing/2014/main" id="{0AB486A7-3C9C-4A60-B8F0-E7CA3A7ECB01}"/>
              </a:ext>
            </a:extLst>
          </p:cNvPr>
          <p:cNvGraphicFramePr>
            <a:graphicFrameLocks noGrp="1"/>
          </p:cNvGraphicFramePr>
          <p:nvPr>
            <p:extLst>
              <p:ext uri="{D42A27DB-BD31-4B8C-83A1-F6EECF244321}">
                <p14:modId xmlns:p14="http://schemas.microsoft.com/office/powerpoint/2010/main" val="4069422509"/>
              </p:ext>
            </p:extLst>
          </p:nvPr>
        </p:nvGraphicFramePr>
        <p:xfrm>
          <a:off x="599969" y="4128058"/>
          <a:ext cx="5847990" cy="1260770"/>
        </p:xfrm>
        <a:graphic>
          <a:graphicData uri="http://schemas.openxmlformats.org/drawingml/2006/table">
            <a:tbl>
              <a:tblPr firstRow="1" firstCol="1" bandRow="1">
                <a:tableStyleId>{BC89EF96-8CEA-46FF-86C4-4CE0E7609802}</a:tableStyleId>
              </a:tblPr>
              <a:tblGrid>
                <a:gridCol w="248878">
                  <a:extLst>
                    <a:ext uri="{9D8B030D-6E8A-4147-A177-3AD203B41FA5}">
                      <a16:colId xmlns:a16="http://schemas.microsoft.com/office/drawing/2014/main" val="3668496004"/>
                    </a:ext>
                  </a:extLst>
                </a:gridCol>
                <a:gridCol w="596103">
                  <a:extLst>
                    <a:ext uri="{9D8B030D-6E8A-4147-A177-3AD203B41FA5}">
                      <a16:colId xmlns:a16="http://schemas.microsoft.com/office/drawing/2014/main" val="3492485693"/>
                    </a:ext>
                  </a:extLst>
                </a:gridCol>
                <a:gridCol w="5003009">
                  <a:extLst>
                    <a:ext uri="{9D8B030D-6E8A-4147-A177-3AD203B41FA5}">
                      <a16:colId xmlns:a16="http://schemas.microsoft.com/office/drawing/2014/main" val="721435301"/>
                    </a:ext>
                  </a:extLst>
                </a:gridCol>
              </a:tblGrid>
              <a:tr h="252154">
                <a:tc>
                  <a:txBody>
                    <a:bodyPr/>
                    <a:lstStyle/>
                    <a:p>
                      <a:pPr algn="l">
                        <a:lnSpc>
                          <a:spcPct val="100000"/>
                        </a:lnSpc>
                      </a:pPr>
                      <a:r>
                        <a:rPr lang="en-US" sz="1200" dirty="0">
                          <a:effectLst/>
                          <a:latin typeface="Arial" panose="020B0604020202020204" pitchFamily="34" charset="0"/>
                          <a:cs typeface="Arial" panose="020B0604020202020204" pitchFamily="34" charset="0"/>
                        </a:rPr>
                        <a:t>1</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mpd="sng">
                      <a:noFill/>
                    </a:lnL>
                    <a:lnR w="12700" cap="flat" cmpd="sng" algn="ctr">
                      <a:solidFill>
                        <a:schemeClr val="accent3"/>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lnSpc>
                          <a:spcPct val="100000"/>
                        </a:lnSpc>
                      </a:pPr>
                      <a:r>
                        <a:rPr lang="en-US" sz="1200" b="1" dirty="0">
                          <a:effectLst/>
                          <a:latin typeface="Arial" panose="020B0604020202020204" pitchFamily="34" charset="0"/>
                          <a:cs typeface="Arial" panose="020B0604020202020204" pitchFamily="34" charset="0"/>
                        </a:rPr>
                        <a:t>XGB</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3"/>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5">
                  <a:txBody>
                    <a:bodyPr/>
                    <a:lstStyle/>
                    <a:p>
                      <a:pPr marL="0" lvl="2" indent="0" algn="l">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Used as an independent benchmark</a:t>
                      </a:r>
                      <a:endParaRPr lang="ru-RU" sz="1200" dirty="0">
                        <a:latin typeface="Arial" panose="020B0604020202020204" pitchFamily="34" charset="0"/>
                        <a:cs typeface="Arial" panose="020B0604020202020204" pitchFamily="34" charset="0"/>
                      </a:endParaRPr>
                    </a:p>
                    <a:p>
                      <a:pPr marL="0" lvl="2" indent="0" algn="l">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Across 5 data packages, GBM/XGB consistently ranked as leaders</a:t>
                      </a:r>
                      <a:endParaRPr lang="ru-RU" sz="1200" dirty="0">
                        <a:latin typeface="Arial" panose="020B0604020202020204" pitchFamily="34" charset="0"/>
                        <a:cs typeface="Arial" panose="020B0604020202020204" pitchFamily="34" charset="0"/>
                      </a:endParaRPr>
                    </a:p>
                    <a:p>
                      <a:pPr marL="0" lvl="2" indent="0" algn="l">
                        <a:lnSpc>
                          <a:spcPct val="150000"/>
                        </a:lnSpc>
                        <a:buFont typeface="Arial" panose="020B0604020202020204" pitchFamily="34" charset="0"/>
                        <a:buChar char="•"/>
                      </a:pPr>
                      <a:r>
                        <a:rPr lang="en-US" sz="1200" dirty="0">
                          <a:latin typeface="Arial" panose="020B0604020202020204" pitchFamily="34" charset="0"/>
                          <a:cs typeface="Arial" panose="020B0604020202020204" pitchFamily="34" charset="0"/>
                        </a:rPr>
                        <a:t>Confirms manual model selection</a:t>
                      </a:r>
                      <a:endParaRPr lang="ru-RU" sz="1200" dirty="0">
                        <a:latin typeface="Arial" panose="020B0604020202020204" pitchFamily="34" charset="0"/>
                        <a:cs typeface="Arial" panose="020B0604020202020204" pitchFamily="34" charset="0"/>
                      </a:endParaRPr>
                    </a:p>
                  </a:txBody>
                  <a:tcPr marL="68580" marR="68580" marT="0" marB="0" anchor="ct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7539121"/>
                  </a:ext>
                </a:extLst>
              </a:tr>
              <a:tr h="252154">
                <a:tc>
                  <a:txBody>
                    <a:bodyPr/>
                    <a:lstStyle/>
                    <a:p>
                      <a:pPr algn="l">
                        <a:lnSpc>
                          <a:spcPct val="100000"/>
                        </a:lnSpc>
                      </a:pPr>
                      <a:r>
                        <a:rPr lang="en-US" sz="1200" dirty="0">
                          <a:effectLst/>
                          <a:latin typeface="Arial" panose="020B0604020202020204" pitchFamily="34" charset="0"/>
                          <a:cs typeface="Arial" panose="020B0604020202020204" pitchFamily="34" charset="0"/>
                        </a:rPr>
                        <a:t>2</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mpd="sng">
                      <a:noFill/>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lnSpc>
                          <a:spcPct val="100000"/>
                        </a:lnSpc>
                      </a:pPr>
                      <a:r>
                        <a:rPr lang="en-US" sz="1200" b="1" dirty="0">
                          <a:effectLst/>
                          <a:latin typeface="Arial" panose="020B0604020202020204" pitchFamily="34" charset="0"/>
                          <a:cs typeface="Arial" panose="020B0604020202020204" pitchFamily="34" charset="0"/>
                        </a:rPr>
                        <a:t>GBM</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3"/>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lnSpc>
                          <a:spcPct val="100000"/>
                        </a:lnSpc>
                      </a:pP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accent3"/>
                      </a:solidFill>
                      <a:prstDash val="solid"/>
                      <a:round/>
                      <a:headEnd type="none" w="med" len="med"/>
                      <a:tailEnd type="none" w="med" len="med"/>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3144778"/>
                  </a:ext>
                </a:extLst>
              </a:tr>
              <a:tr h="252154">
                <a:tc>
                  <a:txBody>
                    <a:bodyPr/>
                    <a:lstStyle/>
                    <a:p>
                      <a:pPr algn="l">
                        <a:lnSpc>
                          <a:spcPct val="100000"/>
                        </a:lnSpc>
                      </a:pPr>
                      <a:r>
                        <a:rPr lang="en-US" sz="1200" dirty="0">
                          <a:effectLst/>
                          <a:latin typeface="Arial" panose="020B0604020202020204" pitchFamily="34" charset="0"/>
                          <a:cs typeface="Arial" panose="020B0604020202020204" pitchFamily="34" charset="0"/>
                        </a:rPr>
                        <a:t>3</a:t>
                      </a:r>
                      <a:endParaRPr lang="en-US" sz="12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mpd="sng">
                      <a:noFill/>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lnSpc>
                          <a:spcPct val="100000"/>
                        </a:lnSpc>
                      </a:pPr>
                      <a:r>
                        <a:rPr lang="en-US" sz="1200" b="1" dirty="0">
                          <a:effectLst/>
                          <a:latin typeface="Arial" panose="020B0604020202020204" pitchFamily="34" charset="0"/>
                          <a:cs typeface="Arial" panose="020B0604020202020204" pitchFamily="34" charset="0"/>
                        </a:rPr>
                        <a:t>GBM</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3"/>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lnSpc>
                          <a:spcPct val="100000"/>
                        </a:lnSpc>
                      </a:pP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accent3"/>
                      </a:solidFill>
                      <a:prstDash val="solid"/>
                      <a:round/>
                      <a:headEnd type="none" w="med" len="med"/>
                      <a:tailEnd type="none" w="med" len="med"/>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7908576"/>
                  </a:ext>
                </a:extLst>
              </a:tr>
              <a:tr h="252154">
                <a:tc>
                  <a:txBody>
                    <a:bodyPr/>
                    <a:lstStyle/>
                    <a:p>
                      <a:pPr algn="l">
                        <a:lnSpc>
                          <a:spcPct val="100000"/>
                        </a:lnSpc>
                      </a:pPr>
                      <a:r>
                        <a:rPr lang="en-US" sz="1200">
                          <a:effectLst/>
                          <a:latin typeface="Arial" panose="020B0604020202020204" pitchFamily="34" charset="0"/>
                          <a:cs typeface="Arial" panose="020B0604020202020204" pitchFamily="34" charset="0"/>
                        </a:rPr>
                        <a:t>4</a:t>
                      </a:r>
                      <a:endParaRPr lang="en-US" sz="1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mpd="sng">
                      <a:noFill/>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lnSpc>
                          <a:spcPct val="100000"/>
                        </a:lnSpc>
                      </a:pPr>
                      <a:r>
                        <a:rPr lang="en-US" sz="1200" b="1" dirty="0">
                          <a:effectLst/>
                          <a:latin typeface="Arial" panose="020B0604020202020204" pitchFamily="34" charset="0"/>
                          <a:cs typeface="Arial" panose="020B0604020202020204" pitchFamily="34" charset="0"/>
                        </a:rPr>
                        <a:t>GBM</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3"/>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pPr algn="l">
                        <a:lnSpc>
                          <a:spcPct val="100000"/>
                        </a:lnSpc>
                      </a:pP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accent3"/>
                      </a:solidFill>
                      <a:prstDash val="solid"/>
                      <a:round/>
                      <a:headEnd type="none" w="med" len="med"/>
                      <a:tailEnd type="none" w="med" len="med"/>
                    </a:lnL>
                    <a:lnR w="12700" cmpd="sng">
                      <a:noFill/>
                    </a:lnR>
                    <a:lnT w="12700" cap="flat" cmpd="sng" algn="ctr">
                      <a:solidFill>
                        <a:schemeClr val="accent3"/>
                      </a:solidFill>
                      <a:prstDash val="solid"/>
                      <a:round/>
                      <a:headEnd type="none" w="med" len="med"/>
                      <a:tailEnd type="none" w="med" len="med"/>
                    </a:lnT>
                    <a:lnB w="1270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5543491"/>
                  </a:ext>
                </a:extLst>
              </a:tr>
              <a:tr h="252154">
                <a:tc>
                  <a:txBody>
                    <a:bodyPr/>
                    <a:lstStyle/>
                    <a:p>
                      <a:pPr algn="l">
                        <a:lnSpc>
                          <a:spcPct val="100000"/>
                        </a:lnSpc>
                      </a:pPr>
                      <a:r>
                        <a:rPr lang="en-US" sz="1200">
                          <a:effectLst/>
                          <a:latin typeface="Arial" panose="020B0604020202020204" pitchFamily="34" charset="0"/>
                          <a:cs typeface="Arial" panose="020B0604020202020204" pitchFamily="34" charset="0"/>
                        </a:rPr>
                        <a:t>5</a:t>
                      </a:r>
                      <a:endParaRPr lang="en-US" sz="12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mpd="sng">
                      <a:noFill/>
                    </a:lnL>
                    <a:lnR w="12700" cap="flat" cmpd="sng" algn="ctr">
                      <a:solidFill>
                        <a:schemeClr val="accent3"/>
                      </a:solid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algn="l">
                        <a:lnSpc>
                          <a:spcPct val="100000"/>
                        </a:lnSpc>
                      </a:pPr>
                      <a:r>
                        <a:rPr lang="en-US" sz="1200" b="1" dirty="0">
                          <a:effectLst/>
                          <a:latin typeface="Arial" panose="020B0604020202020204" pitchFamily="34" charset="0"/>
                          <a:cs typeface="Arial" panose="020B0604020202020204" pitchFamily="34" charset="0"/>
                        </a:rPr>
                        <a:t>XGB</a:t>
                      </a:r>
                      <a:endParaRPr lang="en-US" sz="12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3"/>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vMerge="1">
                  <a:txBody>
                    <a:bodyPr/>
                    <a:lstStyle/>
                    <a:p>
                      <a:pPr algn="l">
                        <a:lnSpc>
                          <a:spcPct val="100000"/>
                        </a:lnSpc>
                      </a:pP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accent3"/>
                      </a:solidFill>
                      <a:prstDash val="solid"/>
                      <a:round/>
                      <a:headEnd type="none" w="med" len="med"/>
                      <a:tailEnd type="none" w="med" len="med"/>
                    </a:lnL>
                    <a:lnR w="12700" cmpd="sng">
                      <a:noFill/>
                    </a:lnR>
                    <a:lnT w="12700" cap="flat" cmpd="sng" algn="ctr">
                      <a:solidFill>
                        <a:schemeClr val="accent3"/>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89638541"/>
                  </a:ext>
                </a:extLst>
              </a:tr>
            </a:tbl>
          </a:graphicData>
        </a:graphic>
      </p:graphicFrame>
      <p:sp>
        <p:nvSpPr>
          <p:cNvPr id="19" name="Content Placeholder 2">
            <a:extLst>
              <a:ext uri="{FF2B5EF4-FFF2-40B4-BE49-F238E27FC236}">
                <a16:creationId xmlns:a16="http://schemas.microsoft.com/office/drawing/2014/main" id="{3EB1B8C3-51EF-4C78-8ADA-77E3219CFB5B}"/>
              </a:ext>
            </a:extLst>
          </p:cNvPr>
          <p:cNvSpPr txBox="1">
            <a:spLocks/>
          </p:cNvSpPr>
          <p:nvPr/>
        </p:nvSpPr>
        <p:spPr>
          <a:xfrm>
            <a:off x="0" y="3765606"/>
            <a:ext cx="2847510" cy="277295"/>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Tx/>
              <a:buBlip>
                <a:blip r:embed="rId3"/>
              </a:buBlip>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4"/>
              </a:buBlip>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4"/>
              </a:buBlip>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4"/>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4"/>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sz="1600" dirty="0"/>
              <a:t>H2O AutoML</a:t>
            </a:r>
          </a:p>
        </p:txBody>
      </p:sp>
      <p:sp>
        <p:nvSpPr>
          <p:cNvPr id="3" name="TextBox 2">
            <a:extLst>
              <a:ext uri="{FF2B5EF4-FFF2-40B4-BE49-F238E27FC236}">
                <a16:creationId xmlns:a16="http://schemas.microsoft.com/office/drawing/2014/main" id="{0F71CC77-7FBF-4CA1-84EA-2F17659D30E3}"/>
              </a:ext>
            </a:extLst>
          </p:cNvPr>
          <p:cNvSpPr txBox="1"/>
          <p:nvPr/>
        </p:nvSpPr>
        <p:spPr>
          <a:xfrm>
            <a:off x="6447959" y="4197012"/>
            <a:ext cx="4872407" cy="1191816"/>
          </a:xfrm>
          <a:prstGeom prst="roundRect">
            <a:avLst/>
          </a:prstGeom>
          <a:ln w="3175">
            <a:solidFill>
              <a:schemeClr val="accent5">
                <a:lumMod val="20000"/>
                <a:lumOff val="80000"/>
              </a:schemeClr>
            </a:solidFill>
          </a:ln>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sz="1600" dirty="0">
                <a:latin typeface="Arial" panose="020B0604020202020204" pitchFamily="34" charset="0"/>
                <a:cs typeface="Arial" panose="020B0604020202020204" pitchFamily="34" charset="0"/>
              </a:rPr>
              <a:t>The gradient-boosted model family (GBM/XGB) was selected as the primary performance-oriented approach, while Random Forest was used as a robust baseline for comparison.</a:t>
            </a:r>
          </a:p>
        </p:txBody>
      </p:sp>
    </p:spTree>
    <p:extLst>
      <p:ext uri="{BB962C8B-B14F-4D97-AF65-F5344CB8AC3E}">
        <p14:creationId xmlns:p14="http://schemas.microsoft.com/office/powerpoint/2010/main" val="2291316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B3FE0-5809-44B4-9F09-EBCA6FA468C5}"/>
              </a:ext>
            </a:extLst>
          </p:cNvPr>
          <p:cNvSpPr>
            <a:spLocks noGrp="1"/>
          </p:cNvSpPr>
          <p:nvPr>
            <p:ph type="title"/>
          </p:nvPr>
        </p:nvSpPr>
        <p:spPr/>
        <p:txBody>
          <a:bodyPr/>
          <a:lstStyle/>
          <a:p>
            <a:r>
              <a:rPr lang="en-US" noProof="1"/>
              <a:t>Balancing methods</a:t>
            </a:r>
          </a:p>
        </p:txBody>
      </p:sp>
      <p:graphicFrame>
        <p:nvGraphicFramePr>
          <p:cNvPr id="5" name="Content Placeholder 4">
            <a:extLst>
              <a:ext uri="{FF2B5EF4-FFF2-40B4-BE49-F238E27FC236}">
                <a16:creationId xmlns:a16="http://schemas.microsoft.com/office/drawing/2014/main" id="{2F4781F2-C076-4680-8EF8-FC684624A9D3}"/>
              </a:ext>
            </a:extLst>
          </p:cNvPr>
          <p:cNvGraphicFramePr>
            <a:graphicFrameLocks noGrp="1"/>
          </p:cNvGraphicFramePr>
          <p:nvPr>
            <p:ph idx="1"/>
            <p:extLst>
              <p:ext uri="{D42A27DB-BD31-4B8C-83A1-F6EECF244321}">
                <p14:modId xmlns:p14="http://schemas.microsoft.com/office/powerpoint/2010/main" val="1313755775"/>
              </p:ext>
            </p:extLst>
          </p:nvPr>
        </p:nvGraphicFramePr>
        <p:xfrm>
          <a:off x="293251" y="762000"/>
          <a:ext cx="11605493" cy="1847912"/>
        </p:xfrm>
        <a:graphic>
          <a:graphicData uri="http://schemas.openxmlformats.org/drawingml/2006/table">
            <a:tbl>
              <a:tblPr firstRow="1" firstCol="1" bandRow="1">
                <a:tableStyleId>{5FD0F851-EC5A-4D38-B0AD-8093EC10F338}</a:tableStyleId>
              </a:tblPr>
              <a:tblGrid>
                <a:gridCol w="1611874">
                  <a:extLst>
                    <a:ext uri="{9D8B030D-6E8A-4147-A177-3AD203B41FA5}">
                      <a16:colId xmlns:a16="http://schemas.microsoft.com/office/drawing/2014/main" val="4012898959"/>
                    </a:ext>
                  </a:extLst>
                </a:gridCol>
                <a:gridCol w="3546123">
                  <a:extLst>
                    <a:ext uri="{9D8B030D-6E8A-4147-A177-3AD203B41FA5}">
                      <a16:colId xmlns:a16="http://schemas.microsoft.com/office/drawing/2014/main" val="1541331990"/>
                    </a:ext>
                  </a:extLst>
                </a:gridCol>
                <a:gridCol w="1611874">
                  <a:extLst>
                    <a:ext uri="{9D8B030D-6E8A-4147-A177-3AD203B41FA5}">
                      <a16:colId xmlns:a16="http://schemas.microsoft.com/office/drawing/2014/main" val="993498537"/>
                    </a:ext>
                  </a:extLst>
                </a:gridCol>
                <a:gridCol w="1611874">
                  <a:extLst>
                    <a:ext uri="{9D8B030D-6E8A-4147-A177-3AD203B41FA5}">
                      <a16:colId xmlns:a16="http://schemas.microsoft.com/office/drawing/2014/main" val="2563690909"/>
                    </a:ext>
                  </a:extLst>
                </a:gridCol>
                <a:gridCol w="1611874">
                  <a:extLst>
                    <a:ext uri="{9D8B030D-6E8A-4147-A177-3AD203B41FA5}">
                      <a16:colId xmlns:a16="http://schemas.microsoft.com/office/drawing/2014/main" val="1080220945"/>
                    </a:ext>
                  </a:extLst>
                </a:gridCol>
                <a:gridCol w="1611874">
                  <a:extLst>
                    <a:ext uri="{9D8B030D-6E8A-4147-A177-3AD203B41FA5}">
                      <a16:colId xmlns:a16="http://schemas.microsoft.com/office/drawing/2014/main" val="3681534767"/>
                    </a:ext>
                  </a:extLst>
                </a:gridCol>
              </a:tblGrid>
              <a:tr h="230989">
                <a:tc gridSpan="6">
                  <a:txBody>
                    <a:bodyPr/>
                    <a:lstStyle/>
                    <a:p>
                      <a:pPr>
                        <a:lnSpc>
                          <a:spcPct val="115000"/>
                        </a:lnSpc>
                        <a:spcAft>
                          <a:spcPts val="1000"/>
                        </a:spcAft>
                      </a:pPr>
                      <a:r>
                        <a:rPr lang="en-US" sz="1400" dirty="0">
                          <a:effectLst/>
                          <a:latin typeface="Arial" panose="020B0604020202020204" pitchFamily="34" charset="0"/>
                          <a:cs typeface="Arial" panose="020B0604020202020204" pitchFamily="34" charset="0"/>
                        </a:rPr>
                        <a:t>Proportion of suspicious transactions</a:t>
                      </a:r>
                    </a:p>
                  </a:txBody>
                  <a:tcPr marL="68580" marR="68580" marT="0" marB="0">
                    <a:lnL>
                      <a:noFill/>
                    </a:lnL>
                    <a:lnR>
                      <a:noFill/>
                    </a:lnR>
                    <a:lnT w="12700" cmpd="sng">
                      <a:noFill/>
                    </a:lnT>
                    <a:lnB w="12700" cap="flat" cmpd="sng" algn="ctr">
                      <a:solidFill>
                        <a:srgbClr val="8DBAE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nSpc>
                          <a:spcPct val="115000"/>
                        </a:lnSpc>
                        <a:spcAft>
                          <a:spcPts val="100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Proportion of suspicious transactions</a:t>
                      </a:r>
                    </a:p>
                  </a:txBody>
                  <a:tcPr marL="68580" marR="68580" marT="0" marB="0">
                    <a:solidFill>
                      <a:schemeClr val="bg1"/>
                    </a:solidFill>
                  </a:tcPr>
                </a:tc>
                <a:tc hMerge="1">
                  <a:txBody>
                    <a:bodyPr/>
                    <a:lstStyle/>
                    <a:p>
                      <a:pPr>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hMerge="1">
                  <a:txBody>
                    <a:bodyPr/>
                    <a:lstStyle/>
                    <a:p>
                      <a:pPr>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hMerge="1">
                  <a:txBody>
                    <a:bodyPr/>
                    <a:lstStyle/>
                    <a:p>
                      <a:pPr>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hMerge="1">
                  <a:txBody>
                    <a:bodyPr/>
                    <a:lstStyle/>
                    <a:p>
                      <a:pPr>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766378869"/>
                  </a:ext>
                </a:extLst>
              </a:tr>
              <a:tr h="230989">
                <a:tc>
                  <a:txBody>
                    <a:bodyPr/>
                    <a:lstStyle/>
                    <a:p>
                      <a:pPr>
                        <a:lnSpc>
                          <a:spcPct val="115000"/>
                        </a:lnSpc>
                        <a:spcAft>
                          <a:spcPts val="1000"/>
                        </a:spcAft>
                      </a:pP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rgbClr val="8DBAE2"/>
                      </a:solidFill>
                      <a:prstDash val="solid"/>
                      <a:round/>
                      <a:headEnd type="none" w="med" len="med"/>
                      <a:tailEnd type="none" w="med" len="med"/>
                    </a:lnT>
                    <a:solidFill>
                      <a:schemeClr val="bg1"/>
                    </a:solidFill>
                  </a:tcPr>
                </a:tc>
                <a:tc>
                  <a:txBody>
                    <a:bodyPr/>
                    <a:lstStyle/>
                    <a:p>
                      <a:pPr>
                        <a:lnSpc>
                          <a:spcPct val="115000"/>
                        </a:lnSpc>
                        <a:spcAft>
                          <a:spcPts val="1000"/>
                        </a:spcAft>
                      </a:pPr>
                      <a:r>
                        <a:rPr lang="en-US" sz="1400" b="1" dirty="0">
                          <a:effectLst/>
                          <a:latin typeface="Arial" panose="020B0604020202020204" pitchFamily="34" charset="0"/>
                          <a:cs typeface="Arial" panose="020B0604020202020204" pitchFamily="34" charset="0"/>
                        </a:rPr>
                        <a:t> </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rgbClr val="8DBAE2"/>
                      </a:solidFill>
                      <a:prstDash val="solid"/>
                      <a:round/>
                      <a:headEnd type="none" w="med" len="med"/>
                      <a:tailEnd type="none" w="med" len="med"/>
                    </a:lnT>
                    <a:solidFill>
                      <a:schemeClr val="bg1"/>
                    </a:solidFill>
                  </a:tcPr>
                </a:tc>
                <a:tc>
                  <a:txBody>
                    <a:bodyPr/>
                    <a:lstStyle/>
                    <a:p>
                      <a:pPr>
                        <a:lnSpc>
                          <a:spcPct val="115000"/>
                        </a:lnSpc>
                        <a:spcAft>
                          <a:spcPts val="1000"/>
                        </a:spcAft>
                      </a:pPr>
                      <a:r>
                        <a:rPr lang="ru-RU" sz="1400" b="1" dirty="0">
                          <a:effectLst/>
                          <a:latin typeface="Arial" panose="020B0604020202020204" pitchFamily="34" charset="0"/>
                          <a:cs typeface="Arial" panose="020B0604020202020204" pitchFamily="34" charset="0"/>
                        </a:rPr>
                        <a:t>Baseline</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rgbClr val="8DBAE2"/>
                      </a:solidFill>
                      <a:prstDash val="solid"/>
                      <a:round/>
                      <a:headEnd type="none" w="med" len="med"/>
                      <a:tailEnd type="none" w="med" len="med"/>
                    </a:lnT>
                    <a:solidFill>
                      <a:schemeClr val="bg1"/>
                    </a:solidFill>
                  </a:tcPr>
                </a:tc>
                <a:tc>
                  <a:txBody>
                    <a:bodyPr/>
                    <a:lstStyle/>
                    <a:p>
                      <a:pPr>
                        <a:lnSpc>
                          <a:spcPct val="115000"/>
                        </a:lnSpc>
                        <a:spcAft>
                          <a:spcPts val="1000"/>
                        </a:spcAft>
                      </a:pPr>
                      <a:r>
                        <a:rPr lang="ru-RU" sz="1400" b="1" dirty="0">
                          <a:effectLst/>
                          <a:latin typeface="Arial" panose="020B0604020202020204" pitchFamily="34" charset="0"/>
                          <a:cs typeface="Arial" panose="020B0604020202020204" pitchFamily="34" charset="0"/>
                        </a:rPr>
                        <a:t>SMOTE</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rgbClr val="8DBAE2"/>
                      </a:solidFill>
                      <a:prstDash val="solid"/>
                      <a:round/>
                      <a:headEnd type="none" w="med" len="med"/>
                      <a:tailEnd type="none" w="med" len="med"/>
                    </a:lnT>
                    <a:solidFill>
                      <a:schemeClr val="bg1"/>
                    </a:solidFill>
                  </a:tcPr>
                </a:tc>
                <a:tc>
                  <a:txBody>
                    <a:bodyPr/>
                    <a:lstStyle/>
                    <a:p>
                      <a:pPr>
                        <a:lnSpc>
                          <a:spcPct val="115000"/>
                        </a:lnSpc>
                        <a:spcAft>
                          <a:spcPts val="1000"/>
                        </a:spcAft>
                      </a:pPr>
                      <a:r>
                        <a:rPr lang="ru-RU" sz="1400" b="1" dirty="0">
                          <a:effectLst/>
                          <a:latin typeface="Arial" panose="020B0604020202020204" pitchFamily="34" charset="0"/>
                          <a:cs typeface="Arial" panose="020B0604020202020204" pitchFamily="34" charset="0"/>
                        </a:rPr>
                        <a:t>ADASYN </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rgbClr val="8DBAE2"/>
                      </a:solidFill>
                      <a:prstDash val="solid"/>
                      <a:round/>
                      <a:headEnd type="none" w="med" len="med"/>
                      <a:tailEnd type="none" w="med" len="med"/>
                    </a:lnT>
                    <a:solidFill>
                      <a:schemeClr val="bg1"/>
                    </a:solidFill>
                  </a:tcPr>
                </a:tc>
                <a:tc>
                  <a:txBody>
                    <a:bodyPr/>
                    <a:lstStyle/>
                    <a:p>
                      <a:pPr>
                        <a:lnSpc>
                          <a:spcPct val="115000"/>
                        </a:lnSpc>
                        <a:spcAft>
                          <a:spcPts val="1000"/>
                        </a:spcAft>
                      </a:pPr>
                      <a:r>
                        <a:rPr lang="ru-RU" sz="1400" b="1" dirty="0">
                          <a:effectLst/>
                          <a:latin typeface="Arial" panose="020B0604020202020204" pitchFamily="34" charset="0"/>
                          <a:cs typeface="Arial" panose="020B0604020202020204" pitchFamily="34" charset="0"/>
                        </a:rPr>
                        <a:t>ROSE </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rgbClr val="8DBAE2"/>
                      </a:solidFill>
                      <a:prstDash val="solid"/>
                      <a:round/>
                      <a:headEnd type="none" w="med" len="med"/>
                      <a:tailEnd type="none" w="med" len="med"/>
                    </a:lnT>
                    <a:solidFill>
                      <a:schemeClr val="bg1"/>
                    </a:solidFill>
                  </a:tcPr>
                </a:tc>
                <a:extLst>
                  <a:ext uri="{0D108BD9-81ED-4DB2-BD59-A6C34878D82A}">
                    <a16:rowId xmlns:a16="http://schemas.microsoft.com/office/drawing/2014/main" val="2730205849"/>
                  </a:ext>
                </a:extLst>
              </a:tr>
              <a:tr h="230989">
                <a:tc rowSpan="3">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Syn100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B w="12700" cap="flat" cmpd="sng" algn="ctr">
                      <a:solidFill>
                        <a:schemeClr val="accent5"/>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dirty="0">
                          <a:effectLst/>
                          <a:latin typeface="Arial" panose="020B0604020202020204" pitchFamily="34" charset="0"/>
                          <a:cs typeface="Arial" panose="020B0604020202020204" pitchFamily="34" charset="0"/>
                        </a:rPr>
                        <a:t>Suspicious transactions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65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4007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a:effectLst/>
                          <a:latin typeface="Arial" panose="020B0604020202020204" pitchFamily="34" charset="0"/>
                          <a:cs typeface="Arial" panose="020B0604020202020204" pitchFamily="34" charset="0"/>
                        </a:rPr>
                        <a:t>4007</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8015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3968038896"/>
                  </a:ext>
                </a:extLst>
              </a:tr>
              <a:tr h="230989">
                <a:tc vMerge="1">
                  <a:txBody>
                    <a:bodyPr/>
                    <a:lstStyle/>
                    <a:p>
                      <a:pPr>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N</a:t>
                      </a:r>
                      <a:r>
                        <a:rPr lang="en-US" sz="1400" dirty="0">
                          <a:effectLst/>
                          <a:latin typeface="Arial" panose="020B0604020202020204" pitchFamily="34" charset="0"/>
                          <a:cs typeface="Arial" panose="020B0604020202020204" pitchFamily="34" charset="0"/>
                        </a:rPr>
                        <a:t>ormal </a:t>
                      </a:r>
                      <a:r>
                        <a:rPr lang="en-US" sz="1400" dirty="0">
                          <a:effectLst/>
                          <a:latin typeface="Arial" panose="020B0604020202020204" pitchFamily="34" charset="0"/>
                          <a:ea typeface="Times New Roman" panose="02020603050405020304" pitchFamily="18" charset="0"/>
                          <a:cs typeface="Arial" panose="020B0604020202020204" pitchFamily="34" charset="0"/>
                        </a:rPr>
                        <a:t>transactions</a:t>
                      </a: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8015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8015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8015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8015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3410486793"/>
                  </a:ext>
                </a:extLst>
              </a:tr>
              <a:tr h="230989">
                <a:tc vMerge="1">
                  <a:txBody>
                    <a:bodyPr/>
                    <a:lstStyle/>
                    <a:p>
                      <a:pPr>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Proportion</a:t>
                      </a:r>
                    </a:p>
                  </a:txBody>
                  <a:tcPr marL="68580" marR="68580" marT="0" marB="0">
                    <a:lnB w="12700" cap="flat" cmpd="sng" algn="ctr">
                      <a:solidFill>
                        <a:schemeClr val="accent5"/>
                      </a:solidFill>
                      <a:prstDash val="solid"/>
                      <a:round/>
                      <a:headEnd type="none" w="med" len="med"/>
                      <a:tailEnd type="none" w="med" len="med"/>
                    </a:lnB>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0.008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12700" cap="flat" cmpd="sng" algn="ctr">
                      <a:solidFill>
                        <a:schemeClr val="accent5"/>
                      </a:solidFill>
                      <a:prstDash val="solid"/>
                      <a:round/>
                      <a:headEnd type="none" w="med" len="med"/>
                      <a:tailEnd type="none" w="med" len="med"/>
                    </a:lnB>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0.3333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12700" cap="flat" cmpd="sng" algn="ctr">
                      <a:solidFill>
                        <a:schemeClr val="accent5"/>
                      </a:solidFill>
                      <a:prstDash val="solid"/>
                      <a:round/>
                      <a:headEnd type="none" w="med" len="med"/>
                      <a:tailEnd type="none" w="med" len="med"/>
                    </a:lnB>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0.3333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12700" cap="flat" cmpd="sng" algn="ctr">
                      <a:solidFill>
                        <a:schemeClr val="accent5"/>
                      </a:solidFill>
                      <a:prstDash val="solid"/>
                      <a:round/>
                      <a:headEnd type="none" w="med" len="med"/>
                      <a:tailEnd type="none" w="med" len="med"/>
                    </a:lnB>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0.5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1270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603803"/>
                  </a:ext>
                </a:extLst>
              </a:tr>
              <a:tr h="230989">
                <a:tc rowSpan="3">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Syn</a:t>
                      </a:r>
                      <a:r>
                        <a:rPr lang="en-US" sz="1400" dirty="0">
                          <a:effectLst/>
                          <a:latin typeface="Arial" panose="020B0604020202020204" pitchFamily="34" charset="0"/>
                          <a:cs typeface="Arial" panose="020B0604020202020204" pitchFamily="34" charset="0"/>
                        </a:rPr>
                        <a:t>5</a:t>
                      </a:r>
                      <a:r>
                        <a:rPr lang="ru-RU" sz="1400" dirty="0">
                          <a:effectLst/>
                          <a:latin typeface="Arial" panose="020B0604020202020204" pitchFamily="34" charset="0"/>
                          <a:cs typeface="Arial" panose="020B0604020202020204" pitchFamily="34" charset="0"/>
                        </a:rPr>
                        <a:t>00 </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nchor="ctr">
                    <a:lnT w="12700" cap="flat" cmpd="sng" algn="ctr">
                      <a:solidFill>
                        <a:schemeClr val="accent5"/>
                      </a:solidFill>
                      <a:prstDash val="solid"/>
                      <a:round/>
                      <a:headEnd type="none" w="med" len="med"/>
                      <a:tailEnd type="none" w="med" len="med"/>
                    </a:lnT>
                    <a:lnB w="28575"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en-US" sz="1400" dirty="0">
                          <a:effectLst/>
                          <a:latin typeface="Arial" panose="020B0604020202020204" pitchFamily="34" charset="0"/>
                          <a:cs typeface="Arial" panose="020B0604020202020204" pitchFamily="34" charset="0"/>
                        </a:rPr>
                        <a:t>Suspicious transactions</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chemeClr val="accent5"/>
                      </a:solidFill>
                      <a:prstDash val="solid"/>
                      <a:round/>
                      <a:headEnd type="none" w="med" len="med"/>
                      <a:tailEnd type="none" w="med" len="med"/>
                    </a:lnT>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1652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chemeClr val="accent5"/>
                      </a:solidFill>
                      <a:prstDash val="solid"/>
                      <a:round/>
                      <a:headEnd type="none" w="med" len="med"/>
                      <a:tailEnd type="none" w="med" len="med"/>
                    </a:lnT>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19374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chemeClr val="accent5"/>
                      </a:solidFill>
                      <a:prstDash val="solid"/>
                      <a:round/>
                      <a:headEnd type="none" w="med" len="med"/>
                      <a:tailEnd type="none" w="med" len="med"/>
                    </a:lnT>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18815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chemeClr val="accent5"/>
                      </a:solidFill>
                      <a:prstDash val="solid"/>
                      <a:round/>
                      <a:headEnd type="none" w="med" len="med"/>
                      <a:tailEnd type="none" w="med" len="med"/>
                    </a:lnT>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38748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chemeClr val="accent5"/>
                      </a:solidFill>
                      <a:prstDash val="solid"/>
                      <a:round/>
                      <a:headEnd type="none" w="med" len="med"/>
                      <a:tailEnd type="none" w="med" len="med"/>
                    </a:lnT>
                    <a:solidFill>
                      <a:schemeClr val="bg1"/>
                    </a:solidFill>
                  </a:tcPr>
                </a:tc>
                <a:extLst>
                  <a:ext uri="{0D108BD9-81ED-4DB2-BD59-A6C34878D82A}">
                    <a16:rowId xmlns:a16="http://schemas.microsoft.com/office/drawing/2014/main" val="153829385"/>
                  </a:ext>
                </a:extLst>
              </a:tr>
              <a:tr h="230989">
                <a:tc vMerge="1">
                  <a:txBody>
                    <a:bodyPr/>
                    <a:lstStyle/>
                    <a:p>
                      <a:pPr>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N</a:t>
                      </a:r>
                      <a:r>
                        <a:rPr lang="en-US" sz="1400" dirty="0">
                          <a:effectLst/>
                          <a:latin typeface="Arial" panose="020B0604020202020204" pitchFamily="34" charset="0"/>
                          <a:cs typeface="Arial" panose="020B0604020202020204" pitchFamily="34" charset="0"/>
                        </a:rPr>
                        <a:t>ormal </a:t>
                      </a:r>
                      <a:r>
                        <a:rPr lang="en-US" sz="1400" dirty="0">
                          <a:effectLst/>
                          <a:latin typeface="Arial" panose="020B0604020202020204" pitchFamily="34" charset="0"/>
                          <a:ea typeface="Times New Roman" panose="02020603050405020304" pitchFamily="18" charset="0"/>
                          <a:cs typeface="Arial" panose="020B0604020202020204" pitchFamily="34" charset="0"/>
                        </a:rPr>
                        <a:t>transactions</a:t>
                      </a: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38748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38748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38748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38748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232521397"/>
                  </a:ext>
                </a:extLst>
              </a:tr>
              <a:tr h="230989">
                <a:tc vMerge="1">
                  <a:txBody>
                    <a:bodyPr/>
                    <a:lstStyle/>
                    <a:p>
                      <a:pPr>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Proportion</a:t>
                      </a:r>
                    </a:p>
                  </a:txBody>
                  <a:tcPr marL="68580" marR="68580" marT="0" marB="0">
                    <a:lnB w="28575"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0.0409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28575"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0.3333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28575"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0.3269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28575" cap="flat" cmpd="sng" algn="ctr">
                      <a:solidFill>
                        <a:srgbClr val="8DBAE2"/>
                      </a:solidFill>
                      <a:prstDash val="solid"/>
                      <a:round/>
                      <a:headEnd type="none" w="med" len="med"/>
                      <a:tailEnd type="none" w="med" len="med"/>
                    </a:lnB>
                    <a:solidFill>
                      <a:schemeClr val="bg1"/>
                    </a:solidFill>
                  </a:tcPr>
                </a:tc>
                <a:tc>
                  <a:txBody>
                    <a:bodyPr/>
                    <a:lstStyle/>
                    <a:p>
                      <a:pPr>
                        <a:lnSpc>
                          <a:spcPct val="115000"/>
                        </a:lnSpc>
                        <a:spcAft>
                          <a:spcPts val="1000"/>
                        </a:spcAft>
                      </a:pPr>
                      <a:r>
                        <a:rPr lang="ru-RU" sz="1400" dirty="0">
                          <a:effectLst/>
                          <a:latin typeface="Arial" panose="020B0604020202020204" pitchFamily="34" charset="0"/>
                          <a:cs typeface="Arial" panose="020B0604020202020204" pitchFamily="34" charset="0"/>
                        </a:rPr>
                        <a:t>0.5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28575" cap="flat" cmpd="sng" algn="ctr">
                      <a:solidFill>
                        <a:srgbClr val="8DBAE2"/>
                      </a:solidFill>
                      <a:prstDash val="solid"/>
                      <a:round/>
                      <a:headEnd type="none" w="med" len="med"/>
                      <a:tailEnd type="none" w="med" len="med"/>
                    </a:lnB>
                    <a:solidFill>
                      <a:schemeClr val="bg1"/>
                    </a:solidFill>
                  </a:tcPr>
                </a:tc>
                <a:extLst>
                  <a:ext uri="{0D108BD9-81ED-4DB2-BD59-A6C34878D82A}">
                    <a16:rowId xmlns:a16="http://schemas.microsoft.com/office/drawing/2014/main" val="3638878793"/>
                  </a:ext>
                </a:extLst>
              </a:tr>
            </a:tbl>
          </a:graphicData>
        </a:graphic>
      </p:graphicFrame>
      <p:sp>
        <p:nvSpPr>
          <p:cNvPr id="4" name="Slide Number Placeholder 3">
            <a:extLst>
              <a:ext uri="{FF2B5EF4-FFF2-40B4-BE49-F238E27FC236}">
                <a16:creationId xmlns:a16="http://schemas.microsoft.com/office/drawing/2014/main" id="{17FA602C-2B02-4C16-B82C-48DEBDE6578C}"/>
              </a:ext>
            </a:extLst>
          </p:cNvPr>
          <p:cNvSpPr>
            <a:spLocks noGrp="1"/>
          </p:cNvSpPr>
          <p:nvPr>
            <p:ph type="sldNum" sz="quarter" idx="12"/>
          </p:nvPr>
        </p:nvSpPr>
        <p:spPr/>
        <p:txBody>
          <a:bodyPr/>
          <a:lstStyle/>
          <a:p>
            <a:pPr algn="ctr"/>
            <a:fld id="{1478D195-628D-428E-B98B-35B3E9B486B6}" type="slidenum">
              <a:rPr lang="en-US" smtClean="0"/>
              <a:pPr algn="ctr"/>
              <a:t>10</a:t>
            </a:fld>
            <a:endParaRPr lang="en-US"/>
          </a:p>
        </p:txBody>
      </p:sp>
      <p:graphicFrame>
        <p:nvGraphicFramePr>
          <p:cNvPr id="6" name="Table 5">
            <a:extLst>
              <a:ext uri="{FF2B5EF4-FFF2-40B4-BE49-F238E27FC236}">
                <a16:creationId xmlns:a16="http://schemas.microsoft.com/office/drawing/2014/main" id="{B2423263-E5C8-4ADC-8C68-59D74E5861D2}"/>
              </a:ext>
            </a:extLst>
          </p:cNvPr>
          <p:cNvGraphicFramePr>
            <a:graphicFrameLocks noGrp="1"/>
          </p:cNvGraphicFramePr>
          <p:nvPr>
            <p:extLst>
              <p:ext uri="{D42A27DB-BD31-4B8C-83A1-F6EECF244321}">
                <p14:modId xmlns:p14="http://schemas.microsoft.com/office/powerpoint/2010/main" val="846597769"/>
              </p:ext>
            </p:extLst>
          </p:nvPr>
        </p:nvGraphicFramePr>
        <p:xfrm>
          <a:off x="293251" y="2609920"/>
          <a:ext cx="6717150" cy="3643290"/>
        </p:xfrm>
        <a:graphic>
          <a:graphicData uri="http://schemas.openxmlformats.org/drawingml/2006/table">
            <a:tbl>
              <a:tblPr firstRow="1" firstCol="1" bandRow="1">
                <a:tableStyleId>{5FD0F851-EC5A-4D38-B0AD-8093EC10F338}</a:tableStyleId>
              </a:tblPr>
              <a:tblGrid>
                <a:gridCol w="1119525">
                  <a:extLst>
                    <a:ext uri="{9D8B030D-6E8A-4147-A177-3AD203B41FA5}">
                      <a16:colId xmlns:a16="http://schemas.microsoft.com/office/drawing/2014/main" val="3616337664"/>
                    </a:ext>
                  </a:extLst>
                </a:gridCol>
                <a:gridCol w="1119525">
                  <a:extLst>
                    <a:ext uri="{9D8B030D-6E8A-4147-A177-3AD203B41FA5}">
                      <a16:colId xmlns:a16="http://schemas.microsoft.com/office/drawing/2014/main" val="2723958004"/>
                    </a:ext>
                  </a:extLst>
                </a:gridCol>
                <a:gridCol w="1119525">
                  <a:extLst>
                    <a:ext uri="{9D8B030D-6E8A-4147-A177-3AD203B41FA5}">
                      <a16:colId xmlns:a16="http://schemas.microsoft.com/office/drawing/2014/main" val="2615191254"/>
                    </a:ext>
                  </a:extLst>
                </a:gridCol>
                <a:gridCol w="1119525">
                  <a:extLst>
                    <a:ext uri="{9D8B030D-6E8A-4147-A177-3AD203B41FA5}">
                      <a16:colId xmlns:a16="http://schemas.microsoft.com/office/drawing/2014/main" val="406658211"/>
                    </a:ext>
                  </a:extLst>
                </a:gridCol>
                <a:gridCol w="1119525">
                  <a:extLst>
                    <a:ext uri="{9D8B030D-6E8A-4147-A177-3AD203B41FA5}">
                      <a16:colId xmlns:a16="http://schemas.microsoft.com/office/drawing/2014/main" val="409212756"/>
                    </a:ext>
                  </a:extLst>
                </a:gridCol>
                <a:gridCol w="1119525">
                  <a:extLst>
                    <a:ext uri="{9D8B030D-6E8A-4147-A177-3AD203B41FA5}">
                      <a16:colId xmlns:a16="http://schemas.microsoft.com/office/drawing/2014/main" val="2591772833"/>
                    </a:ext>
                  </a:extLst>
                </a:gridCol>
              </a:tblGrid>
              <a:tr h="260235">
                <a:tc gridSpan="2">
                  <a:txBody>
                    <a:bodyPr/>
                    <a:lstStyle/>
                    <a:p>
                      <a:pPr algn="l">
                        <a:lnSpc>
                          <a:spcPct val="115000"/>
                        </a:lnSpc>
                        <a:spcAft>
                          <a:spcPts val="1000"/>
                        </a:spcAft>
                      </a:pPr>
                      <a:r>
                        <a:rPr lang="en-US" sz="1400" dirty="0">
                          <a:effectLst/>
                          <a:latin typeface="Arial" panose="020B0604020202020204" pitchFamily="34" charset="0"/>
                          <a:ea typeface="Times New Roman" panose="02020603050405020304" pitchFamily="18" charset="0"/>
                          <a:cs typeface="Arial" panose="020B0604020202020204" pitchFamily="34" charset="0"/>
                        </a:rPr>
                        <a:t>Quality assessment </a:t>
                      </a:r>
                    </a:p>
                  </a:txBody>
                  <a:tcPr marL="68580" marR="68580" marT="0" marB="0">
                    <a:lnL>
                      <a:noFill/>
                    </a:lnL>
                    <a:lnR w="12700" cap="flat" cmpd="sng" algn="ctr">
                      <a:noFill/>
                      <a:prstDash val="solid"/>
                      <a:round/>
                      <a:headEnd type="none" w="med" len="med"/>
                      <a:tailEnd type="none" w="med" len="med"/>
                    </a:lnR>
                    <a:lnT w="12700" cmpd="sng">
                      <a:noFill/>
                    </a:lnT>
                    <a:lnB w="12700" cap="flat" cmpd="sng" algn="ctr">
                      <a:solidFill>
                        <a:srgbClr val="8DBAE2"/>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l">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gridSpan="2">
                  <a:txBody>
                    <a:bodyPr/>
                    <a:lstStyle/>
                    <a:p>
                      <a:pPr algn="ctr">
                        <a:lnSpc>
                          <a:spcPct val="115000"/>
                        </a:lnSpc>
                        <a:spcAft>
                          <a:spcPts val="1000"/>
                        </a:spcAft>
                      </a:pPr>
                      <a:r>
                        <a:rPr lang="lv-LV" sz="1400" b="1" dirty="0">
                          <a:effectLst/>
                          <a:latin typeface="Arial" panose="020B0604020202020204" pitchFamily="34" charset="0"/>
                          <a:cs typeface="Arial" panose="020B0604020202020204" pitchFamily="34" charset="0"/>
                        </a:rPr>
                        <a:t>Syn100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8DBAE2"/>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l">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12700" cap="flat" cmpd="sng" algn="ctr">
                      <a:solidFill>
                        <a:schemeClr val="accent5"/>
                      </a:solidFill>
                      <a:prstDash val="solid"/>
                      <a:round/>
                      <a:headEnd type="none" w="med" len="med"/>
                      <a:tailEnd type="none" w="med" len="med"/>
                    </a:lnB>
                  </a:tcPr>
                </a:tc>
                <a:tc gridSpan="2">
                  <a:txBody>
                    <a:bodyPr/>
                    <a:lstStyle/>
                    <a:p>
                      <a:pPr algn="ctr">
                        <a:lnSpc>
                          <a:spcPct val="115000"/>
                        </a:lnSpc>
                        <a:spcAft>
                          <a:spcPts val="1000"/>
                        </a:spcAft>
                      </a:pPr>
                      <a:r>
                        <a:rPr lang="lv-LV" sz="1400" b="1" dirty="0">
                          <a:effectLst/>
                          <a:latin typeface="Arial" panose="020B0604020202020204" pitchFamily="34" charset="0"/>
                          <a:cs typeface="Arial" panose="020B0604020202020204" pitchFamily="34" charset="0"/>
                        </a:rPr>
                        <a:t>Syn500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8DBAE2"/>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l">
                        <a:lnSpc>
                          <a:spcPct val="115000"/>
                        </a:lnSpc>
                        <a:spcAft>
                          <a:spcPts val="1000"/>
                        </a:spcAft>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12700"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1707171314"/>
                  </a:ext>
                </a:extLst>
              </a:tr>
              <a:tr h="260235">
                <a:tc>
                  <a:txBody>
                    <a:bodyPr/>
                    <a:lstStyle/>
                    <a:p>
                      <a:pPr algn="l">
                        <a:lnSpc>
                          <a:spcPct val="115000"/>
                        </a:lnSpc>
                        <a:spcAft>
                          <a:spcPts val="1000"/>
                        </a:spcAft>
                      </a:pPr>
                      <a:r>
                        <a:rPr lang="en-US" sz="1400" dirty="0">
                          <a:effectLst/>
                          <a:latin typeface="Arial" panose="020B0604020202020204" pitchFamily="34" charset="0"/>
                          <a:cs typeface="Arial" panose="020B0604020202020204" pitchFamily="34" charset="0"/>
                        </a:rPr>
                        <a:t>V</a:t>
                      </a:r>
                      <a:r>
                        <a:rPr lang="lv-LV" sz="1400" dirty="0">
                          <a:effectLst/>
                          <a:latin typeface="Arial" panose="020B0604020202020204" pitchFamily="34" charset="0"/>
                          <a:cs typeface="Arial" panose="020B0604020202020204" pitchFamily="34" charset="0"/>
                        </a:rPr>
                        <a:t>ariant</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rgbClr val="8DBAE2"/>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a:lnSpc>
                          <a:spcPct val="115000"/>
                        </a:lnSpc>
                        <a:spcAft>
                          <a:spcPts val="1000"/>
                        </a:spcAft>
                      </a:pPr>
                      <a:r>
                        <a:rPr lang="en-US" sz="1400" b="1" dirty="0">
                          <a:effectLst/>
                          <a:latin typeface="Arial" panose="020B0604020202020204" pitchFamily="34" charset="0"/>
                          <a:cs typeface="Arial" panose="020B0604020202020204" pitchFamily="34" charset="0"/>
                        </a:rPr>
                        <a:t>A</a:t>
                      </a:r>
                      <a:r>
                        <a:rPr lang="lv-LV" sz="1400" b="1" dirty="0">
                          <a:effectLst/>
                          <a:latin typeface="Arial" panose="020B0604020202020204" pitchFamily="34" charset="0"/>
                          <a:cs typeface="Arial" panose="020B0604020202020204" pitchFamily="34" charset="0"/>
                        </a:rPr>
                        <a:t>lgo</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lnT w="12700" cap="flat" cmpd="sng" algn="ctr">
                      <a:solidFill>
                        <a:srgbClr val="8DBAE2"/>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a:lnSpc>
                          <a:spcPct val="115000"/>
                        </a:lnSpc>
                        <a:spcAft>
                          <a:spcPts val="1000"/>
                        </a:spcAft>
                      </a:pPr>
                      <a:r>
                        <a:rPr lang="en-US" sz="1400" b="1" dirty="0">
                          <a:effectLst/>
                          <a:latin typeface="Arial" panose="020B0604020202020204" pitchFamily="34" charset="0"/>
                          <a:cs typeface="Arial" panose="020B0604020202020204" pitchFamily="34" charset="0"/>
                        </a:rPr>
                        <a:t>P</a:t>
                      </a:r>
                      <a:r>
                        <a:rPr lang="lv-LV" sz="1400" b="1" dirty="0">
                          <a:effectLst/>
                          <a:latin typeface="Arial" panose="020B0604020202020204" pitchFamily="34" charset="0"/>
                          <a:cs typeface="Arial" panose="020B0604020202020204" pitchFamily="34" charset="0"/>
                        </a:rPr>
                        <a:t>recision</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T w="12700" cap="flat" cmpd="sng" algn="ctr">
                      <a:solidFill>
                        <a:srgbClr val="8DBAE2"/>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a:lnSpc>
                          <a:spcPct val="115000"/>
                        </a:lnSpc>
                        <a:spcAft>
                          <a:spcPts val="1000"/>
                        </a:spcAft>
                      </a:pPr>
                      <a:r>
                        <a:rPr lang="lv-LV" sz="1400" b="1" dirty="0">
                          <a:effectLst/>
                          <a:latin typeface="Arial" panose="020B0604020202020204" pitchFamily="34" charset="0"/>
                          <a:cs typeface="Arial" panose="020B0604020202020204" pitchFamily="34" charset="0"/>
                        </a:rPr>
                        <a:t>FP/1000</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lnT w="12700" cap="flat" cmpd="sng" algn="ctr">
                      <a:solidFill>
                        <a:srgbClr val="8DBAE2"/>
                      </a:solidFill>
                      <a:prstDash val="solid"/>
                      <a:round/>
                      <a:headEnd type="none" w="med" len="med"/>
                      <a:tailEnd type="none" w="med" len="med"/>
                    </a:lnT>
                    <a:lnB w="12700" cap="flat" cmpd="sng" algn="ctr">
                      <a:solidFill>
                        <a:schemeClr val="accent5"/>
                      </a:solidFill>
                      <a:prstDash val="solid"/>
                      <a:round/>
                      <a:headEnd type="none" w="med" len="med"/>
                      <a:tailEnd type="none" w="med" len="med"/>
                    </a:lnB>
                    <a:solidFill>
                      <a:schemeClr val="bg1"/>
                    </a:solidFill>
                  </a:tcPr>
                </a:tc>
                <a:tc>
                  <a:txBody>
                    <a:bodyPr/>
                    <a:lstStyle/>
                    <a:p>
                      <a:pPr algn="l">
                        <a:lnSpc>
                          <a:spcPct val="115000"/>
                        </a:lnSpc>
                        <a:spcAft>
                          <a:spcPts val="1000"/>
                        </a:spcAft>
                      </a:pPr>
                      <a:r>
                        <a:rPr lang="en-US" sz="1400" b="1" dirty="0">
                          <a:effectLst/>
                          <a:latin typeface="Arial" panose="020B0604020202020204" pitchFamily="34" charset="0"/>
                          <a:cs typeface="Arial" panose="020B0604020202020204" pitchFamily="34" charset="0"/>
                        </a:rPr>
                        <a:t>P</a:t>
                      </a:r>
                      <a:r>
                        <a:rPr lang="lv-LV" sz="1400" b="1" dirty="0">
                          <a:effectLst/>
                          <a:latin typeface="Arial" panose="020B0604020202020204" pitchFamily="34" charset="0"/>
                          <a:cs typeface="Arial" panose="020B0604020202020204" pitchFamily="34" charset="0"/>
                        </a:rPr>
                        <a:t>recision</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w="12700" cap="flat" cmpd="sng" algn="ctr">
                      <a:solidFill>
                        <a:srgbClr val="8DBAE2"/>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lnSpc>
                          <a:spcPct val="115000"/>
                        </a:lnSpc>
                        <a:spcAft>
                          <a:spcPts val="1000"/>
                        </a:spcAft>
                      </a:pPr>
                      <a:r>
                        <a:rPr lang="lv-LV" sz="1400" b="1" dirty="0">
                          <a:effectLst/>
                          <a:latin typeface="Arial" panose="020B0604020202020204" pitchFamily="34" charset="0"/>
                          <a:cs typeface="Arial" panose="020B0604020202020204" pitchFamily="34" charset="0"/>
                        </a:rPr>
                        <a:t>FP/1000</a:t>
                      </a:r>
                      <a:endParaRPr lang="en-US" sz="14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w="12700" cap="flat" cmpd="sng" algn="ctr">
                      <a:solidFill>
                        <a:srgbClr val="8DBAE2"/>
                      </a:solidFill>
                      <a:prstDash val="solid"/>
                      <a:round/>
                      <a:headEnd type="none" w="med" len="med"/>
                      <a:tailEnd type="none" w="med" len="med"/>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40893215"/>
                  </a:ext>
                </a:extLst>
              </a:tr>
              <a:tr h="260235">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Baseline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T w="12700" cap="flat" cmpd="sng" algn="ctr">
                      <a:solidFill>
                        <a:schemeClr val="accent5"/>
                      </a:solidFill>
                      <a:prstDash val="solid"/>
                      <a:round/>
                      <a:headEnd type="none" w="med" len="med"/>
                      <a:tailEnd type="none" w="med" len="med"/>
                    </a:lnT>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GBM</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0.978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T w="12700" cap="flat" cmpd="sng" algn="ctr">
                      <a:solidFill>
                        <a:schemeClr val="accent5"/>
                      </a:solidFill>
                      <a:prstDash val="solid"/>
                      <a:round/>
                      <a:headEnd type="none" w="med" len="med"/>
                      <a:tailEnd type="none" w="med" len="med"/>
                    </a:lnT>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0.396</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lnT w="12700" cap="flat" cmpd="sng" algn="ctr">
                      <a:solidFill>
                        <a:schemeClr val="accent5"/>
                      </a:solidFill>
                      <a:prstDash val="solid"/>
                      <a:round/>
                      <a:headEnd type="none" w="med" len="med"/>
                      <a:tailEnd type="none" w="med" len="med"/>
                    </a:lnT>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0.070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w="12700" cap="flat" cmpd="sng" algn="ctr">
                      <a:solidFill>
                        <a:schemeClr val="accent5"/>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629.366</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w="12700" cap="flat" cmpd="sng" algn="ctr">
                      <a:solidFill>
                        <a:schemeClr val="accent5"/>
                      </a:solidFill>
                      <a:prstDash val="solid"/>
                      <a:round/>
                      <a:headEnd type="none" w="med" len="med"/>
                      <a:tailEnd type="none" w="med" len="med"/>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3732769597"/>
                  </a:ext>
                </a:extLst>
              </a:tr>
              <a:tr h="260235">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Baseline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RF</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0.975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0.495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0.052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857.485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510062279"/>
                  </a:ext>
                </a:extLst>
              </a:tr>
              <a:tr h="260235">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Baseline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XGB</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0.986</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0.198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0.068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2"/>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656.356</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377790621"/>
                  </a:ext>
                </a:extLst>
              </a:tr>
              <a:tr h="260235">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SMOTE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GBM</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0.994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0.099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0.053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832.574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7930710"/>
                  </a:ext>
                </a:extLst>
              </a:tr>
              <a:tr h="260235">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SMOTE</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RF</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0.975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0.495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0.051</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879.386</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8383878"/>
                  </a:ext>
                </a:extLst>
              </a:tr>
              <a:tr h="260235">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SMOTE</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XGB</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0.994</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0.099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0.057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767.604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38212522"/>
                  </a:ext>
                </a:extLst>
              </a:tr>
              <a:tr h="260235">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ADASYN</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GBM</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0.981</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0.297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0.052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849.822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02674021"/>
                  </a:ext>
                </a:extLst>
              </a:tr>
              <a:tr h="260235">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ADASYN</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RF</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0.967</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0.693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0.051</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882.475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87386559"/>
                  </a:ext>
                </a:extLst>
              </a:tr>
              <a:tr h="260235">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ADASYN</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XGB</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0.969</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0.495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0.057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777.545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8622235"/>
                  </a:ext>
                </a:extLst>
              </a:tr>
              <a:tr h="260235">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ROSE</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GBM</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bg1"/>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0.989</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0.198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0.066</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668.693</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23760523"/>
                  </a:ext>
                </a:extLst>
              </a:tr>
              <a:tr h="260235">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ROSE</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RF</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bg1"/>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0.989</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0.198</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0.052</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a:noFill/>
                    </a:lnB>
                    <a:lnTlToBr w="12700" cmpd="sng">
                      <a:noFill/>
                      <a:prstDash val="solid"/>
                    </a:lnTlToBr>
                    <a:lnBlToTr w="12700" cmpd="sng">
                      <a:noFill/>
                      <a:prstDash val="solid"/>
                    </a:lnBlToT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864.990</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277508516"/>
                  </a:ext>
                </a:extLst>
              </a:tr>
              <a:tr h="260235">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ROSE</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B w="12700" cap="flat" cmpd="sng" algn="ctr">
                      <a:solidFill>
                        <a:schemeClr val="accent5"/>
                      </a:solidFill>
                      <a:prstDash val="solid"/>
                      <a:round/>
                      <a:headEnd type="none" w="med" len="med"/>
                      <a:tailEnd type="none" w="med" len="med"/>
                    </a:lnB>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XGB</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lnB w="12700" cap="flat" cmpd="sng" algn="ctr">
                      <a:solidFill>
                        <a:schemeClr val="accent5"/>
                      </a:solidFill>
                      <a:prstDash val="solid"/>
                      <a:round/>
                      <a:headEnd type="none" w="med" len="med"/>
                      <a:tailEnd type="none" w="med" len="med"/>
                    </a:lnB>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0.994</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B w="12700" cap="flat" cmpd="sng" algn="ctr">
                      <a:solidFill>
                        <a:schemeClr val="accent5"/>
                      </a:solidFill>
                      <a:prstDash val="solid"/>
                      <a:round/>
                      <a:headEnd type="none" w="med" len="med"/>
                      <a:tailEnd type="none" w="med" len="med"/>
                    </a:lnB>
                    <a:solidFill>
                      <a:schemeClr val="bg1"/>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0.099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R w="12700" cap="flat" cmpd="sng" algn="ctr">
                      <a:solidFill>
                        <a:schemeClr val="accent5"/>
                      </a:solidFill>
                      <a:prstDash val="solid"/>
                      <a:round/>
                      <a:headEnd type="none" w="med" len="med"/>
                      <a:tailEnd type="none" w="med" len="med"/>
                    </a:lnR>
                    <a:lnB w="12700" cap="flat" cmpd="sng" algn="ctr">
                      <a:solidFill>
                        <a:schemeClr val="accent5"/>
                      </a:solidFill>
                      <a:prstDash val="solid"/>
                      <a:round/>
                      <a:headEnd type="none" w="med" len="med"/>
                      <a:tailEnd type="none" w="med" len="med"/>
                    </a:lnB>
                    <a:solidFill>
                      <a:schemeClr val="bg1"/>
                    </a:solidFill>
                  </a:tcPr>
                </a:tc>
                <a:tc>
                  <a:txBody>
                    <a:bodyPr/>
                    <a:lstStyle/>
                    <a:p>
                      <a:pPr algn="l">
                        <a:lnSpc>
                          <a:spcPct val="115000"/>
                        </a:lnSpc>
                        <a:spcAft>
                          <a:spcPts val="1000"/>
                        </a:spcAft>
                      </a:pPr>
                      <a:r>
                        <a:rPr lang="lv-LV" sz="1400">
                          <a:effectLst/>
                          <a:latin typeface="Arial" panose="020B0604020202020204" pitchFamily="34" charset="0"/>
                          <a:cs typeface="Arial" panose="020B0604020202020204" pitchFamily="34" charset="0"/>
                        </a:rPr>
                        <a:t>0.071</a:t>
                      </a:r>
                      <a:endParaRPr lang="en-US" sz="1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5"/>
                      </a:solidFill>
                      <a:prstDash val="solid"/>
                      <a:round/>
                      <a:headEnd type="none" w="med" len="med"/>
                      <a:tailEnd type="none" w="med" len="med"/>
                    </a:lnL>
                    <a:lnR>
                      <a:noFill/>
                    </a:lnR>
                    <a:lnT>
                      <a:noFill/>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lnSpc>
                          <a:spcPct val="115000"/>
                        </a:lnSpc>
                        <a:spcAft>
                          <a:spcPts val="1000"/>
                        </a:spcAft>
                      </a:pPr>
                      <a:r>
                        <a:rPr lang="lv-LV" sz="1400" dirty="0">
                          <a:effectLst/>
                          <a:latin typeface="Arial" panose="020B0604020202020204" pitchFamily="34" charset="0"/>
                          <a:cs typeface="Arial" panose="020B0604020202020204" pitchFamily="34" charset="0"/>
                        </a:rPr>
                        <a:t>620.337</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a:noFill/>
                    </a:lnL>
                    <a:lnR w="12700" cap="flat" cmpd="sng" algn="ctr">
                      <a:noFill/>
                      <a:prstDash val="solid"/>
                      <a:round/>
                      <a:headEnd type="none" w="med" len="med"/>
                      <a:tailEnd type="none" w="med" len="med"/>
                    </a:lnR>
                    <a:lnT>
                      <a:noFill/>
                    </a:lnT>
                    <a:lnB w="1270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703277576"/>
                  </a:ext>
                </a:extLst>
              </a:tr>
            </a:tbl>
          </a:graphicData>
        </a:graphic>
      </p:graphicFrame>
      <p:sp>
        <p:nvSpPr>
          <p:cNvPr id="9" name="TextBox 8">
            <a:extLst>
              <a:ext uri="{FF2B5EF4-FFF2-40B4-BE49-F238E27FC236}">
                <a16:creationId xmlns:a16="http://schemas.microsoft.com/office/drawing/2014/main" id="{C354A4B8-3B69-443C-BC90-4C80455648F5}"/>
              </a:ext>
            </a:extLst>
          </p:cNvPr>
          <p:cNvSpPr txBox="1"/>
          <p:nvPr/>
        </p:nvSpPr>
        <p:spPr>
          <a:xfrm>
            <a:off x="293253" y="6355933"/>
            <a:ext cx="9875520" cy="261610"/>
          </a:xfrm>
          <a:prstGeom prst="rect">
            <a:avLst/>
          </a:prstGeom>
          <a:noFill/>
        </p:spPr>
        <p:txBody>
          <a:bodyPr wrap="square" rtlCol="0">
            <a:spAutoFit/>
          </a:bodyPr>
          <a:lstStyle/>
          <a:p>
            <a:r>
              <a:rPr lang="en-US" sz="1100" dirty="0">
                <a:latin typeface="Arial" panose="020B0604020202020204" pitchFamily="34" charset="0"/>
                <a:cs typeface="Arial" panose="020B0604020202020204" pitchFamily="34" charset="0"/>
              </a:rPr>
              <a:t>Purpose: shortlist configurations for binary detection (</a:t>
            </a:r>
            <a:r>
              <a:rPr lang="en-US" sz="1100" b="1" dirty="0">
                <a:latin typeface="Arial" panose="020B0604020202020204" pitchFamily="34" charset="0"/>
                <a:cs typeface="Arial" panose="020B0604020202020204" pitchFamily="34" charset="0"/>
              </a:rPr>
              <a:t>Recall ≥ 0.98 </a:t>
            </a:r>
            <a:r>
              <a:rPr lang="en-US" sz="1100" dirty="0">
                <a:latin typeface="Arial" panose="020B0604020202020204" pitchFamily="34" charset="0"/>
                <a:cs typeface="Arial" panose="020B0604020202020204" pitchFamily="34" charset="0"/>
              </a:rPr>
              <a:t>enforced at calibration).</a:t>
            </a:r>
          </a:p>
        </p:txBody>
      </p:sp>
      <p:sp>
        <p:nvSpPr>
          <p:cNvPr id="14" name="Content Placeholder 2">
            <a:extLst>
              <a:ext uri="{FF2B5EF4-FFF2-40B4-BE49-F238E27FC236}">
                <a16:creationId xmlns:a16="http://schemas.microsoft.com/office/drawing/2014/main" id="{CBD56AD9-DA18-4D50-AE1B-C87952EAD166}"/>
              </a:ext>
            </a:extLst>
          </p:cNvPr>
          <p:cNvSpPr txBox="1">
            <a:spLocks/>
          </p:cNvSpPr>
          <p:nvPr/>
        </p:nvSpPr>
        <p:spPr>
          <a:xfrm>
            <a:off x="7010401" y="2609920"/>
            <a:ext cx="4888343" cy="3643290"/>
          </a:xfrm>
          <a:prstGeom prst="rect">
            <a:avLst/>
          </a:prstGeom>
          <a:ln>
            <a:solidFill>
              <a:srgbClr val="71A8DB"/>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lvl1pPr marL="228600" indent="-228600" algn="l" defTabSz="914400" rtl="0" eaLnBrk="1" latinLnBrk="0" hangingPunct="1">
              <a:lnSpc>
                <a:spcPct val="90000"/>
              </a:lnSpc>
              <a:spcBef>
                <a:spcPts val="1000"/>
              </a:spcBef>
              <a:buFontTx/>
              <a:buBlip>
                <a:blip r:embed="rId3"/>
              </a:buBlip>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4"/>
              </a:buBlip>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4"/>
              </a:buBlip>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4"/>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4"/>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Syn100 dataset: </a:t>
            </a:r>
          </a:p>
          <a:p>
            <a:pPr lvl="1"/>
            <a:r>
              <a:rPr lang="en-US" sz="1600" dirty="0"/>
              <a:t>Baseline + SMOTE + ADASYN (exclude ROSE)</a:t>
            </a:r>
          </a:p>
          <a:p>
            <a:r>
              <a:rPr lang="en-US" sz="1800" dirty="0"/>
              <a:t>Syn500 shortlist:</a:t>
            </a:r>
          </a:p>
          <a:p>
            <a:pPr lvl="1"/>
            <a:r>
              <a:rPr lang="en-US" sz="1600" dirty="0"/>
              <a:t>Baseline + ROSE (exclude SMOTE/ADASYN)</a:t>
            </a:r>
          </a:p>
          <a:p>
            <a:r>
              <a:rPr lang="en-US" sz="1800" dirty="0"/>
              <a:t>Baseline:</a:t>
            </a:r>
          </a:p>
          <a:p>
            <a:pPr lvl="1"/>
            <a:r>
              <a:rPr lang="en-US" sz="1600" dirty="0"/>
              <a:t>no-balancing reference (zero indicator)</a:t>
            </a:r>
            <a:endParaRPr lang="en-US" sz="2000" dirty="0"/>
          </a:p>
        </p:txBody>
      </p:sp>
    </p:spTree>
    <p:extLst>
      <p:ext uri="{BB962C8B-B14F-4D97-AF65-F5344CB8AC3E}">
        <p14:creationId xmlns:p14="http://schemas.microsoft.com/office/powerpoint/2010/main" val="849888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EC10B1-6758-43A4-9B2D-A0B6B2DC94A1}"/>
              </a:ext>
            </a:extLst>
          </p:cNvPr>
          <p:cNvSpPr>
            <a:spLocks noGrp="1"/>
          </p:cNvSpPr>
          <p:nvPr>
            <p:ph type="title"/>
          </p:nvPr>
        </p:nvSpPr>
        <p:spPr/>
        <p:txBody>
          <a:bodyPr>
            <a:normAutofit fontScale="90000"/>
          </a:bodyPr>
          <a:lstStyle/>
          <a:p>
            <a:r>
              <a:rPr lang="en-US" dirty="0"/>
              <a:t>Binary model (Full retrain vs Incremental)</a:t>
            </a:r>
          </a:p>
        </p:txBody>
      </p:sp>
      <p:sp>
        <p:nvSpPr>
          <p:cNvPr id="5" name="Slide Number Placeholder 4">
            <a:extLst>
              <a:ext uri="{FF2B5EF4-FFF2-40B4-BE49-F238E27FC236}">
                <a16:creationId xmlns:a16="http://schemas.microsoft.com/office/drawing/2014/main" id="{976E8611-A4B3-4035-8580-ABF99C834D16}"/>
              </a:ext>
            </a:extLst>
          </p:cNvPr>
          <p:cNvSpPr>
            <a:spLocks noGrp="1"/>
          </p:cNvSpPr>
          <p:nvPr>
            <p:ph type="sldNum" sz="quarter" idx="12"/>
          </p:nvPr>
        </p:nvSpPr>
        <p:spPr/>
        <p:txBody>
          <a:bodyPr/>
          <a:lstStyle/>
          <a:p>
            <a:pPr algn="ctr"/>
            <a:fld id="{1478D195-628D-428E-B98B-35B3E9B486B6}" type="slidenum">
              <a:rPr lang="en-US" smtClean="0"/>
              <a:pPr algn="ctr"/>
              <a:t>11</a:t>
            </a:fld>
            <a:endParaRPr lang="en-US"/>
          </a:p>
        </p:txBody>
      </p:sp>
      <p:graphicFrame>
        <p:nvGraphicFramePr>
          <p:cNvPr id="11" name="Table 10">
            <a:extLst>
              <a:ext uri="{FF2B5EF4-FFF2-40B4-BE49-F238E27FC236}">
                <a16:creationId xmlns:a16="http://schemas.microsoft.com/office/drawing/2014/main" id="{67E5FF8D-10C9-4E5B-A2AE-353E1F87CF06}"/>
              </a:ext>
            </a:extLst>
          </p:cNvPr>
          <p:cNvGraphicFramePr>
            <a:graphicFrameLocks noGrp="1"/>
          </p:cNvGraphicFramePr>
          <p:nvPr>
            <p:extLst>
              <p:ext uri="{D42A27DB-BD31-4B8C-83A1-F6EECF244321}">
                <p14:modId xmlns:p14="http://schemas.microsoft.com/office/powerpoint/2010/main" val="4152859495"/>
              </p:ext>
            </p:extLst>
          </p:nvPr>
        </p:nvGraphicFramePr>
        <p:xfrm>
          <a:off x="518157" y="5165784"/>
          <a:ext cx="5577840" cy="1509650"/>
        </p:xfrm>
        <a:graphic>
          <a:graphicData uri="http://schemas.openxmlformats.org/drawingml/2006/table">
            <a:tbl>
              <a:tblPr>
                <a:tableStyleId>{5FD0F851-EC5A-4D38-B0AD-8093EC10F338}</a:tableStyleId>
              </a:tblPr>
              <a:tblGrid>
                <a:gridCol w="914400">
                  <a:extLst>
                    <a:ext uri="{9D8B030D-6E8A-4147-A177-3AD203B41FA5}">
                      <a16:colId xmlns:a16="http://schemas.microsoft.com/office/drawing/2014/main" val="1458922841"/>
                    </a:ext>
                  </a:extLst>
                </a:gridCol>
                <a:gridCol w="914400">
                  <a:extLst>
                    <a:ext uri="{9D8B030D-6E8A-4147-A177-3AD203B41FA5}">
                      <a16:colId xmlns:a16="http://schemas.microsoft.com/office/drawing/2014/main" val="990198392"/>
                    </a:ext>
                  </a:extLst>
                </a:gridCol>
                <a:gridCol w="1005840">
                  <a:extLst>
                    <a:ext uri="{9D8B030D-6E8A-4147-A177-3AD203B41FA5}">
                      <a16:colId xmlns:a16="http://schemas.microsoft.com/office/drawing/2014/main" val="1054143398"/>
                    </a:ext>
                  </a:extLst>
                </a:gridCol>
                <a:gridCol w="914400">
                  <a:extLst>
                    <a:ext uri="{9D8B030D-6E8A-4147-A177-3AD203B41FA5}">
                      <a16:colId xmlns:a16="http://schemas.microsoft.com/office/drawing/2014/main" val="1201994142"/>
                    </a:ext>
                  </a:extLst>
                </a:gridCol>
                <a:gridCol w="914400">
                  <a:extLst>
                    <a:ext uri="{9D8B030D-6E8A-4147-A177-3AD203B41FA5}">
                      <a16:colId xmlns:a16="http://schemas.microsoft.com/office/drawing/2014/main" val="1764197224"/>
                    </a:ext>
                  </a:extLst>
                </a:gridCol>
                <a:gridCol w="914400">
                  <a:extLst>
                    <a:ext uri="{9D8B030D-6E8A-4147-A177-3AD203B41FA5}">
                      <a16:colId xmlns:a16="http://schemas.microsoft.com/office/drawing/2014/main" val="886328784"/>
                    </a:ext>
                  </a:extLst>
                </a:gridCol>
              </a:tblGrid>
              <a:tr h="301930">
                <a:tc>
                  <a:txBody>
                    <a:bodyPr/>
                    <a:lstStyle/>
                    <a:p>
                      <a:pPr algn="l"/>
                      <a:r>
                        <a:rPr lang="en-US" sz="1100" dirty="0">
                          <a:latin typeface="Arial" panose="020B0604020202020204" pitchFamily="34" charset="0"/>
                          <a:cs typeface="Arial" panose="020B0604020202020204" pitchFamily="34" charset="0"/>
                        </a:rPr>
                        <a:t>Model</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Mode</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Best variant</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ROC-AUC</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PR-AUC</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FP/1000</a:t>
                      </a:r>
                    </a:p>
                  </a:txBody>
                  <a:tcPr anchor="ctr">
                    <a:lnB w="12700" cap="flat" cmpd="sng" algn="ctr">
                      <a:solidFill>
                        <a:srgbClr val="71A8DB"/>
                      </a:solidFill>
                      <a:prstDash val="solid"/>
                      <a:round/>
                      <a:headEnd type="none" w="med" len="med"/>
                      <a:tailEnd type="none" w="med" len="med"/>
                    </a:lnB>
                  </a:tcPr>
                </a:tc>
                <a:extLst>
                  <a:ext uri="{0D108BD9-81ED-4DB2-BD59-A6C34878D82A}">
                    <a16:rowId xmlns:a16="http://schemas.microsoft.com/office/drawing/2014/main" val="2537268104"/>
                  </a:ext>
                </a:extLst>
              </a:tr>
              <a:tr h="301930">
                <a:tc>
                  <a:txBody>
                    <a:bodyPr/>
                    <a:lstStyle/>
                    <a:p>
                      <a:pPr algn="l"/>
                      <a:r>
                        <a:rPr lang="en-US" sz="1100" b="1" dirty="0">
                          <a:latin typeface="Arial" panose="020B0604020202020204" pitchFamily="34" charset="0"/>
                          <a:cs typeface="Arial" panose="020B0604020202020204" pitchFamily="34" charset="0"/>
                        </a:rPr>
                        <a:t>GBM</a:t>
                      </a:r>
                      <a:endParaRPr lang="en-US" sz="1100" dirty="0">
                        <a:latin typeface="Arial" panose="020B0604020202020204" pitchFamily="34" charset="0"/>
                        <a:cs typeface="Arial" panose="020B0604020202020204" pitchFamily="34" charset="0"/>
                      </a:endParaRPr>
                    </a:p>
                  </a:txBody>
                  <a:tcPr anchor="ctr">
                    <a:lnT w="12700" cap="flat" cmpd="sng" algn="ctr">
                      <a:solidFill>
                        <a:srgbClr val="71A8DB"/>
                      </a:solidFill>
                      <a:prstDash val="solid"/>
                      <a:round/>
                      <a:headEnd type="none" w="med" len="med"/>
                      <a:tailEnd type="none" w="med" len="med"/>
                    </a:lnT>
                  </a:tcPr>
                </a:tc>
                <a:tc>
                  <a:txBody>
                    <a:bodyPr/>
                    <a:lstStyle/>
                    <a:p>
                      <a:pPr algn="l"/>
                      <a:r>
                        <a:rPr lang="en-US" sz="1100" b="1" dirty="0">
                          <a:latin typeface="Arial" panose="020B0604020202020204" pitchFamily="34" charset="0"/>
                          <a:cs typeface="Arial" panose="020B0604020202020204" pitchFamily="34" charset="0"/>
                        </a:rPr>
                        <a:t>Full retrain</a:t>
                      </a:r>
                    </a:p>
                  </a:txBody>
                  <a:tcPr anchor="ctr">
                    <a:lnT w="12700" cap="flat" cmpd="sng" algn="ctr">
                      <a:solidFill>
                        <a:srgbClr val="71A8DB"/>
                      </a:solidFill>
                      <a:prstDash val="solid"/>
                      <a:round/>
                      <a:headEnd type="none" w="med" len="med"/>
                      <a:tailEnd type="none" w="med" len="med"/>
                    </a:lnT>
                  </a:tcPr>
                </a:tc>
                <a:tc>
                  <a:txBody>
                    <a:bodyPr/>
                    <a:lstStyle/>
                    <a:p>
                      <a:pPr algn="l"/>
                      <a:r>
                        <a:rPr lang="en-US" sz="1100" b="1" dirty="0">
                          <a:latin typeface="Arial" panose="020B0604020202020204" pitchFamily="34" charset="0"/>
                          <a:cs typeface="Arial" panose="020B0604020202020204" pitchFamily="34" charset="0"/>
                        </a:rPr>
                        <a:t>ADASYN</a:t>
                      </a:r>
                      <a:endParaRPr lang="en-US" sz="1100" dirty="0">
                        <a:latin typeface="Arial" panose="020B0604020202020204" pitchFamily="34" charset="0"/>
                        <a:cs typeface="Arial" panose="020B0604020202020204" pitchFamily="34" charset="0"/>
                      </a:endParaRPr>
                    </a:p>
                  </a:txBody>
                  <a:tcPr anchor="ctr">
                    <a:lnT w="12700" cap="flat" cmpd="sng" algn="ctr">
                      <a:solidFill>
                        <a:srgbClr val="71A8DB"/>
                      </a:solidFill>
                      <a:prstDash val="solid"/>
                      <a:round/>
                      <a:headEnd type="none" w="med" len="med"/>
                      <a:tailEnd type="none" w="med" len="med"/>
                    </a:lnT>
                  </a:tcPr>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0.992</a:t>
                      </a:r>
                    </a:p>
                  </a:txBody>
                  <a:tcPr marL="7620" marR="7620" marT="7620" marB="0" anchor="b">
                    <a:lnT w="12700" cap="flat" cmpd="sng" algn="ctr">
                      <a:solidFill>
                        <a:srgbClr val="71A8DB"/>
                      </a:solidFill>
                      <a:prstDash val="solid"/>
                      <a:round/>
                      <a:headEnd type="none" w="med" len="med"/>
                      <a:tailEnd type="none" w="med" len="med"/>
                    </a:lnT>
                  </a:tcPr>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0.920</a:t>
                      </a:r>
                    </a:p>
                  </a:txBody>
                  <a:tcPr marL="7620" marR="7620" marT="7620" marB="0" anchor="b">
                    <a:lnT w="12700" cap="flat" cmpd="sng" algn="ctr">
                      <a:solidFill>
                        <a:srgbClr val="71A8DB"/>
                      </a:solidFill>
                      <a:prstDash val="solid"/>
                      <a:round/>
                      <a:headEnd type="none" w="med" len="med"/>
                      <a:tailEnd type="none" w="med" len="med"/>
                    </a:lnT>
                  </a:tcPr>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66.8</a:t>
                      </a:r>
                    </a:p>
                  </a:txBody>
                  <a:tcPr marL="7620" marR="7620" marT="7620" marB="0" anchor="b">
                    <a:lnT w="12700" cap="flat" cmpd="sng" algn="ctr">
                      <a:solidFill>
                        <a:srgbClr val="71A8DB"/>
                      </a:solidFill>
                      <a:prstDash val="solid"/>
                      <a:round/>
                      <a:headEnd type="none" w="med" len="med"/>
                      <a:tailEnd type="none" w="med" len="med"/>
                    </a:lnT>
                  </a:tcPr>
                </a:tc>
                <a:extLst>
                  <a:ext uri="{0D108BD9-81ED-4DB2-BD59-A6C34878D82A}">
                    <a16:rowId xmlns:a16="http://schemas.microsoft.com/office/drawing/2014/main" val="3312070050"/>
                  </a:ext>
                </a:extLst>
              </a:tr>
              <a:tr h="301930">
                <a:tc>
                  <a:txBody>
                    <a:bodyPr/>
                    <a:lstStyle/>
                    <a:p>
                      <a:pPr algn="l"/>
                      <a:r>
                        <a:rPr lang="en-US" sz="1100" b="1" dirty="0">
                          <a:latin typeface="Arial" panose="020B0604020202020204" pitchFamily="34" charset="0"/>
                          <a:cs typeface="Arial" panose="020B0604020202020204" pitchFamily="34" charset="0"/>
                        </a:rPr>
                        <a:t>RF</a:t>
                      </a:r>
                      <a:endParaRPr lang="en-US" sz="1100" dirty="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Arial" panose="020B0604020202020204" pitchFamily="34" charset="0"/>
                          <a:cs typeface="Arial" panose="020B0604020202020204" pitchFamily="34" charset="0"/>
                        </a:rPr>
                        <a:t>Full retrain</a:t>
                      </a:r>
                    </a:p>
                  </a:txBody>
                  <a:tcPr anchor="ctr"/>
                </a:tc>
                <a:tc>
                  <a:txBody>
                    <a:bodyPr/>
                    <a:lstStyle/>
                    <a:p>
                      <a:pPr algn="l"/>
                      <a:r>
                        <a:rPr lang="en-US" sz="1100" b="1" dirty="0">
                          <a:latin typeface="Arial" panose="020B0604020202020204" pitchFamily="34" charset="0"/>
                          <a:cs typeface="Arial" panose="020B0604020202020204" pitchFamily="34" charset="0"/>
                        </a:rPr>
                        <a:t>SMOTE</a:t>
                      </a:r>
                      <a:endParaRPr lang="en-US" sz="1100" dirty="0">
                        <a:latin typeface="Arial" panose="020B0604020202020204" pitchFamily="34" charset="0"/>
                        <a:cs typeface="Arial" panose="020B0604020202020204" pitchFamily="34" charset="0"/>
                      </a:endParaRPr>
                    </a:p>
                  </a:txBody>
                  <a:tcPr anchor="ctr"/>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0.997</a:t>
                      </a:r>
                    </a:p>
                  </a:txBody>
                  <a:tcPr marL="7620" marR="7620" marT="7620" marB="0" anchor="b"/>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0.932</a:t>
                      </a:r>
                    </a:p>
                  </a:txBody>
                  <a:tcPr marL="7620" marR="7620" marT="7620" marB="0" anchor="b"/>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23.9</a:t>
                      </a:r>
                    </a:p>
                  </a:txBody>
                  <a:tcPr marL="7620" marR="7620" marT="7620" marB="0" anchor="b"/>
                </a:tc>
                <a:extLst>
                  <a:ext uri="{0D108BD9-81ED-4DB2-BD59-A6C34878D82A}">
                    <a16:rowId xmlns:a16="http://schemas.microsoft.com/office/drawing/2014/main" val="285166112"/>
                  </a:ext>
                </a:extLst>
              </a:tr>
              <a:tr h="301930">
                <a:tc>
                  <a:txBody>
                    <a:bodyPr/>
                    <a:lstStyle/>
                    <a:p>
                      <a:pPr algn="l"/>
                      <a:r>
                        <a:rPr lang="en-US" sz="1100" b="1" dirty="0">
                          <a:latin typeface="Arial" panose="020B0604020202020204" pitchFamily="34" charset="0"/>
                          <a:cs typeface="Arial" panose="020B0604020202020204" pitchFamily="34" charset="0"/>
                        </a:rPr>
                        <a:t>XGB</a:t>
                      </a:r>
                    </a:p>
                  </a:txBody>
                  <a:tcPr anchor="ctr">
                    <a:solidFill>
                      <a:schemeClr val="accent5">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Arial" panose="020B0604020202020204" pitchFamily="34" charset="0"/>
                          <a:cs typeface="Arial" panose="020B0604020202020204" pitchFamily="34" charset="0"/>
                        </a:rPr>
                        <a:t>Full retrain</a:t>
                      </a:r>
                    </a:p>
                  </a:txBody>
                  <a:tcPr anchor="ctr">
                    <a:solidFill>
                      <a:schemeClr val="accent5">
                        <a:lumMod val="20000"/>
                        <a:lumOff val="80000"/>
                      </a:schemeClr>
                    </a:solidFill>
                  </a:tcPr>
                </a:tc>
                <a:tc>
                  <a:txBody>
                    <a:bodyPr/>
                    <a:lstStyle/>
                    <a:p>
                      <a:pPr algn="l"/>
                      <a:r>
                        <a:rPr lang="en-US" sz="1100" b="1" dirty="0">
                          <a:latin typeface="Arial" panose="020B0604020202020204" pitchFamily="34" charset="0"/>
                          <a:cs typeface="Arial" panose="020B0604020202020204" pitchFamily="34" charset="0"/>
                        </a:rPr>
                        <a:t>SMOTE</a:t>
                      </a:r>
                    </a:p>
                  </a:txBody>
                  <a:tcPr anchor="ctr">
                    <a:solidFill>
                      <a:schemeClr val="accent5">
                        <a:lumMod val="20000"/>
                        <a:lumOff val="80000"/>
                      </a:schemeClr>
                    </a:solidFill>
                  </a:tcPr>
                </a:tc>
                <a:tc>
                  <a:txBody>
                    <a:bodyPr/>
                    <a:lstStyle/>
                    <a:p>
                      <a:pPr algn="l" fontAlgn="b"/>
                      <a:r>
                        <a:rPr lang="en-US" sz="1100" b="1" i="0" u="none" strike="noStrike" dirty="0">
                          <a:solidFill>
                            <a:srgbClr val="000000"/>
                          </a:solidFill>
                          <a:effectLst/>
                          <a:latin typeface="Arial" panose="020B0604020202020204" pitchFamily="34" charset="0"/>
                          <a:cs typeface="Arial" panose="020B0604020202020204" pitchFamily="34" charset="0"/>
                        </a:rPr>
                        <a:t>0.998</a:t>
                      </a:r>
                    </a:p>
                  </a:txBody>
                  <a:tcPr marL="7620" marR="7620" marT="7620" marB="0" anchor="b">
                    <a:solidFill>
                      <a:schemeClr val="accent5">
                        <a:lumMod val="20000"/>
                        <a:lumOff val="80000"/>
                      </a:schemeClr>
                    </a:solidFill>
                  </a:tcPr>
                </a:tc>
                <a:tc>
                  <a:txBody>
                    <a:bodyPr/>
                    <a:lstStyle/>
                    <a:p>
                      <a:pPr algn="l" fontAlgn="b"/>
                      <a:r>
                        <a:rPr lang="en-US" sz="1100" b="1" i="0" u="none" strike="noStrike" dirty="0">
                          <a:solidFill>
                            <a:srgbClr val="000000"/>
                          </a:solidFill>
                          <a:effectLst/>
                          <a:latin typeface="Arial" panose="020B0604020202020204" pitchFamily="34" charset="0"/>
                          <a:cs typeface="Arial" panose="020B0604020202020204" pitchFamily="34" charset="0"/>
                        </a:rPr>
                        <a:t>0.970</a:t>
                      </a:r>
                    </a:p>
                  </a:txBody>
                  <a:tcPr marL="7620" marR="7620" marT="7620" marB="0" anchor="b">
                    <a:solidFill>
                      <a:schemeClr val="accent5">
                        <a:lumMod val="20000"/>
                        <a:lumOff val="80000"/>
                      </a:schemeClr>
                    </a:solidFill>
                  </a:tcPr>
                </a:tc>
                <a:tc>
                  <a:txBody>
                    <a:bodyPr/>
                    <a:lstStyle/>
                    <a:p>
                      <a:pPr algn="l" fontAlgn="b"/>
                      <a:r>
                        <a:rPr lang="en-US" sz="1100" b="1" i="0" u="none" strike="noStrike" dirty="0">
                          <a:solidFill>
                            <a:srgbClr val="000000"/>
                          </a:solidFill>
                          <a:effectLst/>
                          <a:latin typeface="Arial" panose="020B0604020202020204" pitchFamily="34" charset="0"/>
                          <a:cs typeface="Arial" panose="020B0604020202020204" pitchFamily="34" charset="0"/>
                        </a:rPr>
                        <a:t>22.0</a:t>
                      </a:r>
                    </a:p>
                  </a:txBody>
                  <a:tcPr marL="7620" marR="7620" marT="7620" marB="0" anchor="b">
                    <a:solidFill>
                      <a:schemeClr val="accent5">
                        <a:lumMod val="20000"/>
                        <a:lumOff val="80000"/>
                      </a:schemeClr>
                    </a:solidFill>
                  </a:tcPr>
                </a:tc>
                <a:extLst>
                  <a:ext uri="{0D108BD9-81ED-4DB2-BD59-A6C34878D82A}">
                    <a16:rowId xmlns:a16="http://schemas.microsoft.com/office/drawing/2014/main" val="292065962"/>
                  </a:ext>
                </a:extLst>
              </a:tr>
              <a:tr h="301930">
                <a:tc>
                  <a:txBody>
                    <a:bodyPr/>
                    <a:lstStyle/>
                    <a:p>
                      <a:pPr algn="l"/>
                      <a:r>
                        <a:rPr lang="en-US" sz="1100" b="1" dirty="0">
                          <a:latin typeface="Arial" panose="020B0604020202020204" pitchFamily="34" charset="0"/>
                          <a:cs typeface="Arial" panose="020B0604020202020204" pitchFamily="34" charset="0"/>
                        </a:rPr>
                        <a:t>XGB</a:t>
                      </a:r>
                      <a:endParaRPr lang="en-US" sz="1100" dirty="0">
                        <a:latin typeface="Arial" panose="020B0604020202020204" pitchFamily="34" charset="0"/>
                        <a:cs typeface="Arial" panose="020B0604020202020204" pitchFamily="34" charset="0"/>
                      </a:endParaRPr>
                    </a:p>
                  </a:txBody>
                  <a:tcPr anchor="ct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b="1" dirty="0">
                          <a:latin typeface="Arial" panose="020B0604020202020204" pitchFamily="34" charset="0"/>
                          <a:cs typeface="Arial" panose="020B0604020202020204" pitchFamily="34" charset="0"/>
                        </a:rPr>
                        <a:t>Full retrain</a:t>
                      </a:r>
                    </a:p>
                  </a:txBody>
                  <a:tcPr anchor="ctr">
                    <a:solidFill>
                      <a:schemeClr val="bg2"/>
                    </a:solidFill>
                  </a:tcPr>
                </a:tc>
                <a:tc>
                  <a:txBody>
                    <a:bodyPr/>
                    <a:lstStyle/>
                    <a:p>
                      <a:pPr algn="l"/>
                      <a:r>
                        <a:rPr lang="en-US" sz="1100" b="1" dirty="0">
                          <a:latin typeface="Arial" panose="020B0604020202020204" pitchFamily="34" charset="0"/>
                          <a:cs typeface="Arial" panose="020B0604020202020204" pitchFamily="34" charset="0"/>
                        </a:rPr>
                        <a:t>Baseline</a:t>
                      </a:r>
                      <a:endParaRPr lang="en-US" sz="1100" dirty="0">
                        <a:latin typeface="Arial" panose="020B0604020202020204" pitchFamily="34" charset="0"/>
                        <a:cs typeface="Arial" panose="020B0604020202020204" pitchFamily="34" charset="0"/>
                      </a:endParaRPr>
                    </a:p>
                  </a:txBody>
                  <a:tcPr anchor="ctr">
                    <a:solidFill>
                      <a:schemeClr val="bg2"/>
                    </a:solidFill>
                  </a:tcPr>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0.996</a:t>
                      </a:r>
                    </a:p>
                  </a:txBody>
                  <a:tcPr marL="7620" marR="7620" marT="7620" marB="0" anchor="b">
                    <a:solidFill>
                      <a:schemeClr val="bg2"/>
                    </a:solidFill>
                  </a:tcPr>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0.903</a:t>
                      </a:r>
                    </a:p>
                  </a:txBody>
                  <a:tcPr marL="7620" marR="7620" marT="7620" marB="0" anchor="b">
                    <a:solidFill>
                      <a:schemeClr val="bg2"/>
                    </a:solidFill>
                  </a:tcPr>
                </a:tc>
                <a:tc>
                  <a:txBody>
                    <a:bodyPr/>
                    <a:lstStyle/>
                    <a:p>
                      <a:pPr algn="l" fontAlgn="b"/>
                      <a:r>
                        <a:rPr lang="en-US" sz="1100" b="0" i="0" u="none" strike="noStrike" dirty="0">
                          <a:solidFill>
                            <a:srgbClr val="000000"/>
                          </a:solidFill>
                          <a:effectLst/>
                          <a:latin typeface="Arial" panose="020B0604020202020204" pitchFamily="34" charset="0"/>
                          <a:cs typeface="Arial" panose="020B0604020202020204" pitchFamily="34" charset="0"/>
                        </a:rPr>
                        <a:t>27.6</a:t>
                      </a:r>
                    </a:p>
                  </a:txBody>
                  <a:tcPr marL="7620" marR="7620" marT="7620" marB="0" anchor="b">
                    <a:solidFill>
                      <a:schemeClr val="bg2"/>
                    </a:solidFill>
                  </a:tcPr>
                </a:tc>
                <a:extLst>
                  <a:ext uri="{0D108BD9-81ED-4DB2-BD59-A6C34878D82A}">
                    <a16:rowId xmlns:a16="http://schemas.microsoft.com/office/drawing/2014/main" val="2782269270"/>
                  </a:ext>
                </a:extLst>
              </a:tr>
            </a:tbl>
          </a:graphicData>
        </a:graphic>
      </p:graphicFrame>
      <p:graphicFrame>
        <p:nvGraphicFramePr>
          <p:cNvPr id="12" name="Table 11">
            <a:extLst>
              <a:ext uri="{FF2B5EF4-FFF2-40B4-BE49-F238E27FC236}">
                <a16:creationId xmlns:a16="http://schemas.microsoft.com/office/drawing/2014/main" id="{6F1BEF04-26AB-4BC3-89E9-E98205E25F14}"/>
              </a:ext>
            </a:extLst>
          </p:cNvPr>
          <p:cNvGraphicFramePr>
            <a:graphicFrameLocks noGrp="1"/>
          </p:cNvGraphicFramePr>
          <p:nvPr>
            <p:extLst>
              <p:ext uri="{D42A27DB-BD31-4B8C-83A1-F6EECF244321}">
                <p14:modId xmlns:p14="http://schemas.microsoft.com/office/powerpoint/2010/main" val="169187797"/>
              </p:ext>
            </p:extLst>
          </p:nvPr>
        </p:nvGraphicFramePr>
        <p:xfrm>
          <a:off x="6095997" y="5165783"/>
          <a:ext cx="5495047" cy="1509651"/>
        </p:xfrm>
        <a:graphic>
          <a:graphicData uri="http://schemas.openxmlformats.org/drawingml/2006/table">
            <a:tbl>
              <a:tblPr>
                <a:tableStyleId>{5FD0F851-EC5A-4D38-B0AD-8093EC10F338}</a:tableStyleId>
              </a:tblPr>
              <a:tblGrid>
                <a:gridCol w="914400">
                  <a:extLst>
                    <a:ext uri="{9D8B030D-6E8A-4147-A177-3AD203B41FA5}">
                      <a16:colId xmlns:a16="http://schemas.microsoft.com/office/drawing/2014/main" val="960866662"/>
                    </a:ext>
                  </a:extLst>
                </a:gridCol>
                <a:gridCol w="914400">
                  <a:extLst>
                    <a:ext uri="{9D8B030D-6E8A-4147-A177-3AD203B41FA5}">
                      <a16:colId xmlns:a16="http://schemas.microsoft.com/office/drawing/2014/main" val="2824207528"/>
                    </a:ext>
                  </a:extLst>
                </a:gridCol>
                <a:gridCol w="923047">
                  <a:extLst>
                    <a:ext uri="{9D8B030D-6E8A-4147-A177-3AD203B41FA5}">
                      <a16:colId xmlns:a16="http://schemas.microsoft.com/office/drawing/2014/main" val="4157439942"/>
                    </a:ext>
                  </a:extLst>
                </a:gridCol>
                <a:gridCol w="914400">
                  <a:extLst>
                    <a:ext uri="{9D8B030D-6E8A-4147-A177-3AD203B41FA5}">
                      <a16:colId xmlns:a16="http://schemas.microsoft.com/office/drawing/2014/main" val="380606225"/>
                    </a:ext>
                  </a:extLst>
                </a:gridCol>
                <a:gridCol w="914400">
                  <a:extLst>
                    <a:ext uri="{9D8B030D-6E8A-4147-A177-3AD203B41FA5}">
                      <a16:colId xmlns:a16="http://schemas.microsoft.com/office/drawing/2014/main" val="212976376"/>
                    </a:ext>
                  </a:extLst>
                </a:gridCol>
                <a:gridCol w="914400">
                  <a:extLst>
                    <a:ext uri="{9D8B030D-6E8A-4147-A177-3AD203B41FA5}">
                      <a16:colId xmlns:a16="http://schemas.microsoft.com/office/drawing/2014/main" val="628567232"/>
                    </a:ext>
                  </a:extLst>
                </a:gridCol>
              </a:tblGrid>
              <a:tr h="304494">
                <a:tc>
                  <a:txBody>
                    <a:bodyPr/>
                    <a:lstStyle/>
                    <a:p>
                      <a:pPr algn="l"/>
                      <a:r>
                        <a:rPr lang="en-US" sz="1100" dirty="0">
                          <a:latin typeface="Arial" panose="020B0604020202020204" pitchFamily="34" charset="0"/>
                          <a:cs typeface="Arial" panose="020B0604020202020204" pitchFamily="34" charset="0"/>
                        </a:rPr>
                        <a:t>Model</a:t>
                      </a:r>
                    </a:p>
                  </a:txBody>
                  <a:tcPr anchor="ctr">
                    <a:lnL w="12700" cap="flat" cmpd="sng" algn="ctr">
                      <a:solidFill>
                        <a:srgbClr val="71A8DB"/>
                      </a:solidFill>
                      <a:prstDash val="solid"/>
                      <a:round/>
                      <a:headEnd type="none" w="med" len="med"/>
                      <a:tailEnd type="none" w="med" len="med"/>
                    </a:lnL>
                    <a:lnB w="12700" cap="flat" cmpd="sng" algn="ctr">
                      <a:solidFill>
                        <a:srgbClr val="71A8DB"/>
                      </a:solidFill>
                      <a:prstDash val="solid"/>
                      <a:round/>
                      <a:headEnd type="none" w="med" len="med"/>
                      <a:tailEnd type="none" w="med" len="med"/>
                    </a:lnB>
                  </a:tcPr>
                </a:tc>
                <a:tc>
                  <a:txBody>
                    <a:bodyPr/>
                    <a:lstStyle/>
                    <a:p>
                      <a:pPr algn="l"/>
                      <a:r>
                        <a:rPr lang="en-US" sz="1050" dirty="0">
                          <a:latin typeface="Arial" panose="020B0604020202020204" pitchFamily="34" charset="0"/>
                          <a:cs typeface="Arial" panose="020B0604020202020204" pitchFamily="34" charset="0"/>
                        </a:rPr>
                        <a:t>Mode</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Best variant</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ROC-AUC</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PR-AUC</a:t>
                      </a:r>
                    </a:p>
                  </a:txBody>
                  <a:tcPr anchor="ctr">
                    <a:lnB w="12700" cap="flat" cmpd="sng" algn="ctr">
                      <a:solidFill>
                        <a:srgbClr val="71A8DB"/>
                      </a:solidFill>
                      <a:prstDash val="solid"/>
                      <a:round/>
                      <a:headEnd type="none" w="med" len="med"/>
                      <a:tailEnd type="none" w="med" len="med"/>
                    </a:lnB>
                  </a:tcPr>
                </a:tc>
                <a:tc>
                  <a:txBody>
                    <a:bodyPr/>
                    <a:lstStyle/>
                    <a:p>
                      <a:pPr algn="l"/>
                      <a:r>
                        <a:rPr lang="en-US" sz="1100" dirty="0">
                          <a:latin typeface="Arial" panose="020B0604020202020204" pitchFamily="34" charset="0"/>
                          <a:cs typeface="Arial" panose="020B0604020202020204" pitchFamily="34" charset="0"/>
                        </a:rPr>
                        <a:t>FP/1000</a:t>
                      </a:r>
                    </a:p>
                  </a:txBody>
                  <a:tcPr anchor="ctr">
                    <a:lnB w="12700" cap="flat" cmpd="sng" algn="ctr">
                      <a:solidFill>
                        <a:srgbClr val="71A8DB"/>
                      </a:solidFill>
                      <a:prstDash val="solid"/>
                      <a:round/>
                      <a:headEnd type="none" w="med" len="med"/>
                      <a:tailEnd type="none" w="med" len="med"/>
                    </a:lnB>
                  </a:tcPr>
                </a:tc>
                <a:extLst>
                  <a:ext uri="{0D108BD9-81ED-4DB2-BD59-A6C34878D82A}">
                    <a16:rowId xmlns:a16="http://schemas.microsoft.com/office/drawing/2014/main" val="2426823172"/>
                  </a:ext>
                </a:extLst>
              </a:tr>
              <a:tr h="401719">
                <a:tc>
                  <a:txBody>
                    <a:bodyPr/>
                    <a:lstStyle/>
                    <a:p>
                      <a:pPr algn="l"/>
                      <a:r>
                        <a:rPr lang="en-US" sz="1100" b="1" dirty="0">
                          <a:latin typeface="Arial" panose="020B0604020202020204" pitchFamily="34" charset="0"/>
                          <a:cs typeface="Arial" panose="020B0604020202020204" pitchFamily="34" charset="0"/>
                        </a:rPr>
                        <a:t>GBM</a:t>
                      </a:r>
                      <a:endParaRPr lang="en-US" sz="1100" dirty="0">
                        <a:latin typeface="Arial" panose="020B0604020202020204" pitchFamily="34" charset="0"/>
                        <a:cs typeface="Arial" panose="020B0604020202020204" pitchFamily="34" charset="0"/>
                      </a:endParaRPr>
                    </a:p>
                  </a:txBody>
                  <a:tcPr anchor="ctr">
                    <a:lnL w="12700" cap="flat" cmpd="sng" algn="ctr">
                      <a:solidFill>
                        <a:srgbClr val="71A8DB"/>
                      </a:solidFill>
                      <a:prstDash val="solid"/>
                      <a:round/>
                      <a:headEnd type="none" w="med" len="med"/>
                      <a:tailEnd type="none" w="med" len="med"/>
                    </a:lnL>
                    <a:lnT w="12700" cap="flat" cmpd="sng" algn="ctr">
                      <a:solidFill>
                        <a:srgbClr val="71A8DB"/>
                      </a:solidFill>
                      <a:prstDash val="solid"/>
                      <a:round/>
                      <a:headEnd type="none" w="med" len="med"/>
                      <a:tailEnd type="none" w="med" len="med"/>
                    </a:lnT>
                  </a:tcPr>
                </a:tc>
                <a:tc>
                  <a:txBody>
                    <a:bodyPr/>
                    <a:lstStyle/>
                    <a:p>
                      <a:pPr algn="l"/>
                      <a:r>
                        <a:rPr lang="en-US" sz="1050" b="1" dirty="0">
                          <a:latin typeface="Arial" panose="020B0604020202020204" pitchFamily="34" charset="0"/>
                          <a:cs typeface="Arial" panose="020B0604020202020204" pitchFamily="34" charset="0"/>
                        </a:rPr>
                        <a:t>Full retrain</a:t>
                      </a:r>
                    </a:p>
                  </a:txBody>
                  <a:tcPr anchor="ctr">
                    <a:lnT w="12700" cap="flat" cmpd="sng" algn="ctr">
                      <a:solidFill>
                        <a:srgbClr val="71A8DB"/>
                      </a:solidFill>
                      <a:prstDash val="solid"/>
                      <a:round/>
                      <a:headEnd type="none" w="med" len="med"/>
                      <a:tailEnd type="none" w="med" len="med"/>
                    </a:lnT>
                    <a:solidFill>
                      <a:schemeClr val="bg1"/>
                    </a:solidFill>
                  </a:tcPr>
                </a:tc>
                <a:tc>
                  <a:txBody>
                    <a:bodyPr/>
                    <a:lstStyle/>
                    <a:p>
                      <a:pPr algn="l"/>
                      <a:r>
                        <a:rPr lang="en-US" sz="1100" b="1" dirty="0">
                          <a:latin typeface="Arial" panose="020B0604020202020204" pitchFamily="34" charset="0"/>
                          <a:cs typeface="Arial" panose="020B0604020202020204" pitchFamily="34" charset="0"/>
                        </a:rPr>
                        <a:t>Baseline</a:t>
                      </a:r>
                      <a:endParaRPr lang="en-US" sz="1100" dirty="0">
                        <a:latin typeface="Arial" panose="020B0604020202020204" pitchFamily="34" charset="0"/>
                        <a:cs typeface="Arial" panose="020B0604020202020204" pitchFamily="34" charset="0"/>
                      </a:endParaRPr>
                    </a:p>
                  </a:txBody>
                  <a:tcPr anchor="ctr">
                    <a:lnT w="12700" cap="flat" cmpd="sng" algn="ctr">
                      <a:solidFill>
                        <a:srgbClr val="71A8DB"/>
                      </a:solidFill>
                      <a:prstDash val="solid"/>
                      <a:round/>
                      <a:headEnd type="none" w="med" len="med"/>
                      <a:tailEnd type="none" w="med" len="med"/>
                    </a:lnT>
                    <a:solidFill>
                      <a:schemeClr val="accent5">
                        <a:lumMod val="20000"/>
                        <a:lumOff val="80000"/>
                      </a:schemeClr>
                    </a:solidFill>
                  </a:tcPr>
                </a:tc>
                <a:tc>
                  <a:txBody>
                    <a:bodyPr/>
                    <a:lstStyle/>
                    <a:p>
                      <a:pPr algn="l"/>
                      <a:r>
                        <a:rPr lang="en-US" sz="1100" dirty="0">
                          <a:latin typeface="Arial" panose="020B0604020202020204" pitchFamily="34" charset="0"/>
                          <a:cs typeface="Arial" panose="020B0604020202020204" pitchFamily="34" charset="0"/>
                        </a:rPr>
                        <a:t>0.704</a:t>
                      </a:r>
                    </a:p>
                  </a:txBody>
                  <a:tcPr anchor="ctr">
                    <a:lnT w="12700" cap="flat" cmpd="sng" algn="ctr">
                      <a:solidFill>
                        <a:srgbClr val="71A8DB"/>
                      </a:solidFill>
                      <a:prstDash val="solid"/>
                      <a:round/>
                      <a:headEnd type="none" w="med" len="med"/>
                      <a:tailEnd type="none" w="med" len="med"/>
                    </a:lnT>
                  </a:tcPr>
                </a:tc>
                <a:tc>
                  <a:txBody>
                    <a:bodyPr/>
                    <a:lstStyle/>
                    <a:p>
                      <a:pPr algn="l"/>
                      <a:r>
                        <a:rPr lang="en-US" sz="1100" dirty="0">
                          <a:latin typeface="Arial" panose="020B0604020202020204" pitchFamily="34" charset="0"/>
                          <a:cs typeface="Arial" panose="020B0604020202020204" pitchFamily="34" charset="0"/>
                        </a:rPr>
                        <a:t>0.312</a:t>
                      </a:r>
                    </a:p>
                  </a:txBody>
                  <a:tcPr anchor="ctr">
                    <a:lnT w="12700" cap="flat" cmpd="sng" algn="ctr">
                      <a:solidFill>
                        <a:srgbClr val="71A8DB"/>
                      </a:solidFill>
                      <a:prstDash val="solid"/>
                      <a:round/>
                      <a:headEnd type="none" w="med" len="med"/>
                      <a:tailEnd type="none" w="med" len="med"/>
                    </a:lnT>
                  </a:tcPr>
                </a:tc>
                <a:tc>
                  <a:txBody>
                    <a:bodyPr/>
                    <a:lstStyle/>
                    <a:p>
                      <a:pPr algn="l"/>
                      <a:r>
                        <a:rPr lang="en-US" sz="1100" b="1" dirty="0">
                          <a:latin typeface="Arial" panose="020B0604020202020204" pitchFamily="34" charset="0"/>
                          <a:cs typeface="Arial" panose="020B0604020202020204" pitchFamily="34" charset="0"/>
                        </a:rPr>
                        <a:t>588.2</a:t>
                      </a:r>
                      <a:endParaRPr lang="en-US" sz="1100" dirty="0">
                        <a:latin typeface="Arial" panose="020B0604020202020204" pitchFamily="34" charset="0"/>
                        <a:cs typeface="Arial" panose="020B0604020202020204" pitchFamily="34" charset="0"/>
                      </a:endParaRPr>
                    </a:p>
                  </a:txBody>
                  <a:tcPr anchor="ctr">
                    <a:lnT w="12700" cap="flat" cmpd="sng" algn="ctr">
                      <a:solidFill>
                        <a:srgbClr val="71A8DB"/>
                      </a:solidFill>
                      <a:prstDash val="solid"/>
                      <a:round/>
                      <a:headEnd type="none" w="med" len="med"/>
                      <a:tailEnd type="none" w="med" len="med"/>
                    </a:lnT>
                  </a:tcPr>
                </a:tc>
                <a:extLst>
                  <a:ext uri="{0D108BD9-81ED-4DB2-BD59-A6C34878D82A}">
                    <a16:rowId xmlns:a16="http://schemas.microsoft.com/office/drawing/2014/main" val="906229372"/>
                  </a:ext>
                </a:extLst>
              </a:tr>
              <a:tr h="401719">
                <a:tc>
                  <a:txBody>
                    <a:bodyPr/>
                    <a:lstStyle/>
                    <a:p>
                      <a:pPr algn="l"/>
                      <a:r>
                        <a:rPr lang="en-US" sz="1100" b="1" dirty="0">
                          <a:latin typeface="Arial" panose="020B0604020202020204" pitchFamily="34" charset="0"/>
                          <a:cs typeface="Arial" panose="020B0604020202020204" pitchFamily="34" charset="0"/>
                        </a:rPr>
                        <a:t>RF</a:t>
                      </a:r>
                      <a:endParaRPr lang="en-US" sz="1100" dirty="0">
                        <a:latin typeface="Arial" panose="020B0604020202020204" pitchFamily="34" charset="0"/>
                        <a:cs typeface="Arial" panose="020B0604020202020204" pitchFamily="34" charset="0"/>
                      </a:endParaRPr>
                    </a:p>
                  </a:txBody>
                  <a:tcPr anchor="ctr">
                    <a:lnL w="12700" cap="flat" cmpd="sng" algn="ctr">
                      <a:solidFill>
                        <a:srgbClr val="71A8DB"/>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dirty="0">
                          <a:latin typeface="Arial" panose="020B0604020202020204" pitchFamily="34" charset="0"/>
                          <a:cs typeface="Arial" panose="020B0604020202020204" pitchFamily="34" charset="0"/>
                        </a:rPr>
                        <a:t>Full retrain</a:t>
                      </a:r>
                    </a:p>
                  </a:txBody>
                  <a:tcPr anchor="ctr">
                    <a:solidFill>
                      <a:schemeClr val="bg1"/>
                    </a:solidFill>
                  </a:tcPr>
                </a:tc>
                <a:tc>
                  <a:txBody>
                    <a:bodyPr/>
                    <a:lstStyle/>
                    <a:p>
                      <a:pPr algn="l"/>
                      <a:r>
                        <a:rPr lang="en-US" sz="1100" b="1" dirty="0">
                          <a:latin typeface="Arial" panose="020B0604020202020204" pitchFamily="34" charset="0"/>
                          <a:cs typeface="Arial" panose="020B0604020202020204" pitchFamily="34" charset="0"/>
                        </a:rPr>
                        <a:t>Baseline</a:t>
                      </a:r>
                      <a:endParaRPr lang="en-US" sz="1100" dirty="0">
                        <a:latin typeface="Arial" panose="020B0604020202020204" pitchFamily="34" charset="0"/>
                        <a:cs typeface="Arial" panose="020B0604020202020204" pitchFamily="34" charset="0"/>
                      </a:endParaRPr>
                    </a:p>
                  </a:txBody>
                  <a:tcPr anchor="ctr">
                    <a:solidFill>
                      <a:schemeClr val="accent5">
                        <a:lumMod val="20000"/>
                        <a:lumOff val="80000"/>
                      </a:schemeClr>
                    </a:solidFill>
                  </a:tcPr>
                </a:tc>
                <a:tc>
                  <a:txBody>
                    <a:bodyPr/>
                    <a:lstStyle/>
                    <a:p>
                      <a:pPr algn="l"/>
                      <a:r>
                        <a:rPr lang="en-US" sz="1100" dirty="0">
                          <a:latin typeface="Arial" panose="020B0604020202020204" pitchFamily="34" charset="0"/>
                          <a:cs typeface="Arial" panose="020B0604020202020204" pitchFamily="34" charset="0"/>
                        </a:rPr>
                        <a:t>0.710</a:t>
                      </a:r>
                    </a:p>
                  </a:txBody>
                  <a:tcPr anchor="ctr"/>
                </a:tc>
                <a:tc>
                  <a:txBody>
                    <a:bodyPr/>
                    <a:lstStyle/>
                    <a:p>
                      <a:pPr algn="l"/>
                      <a:r>
                        <a:rPr lang="en-US" sz="1100" dirty="0">
                          <a:latin typeface="Arial" panose="020B0604020202020204" pitchFamily="34" charset="0"/>
                          <a:cs typeface="Arial" panose="020B0604020202020204" pitchFamily="34" charset="0"/>
                        </a:rPr>
                        <a:t>0.378</a:t>
                      </a:r>
                    </a:p>
                  </a:txBody>
                  <a:tcPr anchor="ctr"/>
                </a:tc>
                <a:tc>
                  <a:txBody>
                    <a:bodyPr/>
                    <a:lstStyle/>
                    <a:p>
                      <a:pPr algn="l"/>
                      <a:r>
                        <a:rPr lang="en-US" sz="1100" b="1" dirty="0">
                          <a:latin typeface="Arial" panose="020B0604020202020204" pitchFamily="34" charset="0"/>
                          <a:cs typeface="Arial" panose="020B0604020202020204" pitchFamily="34" charset="0"/>
                        </a:rPr>
                        <a:t>948.7</a:t>
                      </a:r>
                      <a:endParaRPr lang="en-US" sz="11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82474326"/>
                  </a:ext>
                </a:extLst>
              </a:tr>
              <a:tr h="401719">
                <a:tc>
                  <a:txBody>
                    <a:bodyPr/>
                    <a:lstStyle/>
                    <a:p>
                      <a:pPr algn="l"/>
                      <a:r>
                        <a:rPr lang="en-US" sz="1100" b="1" dirty="0">
                          <a:latin typeface="Arial" panose="020B0604020202020204" pitchFamily="34" charset="0"/>
                          <a:cs typeface="Arial" panose="020B0604020202020204" pitchFamily="34" charset="0"/>
                        </a:rPr>
                        <a:t>XGB</a:t>
                      </a:r>
                      <a:endParaRPr lang="en-US" sz="1100" dirty="0">
                        <a:latin typeface="Arial" panose="020B0604020202020204" pitchFamily="34" charset="0"/>
                        <a:cs typeface="Arial" panose="020B0604020202020204" pitchFamily="34" charset="0"/>
                      </a:endParaRPr>
                    </a:p>
                  </a:txBody>
                  <a:tcPr anchor="ctr">
                    <a:lnL w="12700" cap="flat" cmpd="sng" algn="ctr">
                      <a:solidFill>
                        <a:srgbClr val="71A8DB"/>
                      </a:solidFill>
                      <a:prstDash val="solid"/>
                      <a:round/>
                      <a:headEnd type="none" w="med" len="med"/>
                      <a:tailEnd type="none" w="med" len="med"/>
                    </a:ln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b="1" dirty="0">
                          <a:latin typeface="Arial" panose="020B0604020202020204" pitchFamily="34" charset="0"/>
                          <a:cs typeface="Arial" panose="020B0604020202020204" pitchFamily="34" charset="0"/>
                        </a:rPr>
                        <a:t>Full retrain</a:t>
                      </a:r>
                    </a:p>
                  </a:txBody>
                  <a:tcPr anchor="ctr">
                    <a:solidFill>
                      <a:schemeClr val="bg1"/>
                    </a:solidFill>
                  </a:tcPr>
                </a:tc>
                <a:tc>
                  <a:txBody>
                    <a:bodyPr/>
                    <a:lstStyle/>
                    <a:p>
                      <a:pPr algn="l"/>
                      <a:r>
                        <a:rPr lang="en-US" sz="1100" b="1" dirty="0">
                          <a:latin typeface="Arial" panose="020B0604020202020204" pitchFamily="34" charset="0"/>
                          <a:cs typeface="Arial" panose="020B0604020202020204" pitchFamily="34" charset="0"/>
                        </a:rPr>
                        <a:t>Baseline</a:t>
                      </a:r>
                      <a:endParaRPr lang="en-US" sz="1100" dirty="0">
                        <a:latin typeface="Arial" panose="020B0604020202020204" pitchFamily="34" charset="0"/>
                        <a:cs typeface="Arial" panose="020B0604020202020204" pitchFamily="34" charset="0"/>
                      </a:endParaRPr>
                    </a:p>
                  </a:txBody>
                  <a:tcPr anchor="ctr">
                    <a:solidFill>
                      <a:schemeClr val="accent5">
                        <a:lumMod val="20000"/>
                        <a:lumOff val="80000"/>
                      </a:schemeClr>
                    </a:solidFill>
                  </a:tcPr>
                </a:tc>
                <a:tc>
                  <a:txBody>
                    <a:bodyPr/>
                    <a:lstStyle/>
                    <a:p>
                      <a:pPr algn="l"/>
                      <a:r>
                        <a:rPr lang="en-US" sz="1100">
                          <a:latin typeface="Arial" panose="020B0604020202020204" pitchFamily="34" charset="0"/>
                          <a:cs typeface="Arial" panose="020B0604020202020204" pitchFamily="34" charset="0"/>
                        </a:rPr>
                        <a:t>0.687</a:t>
                      </a:r>
                    </a:p>
                  </a:txBody>
                  <a:tcPr anchor="ctr"/>
                </a:tc>
                <a:tc>
                  <a:txBody>
                    <a:bodyPr/>
                    <a:lstStyle/>
                    <a:p>
                      <a:pPr algn="l"/>
                      <a:r>
                        <a:rPr lang="en-US" sz="1100" dirty="0">
                          <a:latin typeface="Arial" panose="020B0604020202020204" pitchFamily="34" charset="0"/>
                          <a:cs typeface="Arial" panose="020B0604020202020204" pitchFamily="34" charset="0"/>
                        </a:rPr>
                        <a:t>0.306</a:t>
                      </a:r>
                    </a:p>
                  </a:txBody>
                  <a:tcPr anchor="ctr"/>
                </a:tc>
                <a:tc>
                  <a:txBody>
                    <a:bodyPr/>
                    <a:lstStyle/>
                    <a:p>
                      <a:pPr algn="l"/>
                      <a:r>
                        <a:rPr lang="en-US" sz="1100" b="1" dirty="0">
                          <a:latin typeface="Arial" panose="020B0604020202020204" pitchFamily="34" charset="0"/>
                          <a:cs typeface="Arial" panose="020B0604020202020204" pitchFamily="34" charset="0"/>
                        </a:rPr>
                        <a:t>582.6</a:t>
                      </a:r>
                      <a:endParaRPr lang="en-US" sz="1100" dirty="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807517646"/>
                  </a:ext>
                </a:extLst>
              </a:tr>
            </a:tbl>
          </a:graphicData>
        </a:graphic>
      </p:graphicFrame>
      <p:pic>
        <p:nvPicPr>
          <p:cNvPr id="30" name="Content Placeholder 29">
            <a:extLst>
              <a:ext uri="{FF2B5EF4-FFF2-40B4-BE49-F238E27FC236}">
                <a16:creationId xmlns:a16="http://schemas.microsoft.com/office/drawing/2014/main" id="{6D7400FD-9766-449B-9B40-326187D13761}"/>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48290" y="745603"/>
            <a:ext cx="5157787" cy="4126229"/>
          </a:xfrm>
        </p:spPr>
      </p:pic>
      <p:pic>
        <p:nvPicPr>
          <p:cNvPr id="32" name="Content Placeholder 31">
            <a:extLst>
              <a:ext uri="{FF2B5EF4-FFF2-40B4-BE49-F238E27FC236}">
                <a16:creationId xmlns:a16="http://schemas.microsoft.com/office/drawing/2014/main" id="{0F1C47CE-FB07-42EA-A4FA-80BB77B6CBE2}"/>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6285924" y="745603"/>
            <a:ext cx="5183188" cy="4146550"/>
          </a:xfrm>
        </p:spPr>
      </p:pic>
      <p:cxnSp>
        <p:nvCxnSpPr>
          <p:cNvPr id="14" name="Straight Connector 13">
            <a:extLst>
              <a:ext uri="{FF2B5EF4-FFF2-40B4-BE49-F238E27FC236}">
                <a16:creationId xmlns:a16="http://schemas.microsoft.com/office/drawing/2014/main" id="{EE355A9E-7B35-45EF-849D-76C2B8123CF7}"/>
              </a:ext>
            </a:extLst>
          </p:cNvPr>
          <p:cNvCxnSpPr/>
          <p:nvPr/>
        </p:nvCxnSpPr>
        <p:spPr>
          <a:xfrm flipV="1">
            <a:off x="6096000" y="676601"/>
            <a:ext cx="0" cy="4489186"/>
          </a:xfrm>
          <a:prstGeom prst="line">
            <a:avLst/>
          </a:prstGeom>
          <a:ln w="19050">
            <a:solidFill>
              <a:srgbClr val="8DBAE2"/>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E9A99B44-11C7-4ABB-BD4B-B58889BE35F8}"/>
              </a:ext>
            </a:extLst>
          </p:cNvPr>
          <p:cNvPicPr>
            <a:picLocks noChangeAspect="1"/>
          </p:cNvPicPr>
          <p:nvPr/>
        </p:nvPicPr>
        <p:blipFill>
          <a:blip r:embed="rId5"/>
          <a:stretch>
            <a:fillRect/>
          </a:stretch>
        </p:blipFill>
        <p:spPr>
          <a:xfrm>
            <a:off x="4847610" y="4835603"/>
            <a:ext cx="2496776" cy="309861"/>
          </a:xfrm>
          <a:prstGeom prst="rect">
            <a:avLst/>
          </a:prstGeom>
        </p:spPr>
      </p:pic>
    </p:spTree>
    <p:extLst>
      <p:ext uri="{BB962C8B-B14F-4D97-AF65-F5344CB8AC3E}">
        <p14:creationId xmlns:p14="http://schemas.microsoft.com/office/powerpoint/2010/main" val="1889701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EF74C3-0757-47F7-91ED-7D1FDF9EE930}"/>
              </a:ext>
            </a:extLst>
          </p:cNvPr>
          <p:cNvSpPr>
            <a:spLocks noGrp="1"/>
          </p:cNvSpPr>
          <p:nvPr>
            <p:ph type="title"/>
          </p:nvPr>
        </p:nvSpPr>
        <p:spPr/>
        <p:txBody>
          <a:bodyPr>
            <a:normAutofit fontScale="90000"/>
          </a:bodyPr>
          <a:lstStyle/>
          <a:p>
            <a:r>
              <a:rPr lang="en-US" dirty="0"/>
              <a:t>Out of Fold and Platt calibration Syn100</a:t>
            </a:r>
          </a:p>
        </p:txBody>
      </p:sp>
      <p:sp>
        <p:nvSpPr>
          <p:cNvPr id="4" name="Slide Number Placeholder 3">
            <a:extLst>
              <a:ext uri="{FF2B5EF4-FFF2-40B4-BE49-F238E27FC236}">
                <a16:creationId xmlns:a16="http://schemas.microsoft.com/office/drawing/2014/main" id="{579AECE3-E09E-47C5-927E-EDB61043C404}"/>
              </a:ext>
            </a:extLst>
          </p:cNvPr>
          <p:cNvSpPr>
            <a:spLocks noGrp="1"/>
          </p:cNvSpPr>
          <p:nvPr>
            <p:ph type="sldNum" sz="quarter" idx="12"/>
          </p:nvPr>
        </p:nvSpPr>
        <p:spPr/>
        <p:txBody>
          <a:bodyPr/>
          <a:lstStyle/>
          <a:p>
            <a:pPr algn="ctr"/>
            <a:fld id="{1478D195-628D-428E-B98B-35B3E9B486B6}" type="slidenum">
              <a:rPr lang="en-US" smtClean="0"/>
              <a:pPr algn="ctr"/>
              <a:t>12</a:t>
            </a:fld>
            <a:endParaRPr lang="en-US"/>
          </a:p>
        </p:txBody>
      </p:sp>
      <p:pic>
        <p:nvPicPr>
          <p:cNvPr id="8" name="Content Placeholder 7">
            <a:extLst>
              <a:ext uri="{FF2B5EF4-FFF2-40B4-BE49-F238E27FC236}">
                <a16:creationId xmlns:a16="http://schemas.microsoft.com/office/drawing/2014/main" id="{AE694B2B-BF43-421A-9F6F-153BDE62B142}"/>
              </a:ext>
            </a:extLst>
          </p:cNvPr>
          <p:cNvPicPr>
            <a:picLocks noGrp="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93686" y="850566"/>
            <a:ext cx="5157787" cy="3868340"/>
          </a:xfrm>
          <a:prstGeom prst="rect">
            <a:avLst/>
          </a:prstGeom>
          <a:noFill/>
          <a:ln>
            <a:noFill/>
          </a:ln>
        </p:spPr>
      </p:pic>
      <p:pic>
        <p:nvPicPr>
          <p:cNvPr id="9" name="Content Placeholder 8">
            <a:extLst>
              <a:ext uri="{FF2B5EF4-FFF2-40B4-BE49-F238E27FC236}">
                <a16:creationId xmlns:a16="http://schemas.microsoft.com/office/drawing/2014/main" id="{E8D291EF-C6D9-4D99-89D3-E35BD22E256F}"/>
              </a:ext>
            </a:extLst>
          </p:cNvPr>
          <p:cNvPicPr>
            <a:picLocks noGrp="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134100" y="814604"/>
            <a:ext cx="5183188" cy="3887391"/>
          </a:xfrm>
          <a:prstGeom prst="rect">
            <a:avLst/>
          </a:prstGeom>
          <a:noFill/>
          <a:ln>
            <a:noFill/>
          </a:ln>
        </p:spPr>
      </p:pic>
      <p:sp>
        <p:nvSpPr>
          <p:cNvPr id="10" name="TextBox 9">
            <a:extLst>
              <a:ext uri="{FF2B5EF4-FFF2-40B4-BE49-F238E27FC236}">
                <a16:creationId xmlns:a16="http://schemas.microsoft.com/office/drawing/2014/main" id="{75264B59-4379-4925-BC62-8F5476A2D3CE}"/>
              </a:ext>
            </a:extLst>
          </p:cNvPr>
          <p:cNvSpPr txBox="1"/>
          <p:nvPr/>
        </p:nvSpPr>
        <p:spPr>
          <a:xfrm>
            <a:off x="1087195" y="4612351"/>
            <a:ext cx="3371986" cy="276999"/>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Negative ΔBrier indicates improved calibration.</a:t>
            </a:r>
            <a:endParaRPr lang="en-US" sz="1200" dirty="0">
              <a:latin typeface="Arial" panose="020B0604020202020204" pitchFamily="34" charset="0"/>
              <a:cs typeface="Arial" panose="020B0604020202020204" pitchFamily="34" charset="0"/>
            </a:endParaRPr>
          </a:p>
        </p:txBody>
      </p:sp>
      <p:sp>
        <p:nvSpPr>
          <p:cNvPr id="7" name="Content Placeholder 1">
            <a:extLst>
              <a:ext uri="{FF2B5EF4-FFF2-40B4-BE49-F238E27FC236}">
                <a16:creationId xmlns:a16="http://schemas.microsoft.com/office/drawing/2014/main" id="{0A38D870-AF88-417B-B0EC-A826DB823713}"/>
              </a:ext>
            </a:extLst>
          </p:cNvPr>
          <p:cNvSpPr txBox="1">
            <a:spLocks/>
          </p:cNvSpPr>
          <p:nvPr/>
        </p:nvSpPr>
        <p:spPr>
          <a:xfrm>
            <a:off x="709508" y="5149264"/>
            <a:ext cx="8633275" cy="995740"/>
          </a:xfrm>
          <a:prstGeom prst="roundRect">
            <a:avLst/>
          </a:prstGeom>
          <a:ln>
            <a:solidFill>
              <a:schemeClr val="accent5">
                <a:lumMod val="20000"/>
                <a:lumOff val="8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Tx/>
              <a:buBlip>
                <a:blip r:embed="rId5"/>
              </a:buBlip>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6"/>
              </a:buBlip>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6"/>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6"/>
              </a:buBlip>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6"/>
              </a:buBlip>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OOF predictions provide unbiased probability estimates for calibration</a:t>
            </a:r>
            <a:endParaRPr lang="ru-RU" sz="1400" dirty="0"/>
          </a:p>
          <a:p>
            <a:r>
              <a:rPr lang="en-US" sz="1400" dirty="0"/>
              <a:t>Platt scaling improves probability calibration (lower Brier score)</a:t>
            </a:r>
            <a:endParaRPr lang="ru-RU" sz="1400" dirty="0"/>
          </a:p>
          <a:p>
            <a:r>
              <a:rPr lang="en-US" sz="1400" dirty="0"/>
              <a:t>Ranking performance (ROC/PR)</a:t>
            </a:r>
            <a:r>
              <a:rPr lang="ru-RU" sz="1400" dirty="0"/>
              <a:t> </a:t>
            </a:r>
            <a:r>
              <a:rPr lang="en-US" sz="1400" dirty="0"/>
              <a:t>is preserved; only probability reliability changes</a:t>
            </a:r>
            <a:endParaRPr lang="ru-RU" sz="1400" dirty="0"/>
          </a:p>
        </p:txBody>
      </p:sp>
      <p:sp>
        <p:nvSpPr>
          <p:cNvPr id="11" name="TextBox 10">
            <a:extLst>
              <a:ext uri="{FF2B5EF4-FFF2-40B4-BE49-F238E27FC236}">
                <a16:creationId xmlns:a16="http://schemas.microsoft.com/office/drawing/2014/main" id="{BEE17E32-AC6A-4554-B2FF-5C76FACC7005}"/>
              </a:ext>
            </a:extLst>
          </p:cNvPr>
          <p:cNvSpPr txBox="1"/>
          <p:nvPr/>
        </p:nvSpPr>
        <p:spPr>
          <a:xfrm>
            <a:off x="6717522" y="4612351"/>
            <a:ext cx="4574796" cy="276999"/>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Platt-scaled probabilities move closer to the ideal calibration line.</a:t>
            </a:r>
            <a:endParaRPr lang="en-U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8222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F9FF-E341-4FA1-8988-223534418437}"/>
              </a:ext>
            </a:extLst>
          </p:cNvPr>
          <p:cNvSpPr>
            <a:spLocks noGrp="1"/>
          </p:cNvSpPr>
          <p:nvPr>
            <p:ph type="title"/>
          </p:nvPr>
        </p:nvSpPr>
        <p:spPr/>
        <p:txBody>
          <a:bodyPr>
            <a:normAutofit fontScale="90000"/>
          </a:bodyPr>
          <a:lstStyle/>
          <a:p>
            <a:r>
              <a:rPr lang="en-US" dirty="0"/>
              <a:t>Out of Fold and Platt calibration Syn500</a:t>
            </a:r>
          </a:p>
        </p:txBody>
      </p:sp>
      <p:sp>
        <p:nvSpPr>
          <p:cNvPr id="4" name="Slide Number Placeholder 3">
            <a:extLst>
              <a:ext uri="{FF2B5EF4-FFF2-40B4-BE49-F238E27FC236}">
                <a16:creationId xmlns:a16="http://schemas.microsoft.com/office/drawing/2014/main" id="{E42412B3-0E75-4ABD-B544-76E415B45BA3}"/>
              </a:ext>
            </a:extLst>
          </p:cNvPr>
          <p:cNvSpPr>
            <a:spLocks noGrp="1"/>
          </p:cNvSpPr>
          <p:nvPr>
            <p:ph type="sldNum" sz="quarter" idx="12"/>
          </p:nvPr>
        </p:nvSpPr>
        <p:spPr/>
        <p:txBody>
          <a:bodyPr/>
          <a:lstStyle/>
          <a:p>
            <a:pPr algn="ctr"/>
            <a:fld id="{1478D195-628D-428E-B98B-35B3E9B486B6}" type="slidenum">
              <a:rPr lang="en-US" smtClean="0"/>
              <a:pPr algn="ctr"/>
              <a:t>13</a:t>
            </a:fld>
            <a:endParaRPr lang="en-US"/>
          </a:p>
        </p:txBody>
      </p:sp>
      <p:pic>
        <p:nvPicPr>
          <p:cNvPr id="7" name="Picture 6">
            <a:extLst>
              <a:ext uri="{FF2B5EF4-FFF2-40B4-BE49-F238E27FC236}">
                <a16:creationId xmlns:a16="http://schemas.microsoft.com/office/drawing/2014/main" id="{B8D8EBFB-66E6-49A0-8119-5B2CFCCCD4D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67139" y="814604"/>
            <a:ext cx="5451473" cy="3985995"/>
          </a:xfrm>
          <a:prstGeom prst="rect">
            <a:avLst/>
          </a:prstGeom>
          <a:noFill/>
          <a:ln>
            <a:noFill/>
          </a:ln>
        </p:spPr>
      </p:pic>
      <p:pic>
        <p:nvPicPr>
          <p:cNvPr id="8" name="Picture 7">
            <a:extLst>
              <a:ext uri="{FF2B5EF4-FFF2-40B4-BE49-F238E27FC236}">
                <a16:creationId xmlns:a16="http://schemas.microsoft.com/office/drawing/2014/main" id="{9C8586DF-7B30-4756-91FB-52AA95C9ED8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6058399" y="814604"/>
            <a:ext cx="5164038" cy="3767330"/>
          </a:xfrm>
          <a:prstGeom prst="rect">
            <a:avLst/>
          </a:prstGeom>
          <a:noFill/>
          <a:ln>
            <a:noFill/>
          </a:ln>
        </p:spPr>
      </p:pic>
      <p:sp>
        <p:nvSpPr>
          <p:cNvPr id="3" name="TextBox 2">
            <a:extLst>
              <a:ext uri="{FF2B5EF4-FFF2-40B4-BE49-F238E27FC236}">
                <a16:creationId xmlns:a16="http://schemas.microsoft.com/office/drawing/2014/main" id="{68B500C4-ECE3-44EA-BD84-B504CC0E432C}"/>
              </a:ext>
            </a:extLst>
          </p:cNvPr>
          <p:cNvSpPr txBox="1"/>
          <p:nvPr/>
        </p:nvSpPr>
        <p:spPr>
          <a:xfrm>
            <a:off x="1275350" y="4581934"/>
            <a:ext cx="4922196" cy="276999"/>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Calibration gains vary across models and resampling strategies.</a:t>
            </a:r>
          </a:p>
        </p:txBody>
      </p:sp>
      <p:sp>
        <p:nvSpPr>
          <p:cNvPr id="10" name="Content Placeholder 1">
            <a:extLst>
              <a:ext uri="{FF2B5EF4-FFF2-40B4-BE49-F238E27FC236}">
                <a16:creationId xmlns:a16="http://schemas.microsoft.com/office/drawing/2014/main" id="{A9CA34A3-0A4D-4439-9793-4CA917B98EEF}"/>
              </a:ext>
            </a:extLst>
          </p:cNvPr>
          <p:cNvSpPr txBox="1">
            <a:spLocks/>
          </p:cNvSpPr>
          <p:nvPr/>
        </p:nvSpPr>
        <p:spPr>
          <a:xfrm>
            <a:off x="709508" y="5149264"/>
            <a:ext cx="8633275" cy="995740"/>
          </a:xfrm>
          <a:prstGeom prst="roundRect">
            <a:avLst/>
          </a:prstGeom>
          <a:ln>
            <a:solidFill>
              <a:schemeClr val="accent5">
                <a:lumMod val="20000"/>
                <a:lumOff val="80000"/>
              </a:schemeClr>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Tx/>
              <a:buBlip>
                <a:blip r:embed="rId5"/>
              </a:buBlip>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6"/>
              </a:buBlip>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6"/>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6"/>
              </a:buBlip>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6"/>
              </a:buBlip>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Platt scaling improves calibration mainly for baseline GBM/XGB models</a:t>
            </a:r>
            <a:endParaRPr lang="ru-RU" sz="1400" dirty="0"/>
          </a:p>
          <a:p>
            <a:r>
              <a:rPr lang="en-US" sz="1400" dirty="0"/>
              <a:t>Calibration gains are model and sampling-dependent</a:t>
            </a:r>
            <a:endParaRPr lang="ru-RU" sz="1400" dirty="0"/>
          </a:p>
          <a:p>
            <a:r>
              <a:rPr lang="en-US" sz="1400" dirty="0"/>
              <a:t>Probability reliability improves, while ranking behaviour remains unchanged</a:t>
            </a:r>
            <a:endParaRPr lang="ru-RU" sz="1400" dirty="0"/>
          </a:p>
        </p:txBody>
      </p:sp>
      <p:sp>
        <p:nvSpPr>
          <p:cNvPr id="11" name="TextBox 10">
            <a:extLst>
              <a:ext uri="{FF2B5EF4-FFF2-40B4-BE49-F238E27FC236}">
                <a16:creationId xmlns:a16="http://schemas.microsoft.com/office/drawing/2014/main" id="{142B602A-C5C0-4997-8A3E-3752817B589F}"/>
              </a:ext>
            </a:extLst>
          </p:cNvPr>
          <p:cNvSpPr txBox="1"/>
          <p:nvPr/>
        </p:nvSpPr>
        <p:spPr>
          <a:xfrm>
            <a:off x="6058399" y="4530796"/>
            <a:ext cx="5725111" cy="276999"/>
          </a:xfrm>
          <a:prstGeom prst="rect">
            <a:avLst/>
          </a:prstGeom>
          <a:noFill/>
        </p:spPr>
        <p:txBody>
          <a:bodyPr wrap="square" rtlCol="0">
            <a:spAutoFit/>
          </a:bodyPr>
          <a:lstStyle/>
          <a:p>
            <a:r>
              <a:rPr lang="en-US" sz="1200" i="1" dirty="0">
                <a:latin typeface="Arial" panose="020B0604020202020204" pitchFamily="34" charset="0"/>
                <a:cs typeface="Arial" panose="020B0604020202020204" pitchFamily="34" charset="0"/>
              </a:rPr>
              <a:t>Platt scaling changes the shape of the calibration curve across probability ranges.</a:t>
            </a:r>
          </a:p>
        </p:txBody>
      </p:sp>
    </p:spTree>
    <p:extLst>
      <p:ext uri="{BB962C8B-B14F-4D97-AF65-F5344CB8AC3E}">
        <p14:creationId xmlns:p14="http://schemas.microsoft.com/office/powerpoint/2010/main" val="2601059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F99E-B94D-4BC0-9100-69789B4E48C8}"/>
              </a:ext>
            </a:extLst>
          </p:cNvPr>
          <p:cNvSpPr>
            <a:spLocks noGrp="1"/>
          </p:cNvSpPr>
          <p:nvPr>
            <p:ph type="title"/>
          </p:nvPr>
        </p:nvSpPr>
        <p:spPr/>
        <p:txBody>
          <a:bodyPr/>
          <a:lstStyle/>
          <a:p>
            <a:r>
              <a:rPr lang="en-US" dirty="0"/>
              <a:t>Multiclass model Syn100 Baseline</a:t>
            </a:r>
          </a:p>
        </p:txBody>
      </p:sp>
      <p:graphicFrame>
        <p:nvGraphicFramePr>
          <p:cNvPr id="5" name="Content Placeholder 4">
            <a:extLst>
              <a:ext uri="{FF2B5EF4-FFF2-40B4-BE49-F238E27FC236}">
                <a16:creationId xmlns:a16="http://schemas.microsoft.com/office/drawing/2014/main" id="{589051E4-F03C-4DEF-8060-8A4DB53A2F91}"/>
              </a:ext>
            </a:extLst>
          </p:cNvPr>
          <p:cNvGraphicFramePr>
            <a:graphicFrameLocks noGrp="1"/>
          </p:cNvGraphicFramePr>
          <p:nvPr>
            <p:ph idx="1"/>
            <p:extLst>
              <p:ext uri="{D42A27DB-BD31-4B8C-83A1-F6EECF244321}">
                <p14:modId xmlns:p14="http://schemas.microsoft.com/office/powerpoint/2010/main" val="224989457"/>
              </p:ext>
            </p:extLst>
          </p:nvPr>
        </p:nvGraphicFramePr>
        <p:xfrm>
          <a:off x="528150" y="1236015"/>
          <a:ext cx="10515600" cy="4618736"/>
        </p:xfrm>
        <a:graphic>
          <a:graphicData uri="http://schemas.openxmlformats.org/drawingml/2006/table">
            <a:tbl>
              <a:tblPr firstRow="1" firstCol="1" bandRow="1"/>
              <a:tblGrid>
                <a:gridCol w="851764">
                  <a:extLst>
                    <a:ext uri="{9D8B030D-6E8A-4147-A177-3AD203B41FA5}">
                      <a16:colId xmlns:a16="http://schemas.microsoft.com/office/drawing/2014/main" val="1305136394"/>
                    </a:ext>
                  </a:extLst>
                </a:gridCol>
                <a:gridCol w="1032632">
                  <a:extLst>
                    <a:ext uri="{9D8B030D-6E8A-4147-A177-3AD203B41FA5}">
                      <a16:colId xmlns:a16="http://schemas.microsoft.com/office/drawing/2014/main" val="1273077700"/>
                    </a:ext>
                  </a:extLst>
                </a:gridCol>
                <a:gridCol w="1392265">
                  <a:extLst>
                    <a:ext uri="{9D8B030D-6E8A-4147-A177-3AD203B41FA5}">
                      <a16:colId xmlns:a16="http://schemas.microsoft.com/office/drawing/2014/main" val="2195773559"/>
                    </a:ext>
                  </a:extLst>
                </a:gridCol>
                <a:gridCol w="1175644">
                  <a:extLst>
                    <a:ext uri="{9D8B030D-6E8A-4147-A177-3AD203B41FA5}">
                      <a16:colId xmlns:a16="http://schemas.microsoft.com/office/drawing/2014/main" val="625545400"/>
                    </a:ext>
                  </a:extLst>
                </a:gridCol>
                <a:gridCol w="1362822">
                  <a:extLst>
                    <a:ext uri="{9D8B030D-6E8A-4147-A177-3AD203B41FA5}">
                      <a16:colId xmlns:a16="http://schemas.microsoft.com/office/drawing/2014/main" val="647729427"/>
                    </a:ext>
                  </a:extLst>
                </a:gridCol>
                <a:gridCol w="1175644">
                  <a:extLst>
                    <a:ext uri="{9D8B030D-6E8A-4147-A177-3AD203B41FA5}">
                      <a16:colId xmlns:a16="http://schemas.microsoft.com/office/drawing/2014/main" val="555500837"/>
                    </a:ext>
                  </a:extLst>
                </a:gridCol>
                <a:gridCol w="1175644">
                  <a:extLst>
                    <a:ext uri="{9D8B030D-6E8A-4147-A177-3AD203B41FA5}">
                      <a16:colId xmlns:a16="http://schemas.microsoft.com/office/drawing/2014/main" val="2945639757"/>
                    </a:ext>
                  </a:extLst>
                </a:gridCol>
                <a:gridCol w="1175644">
                  <a:extLst>
                    <a:ext uri="{9D8B030D-6E8A-4147-A177-3AD203B41FA5}">
                      <a16:colId xmlns:a16="http://schemas.microsoft.com/office/drawing/2014/main" val="1371303959"/>
                    </a:ext>
                  </a:extLst>
                </a:gridCol>
                <a:gridCol w="1173541">
                  <a:extLst>
                    <a:ext uri="{9D8B030D-6E8A-4147-A177-3AD203B41FA5}">
                      <a16:colId xmlns:a16="http://schemas.microsoft.com/office/drawing/2014/main" val="2409752924"/>
                    </a:ext>
                  </a:extLst>
                </a:gridCol>
              </a:tblGrid>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Data</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Model</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Accuracy</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F1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Precision</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Recall</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TopK1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TopK2</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TopK3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89392998"/>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GBM</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0.34286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0.40741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0.50000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0.38095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0.34286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0.48571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0.48571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240958722"/>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B2</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GBM</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0.60714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0.58185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0.53497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0.75000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0.60714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0.67857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0.67857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82629321"/>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GBM</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dirty="0">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dirty="0">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dirty="0">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210934219"/>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GBM</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0.89655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0.88474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0.91296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solidFill>
                            <a:srgbClr val="000000"/>
                          </a:solidFill>
                          <a:effectLst/>
                          <a:latin typeface="Arial" panose="020B0604020202020204" pitchFamily="34" charset="0"/>
                          <a:ea typeface="Calibri" panose="020F0502020204030204" pitchFamily="34" charset="0"/>
                          <a:cs typeface="Arial" panose="020B0604020202020204" pitchFamily="34" charset="0"/>
                        </a:rPr>
                        <a:t>0.88889</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solidFill>
                            <a:srgbClr val="000000"/>
                          </a:solidFill>
                          <a:effectLst/>
                          <a:latin typeface="Arial" panose="020B0604020202020204" pitchFamily="34" charset="0"/>
                          <a:ea typeface="Calibri" panose="020F0502020204030204" pitchFamily="34" charset="0"/>
                          <a:cs typeface="Arial" panose="020B0604020202020204" pitchFamily="34" charset="0"/>
                        </a:rPr>
                        <a:t>0.89655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0.89655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0.93103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2249077"/>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GBM</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0.96667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0.90351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0.87500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0.97500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0.96667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0.96667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0.96667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134854137"/>
                  </a:ext>
                </a:extLst>
              </a:tr>
              <a:tr h="182880">
                <a:tc>
                  <a:txBody>
                    <a:bodyPr/>
                    <a:lstStyle/>
                    <a:p>
                      <a:pPr>
                        <a:lnSpc>
                          <a:spcPct val="115000"/>
                        </a:lnSpc>
                        <a:spcAft>
                          <a:spcPts val="1000"/>
                        </a:spcAft>
                      </a:pPr>
                      <a:r>
                        <a:rPr lang="lv-LV"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RF</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0.42857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0.34354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0.34286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0.38776</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0.42857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0.45714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solidFill>
                            <a:srgbClr val="000000"/>
                          </a:solidFill>
                          <a:effectLst/>
                          <a:latin typeface="Arial" panose="020B0604020202020204" pitchFamily="34" charset="0"/>
                          <a:ea typeface="Calibri" panose="020F0502020204030204" pitchFamily="34" charset="0"/>
                          <a:cs typeface="Arial" panose="020B0604020202020204" pitchFamily="34" charset="0"/>
                        </a:rPr>
                        <a:t>0.51429</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46191720"/>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B2</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RF</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0.89286</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0.87719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0.87500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0.93182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0.89286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0.96429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38685762"/>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RF</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dirty="0">
                          <a:effectLst/>
                          <a:latin typeface="Arial" panose="020B0604020202020204" pitchFamily="34" charset="0"/>
                          <a:ea typeface="Calibri" panose="020F0502020204030204" pitchFamily="34" charset="0"/>
                          <a:cs typeface="Arial" panose="020B0604020202020204" pitchFamily="34" charset="0"/>
                        </a:rPr>
                        <a:t>0.95000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dirty="0">
                          <a:effectLst/>
                          <a:latin typeface="Arial" panose="020B0604020202020204" pitchFamily="34" charset="0"/>
                          <a:ea typeface="Calibri" panose="020F0502020204030204" pitchFamily="34" charset="0"/>
                          <a:cs typeface="Arial" panose="020B0604020202020204" pitchFamily="34" charset="0"/>
                        </a:rPr>
                        <a:t>0.93333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a:effectLst/>
                          <a:latin typeface="Arial" panose="020B0604020202020204" pitchFamily="34" charset="0"/>
                          <a:ea typeface="Calibri" panose="020F0502020204030204" pitchFamily="34" charset="0"/>
                          <a:cs typeface="Arial" panose="020B0604020202020204" pitchFamily="34" charset="0"/>
                        </a:rPr>
                        <a:t>0.94444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0.94444</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0.95000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56467214"/>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RF</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0.86207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0.87525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0.92460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0.88889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0.86207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0.93103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0.96552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73670422"/>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RF</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0.76667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0.52778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0.53125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0.70000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0.76667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389475143"/>
                  </a:ext>
                </a:extLst>
              </a:tr>
              <a:tr h="182880">
                <a:tc>
                  <a:txBody>
                    <a:bodyPr/>
                    <a:lstStyle/>
                    <a:p>
                      <a:pPr>
                        <a:lnSpc>
                          <a:spcPct val="115000"/>
                        </a:lnSpc>
                        <a:spcAft>
                          <a:spcPts val="1000"/>
                        </a:spcAft>
                      </a:pPr>
                      <a:r>
                        <a:rPr lang="lv-LV"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XGB</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0.28571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0.26154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0.23636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0.40000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0.28571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0.37143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0.51429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170995637"/>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B2</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XGB</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0.57143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0.49684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0.42013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0.66667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0.57143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0.78571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0.96429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765961302"/>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XGB</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a:effectLst/>
                          <a:latin typeface="Arial" panose="020B0604020202020204" pitchFamily="34" charset="0"/>
                          <a:ea typeface="Calibri" panose="020F050202020403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dirty="0">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a:effectLst/>
                          <a:latin typeface="Arial" panose="020B0604020202020204" pitchFamily="34" charset="0"/>
                          <a:ea typeface="Calibri" panose="020F050202020403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415054958"/>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XGB</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0.89655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0.90194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0.90370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0.91667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0.89655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0.93103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0.96552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16017277"/>
                  </a:ext>
                </a:extLst>
              </a:tr>
              <a:tr h="182880">
                <a:tc>
                  <a:txBody>
                    <a:bodyPr/>
                    <a:lstStyle/>
                    <a:p>
                      <a:pPr>
                        <a:lnSpc>
                          <a:spcPct val="115000"/>
                        </a:lnSpc>
                        <a:spcAft>
                          <a:spcPts val="1000"/>
                        </a:spcAft>
                      </a:pPr>
                      <a:r>
                        <a:rPr lang="lv-LV" sz="18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B5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nSpc>
                          <a:spcPct val="115000"/>
                        </a:lnSpc>
                        <a:spcAft>
                          <a:spcPts val="1000"/>
                        </a:spcAft>
                      </a:pPr>
                      <a:r>
                        <a:rPr lang="lv-LV" sz="1800">
                          <a:solidFill>
                            <a:srgbClr val="000000"/>
                          </a:solidFill>
                          <a:effectLst/>
                          <a:latin typeface="Arial" panose="020B0604020202020204" pitchFamily="34" charset="0"/>
                          <a:ea typeface="Times New Roman" panose="02020603050405020304" pitchFamily="18" charset="0"/>
                          <a:cs typeface="Arial" panose="020B0604020202020204" pitchFamily="34" charset="0"/>
                        </a:rPr>
                        <a:t>XGB</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0.76667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0.52778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a:effectLst/>
                          <a:latin typeface="Arial" panose="020B0604020202020204" pitchFamily="34" charset="0"/>
                          <a:ea typeface="Calibri" panose="020F0502020204030204" pitchFamily="34" charset="0"/>
                          <a:cs typeface="Arial" panose="020B0604020202020204" pitchFamily="34" charset="0"/>
                        </a:rPr>
                        <a:t>0.53125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0.70000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effectLst/>
                          <a:latin typeface="Arial" panose="020B0604020202020204" pitchFamily="34" charset="0"/>
                          <a:ea typeface="Calibri" panose="020F0502020204030204" pitchFamily="34" charset="0"/>
                          <a:cs typeface="Arial" panose="020B0604020202020204" pitchFamily="34" charset="0"/>
                        </a:rPr>
                        <a:t>0.76667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lv-LV"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119513702"/>
                  </a:ext>
                </a:extLst>
              </a:tr>
            </a:tbl>
          </a:graphicData>
        </a:graphic>
      </p:graphicFrame>
      <p:sp>
        <p:nvSpPr>
          <p:cNvPr id="4" name="Slide Number Placeholder 3">
            <a:extLst>
              <a:ext uri="{FF2B5EF4-FFF2-40B4-BE49-F238E27FC236}">
                <a16:creationId xmlns:a16="http://schemas.microsoft.com/office/drawing/2014/main" id="{1DF28B4C-DCC9-4F0A-BFB4-75CF1F239744}"/>
              </a:ext>
            </a:extLst>
          </p:cNvPr>
          <p:cNvSpPr>
            <a:spLocks noGrp="1"/>
          </p:cNvSpPr>
          <p:nvPr>
            <p:ph type="sldNum" sz="quarter" idx="12"/>
          </p:nvPr>
        </p:nvSpPr>
        <p:spPr/>
        <p:txBody>
          <a:bodyPr/>
          <a:lstStyle/>
          <a:p>
            <a:pPr algn="ctr"/>
            <a:fld id="{1478D195-628D-428E-B98B-35B3E9B486B6}" type="slidenum">
              <a:rPr lang="en-US" smtClean="0"/>
              <a:pPr algn="ctr"/>
              <a:t>14</a:t>
            </a:fld>
            <a:endParaRPr lang="en-US"/>
          </a:p>
        </p:txBody>
      </p:sp>
    </p:spTree>
    <p:extLst>
      <p:ext uri="{BB962C8B-B14F-4D97-AF65-F5344CB8AC3E}">
        <p14:creationId xmlns:p14="http://schemas.microsoft.com/office/powerpoint/2010/main" val="17562749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F99E-B94D-4BC0-9100-69789B4E48C8}"/>
              </a:ext>
            </a:extLst>
          </p:cNvPr>
          <p:cNvSpPr>
            <a:spLocks noGrp="1"/>
          </p:cNvSpPr>
          <p:nvPr>
            <p:ph type="title"/>
          </p:nvPr>
        </p:nvSpPr>
        <p:spPr/>
        <p:txBody>
          <a:bodyPr/>
          <a:lstStyle/>
          <a:p>
            <a:r>
              <a:rPr lang="en-US" dirty="0"/>
              <a:t>Multiclass model Syn500 Baseline</a:t>
            </a:r>
          </a:p>
        </p:txBody>
      </p:sp>
      <p:graphicFrame>
        <p:nvGraphicFramePr>
          <p:cNvPr id="8" name="Content Placeholder 7">
            <a:extLst>
              <a:ext uri="{FF2B5EF4-FFF2-40B4-BE49-F238E27FC236}">
                <a16:creationId xmlns:a16="http://schemas.microsoft.com/office/drawing/2014/main" id="{A79EA74F-C62A-49A3-A3EB-1A0BB14A6FF2}"/>
              </a:ext>
            </a:extLst>
          </p:cNvPr>
          <p:cNvGraphicFramePr>
            <a:graphicFrameLocks noGrp="1"/>
          </p:cNvGraphicFramePr>
          <p:nvPr>
            <p:ph idx="1"/>
            <p:extLst>
              <p:ext uri="{D42A27DB-BD31-4B8C-83A1-F6EECF244321}">
                <p14:modId xmlns:p14="http://schemas.microsoft.com/office/powerpoint/2010/main" val="1060234094"/>
              </p:ext>
            </p:extLst>
          </p:nvPr>
        </p:nvGraphicFramePr>
        <p:xfrm>
          <a:off x="387472" y="1119632"/>
          <a:ext cx="10515600" cy="4618736"/>
        </p:xfrm>
        <a:graphic>
          <a:graphicData uri="http://schemas.openxmlformats.org/drawingml/2006/table">
            <a:tbl>
              <a:tblPr firstRow="1" firstCol="1" bandRow="1"/>
              <a:tblGrid>
                <a:gridCol w="851764">
                  <a:extLst>
                    <a:ext uri="{9D8B030D-6E8A-4147-A177-3AD203B41FA5}">
                      <a16:colId xmlns:a16="http://schemas.microsoft.com/office/drawing/2014/main" val="4239903438"/>
                    </a:ext>
                  </a:extLst>
                </a:gridCol>
                <a:gridCol w="1032632">
                  <a:extLst>
                    <a:ext uri="{9D8B030D-6E8A-4147-A177-3AD203B41FA5}">
                      <a16:colId xmlns:a16="http://schemas.microsoft.com/office/drawing/2014/main" val="2595948303"/>
                    </a:ext>
                  </a:extLst>
                </a:gridCol>
                <a:gridCol w="1392265">
                  <a:extLst>
                    <a:ext uri="{9D8B030D-6E8A-4147-A177-3AD203B41FA5}">
                      <a16:colId xmlns:a16="http://schemas.microsoft.com/office/drawing/2014/main" val="259052303"/>
                    </a:ext>
                  </a:extLst>
                </a:gridCol>
                <a:gridCol w="1175644">
                  <a:extLst>
                    <a:ext uri="{9D8B030D-6E8A-4147-A177-3AD203B41FA5}">
                      <a16:colId xmlns:a16="http://schemas.microsoft.com/office/drawing/2014/main" val="3609880867"/>
                    </a:ext>
                  </a:extLst>
                </a:gridCol>
                <a:gridCol w="1362822">
                  <a:extLst>
                    <a:ext uri="{9D8B030D-6E8A-4147-A177-3AD203B41FA5}">
                      <a16:colId xmlns:a16="http://schemas.microsoft.com/office/drawing/2014/main" val="2807165460"/>
                    </a:ext>
                  </a:extLst>
                </a:gridCol>
                <a:gridCol w="1175644">
                  <a:extLst>
                    <a:ext uri="{9D8B030D-6E8A-4147-A177-3AD203B41FA5}">
                      <a16:colId xmlns:a16="http://schemas.microsoft.com/office/drawing/2014/main" val="3881133087"/>
                    </a:ext>
                  </a:extLst>
                </a:gridCol>
                <a:gridCol w="1175644">
                  <a:extLst>
                    <a:ext uri="{9D8B030D-6E8A-4147-A177-3AD203B41FA5}">
                      <a16:colId xmlns:a16="http://schemas.microsoft.com/office/drawing/2014/main" val="525492610"/>
                    </a:ext>
                  </a:extLst>
                </a:gridCol>
                <a:gridCol w="1175644">
                  <a:extLst>
                    <a:ext uri="{9D8B030D-6E8A-4147-A177-3AD203B41FA5}">
                      <a16:colId xmlns:a16="http://schemas.microsoft.com/office/drawing/2014/main" val="2536924726"/>
                    </a:ext>
                  </a:extLst>
                </a:gridCol>
                <a:gridCol w="1173541">
                  <a:extLst>
                    <a:ext uri="{9D8B030D-6E8A-4147-A177-3AD203B41FA5}">
                      <a16:colId xmlns:a16="http://schemas.microsoft.com/office/drawing/2014/main" val="609997028"/>
                    </a:ext>
                  </a:extLst>
                </a:gridCol>
              </a:tblGrid>
              <a:tr h="182880">
                <a:tc>
                  <a:txBody>
                    <a:bodyPr/>
                    <a:lstStyle/>
                    <a:p>
                      <a:pPr>
                        <a:lnSpc>
                          <a:spcPct val="115000"/>
                        </a:lnSpc>
                        <a:spcAft>
                          <a:spcPts val="1275"/>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Data</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Model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Accuracy</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F1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Precision</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Recall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TopK1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TopK2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TopK3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20664532"/>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GBM</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0.95806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0.70919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0.70535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0.71960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0.95806</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0.97572</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0.98455</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157458425"/>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GBM</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0.83726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0.43750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0.71259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0.38291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0.83726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0.89293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0.89936</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087477322"/>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GBM</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0.90223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0.51649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0.57894</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0.54366</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0.90223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0.92624</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0.96741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546814044"/>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B4</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GBM</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0.93605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0.40353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0.45845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0.38338</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0.93605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0.95155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0.95543</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505997924"/>
                  </a:ext>
                </a:extLst>
              </a:tr>
              <a:tr h="182880">
                <a:tc>
                  <a:txBody>
                    <a:bodyPr/>
                    <a:lstStyle/>
                    <a:p>
                      <a:pPr>
                        <a:lnSpc>
                          <a:spcPct val="115000"/>
                        </a:lnSpc>
                        <a:spcAft>
                          <a:spcPts val="1000"/>
                        </a:spcAft>
                      </a:pP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B5</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GBM</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0.83863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0.41852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0.48986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0.41378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0.83863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0.89976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0.92421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16866547"/>
                  </a:ext>
                </a:extLst>
              </a:tr>
              <a:tr h="182880">
                <a:tc>
                  <a:txBody>
                    <a:bodyPr/>
                    <a:lstStyle/>
                    <a:p>
                      <a:pPr>
                        <a:lnSpc>
                          <a:spcPct val="115000"/>
                        </a:lnSpc>
                        <a:spcAft>
                          <a:spcPts val="1000"/>
                        </a:spcAft>
                      </a:pP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B1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RF</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0.81457</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0.52321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0.67952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0.52566</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0.81457</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0.99338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08992753"/>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RF</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0.86081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0.55444</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0.73247</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0.50592</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0.86081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989699174"/>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RF</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0.80961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0.09501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0.18380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0.08332</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0.80961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0.99314</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0.99828</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29222462"/>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B4</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RF</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0.88178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0.11876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0.16014</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0.10648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0.88178</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0.94767</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0.96512</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938723315"/>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RF</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0.75795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0.06310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0.08787</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0.06250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0.75795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0.87042</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0.90220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12494664"/>
                  </a:ext>
                </a:extLst>
              </a:tr>
              <a:tr h="182880">
                <a:tc>
                  <a:txBody>
                    <a:bodyPr/>
                    <a:lstStyle/>
                    <a:p>
                      <a:pPr>
                        <a:lnSpc>
                          <a:spcPct val="115000"/>
                        </a:lnSpc>
                        <a:spcAft>
                          <a:spcPts val="1000"/>
                        </a:spcAft>
                      </a:pP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B1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XGB</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0.77263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0.35048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0.52040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0.35807</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0.77263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0.97792</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477735871"/>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XGB</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0.82655</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0.36808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0.45538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0.32741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0.82655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0.99358</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1.00000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788206651"/>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XGB</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0.93139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0.65993</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0.71978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b="1" dirty="0">
                          <a:solidFill>
                            <a:srgbClr val="000000"/>
                          </a:solidFill>
                          <a:effectLst/>
                          <a:latin typeface="Arial" panose="020B0604020202020204" pitchFamily="34" charset="0"/>
                          <a:ea typeface="Calibri" panose="020F0502020204030204" pitchFamily="34" charset="0"/>
                          <a:cs typeface="Arial" panose="020B0604020202020204" pitchFamily="34" charset="0"/>
                        </a:rPr>
                        <a:t>0.64094</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0.93139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0.97770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0.98971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828890601"/>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B4</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XGB</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0.92442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0.32736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0.36743</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0.32017</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0.92442</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0.95349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0.97674</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313178627"/>
                  </a:ext>
                </a:extLst>
              </a:tr>
              <a:tr h="182880">
                <a:tc>
                  <a:txBody>
                    <a:bodyPr/>
                    <a:lstStyle/>
                    <a:p>
                      <a:pPr>
                        <a:lnSpc>
                          <a:spcPct val="115000"/>
                        </a:lnSpc>
                        <a:spcAft>
                          <a:spcPts val="1000"/>
                        </a:spcAft>
                      </a:pPr>
                      <a:r>
                        <a:rPr lang="en-US" sz="1800" b="1">
                          <a:solidFill>
                            <a:srgbClr val="000000"/>
                          </a:solidFill>
                          <a:effectLst/>
                          <a:latin typeface="Arial" panose="020B0604020202020204" pitchFamily="34" charset="0"/>
                          <a:ea typeface="Calibri" panose="020F0502020204030204" pitchFamily="34" charset="0"/>
                          <a:cs typeface="Arial" panose="020B0604020202020204" pitchFamily="34" charset="0"/>
                        </a:rPr>
                        <a:t>B5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XGB</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0.87042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0.36579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a:solidFill>
                            <a:srgbClr val="000000"/>
                          </a:solidFill>
                          <a:effectLst/>
                          <a:latin typeface="Arial" panose="020B0604020202020204" pitchFamily="34" charset="0"/>
                          <a:ea typeface="Calibri" panose="020F0502020204030204" pitchFamily="34" charset="0"/>
                          <a:cs typeface="Arial" panose="020B0604020202020204" pitchFamily="34" charset="0"/>
                        </a:rPr>
                        <a:t>0.37505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0.41808</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0.87042</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0.91198</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r">
                        <a:lnSpc>
                          <a:spcPct val="115000"/>
                        </a:lnSpc>
                        <a:spcAft>
                          <a:spcPts val="1000"/>
                        </a:spcAft>
                      </a:pPr>
                      <a:r>
                        <a:rPr lang="en-US" sz="1800" dirty="0">
                          <a:solidFill>
                            <a:srgbClr val="000000"/>
                          </a:solidFill>
                          <a:effectLst/>
                          <a:latin typeface="Arial" panose="020B0604020202020204" pitchFamily="34" charset="0"/>
                          <a:ea typeface="Calibri" panose="020F0502020204030204" pitchFamily="34" charset="0"/>
                          <a:cs typeface="Arial" panose="020B0604020202020204" pitchFamily="34" charset="0"/>
                        </a:rPr>
                        <a:t>0.93888</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857599166"/>
                  </a:ext>
                </a:extLst>
              </a:tr>
            </a:tbl>
          </a:graphicData>
        </a:graphic>
      </p:graphicFrame>
      <p:sp>
        <p:nvSpPr>
          <p:cNvPr id="4" name="Slide Number Placeholder 3">
            <a:extLst>
              <a:ext uri="{FF2B5EF4-FFF2-40B4-BE49-F238E27FC236}">
                <a16:creationId xmlns:a16="http://schemas.microsoft.com/office/drawing/2014/main" id="{1DF28B4C-DCC9-4F0A-BFB4-75CF1F239744}"/>
              </a:ext>
            </a:extLst>
          </p:cNvPr>
          <p:cNvSpPr>
            <a:spLocks noGrp="1"/>
          </p:cNvSpPr>
          <p:nvPr>
            <p:ph type="sldNum" sz="quarter" idx="12"/>
          </p:nvPr>
        </p:nvSpPr>
        <p:spPr/>
        <p:txBody>
          <a:bodyPr/>
          <a:lstStyle/>
          <a:p>
            <a:pPr algn="ctr"/>
            <a:fld id="{1478D195-628D-428E-B98B-35B3E9B486B6}" type="slidenum">
              <a:rPr lang="en-US" smtClean="0"/>
              <a:pPr algn="ctr"/>
              <a:t>15</a:t>
            </a:fld>
            <a:endParaRPr lang="en-US"/>
          </a:p>
        </p:txBody>
      </p:sp>
    </p:spTree>
    <p:extLst>
      <p:ext uri="{BB962C8B-B14F-4D97-AF65-F5344CB8AC3E}">
        <p14:creationId xmlns:p14="http://schemas.microsoft.com/office/powerpoint/2010/main" val="4227739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7D67-69BA-455C-8A4D-FBEDC3E7F84A}"/>
              </a:ext>
            </a:extLst>
          </p:cNvPr>
          <p:cNvSpPr>
            <a:spLocks noGrp="1"/>
          </p:cNvSpPr>
          <p:nvPr>
            <p:ph type="title"/>
          </p:nvPr>
        </p:nvSpPr>
        <p:spPr>
          <a:xfrm>
            <a:off x="293255" y="101599"/>
            <a:ext cx="10005290" cy="1018073"/>
          </a:xfrm>
        </p:spPr>
        <p:txBody>
          <a:bodyPr>
            <a:normAutofit/>
          </a:bodyPr>
          <a:lstStyle/>
          <a:p>
            <a:r>
              <a:rPr lang="en-US" dirty="0"/>
              <a:t>Conclusion</a:t>
            </a:r>
          </a:p>
        </p:txBody>
      </p:sp>
      <p:sp>
        <p:nvSpPr>
          <p:cNvPr id="3" name="Content Placeholder 2">
            <a:extLst>
              <a:ext uri="{FF2B5EF4-FFF2-40B4-BE49-F238E27FC236}">
                <a16:creationId xmlns:a16="http://schemas.microsoft.com/office/drawing/2014/main" id="{D15748F6-B94F-49F5-9215-A56234E3E9D5}"/>
              </a:ext>
            </a:extLst>
          </p:cNvPr>
          <p:cNvSpPr>
            <a:spLocks noGrp="1"/>
          </p:cNvSpPr>
          <p:nvPr>
            <p:ph idx="1"/>
          </p:nvPr>
        </p:nvSpPr>
        <p:spPr>
          <a:xfrm>
            <a:off x="293254" y="1253331"/>
            <a:ext cx="11565953" cy="5165942"/>
          </a:xfrm>
        </p:spPr>
        <p:txBody>
          <a:bodyPr>
            <a:normAutofit fontScale="85000" lnSpcReduction="20000"/>
          </a:bodyPr>
          <a:lstStyle/>
          <a:p>
            <a:r>
              <a:rPr lang="en-US" dirty="0"/>
              <a:t>The hypothesis is partly confirmed: rule-based synthetic data can be used to train ML detectors for risk screening, but it is insufficient for fully automated risk decision-making. </a:t>
            </a:r>
          </a:p>
          <a:p>
            <a:r>
              <a:rPr lang="en-US" dirty="0"/>
              <a:t>Q1 (behaviour realism): normal and suspicious behaviours are reproduced with realistic overlap; as a result, when a strict recall target is applied, precision decreases due to the lack of a clear separation between classes. </a:t>
            </a:r>
          </a:p>
          <a:p>
            <a:r>
              <a:rPr lang="en-US" dirty="0"/>
              <a:t>Q2 technical and regulatory constraints (privacy restrictions and limited labelled real data) require fully synthetic generation, while quality is evaluated via privacy–utility–fidelity: privacy is preserved, utility is high for controlled training/benchmarking, and fidelity is limited by predefined rules and simplified business logic. </a:t>
            </a:r>
          </a:p>
          <a:p>
            <a:r>
              <a:rPr lang="en-US" dirty="0"/>
              <a:t>Q3 (adaptation and scenario typing): binary detection remains stable across data packages and keeps high recall under both incremental updates and full retraining, with only a small quality difference between these regimes. This suggests the model can be updated in batches without major degradation. When a new scenario appears, the binary model can still flag transactions as suspicious, but it cannot assign a reliable scenario label, so scenario typing is mainly useful for triage rather than final labelling.</a:t>
            </a:r>
          </a:p>
        </p:txBody>
      </p:sp>
      <p:sp>
        <p:nvSpPr>
          <p:cNvPr id="4" name="Slide Number Placeholder 3">
            <a:extLst>
              <a:ext uri="{FF2B5EF4-FFF2-40B4-BE49-F238E27FC236}">
                <a16:creationId xmlns:a16="http://schemas.microsoft.com/office/drawing/2014/main" id="{C9DCAD00-A455-4A3E-A025-F4282092E3CF}"/>
              </a:ext>
            </a:extLst>
          </p:cNvPr>
          <p:cNvSpPr>
            <a:spLocks noGrp="1"/>
          </p:cNvSpPr>
          <p:nvPr>
            <p:ph type="sldNum" sz="quarter" idx="12"/>
          </p:nvPr>
        </p:nvSpPr>
        <p:spPr/>
        <p:txBody>
          <a:bodyPr/>
          <a:lstStyle/>
          <a:p>
            <a:pPr algn="ctr"/>
            <a:fld id="{1478D195-628D-428E-B98B-35B3E9B486B6}" type="slidenum">
              <a:rPr lang="en-US" smtClean="0"/>
              <a:pPr algn="ctr"/>
              <a:t>16</a:t>
            </a:fld>
            <a:endParaRPr lang="en-US"/>
          </a:p>
        </p:txBody>
      </p:sp>
    </p:spTree>
    <p:extLst>
      <p:ext uri="{BB962C8B-B14F-4D97-AF65-F5344CB8AC3E}">
        <p14:creationId xmlns:p14="http://schemas.microsoft.com/office/powerpoint/2010/main" val="1786075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C7D67-69BA-455C-8A4D-FBEDC3E7F84A}"/>
              </a:ext>
            </a:extLst>
          </p:cNvPr>
          <p:cNvSpPr>
            <a:spLocks noGrp="1"/>
          </p:cNvSpPr>
          <p:nvPr>
            <p:ph type="title"/>
          </p:nvPr>
        </p:nvSpPr>
        <p:spPr>
          <a:xfrm>
            <a:off x="293255" y="101599"/>
            <a:ext cx="10005290" cy="1018073"/>
          </a:xfrm>
        </p:spPr>
        <p:txBody>
          <a:bodyPr>
            <a:normAutofit/>
          </a:bodyPr>
          <a:lstStyle/>
          <a:p>
            <a:r>
              <a:rPr lang="en-US" dirty="0"/>
              <a:t>Scope and Contributions</a:t>
            </a:r>
          </a:p>
        </p:txBody>
      </p:sp>
      <p:graphicFrame>
        <p:nvGraphicFramePr>
          <p:cNvPr id="9" name="Content Placeholder 8">
            <a:extLst>
              <a:ext uri="{FF2B5EF4-FFF2-40B4-BE49-F238E27FC236}">
                <a16:creationId xmlns:a16="http://schemas.microsoft.com/office/drawing/2014/main" id="{A68B006D-E9FC-4CC2-AC50-96BC605FC51F}"/>
              </a:ext>
            </a:extLst>
          </p:cNvPr>
          <p:cNvGraphicFramePr>
            <a:graphicFrameLocks noGrp="1"/>
          </p:cNvGraphicFramePr>
          <p:nvPr>
            <p:ph idx="1"/>
            <p:extLst>
              <p:ext uri="{D42A27DB-BD31-4B8C-83A1-F6EECF244321}">
                <p14:modId xmlns:p14="http://schemas.microsoft.com/office/powerpoint/2010/main" val="248418160"/>
              </p:ext>
            </p:extLst>
          </p:nvPr>
        </p:nvGraphicFramePr>
        <p:xfrm>
          <a:off x="293687" y="991892"/>
          <a:ext cx="11205584" cy="5541784"/>
        </p:xfrm>
        <a:graphic>
          <a:graphicData uri="http://schemas.openxmlformats.org/drawingml/2006/table">
            <a:tbl>
              <a:tblPr/>
              <a:tblGrid>
                <a:gridCol w="5602792">
                  <a:extLst>
                    <a:ext uri="{9D8B030D-6E8A-4147-A177-3AD203B41FA5}">
                      <a16:colId xmlns:a16="http://schemas.microsoft.com/office/drawing/2014/main" val="285908087"/>
                    </a:ext>
                  </a:extLst>
                </a:gridCol>
                <a:gridCol w="5602792">
                  <a:extLst>
                    <a:ext uri="{9D8B030D-6E8A-4147-A177-3AD203B41FA5}">
                      <a16:colId xmlns:a16="http://schemas.microsoft.com/office/drawing/2014/main" val="911754336"/>
                    </a:ext>
                  </a:extLst>
                </a:gridCol>
              </a:tblGrid>
              <a:tr h="395842">
                <a:tc>
                  <a:txBody>
                    <a:bodyPr/>
                    <a:lstStyle/>
                    <a:p>
                      <a:pPr algn="l"/>
                      <a:r>
                        <a:rPr lang="en-US" b="1" dirty="0">
                          <a:latin typeface="Arial" panose="020B0604020202020204" pitchFamily="34" charset="0"/>
                          <a:cs typeface="Arial" panose="020B0604020202020204" pitchFamily="34" charset="0"/>
                        </a:rPr>
                        <a:t>Scope</a:t>
                      </a:r>
                      <a:endParaRPr lang="en-US" dirty="0">
                        <a:latin typeface="Arial" panose="020B0604020202020204" pitchFamily="34" charset="0"/>
                        <a:cs typeface="Arial" panose="020B0604020202020204" pitchFamily="34" charset="0"/>
                      </a:endParaRPr>
                    </a:p>
                  </a:txBody>
                  <a:tcPr anchor="ctr">
                    <a:lnL>
                      <a:noFill/>
                    </a:lnL>
                    <a:lnR>
                      <a:noFill/>
                    </a:lnR>
                    <a:lnT w="28575" cap="flat" cmpd="sng" algn="ctr">
                      <a:solidFill>
                        <a:schemeClr val="accent5"/>
                      </a:solidFill>
                      <a:prstDash val="solid"/>
                      <a:round/>
                      <a:headEnd type="none" w="med" len="med"/>
                      <a:tailEnd type="none" w="med" len="med"/>
                    </a:lnT>
                    <a:lnB>
                      <a:noFill/>
                    </a:lnB>
                    <a:solidFill>
                      <a:schemeClr val="accent5">
                        <a:lumMod val="20000"/>
                        <a:lumOff val="80000"/>
                      </a:schemeClr>
                    </a:solidFill>
                  </a:tcPr>
                </a:tc>
                <a:tc>
                  <a:txBody>
                    <a:bodyPr/>
                    <a:lstStyle/>
                    <a:p>
                      <a:pPr algn="l"/>
                      <a:r>
                        <a:rPr lang="en-US" b="1" dirty="0">
                          <a:latin typeface="Arial" panose="020B0604020202020204" pitchFamily="34" charset="0"/>
                          <a:cs typeface="Arial" panose="020B0604020202020204" pitchFamily="34" charset="0"/>
                        </a:rPr>
                        <a:t>Contribution</a:t>
                      </a:r>
                      <a:endParaRPr lang="ru-RU" dirty="0">
                        <a:latin typeface="Arial" panose="020B0604020202020204" pitchFamily="34" charset="0"/>
                        <a:cs typeface="Arial" panose="020B0604020202020204" pitchFamily="34" charset="0"/>
                      </a:endParaRPr>
                    </a:p>
                  </a:txBody>
                  <a:tcPr anchor="ctr">
                    <a:lnL>
                      <a:noFill/>
                    </a:lnL>
                    <a:lnR>
                      <a:noFill/>
                    </a:lnR>
                    <a:lnT w="28575" cap="flat" cmpd="sng" algn="ctr">
                      <a:solidFill>
                        <a:schemeClr val="accent5"/>
                      </a:solidFill>
                      <a:prstDash val="solid"/>
                      <a:round/>
                      <a:headEnd type="none" w="med" len="med"/>
                      <a:tailEnd type="none" w="med" len="med"/>
                    </a:lnT>
                    <a:lnB>
                      <a:noFill/>
                    </a:lnB>
                    <a:solidFill>
                      <a:schemeClr val="accent5">
                        <a:lumMod val="20000"/>
                        <a:lumOff val="80000"/>
                      </a:schemeClr>
                    </a:solidFill>
                  </a:tcPr>
                </a:tc>
                <a:extLst>
                  <a:ext uri="{0D108BD9-81ED-4DB2-BD59-A6C34878D82A}">
                    <a16:rowId xmlns:a16="http://schemas.microsoft.com/office/drawing/2014/main" val="2165386044"/>
                  </a:ext>
                </a:extLst>
              </a:tr>
              <a:tr h="692723">
                <a:tc>
                  <a:txBody>
                    <a:bodyPr/>
                    <a:lstStyle/>
                    <a:p>
                      <a:pPr algn="l"/>
                      <a:r>
                        <a:rPr lang="en-US" dirty="0">
                          <a:latin typeface="Arial" panose="020B0604020202020204" pitchFamily="34" charset="0"/>
                          <a:cs typeface="Arial" panose="020B0604020202020204" pitchFamily="34" charset="0"/>
                        </a:rPr>
                        <a:t>Synthetic data with </a:t>
                      </a:r>
                      <a:r>
                        <a:rPr lang="en-US" b="1" dirty="0">
                          <a:latin typeface="Arial" panose="020B0604020202020204" pitchFamily="34" charset="0"/>
                          <a:cs typeface="Arial" panose="020B0604020202020204" pitchFamily="34" charset="0"/>
                        </a:rPr>
                        <a:t>34 AML scenarios</a:t>
                      </a:r>
                      <a:r>
                        <a:rPr lang="en-US" dirty="0">
                          <a:latin typeface="Arial" panose="020B0604020202020204" pitchFamily="34" charset="0"/>
                          <a:cs typeface="Arial" panose="020B0604020202020204" pitchFamily="34" charset="0"/>
                        </a:rPr>
                        <a:t>, incl. </a:t>
                      </a:r>
                      <a:r>
                        <a:rPr lang="en-US" b="1" dirty="0">
                          <a:latin typeface="Arial" panose="020B0604020202020204" pitchFamily="34" charset="0"/>
                          <a:cs typeface="Arial" panose="020B0604020202020204" pitchFamily="34" charset="0"/>
                        </a:rPr>
                        <a:t>graph-style patterns</a:t>
                      </a:r>
                      <a:endParaRPr lang="en-US"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pPr algn="l"/>
                      <a:r>
                        <a:rPr lang="en-US" dirty="0">
                          <a:latin typeface="Arial" panose="020B0604020202020204" pitchFamily="34" charset="0"/>
                          <a:cs typeface="Arial" panose="020B0604020202020204" pitchFamily="34" charset="0"/>
                        </a:rPr>
                        <a:t>Focus on </a:t>
                      </a:r>
                      <a:r>
                        <a:rPr lang="en-US" b="1" dirty="0">
                          <a:latin typeface="Arial" panose="020B0604020202020204" pitchFamily="34" charset="0"/>
                          <a:cs typeface="Arial" panose="020B0604020202020204" pitchFamily="34" charset="0"/>
                        </a:rPr>
                        <a:t>realism impact</a:t>
                      </a:r>
                      <a:r>
                        <a:rPr lang="en-US" dirty="0">
                          <a:latin typeface="Arial" panose="020B0604020202020204" pitchFamily="34" charset="0"/>
                          <a:cs typeface="Arial" panose="020B0604020202020204" pitchFamily="34" charset="0"/>
                        </a:rPr>
                        <a:t>, not “maximum accuracy”</a:t>
                      </a:r>
                    </a:p>
                  </a:txBody>
                  <a:tcPr anchor="ctr">
                    <a:lnL>
                      <a:noFill/>
                    </a:lnL>
                    <a:lnR>
                      <a:noFill/>
                    </a:lnR>
                    <a:lnT>
                      <a:noFill/>
                    </a:lnT>
                    <a:lnB>
                      <a:noFill/>
                    </a:lnB>
                  </a:tcPr>
                </a:tc>
                <a:extLst>
                  <a:ext uri="{0D108BD9-81ED-4DB2-BD59-A6C34878D82A}">
                    <a16:rowId xmlns:a16="http://schemas.microsoft.com/office/drawing/2014/main" val="1835222743"/>
                  </a:ext>
                </a:extLst>
              </a:tr>
              <a:tr h="692723">
                <a:tc>
                  <a:txBody>
                    <a:bodyPr/>
                    <a:lstStyle/>
                    <a:p>
                      <a:pPr algn="l"/>
                      <a:r>
                        <a:rPr lang="en-US" dirty="0">
                          <a:latin typeface="Arial" panose="020B0604020202020204" pitchFamily="34" charset="0"/>
                          <a:cs typeface="Arial" panose="020B0604020202020204" pitchFamily="34" charset="0"/>
                        </a:rPr>
                        <a:t>Two datasets: </a:t>
                      </a:r>
                      <a:r>
                        <a:rPr lang="en-US" b="1" dirty="0">
                          <a:latin typeface="Arial" panose="020B0604020202020204" pitchFamily="34" charset="0"/>
                          <a:cs typeface="Arial" panose="020B0604020202020204" pitchFamily="34" charset="0"/>
                        </a:rPr>
                        <a:t>Syn100 (10k/100)</a:t>
                      </a:r>
                      <a:r>
                        <a:rPr lang="en-US" dirty="0">
                          <a:latin typeface="Arial" panose="020B0604020202020204" pitchFamily="34" charset="0"/>
                          <a:cs typeface="Arial" panose="020B0604020202020204" pitchFamily="34" charset="0"/>
                        </a:rPr>
                        <a:t> + </a:t>
                      </a:r>
                      <a:r>
                        <a:rPr lang="en-US" b="1" dirty="0">
                          <a:latin typeface="Arial" panose="020B0604020202020204" pitchFamily="34" charset="0"/>
                          <a:cs typeface="Arial" panose="020B0604020202020204" pitchFamily="34" charset="0"/>
                        </a:rPr>
                        <a:t>Syn500 (50k/500)</a:t>
                      </a:r>
                      <a:r>
                        <a:rPr lang="en-US" dirty="0">
                          <a:latin typeface="Arial" panose="020B0604020202020204" pitchFamily="34" charset="0"/>
                          <a:cs typeface="Arial" panose="020B0604020202020204" pitchFamily="34" charset="0"/>
                        </a:rPr>
                        <a:t>, each with </a:t>
                      </a:r>
                      <a:r>
                        <a:rPr lang="en-US" b="1" dirty="0">
                          <a:latin typeface="Arial" panose="020B0604020202020204" pitchFamily="34" charset="0"/>
                          <a:cs typeface="Arial" panose="020B0604020202020204" pitchFamily="34" charset="0"/>
                        </a:rPr>
                        <a:t>5 data packages</a:t>
                      </a:r>
                      <a:endParaRPr lang="en-US" dirty="0">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pPr algn="l"/>
                      <a:r>
                        <a:rPr lang="en-US">
                          <a:latin typeface="Arial" panose="020B0604020202020204" pitchFamily="34" charset="0"/>
                          <a:cs typeface="Arial" panose="020B0604020202020204" pitchFamily="34" charset="0"/>
                        </a:rPr>
                        <a:t>“Too clean” synthetic data → </a:t>
                      </a:r>
                      <a:r>
                        <a:rPr lang="en-US" b="1">
                          <a:latin typeface="Arial" panose="020B0604020202020204" pitchFamily="34" charset="0"/>
                          <a:cs typeface="Arial" panose="020B0604020202020204" pitchFamily="34" charset="0"/>
                        </a:rPr>
                        <a:t>near-perfect metrics</a:t>
                      </a:r>
                      <a:r>
                        <a:rPr lang="en-US">
                          <a:latin typeface="Arial" panose="020B0604020202020204" pitchFamily="34" charset="0"/>
                          <a:cs typeface="Arial" panose="020B0604020202020204" pitchFamily="34" charset="0"/>
                        </a:rPr>
                        <a:t> can be misleading</a:t>
                      </a:r>
                    </a:p>
                  </a:txBody>
                  <a:tcPr anchor="ctr">
                    <a:lnL>
                      <a:noFill/>
                    </a:lnL>
                    <a:lnR>
                      <a:noFill/>
                    </a:lnR>
                    <a:lnT>
                      <a:noFill/>
                    </a:lnT>
                    <a:lnB>
                      <a:noFill/>
                    </a:lnB>
                  </a:tcPr>
                </a:tc>
                <a:extLst>
                  <a:ext uri="{0D108BD9-81ED-4DB2-BD59-A6C34878D82A}">
                    <a16:rowId xmlns:a16="http://schemas.microsoft.com/office/drawing/2014/main" val="1647612423"/>
                  </a:ext>
                </a:extLst>
              </a:tr>
              <a:tr h="692723">
                <a:tc>
                  <a:txBody>
                    <a:bodyPr/>
                    <a:lstStyle/>
                    <a:p>
                      <a:pPr algn="l"/>
                      <a:r>
                        <a:rPr lang="en-US" b="1" dirty="0">
                          <a:latin typeface="Arial" panose="020B0604020202020204" pitchFamily="34" charset="0"/>
                          <a:cs typeface="Arial" panose="020B0604020202020204" pitchFamily="34" charset="0"/>
                        </a:rPr>
                        <a:t>Binary detection:</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GBM / XGBM / RF</a:t>
                      </a:r>
                      <a:r>
                        <a:rPr lang="en-US" dirty="0">
                          <a:latin typeface="Arial" panose="020B0604020202020204" pitchFamily="34" charset="0"/>
                          <a:cs typeface="Arial" panose="020B0604020202020204" pitchFamily="34" charset="0"/>
                        </a:rPr>
                        <a:t> + </a:t>
                      </a:r>
                      <a:r>
                        <a:rPr lang="en-US" b="1" dirty="0">
                          <a:latin typeface="Arial" panose="020B0604020202020204" pitchFamily="34" charset="0"/>
                          <a:cs typeface="Arial" panose="020B0604020202020204" pitchFamily="34" charset="0"/>
                        </a:rPr>
                        <a:t>H2O AutoML</a:t>
                      </a:r>
                      <a:r>
                        <a:rPr lang="en-US" dirty="0">
                          <a:latin typeface="Arial" panose="020B0604020202020204" pitchFamily="34" charset="0"/>
                          <a:cs typeface="Arial" panose="020B0604020202020204" pitchFamily="34" charset="0"/>
                        </a:rPr>
                        <a:t> benchmark</a:t>
                      </a:r>
                    </a:p>
                  </a:txBody>
                  <a:tcPr anchor="ctr">
                    <a:lnL>
                      <a:noFill/>
                    </a:lnL>
                    <a:lnR>
                      <a:noFill/>
                    </a:lnR>
                    <a:lnT>
                      <a:noFill/>
                    </a:lnT>
                    <a:lnB>
                      <a:noFill/>
                    </a:lnB>
                  </a:tcPr>
                </a:tc>
                <a:tc>
                  <a:txBody>
                    <a:bodyPr/>
                    <a:lstStyle/>
                    <a:p>
                      <a:pPr algn="l"/>
                      <a:r>
                        <a:rPr lang="en-US">
                          <a:latin typeface="Arial" panose="020B0604020202020204" pitchFamily="34" charset="0"/>
                          <a:cs typeface="Arial" panose="020B0604020202020204" pitchFamily="34" charset="0"/>
                        </a:rPr>
                        <a:t>More realistic AML-like data → </a:t>
                      </a:r>
                      <a:r>
                        <a:rPr lang="en-US" b="1">
                          <a:latin typeface="Arial" panose="020B0604020202020204" pitchFamily="34" charset="0"/>
                          <a:cs typeface="Arial" panose="020B0604020202020204" pitchFamily="34" charset="0"/>
                        </a:rPr>
                        <a:t>class overlap</a:t>
                      </a:r>
                      <a:r>
                        <a:rPr lang="en-US">
                          <a:latin typeface="Arial" panose="020B0604020202020204" pitchFamily="34" charset="0"/>
                          <a:cs typeface="Arial" panose="020B0604020202020204" pitchFamily="34" charset="0"/>
                        </a:rPr>
                        <a:t> → higher </a:t>
                      </a:r>
                      <a:r>
                        <a:rPr lang="en-US" b="1">
                          <a:latin typeface="Arial" panose="020B0604020202020204" pitchFamily="34" charset="0"/>
                          <a:cs typeface="Arial" panose="020B0604020202020204" pitchFamily="34" charset="0"/>
                        </a:rPr>
                        <a:t>FP/FN</a:t>
                      </a:r>
                      <a:r>
                        <a:rPr lang="en-US">
                          <a:latin typeface="Arial" panose="020B0604020202020204" pitchFamily="34" charset="0"/>
                          <a:cs typeface="Arial" panose="020B0604020202020204" pitchFamily="34" charset="0"/>
                        </a:rPr>
                        <a:t> (closer to operations)</a:t>
                      </a:r>
                    </a:p>
                  </a:txBody>
                  <a:tcPr anchor="ctr">
                    <a:lnL>
                      <a:noFill/>
                    </a:lnL>
                    <a:lnR>
                      <a:noFill/>
                    </a:lnR>
                    <a:lnT>
                      <a:noFill/>
                    </a:lnT>
                    <a:lnB>
                      <a:noFill/>
                    </a:lnB>
                  </a:tcPr>
                </a:tc>
                <a:extLst>
                  <a:ext uri="{0D108BD9-81ED-4DB2-BD59-A6C34878D82A}">
                    <a16:rowId xmlns:a16="http://schemas.microsoft.com/office/drawing/2014/main" val="1047479104"/>
                  </a:ext>
                </a:extLst>
              </a:tr>
              <a:tr h="692723">
                <a:tc>
                  <a:txBody>
                    <a:bodyPr/>
                    <a:lstStyle/>
                    <a:p>
                      <a:pPr algn="l"/>
                      <a:r>
                        <a:rPr lang="en-US" b="1">
                          <a:latin typeface="Arial" panose="020B0604020202020204" pitchFamily="34" charset="0"/>
                          <a:cs typeface="Arial" panose="020B0604020202020204" pitchFamily="34" charset="0"/>
                        </a:rPr>
                        <a:t>Multiclass typing:</a:t>
                      </a:r>
                      <a:r>
                        <a:rPr lang="en-US">
                          <a:latin typeface="Arial" panose="020B0604020202020204" pitchFamily="34" charset="0"/>
                          <a:cs typeface="Arial" panose="020B0604020202020204" pitchFamily="34" charset="0"/>
                        </a:rPr>
                        <a:t> on top of binary outputs using </a:t>
                      </a:r>
                      <a:r>
                        <a:rPr lang="en-US" b="1">
                          <a:latin typeface="Arial" panose="020B0604020202020204" pitchFamily="34" charset="0"/>
                          <a:cs typeface="Arial" panose="020B0604020202020204" pitchFamily="34" charset="0"/>
                        </a:rPr>
                        <a:t>Top-K</a:t>
                      </a:r>
                      <a:endParaRPr lang="en-US">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pPr algn="l"/>
                      <a:r>
                        <a:rPr lang="en-US">
                          <a:latin typeface="Arial" panose="020B0604020202020204" pitchFamily="34" charset="0"/>
                          <a:cs typeface="Arial" panose="020B0604020202020204" pitchFamily="34" charset="0"/>
                        </a:rPr>
                        <a:t>Multiclass stacking supports </a:t>
                      </a:r>
                      <a:r>
                        <a:rPr lang="en-US" b="1">
                          <a:latin typeface="Arial" panose="020B0604020202020204" pitchFamily="34" charset="0"/>
                          <a:cs typeface="Arial" panose="020B0604020202020204" pitchFamily="34" charset="0"/>
                        </a:rPr>
                        <a:t>triage</a:t>
                      </a:r>
                      <a:r>
                        <a:rPr lang="en-US">
                          <a:latin typeface="Arial" panose="020B0604020202020204" pitchFamily="34" charset="0"/>
                          <a:cs typeface="Arial" panose="020B0604020202020204" pitchFamily="34" charset="0"/>
                        </a:rPr>
                        <a:t>, but labels are </a:t>
                      </a:r>
                      <a:r>
                        <a:rPr lang="en-US" b="1">
                          <a:latin typeface="Arial" panose="020B0604020202020204" pitchFamily="34" charset="0"/>
                          <a:cs typeface="Arial" panose="020B0604020202020204" pitchFamily="34" charset="0"/>
                        </a:rPr>
                        <a:t>moderately reliable</a:t>
                      </a:r>
                      <a:endParaRPr lang="en-US">
                        <a:latin typeface="Arial" panose="020B0604020202020204" pitchFamily="34" charset="0"/>
                        <a:cs typeface="Arial" panose="020B0604020202020204" pitchFamily="34" charset="0"/>
                      </a:endParaRPr>
                    </a:p>
                  </a:txBody>
                  <a:tcPr anchor="ctr">
                    <a:lnL>
                      <a:noFill/>
                    </a:lnL>
                    <a:lnR>
                      <a:noFill/>
                    </a:lnR>
                    <a:lnT>
                      <a:noFill/>
                    </a:lnT>
                    <a:lnB>
                      <a:noFill/>
                    </a:lnB>
                  </a:tcPr>
                </a:tc>
                <a:extLst>
                  <a:ext uri="{0D108BD9-81ED-4DB2-BD59-A6C34878D82A}">
                    <a16:rowId xmlns:a16="http://schemas.microsoft.com/office/drawing/2014/main" val="3275995359"/>
                  </a:ext>
                </a:extLst>
              </a:tr>
              <a:tr h="989604">
                <a:tc>
                  <a:txBody>
                    <a:bodyPr/>
                    <a:lstStyle/>
                    <a:p>
                      <a:pPr algn="l"/>
                      <a:r>
                        <a:rPr lang="en-US">
                          <a:latin typeface="Arial" panose="020B0604020202020204" pitchFamily="34" charset="0"/>
                          <a:cs typeface="Arial" panose="020B0604020202020204" pitchFamily="34" charset="0"/>
                        </a:rPr>
                        <a:t>Imbalance handling (binary): </a:t>
                      </a:r>
                      <a:r>
                        <a:rPr lang="en-US" b="1">
                          <a:latin typeface="Arial" panose="020B0604020202020204" pitchFamily="34" charset="0"/>
                          <a:cs typeface="Arial" panose="020B0604020202020204" pitchFamily="34" charset="0"/>
                        </a:rPr>
                        <a:t>Syn100 → Baseline/ADASYN/SMOTE; Syn500 → Baseline/ROSE</a:t>
                      </a:r>
                      <a:endParaRPr lang="en-US">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pPr algn="l"/>
                      <a:r>
                        <a:rPr lang="en-US" dirty="0">
                          <a:latin typeface="Arial" panose="020B0604020202020204" pitchFamily="34" charset="0"/>
                          <a:cs typeface="Arial" panose="020B0604020202020204" pitchFamily="34" charset="0"/>
                        </a:rPr>
                        <a:t>At </a:t>
                      </a:r>
                      <a:r>
                        <a:rPr lang="en-US" b="1" dirty="0">
                          <a:latin typeface="Arial" panose="020B0604020202020204" pitchFamily="34" charset="0"/>
                          <a:cs typeface="Arial" panose="020B0604020202020204" pitchFamily="34" charset="0"/>
                        </a:rPr>
                        <a:t>Recall = 0.98</a:t>
                      </a:r>
                      <a:r>
                        <a:rPr lang="en-US" dirty="0">
                          <a:latin typeface="Arial" panose="020B0604020202020204" pitchFamily="34" charset="0"/>
                          <a:cs typeface="Arial" panose="020B0604020202020204" pitchFamily="34" charset="0"/>
                        </a:rPr>
                        <a:t>, precision can drop to </a:t>
                      </a:r>
                      <a:r>
                        <a:rPr lang="en-US" b="1" dirty="0">
                          <a:latin typeface="Arial" panose="020B0604020202020204" pitchFamily="34" charset="0"/>
                          <a:cs typeface="Arial" panose="020B0604020202020204" pitchFamily="34" charset="0"/>
                        </a:rPr>
                        <a:t>~4–6%</a:t>
                      </a:r>
                      <a:r>
                        <a:rPr lang="en-US" dirty="0">
                          <a:latin typeface="Arial" panose="020B0604020202020204" pitchFamily="34" charset="0"/>
                          <a:cs typeface="Arial" panose="020B0604020202020204" pitchFamily="34" charset="0"/>
                        </a:rPr>
                        <a:t> → needs ranking / filters</a:t>
                      </a:r>
                    </a:p>
                  </a:txBody>
                  <a:tcPr anchor="ctr">
                    <a:lnL>
                      <a:noFill/>
                    </a:lnL>
                    <a:lnR>
                      <a:noFill/>
                    </a:lnR>
                    <a:lnT>
                      <a:noFill/>
                    </a:lnT>
                    <a:lnB>
                      <a:noFill/>
                    </a:lnB>
                  </a:tcPr>
                </a:tc>
                <a:extLst>
                  <a:ext uri="{0D108BD9-81ED-4DB2-BD59-A6C34878D82A}">
                    <a16:rowId xmlns:a16="http://schemas.microsoft.com/office/drawing/2014/main" val="1417388022"/>
                  </a:ext>
                </a:extLst>
              </a:tr>
              <a:tr h="692723">
                <a:tc>
                  <a:txBody>
                    <a:bodyPr/>
                    <a:lstStyle/>
                    <a:p>
                      <a:pPr algn="l"/>
                      <a:r>
                        <a:rPr lang="en-US">
                          <a:latin typeface="Arial" panose="020B0604020202020204" pitchFamily="34" charset="0"/>
                          <a:cs typeface="Arial" panose="020B0604020202020204" pitchFamily="34" charset="0"/>
                        </a:rPr>
                        <a:t>Training &amp; evaluation: </a:t>
                      </a:r>
                      <a:r>
                        <a:rPr lang="en-US" b="1">
                          <a:latin typeface="Arial" panose="020B0604020202020204" pitchFamily="34" charset="0"/>
                          <a:cs typeface="Arial" panose="020B0604020202020204" pitchFamily="34" charset="0"/>
                        </a:rPr>
                        <a:t>Incremental vs Full retrain</a:t>
                      </a:r>
                      <a:r>
                        <a:rPr lang="en-US">
                          <a:latin typeface="Arial" panose="020B0604020202020204" pitchFamily="34" charset="0"/>
                          <a:cs typeface="Arial" panose="020B0604020202020204" pitchFamily="34" charset="0"/>
                        </a:rPr>
                        <a:t>; final binary with </a:t>
                      </a:r>
                      <a:r>
                        <a:rPr lang="en-US" b="1">
                          <a:latin typeface="Arial" panose="020B0604020202020204" pitchFamily="34" charset="0"/>
                          <a:cs typeface="Arial" panose="020B0604020202020204" pitchFamily="34" charset="0"/>
                        </a:rPr>
                        <a:t>OOF + plateau</a:t>
                      </a:r>
                      <a:endParaRPr lang="en-US">
                        <a:latin typeface="Arial" panose="020B0604020202020204" pitchFamily="34" charset="0"/>
                        <a:cs typeface="Arial" panose="020B0604020202020204" pitchFamily="34" charset="0"/>
                      </a:endParaRPr>
                    </a:p>
                  </a:txBody>
                  <a:tcPr anchor="ctr">
                    <a:lnL>
                      <a:noFill/>
                    </a:lnL>
                    <a:lnR>
                      <a:noFill/>
                    </a:lnR>
                    <a:lnT>
                      <a:noFill/>
                    </a:lnT>
                    <a:lnB>
                      <a:noFill/>
                    </a:lnB>
                  </a:tcPr>
                </a:tc>
                <a:tc>
                  <a:txBody>
                    <a:bodyPr/>
                    <a:lstStyle/>
                    <a:p>
                      <a:pPr algn="l"/>
                      <a:r>
                        <a:rPr lang="en-US">
                          <a:latin typeface="Arial" panose="020B0604020202020204" pitchFamily="34" charset="0"/>
                          <a:cs typeface="Arial" panose="020B0604020202020204" pitchFamily="34" charset="0"/>
                        </a:rPr>
                        <a:t>Oversampling + retraining tested; </a:t>
                      </a:r>
                      <a:r>
                        <a:rPr lang="en-US" b="1">
                          <a:latin typeface="Arial" panose="020B0604020202020204" pitchFamily="34" charset="0"/>
                          <a:cs typeface="Arial" panose="020B0604020202020204" pitchFamily="34" charset="0"/>
                        </a:rPr>
                        <a:t>incremental ≈ full retrain</a:t>
                      </a:r>
                      <a:r>
                        <a:rPr lang="en-US">
                          <a:latin typeface="Arial" panose="020B0604020202020204" pitchFamily="34" charset="0"/>
                          <a:cs typeface="Arial" panose="020B0604020202020204" pitchFamily="34" charset="0"/>
                        </a:rPr>
                        <a:t> (similar stability)</a:t>
                      </a:r>
                    </a:p>
                  </a:txBody>
                  <a:tcPr anchor="ctr">
                    <a:lnL>
                      <a:noFill/>
                    </a:lnL>
                    <a:lnR>
                      <a:noFill/>
                    </a:lnR>
                    <a:lnT>
                      <a:noFill/>
                    </a:lnT>
                    <a:lnB>
                      <a:noFill/>
                    </a:lnB>
                  </a:tcPr>
                </a:tc>
                <a:extLst>
                  <a:ext uri="{0D108BD9-81ED-4DB2-BD59-A6C34878D82A}">
                    <a16:rowId xmlns:a16="http://schemas.microsoft.com/office/drawing/2014/main" val="1499303189"/>
                  </a:ext>
                </a:extLst>
              </a:tr>
              <a:tr h="692723">
                <a:tc>
                  <a:txBody>
                    <a:bodyPr/>
                    <a:lstStyle/>
                    <a:p>
                      <a:pPr algn="l"/>
                      <a:r>
                        <a:rPr lang="en-US" b="1" dirty="0">
                          <a:latin typeface="Arial" panose="020B0604020202020204" pitchFamily="34" charset="0"/>
                          <a:cs typeface="Arial" panose="020B0604020202020204" pitchFamily="34" charset="0"/>
                        </a:rPr>
                        <a:t>Total tests = 75 (binary) + 30 (multiclass) = 105</a:t>
                      </a:r>
                    </a:p>
                  </a:txBody>
                  <a:tcPr anchor="ctr">
                    <a:lnL>
                      <a:noFill/>
                    </a:lnL>
                    <a:lnR>
                      <a:noFill/>
                    </a:lnR>
                    <a:lnT>
                      <a:noFill/>
                    </a:lnT>
                    <a:lnB w="28575" cap="flat" cmpd="sng" algn="ctr">
                      <a:solidFill>
                        <a:schemeClr val="accent5"/>
                      </a:solidFill>
                      <a:prstDash val="solid"/>
                      <a:round/>
                      <a:headEnd type="none" w="med" len="med"/>
                      <a:tailEnd type="none" w="med" len="med"/>
                    </a:lnB>
                  </a:tcPr>
                </a:tc>
                <a:tc>
                  <a:txBody>
                    <a:bodyPr/>
                    <a:lstStyle/>
                    <a:p>
                      <a:pPr algn="l"/>
                      <a:r>
                        <a:rPr lang="en-US" dirty="0">
                          <a:latin typeface="Arial" panose="020B0604020202020204" pitchFamily="34" charset="0"/>
                          <a:cs typeface="Arial" panose="020B0604020202020204" pitchFamily="34" charset="0"/>
                        </a:rPr>
                        <a:t>GAN on ~500 real rows: good on “typical” values, weak on </a:t>
                      </a:r>
                      <a:r>
                        <a:rPr lang="en-US" b="1" dirty="0">
                          <a:latin typeface="Arial" panose="020B0604020202020204" pitchFamily="34" charset="0"/>
                          <a:cs typeface="Arial" panose="020B0604020202020204" pitchFamily="34" charset="0"/>
                        </a:rPr>
                        <a:t>heavy tail</a:t>
                      </a:r>
                      <a:endParaRPr lang="en-US" dirty="0">
                        <a:latin typeface="Arial" panose="020B0604020202020204" pitchFamily="34" charset="0"/>
                        <a:cs typeface="Arial" panose="020B0604020202020204" pitchFamily="34" charset="0"/>
                      </a:endParaRPr>
                    </a:p>
                  </a:txBody>
                  <a:tcPr anchor="ctr">
                    <a:lnL>
                      <a:noFill/>
                    </a:lnL>
                    <a:lnR>
                      <a:noFill/>
                    </a:lnR>
                    <a:lnT>
                      <a:noFill/>
                    </a:lnT>
                    <a:lnB w="28575" cap="flat" cmpd="sng" algn="ctr">
                      <a:solidFill>
                        <a:schemeClr val="accent5"/>
                      </a:solidFill>
                      <a:prstDash val="solid"/>
                      <a:round/>
                      <a:headEnd type="none" w="med" len="med"/>
                      <a:tailEnd type="none" w="med" len="med"/>
                    </a:lnB>
                  </a:tcPr>
                </a:tc>
                <a:extLst>
                  <a:ext uri="{0D108BD9-81ED-4DB2-BD59-A6C34878D82A}">
                    <a16:rowId xmlns:a16="http://schemas.microsoft.com/office/drawing/2014/main" val="3438978440"/>
                  </a:ext>
                </a:extLst>
              </a:tr>
            </a:tbl>
          </a:graphicData>
        </a:graphic>
      </p:graphicFrame>
      <p:sp>
        <p:nvSpPr>
          <p:cNvPr id="4" name="Slide Number Placeholder 3">
            <a:extLst>
              <a:ext uri="{FF2B5EF4-FFF2-40B4-BE49-F238E27FC236}">
                <a16:creationId xmlns:a16="http://schemas.microsoft.com/office/drawing/2014/main" id="{C9DCAD00-A455-4A3E-A025-F4282092E3CF}"/>
              </a:ext>
            </a:extLst>
          </p:cNvPr>
          <p:cNvSpPr>
            <a:spLocks noGrp="1"/>
          </p:cNvSpPr>
          <p:nvPr>
            <p:ph type="sldNum" sz="quarter" idx="12"/>
          </p:nvPr>
        </p:nvSpPr>
        <p:spPr/>
        <p:txBody>
          <a:bodyPr/>
          <a:lstStyle/>
          <a:p>
            <a:pPr algn="ctr"/>
            <a:fld id="{1478D195-628D-428E-B98B-35B3E9B486B6}" type="slidenum">
              <a:rPr lang="en-US" smtClean="0"/>
              <a:pPr algn="ctr"/>
              <a:t>17</a:t>
            </a:fld>
            <a:endParaRPr lang="en-US"/>
          </a:p>
        </p:txBody>
      </p:sp>
    </p:spTree>
    <p:extLst>
      <p:ext uri="{BB962C8B-B14F-4D97-AF65-F5344CB8AC3E}">
        <p14:creationId xmlns:p14="http://schemas.microsoft.com/office/powerpoint/2010/main" val="3999285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4BCFEF-025A-4C26-A62C-EA049B2EDBD5}"/>
              </a:ext>
            </a:extLst>
          </p:cNvPr>
          <p:cNvSpPr>
            <a:spLocks noGrp="1"/>
          </p:cNvSpPr>
          <p:nvPr>
            <p:ph type="title"/>
          </p:nvPr>
        </p:nvSpPr>
        <p:spPr>
          <a:xfrm>
            <a:off x="582734" y="2435957"/>
            <a:ext cx="9272465" cy="1986085"/>
          </a:xfrm>
        </p:spPr>
        <p:txBody>
          <a:bodyPr>
            <a:normAutofit fontScale="90000"/>
          </a:bodyPr>
          <a:lstStyle/>
          <a:p>
            <a:pPr>
              <a:lnSpc>
                <a:spcPct val="150000"/>
              </a:lnSpc>
            </a:pPr>
            <a:r>
              <a:rPr lang="en-US" sz="3000" dirty="0"/>
              <a:t>Thank you to </a:t>
            </a:r>
            <a:r>
              <a:rPr lang="en-US" sz="3000" b="1" dirty="0"/>
              <a:t>Dr Sc. Eng. </a:t>
            </a:r>
            <a:r>
              <a:rPr lang="en-US" sz="3000" b="1" dirty="0" err="1"/>
              <a:t>Nadezda</a:t>
            </a:r>
            <a:r>
              <a:rPr lang="en-US" sz="3000" b="1" dirty="0"/>
              <a:t> </a:t>
            </a:r>
            <a:r>
              <a:rPr lang="en-US" sz="3000" b="1" dirty="0" err="1"/>
              <a:t>Spiridovska</a:t>
            </a:r>
            <a:r>
              <a:rPr lang="en-US" sz="3000" b="1" dirty="0"/>
              <a:t> </a:t>
            </a:r>
            <a:r>
              <a:rPr lang="en-US" sz="3000" dirty="0"/>
              <a:t>and </a:t>
            </a:r>
            <a:br>
              <a:rPr lang="en-US" sz="3000" dirty="0"/>
            </a:br>
            <a:r>
              <a:rPr lang="en-US" sz="3000" b="1" dirty="0"/>
              <a:t>Dr Sc. Eng. Jelena </a:t>
            </a:r>
            <a:r>
              <a:rPr lang="en-US" sz="3000" b="1" dirty="0" err="1"/>
              <a:t>Kijonoka</a:t>
            </a:r>
            <a:r>
              <a:rPr lang="en-US" sz="3000" b="1" dirty="0"/>
              <a:t> </a:t>
            </a:r>
            <a:r>
              <a:rPr lang="en-US" sz="3000" dirty="0"/>
              <a:t>for their valuable supervision and advice at every stage of the research</a:t>
            </a:r>
          </a:p>
        </p:txBody>
      </p:sp>
      <p:sp>
        <p:nvSpPr>
          <p:cNvPr id="4" name="Slide Number Placeholder 3">
            <a:extLst>
              <a:ext uri="{FF2B5EF4-FFF2-40B4-BE49-F238E27FC236}">
                <a16:creationId xmlns:a16="http://schemas.microsoft.com/office/drawing/2014/main" id="{3E158C60-7F52-4C83-9B2C-15529575DDFA}"/>
              </a:ext>
            </a:extLst>
          </p:cNvPr>
          <p:cNvSpPr>
            <a:spLocks noGrp="1"/>
          </p:cNvSpPr>
          <p:nvPr>
            <p:ph type="sldNum" sz="quarter" idx="4294967295"/>
          </p:nvPr>
        </p:nvSpPr>
        <p:spPr>
          <a:xfrm>
            <a:off x="11672888" y="6310313"/>
            <a:ext cx="519112" cy="365125"/>
          </a:xfrm>
        </p:spPr>
        <p:txBody>
          <a:bodyPr/>
          <a:lstStyle/>
          <a:p>
            <a:pPr algn="ctr"/>
            <a:fld id="{1478D195-628D-428E-B98B-35B3E9B486B6}" type="slidenum">
              <a:rPr lang="en-US" smtClean="0"/>
              <a:pPr algn="ctr"/>
              <a:t>18</a:t>
            </a:fld>
            <a:endParaRPr lang="en-US"/>
          </a:p>
        </p:txBody>
      </p:sp>
      <p:sp>
        <p:nvSpPr>
          <p:cNvPr id="7" name="Title 1">
            <a:extLst>
              <a:ext uri="{FF2B5EF4-FFF2-40B4-BE49-F238E27FC236}">
                <a16:creationId xmlns:a16="http://schemas.microsoft.com/office/drawing/2014/main" id="{72C3677D-4AED-419F-A682-D99A98A9C219}"/>
              </a:ext>
            </a:extLst>
          </p:cNvPr>
          <p:cNvSpPr txBox="1">
            <a:spLocks/>
          </p:cNvSpPr>
          <p:nvPr/>
        </p:nvSpPr>
        <p:spPr>
          <a:xfrm>
            <a:off x="293255" y="101599"/>
            <a:ext cx="10005290" cy="1018073"/>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800" kern="1200">
                <a:solidFill>
                  <a:srgbClr val="144774"/>
                </a:solidFill>
                <a:latin typeface="Arial" panose="020B0604020202020204" pitchFamily="34" charset="0"/>
                <a:ea typeface="+mj-ea"/>
                <a:cs typeface="Arial" panose="020B0604020202020204" pitchFamily="34" charset="0"/>
              </a:defRPr>
            </a:lvl1pPr>
          </a:lstStyle>
          <a:p>
            <a:r>
              <a:rPr lang="en-US" dirty="0"/>
              <a:t>Acknowledgments</a:t>
            </a:r>
          </a:p>
        </p:txBody>
      </p:sp>
    </p:spTree>
    <p:extLst>
      <p:ext uri="{BB962C8B-B14F-4D97-AF65-F5344CB8AC3E}">
        <p14:creationId xmlns:p14="http://schemas.microsoft.com/office/powerpoint/2010/main" val="1129104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17ACE7-6111-4E78-ADFB-FC37545CCA65}"/>
              </a:ext>
            </a:extLst>
          </p:cNvPr>
          <p:cNvSpPr>
            <a:spLocks noGrp="1"/>
          </p:cNvSpPr>
          <p:nvPr>
            <p:ph type="title"/>
          </p:nvPr>
        </p:nvSpPr>
        <p:spPr/>
        <p:txBody>
          <a:bodyPr/>
          <a:lstStyle/>
          <a:p>
            <a:r>
              <a:rPr lang="en-US" dirty="0"/>
              <a:t>Thank you</a:t>
            </a:r>
            <a:r>
              <a:rPr lang="ru-RU" dirty="0"/>
              <a:t> </a:t>
            </a:r>
            <a:r>
              <a:rPr lang="en-US" dirty="0"/>
              <a:t>for your attention</a:t>
            </a:r>
          </a:p>
        </p:txBody>
      </p:sp>
      <p:sp>
        <p:nvSpPr>
          <p:cNvPr id="6" name="Text Placeholder 5">
            <a:extLst>
              <a:ext uri="{FF2B5EF4-FFF2-40B4-BE49-F238E27FC236}">
                <a16:creationId xmlns:a16="http://schemas.microsoft.com/office/drawing/2014/main" id="{4DC5F29D-652C-4BFC-88C9-A7D58607D7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158C60-7F52-4C83-9B2C-15529575DDFA}"/>
              </a:ext>
            </a:extLst>
          </p:cNvPr>
          <p:cNvSpPr>
            <a:spLocks noGrp="1"/>
          </p:cNvSpPr>
          <p:nvPr>
            <p:ph type="sldNum" sz="quarter" idx="4294967295"/>
          </p:nvPr>
        </p:nvSpPr>
        <p:spPr>
          <a:xfrm>
            <a:off x="11672888" y="6310313"/>
            <a:ext cx="519112" cy="365125"/>
          </a:xfrm>
        </p:spPr>
        <p:txBody>
          <a:bodyPr/>
          <a:lstStyle/>
          <a:p>
            <a:pPr algn="ctr"/>
            <a:fld id="{1478D195-628D-428E-B98B-35B3E9B486B6}" type="slidenum">
              <a:rPr lang="en-US" smtClean="0"/>
              <a:pPr algn="ctr"/>
              <a:t>19</a:t>
            </a:fld>
            <a:endParaRPr lang="en-US"/>
          </a:p>
        </p:txBody>
      </p:sp>
    </p:spTree>
    <p:extLst>
      <p:ext uri="{BB962C8B-B14F-4D97-AF65-F5344CB8AC3E}">
        <p14:creationId xmlns:p14="http://schemas.microsoft.com/office/powerpoint/2010/main" val="1613611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1431-2866-4691-94F8-FDC860E98401}"/>
              </a:ext>
            </a:extLst>
          </p:cNvPr>
          <p:cNvSpPr>
            <a:spLocks noGrp="1"/>
          </p:cNvSpPr>
          <p:nvPr>
            <p:ph type="title"/>
          </p:nvPr>
        </p:nvSpPr>
        <p:spPr/>
        <p:txBody>
          <a:bodyPr>
            <a:normAutofit/>
          </a:bodyPr>
          <a:lstStyle/>
          <a:p>
            <a:r>
              <a:rPr lang="en-US" dirty="0"/>
              <a:t>Framework</a:t>
            </a:r>
            <a:r>
              <a:rPr lang="ru-RU" dirty="0"/>
              <a:t> Workflow</a:t>
            </a:r>
          </a:p>
        </p:txBody>
      </p:sp>
      <p:graphicFrame>
        <p:nvGraphicFramePr>
          <p:cNvPr id="5" name="Content Placeholder 4">
            <a:extLst>
              <a:ext uri="{FF2B5EF4-FFF2-40B4-BE49-F238E27FC236}">
                <a16:creationId xmlns:a16="http://schemas.microsoft.com/office/drawing/2014/main" id="{251844A3-9179-4FAE-B77D-2A34FF21A194}"/>
              </a:ext>
            </a:extLst>
          </p:cNvPr>
          <p:cNvGraphicFramePr>
            <a:graphicFrameLocks noGrp="1"/>
          </p:cNvGraphicFramePr>
          <p:nvPr>
            <p:ph idx="1"/>
            <p:extLst>
              <p:ext uri="{D42A27DB-BD31-4B8C-83A1-F6EECF244321}">
                <p14:modId xmlns:p14="http://schemas.microsoft.com/office/powerpoint/2010/main" val="2679044397"/>
              </p:ext>
            </p:extLst>
          </p:nvPr>
        </p:nvGraphicFramePr>
        <p:xfrm>
          <a:off x="876300" y="1143000"/>
          <a:ext cx="10515600" cy="51673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D182D9A5-910F-4B56-B29D-3AFD6EADD209}"/>
              </a:ext>
            </a:extLst>
          </p:cNvPr>
          <p:cNvSpPr>
            <a:spLocks noGrp="1"/>
          </p:cNvSpPr>
          <p:nvPr>
            <p:ph type="sldNum" sz="quarter" idx="12"/>
          </p:nvPr>
        </p:nvSpPr>
        <p:spPr/>
        <p:txBody>
          <a:bodyPr/>
          <a:lstStyle/>
          <a:p>
            <a:pPr algn="ctr"/>
            <a:fld id="{1478D195-628D-428E-B98B-35B3E9B486B6}" type="slidenum">
              <a:rPr lang="en-US" smtClean="0"/>
              <a:pPr algn="ctr"/>
              <a:t>20</a:t>
            </a:fld>
            <a:endParaRPr lang="en-US"/>
          </a:p>
        </p:txBody>
      </p:sp>
    </p:spTree>
    <p:extLst>
      <p:ext uri="{BB962C8B-B14F-4D97-AF65-F5344CB8AC3E}">
        <p14:creationId xmlns:p14="http://schemas.microsoft.com/office/powerpoint/2010/main" val="1484562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61153-9242-4B24-B052-5C69BCFC490C}"/>
              </a:ext>
            </a:extLst>
          </p:cNvPr>
          <p:cNvSpPr>
            <a:spLocks noGrp="1"/>
          </p:cNvSpPr>
          <p:nvPr>
            <p:ph type="title"/>
          </p:nvPr>
        </p:nvSpPr>
        <p:spPr/>
        <p:txBody>
          <a:bodyPr/>
          <a:lstStyle/>
          <a:p>
            <a:r>
              <a:rPr lang="en-US" dirty="0"/>
              <a:t>Model Selection with H2O AutoML</a:t>
            </a:r>
          </a:p>
        </p:txBody>
      </p:sp>
      <p:graphicFrame>
        <p:nvGraphicFramePr>
          <p:cNvPr id="8" name="Content Placeholder 7">
            <a:extLst>
              <a:ext uri="{FF2B5EF4-FFF2-40B4-BE49-F238E27FC236}">
                <a16:creationId xmlns:a16="http://schemas.microsoft.com/office/drawing/2014/main" id="{0643E255-4922-451E-A057-4AA90881D22D}"/>
              </a:ext>
            </a:extLst>
          </p:cNvPr>
          <p:cNvGraphicFramePr>
            <a:graphicFrameLocks noGrp="1"/>
          </p:cNvGraphicFramePr>
          <p:nvPr>
            <p:ph idx="1"/>
            <p:extLst>
              <p:ext uri="{D42A27DB-BD31-4B8C-83A1-F6EECF244321}">
                <p14:modId xmlns:p14="http://schemas.microsoft.com/office/powerpoint/2010/main" val="2174776760"/>
              </p:ext>
            </p:extLst>
          </p:nvPr>
        </p:nvGraphicFramePr>
        <p:xfrm>
          <a:off x="812571" y="5050300"/>
          <a:ext cx="9990582" cy="1754892"/>
        </p:xfrm>
        <a:graphic>
          <a:graphicData uri="http://schemas.openxmlformats.org/drawingml/2006/table">
            <a:tbl>
              <a:tblPr firstRow="1" firstCol="1" bandRow="1">
                <a:tableStyleId>{5FD0F851-EC5A-4D38-B0AD-8093EC10F338}</a:tableStyleId>
              </a:tblPr>
              <a:tblGrid>
                <a:gridCol w="1316736">
                  <a:extLst>
                    <a:ext uri="{9D8B030D-6E8A-4147-A177-3AD203B41FA5}">
                      <a16:colId xmlns:a16="http://schemas.microsoft.com/office/drawing/2014/main" val="215139794"/>
                    </a:ext>
                  </a:extLst>
                </a:gridCol>
                <a:gridCol w="1556385">
                  <a:extLst>
                    <a:ext uri="{9D8B030D-6E8A-4147-A177-3AD203B41FA5}">
                      <a16:colId xmlns:a16="http://schemas.microsoft.com/office/drawing/2014/main" val="314513015"/>
                    </a:ext>
                  </a:extLst>
                </a:gridCol>
                <a:gridCol w="1317625">
                  <a:extLst>
                    <a:ext uri="{9D8B030D-6E8A-4147-A177-3AD203B41FA5}">
                      <a16:colId xmlns:a16="http://schemas.microsoft.com/office/drawing/2014/main" val="1864942356"/>
                    </a:ext>
                  </a:extLst>
                </a:gridCol>
                <a:gridCol w="1317625">
                  <a:extLst>
                    <a:ext uri="{9D8B030D-6E8A-4147-A177-3AD203B41FA5}">
                      <a16:colId xmlns:a16="http://schemas.microsoft.com/office/drawing/2014/main" val="102594715"/>
                    </a:ext>
                  </a:extLst>
                </a:gridCol>
                <a:gridCol w="1317625">
                  <a:extLst>
                    <a:ext uri="{9D8B030D-6E8A-4147-A177-3AD203B41FA5}">
                      <a16:colId xmlns:a16="http://schemas.microsoft.com/office/drawing/2014/main" val="1870920482"/>
                    </a:ext>
                  </a:extLst>
                </a:gridCol>
                <a:gridCol w="1847850">
                  <a:extLst>
                    <a:ext uri="{9D8B030D-6E8A-4147-A177-3AD203B41FA5}">
                      <a16:colId xmlns:a16="http://schemas.microsoft.com/office/drawing/2014/main" val="1797323595"/>
                    </a:ext>
                  </a:extLst>
                </a:gridCol>
                <a:gridCol w="1316736">
                  <a:extLst>
                    <a:ext uri="{9D8B030D-6E8A-4147-A177-3AD203B41FA5}">
                      <a16:colId xmlns:a16="http://schemas.microsoft.com/office/drawing/2014/main" val="3981298317"/>
                    </a:ext>
                  </a:extLst>
                </a:gridCol>
              </a:tblGrid>
              <a:tr h="325822">
                <a:tc>
                  <a:txBody>
                    <a:bodyPr/>
                    <a:lstStyle/>
                    <a:p>
                      <a:pPr algn="l">
                        <a:lnSpc>
                          <a:spcPct val="150000"/>
                        </a:lnSpc>
                      </a:pPr>
                      <a:r>
                        <a:rPr lang="en-US" sz="1400" dirty="0">
                          <a:effectLst/>
                        </a:rPr>
                        <a:t>Data Package</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Leader algorithm</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MSE</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RMSE</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a:effectLst/>
                        </a:rPr>
                        <a:t>LogLoss</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Mean per-class error</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HitRatio</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11913977"/>
                  </a:ext>
                </a:extLst>
              </a:tr>
              <a:tr h="252235">
                <a:tc>
                  <a:txBody>
                    <a:bodyPr/>
                    <a:lstStyle/>
                    <a:p>
                      <a:pPr algn="l">
                        <a:lnSpc>
                          <a:spcPct val="150000"/>
                        </a:lnSpc>
                      </a:pPr>
                      <a:r>
                        <a:rPr lang="en-US" sz="1400" dirty="0">
                          <a:effectLst/>
                        </a:rPr>
                        <a:t>1</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b="1" dirty="0">
                          <a:effectLst/>
                        </a:rPr>
                        <a:t>XGB</a:t>
                      </a: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0.000089</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0.009451</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0.000785</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a:effectLst/>
                        </a:rPr>
                        <a:t>0.000000</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1.000000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66338425"/>
                  </a:ext>
                </a:extLst>
              </a:tr>
              <a:tr h="252235">
                <a:tc>
                  <a:txBody>
                    <a:bodyPr/>
                    <a:lstStyle/>
                    <a:p>
                      <a:pPr algn="l">
                        <a:lnSpc>
                          <a:spcPct val="150000"/>
                        </a:lnSpc>
                      </a:pPr>
                      <a:r>
                        <a:rPr lang="en-US" sz="1400" dirty="0">
                          <a:effectLst/>
                        </a:rPr>
                        <a:t>2</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b="1" dirty="0">
                          <a:effectLst/>
                        </a:rPr>
                        <a:t>GBM</a:t>
                      </a: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200" dirty="0">
                          <a:effectLst/>
                          <a:latin typeface="Arial" panose="020B0604020202020204" pitchFamily="34" charset="0"/>
                          <a:cs typeface="Arial" panose="020B0604020202020204" pitchFamily="34" charset="0"/>
                        </a:rPr>
                        <a:t>0.001659</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l">
                        <a:lnSpc>
                          <a:spcPct val="150000"/>
                        </a:lnSpc>
                      </a:pPr>
                      <a:r>
                        <a:rPr lang="en-US" sz="1400" dirty="0">
                          <a:effectLst/>
                        </a:rPr>
                        <a:t>0.040734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0.024234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0.266667</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0.998006</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620528081"/>
                  </a:ext>
                </a:extLst>
              </a:tr>
              <a:tr h="252235">
                <a:tc>
                  <a:txBody>
                    <a:bodyPr/>
                    <a:lstStyle/>
                    <a:p>
                      <a:pPr algn="l">
                        <a:lnSpc>
                          <a:spcPct val="150000"/>
                        </a:lnSpc>
                      </a:pPr>
                      <a:r>
                        <a:rPr lang="en-US" sz="1400" dirty="0">
                          <a:effectLst/>
                        </a:rPr>
                        <a:t>3</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b="1" dirty="0">
                          <a:effectLst/>
                        </a:rPr>
                        <a:t>GBM</a:t>
                      </a: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0.300184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a:effectLst/>
                        </a:rPr>
                        <a:t>0.547890</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0.811208</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0.150000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0.998004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98014550"/>
                  </a:ext>
                </a:extLst>
              </a:tr>
              <a:tr h="252235">
                <a:tc>
                  <a:txBody>
                    <a:bodyPr/>
                    <a:lstStyle/>
                    <a:p>
                      <a:pPr algn="l">
                        <a:lnSpc>
                          <a:spcPct val="150000"/>
                        </a:lnSpc>
                      </a:pPr>
                      <a:r>
                        <a:rPr lang="en-US" sz="1400">
                          <a:effectLst/>
                        </a:rPr>
                        <a:t>4</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b="1" dirty="0">
                          <a:effectLst/>
                        </a:rPr>
                        <a:t>GBM</a:t>
                      </a: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0.005220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0.072252</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0.068447</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0.076923</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0.998504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081310302"/>
                  </a:ext>
                </a:extLst>
              </a:tr>
              <a:tr h="252235">
                <a:tc>
                  <a:txBody>
                    <a:bodyPr/>
                    <a:lstStyle/>
                    <a:p>
                      <a:pPr algn="l">
                        <a:lnSpc>
                          <a:spcPct val="150000"/>
                        </a:lnSpc>
                      </a:pPr>
                      <a:r>
                        <a:rPr lang="en-US" sz="1400">
                          <a:effectLst/>
                        </a:rPr>
                        <a:t>5</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b="1" dirty="0">
                          <a:effectLst/>
                        </a:rPr>
                        <a:t>XGB</a:t>
                      </a: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a:effectLst/>
                        </a:rPr>
                        <a:t>0.001907</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a:effectLst/>
                        </a:rPr>
                        <a:t>0.043664</a:t>
                      </a:r>
                      <a:endParaRPr lang="en-US"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0.022020</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0.103448</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l">
                        <a:lnSpc>
                          <a:spcPct val="150000"/>
                        </a:lnSpc>
                      </a:pPr>
                      <a:r>
                        <a:rPr lang="en-US" sz="1400" dirty="0">
                          <a:effectLst/>
                        </a:rPr>
                        <a:t>0.998504</a:t>
                      </a:r>
                      <a:endParaRPr lang="en-US"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00058741"/>
                  </a:ext>
                </a:extLst>
              </a:tr>
            </a:tbl>
          </a:graphicData>
        </a:graphic>
      </p:graphicFrame>
      <p:sp>
        <p:nvSpPr>
          <p:cNvPr id="4" name="Slide Number Placeholder 3">
            <a:extLst>
              <a:ext uri="{FF2B5EF4-FFF2-40B4-BE49-F238E27FC236}">
                <a16:creationId xmlns:a16="http://schemas.microsoft.com/office/drawing/2014/main" id="{1E2D4529-2350-4C0C-842C-3721090FC8DE}"/>
              </a:ext>
            </a:extLst>
          </p:cNvPr>
          <p:cNvSpPr>
            <a:spLocks noGrp="1"/>
          </p:cNvSpPr>
          <p:nvPr>
            <p:ph type="sldNum" sz="quarter" idx="12"/>
          </p:nvPr>
        </p:nvSpPr>
        <p:spPr/>
        <p:txBody>
          <a:bodyPr/>
          <a:lstStyle/>
          <a:p>
            <a:pPr algn="ctr"/>
            <a:fld id="{1478D195-628D-428E-B98B-35B3E9B486B6}" type="slidenum">
              <a:rPr lang="en-US" smtClean="0"/>
              <a:pPr algn="ctr"/>
              <a:t>21</a:t>
            </a:fld>
            <a:endParaRPr lang="en-US"/>
          </a:p>
        </p:txBody>
      </p:sp>
      <p:pic>
        <p:nvPicPr>
          <p:cNvPr id="9" name="Picture 8">
            <a:extLst>
              <a:ext uri="{FF2B5EF4-FFF2-40B4-BE49-F238E27FC236}">
                <a16:creationId xmlns:a16="http://schemas.microsoft.com/office/drawing/2014/main" id="{08693D8F-2F62-410C-A935-16638805DE2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93255" y="814604"/>
            <a:ext cx="5283835" cy="4159250"/>
          </a:xfrm>
          <a:prstGeom prst="rect">
            <a:avLst/>
          </a:prstGeom>
          <a:noFill/>
          <a:ln>
            <a:noFill/>
          </a:ln>
        </p:spPr>
      </p:pic>
      <p:pic>
        <p:nvPicPr>
          <p:cNvPr id="11" name="Picture 10">
            <a:extLst>
              <a:ext uri="{FF2B5EF4-FFF2-40B4-BE49-F238E27FC236}">
                <a16:creationId xmlns:a16="http://schemas.microsoft.com/office/drawing/2014/main" id="{9CA45E86-B0E8-4289-AF4E-A3466699C700}"/>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5729490" y="930254"/>
            <a:ext cx="5267960" cy="4159250"/>
          </a:xfrm>
          <a:prstGeom prst="rect">
            <a:avLst/>
          </a:prstGeom>
          <a:noFill/>
          <a:ln>
            <a:noFill/>
          </a:ln>
        </p:spPr>
      </p:pic>
    </p:spTree>
    <p:extLst>
      <p:ext uri="{BB962C8B-B14F-4D97-AF65-F5344CB8AC3E}">
        <p14:creationId xmlns:p14="http://schemas.microsoft.com/office/powerpoint/2010/main" val="19382451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0E646-B124-492B-A7EA-74077D1A5488}"/>
              </a:ext>
            </a:extLst>
          </p:cNvPr>
          <p:cNvSpPr>
            <a:spLocks noGrp="1"/>
          </p:cNvSpPr>
          <p:nvPr>
            <p:ph type="title"/>
          </p:nvPr>
        </p:nvSpPr>
        <p:spPr/>
        <p:txBody>
          <a:bodyPr/>
          <a:lstStyle/>
          <a:p>
            <a:r>
              <a:rPr lang="en-US" dirty="0"/>
              <a:t>Binary model Syn100</a:t>
            </a:r>
          </a:p>
        </p:txBody>
      </p:sp>
      <p:graphicFrame>
        <p:nvGraphicFramePr>
          <p:cNvPr id="5" name="Content Placeholder 4">
            <a:extLst>
              <a:ext uri="{FF2B5EF4-FFF2-40B4-BE49-F238E27FC236}">
                <a16:creationId xmlns:a16="http://schemas.microsoft.com/office/drawing/2014/main" id="{27DB314D-09D3-4FE0-9AAB-7F98336463E3}"/>
              </a:ext>
            </a:extLst>
          </p:cNvPr>
          <p:cNvGraphicFramePr>
            <a:graphicFrameLocks noGrp="1"/>
          </p:cNvGraphicFramePr>
          <p:nvPr>
            <p:ph idx="1"/>
            <p:extLst>
              <p:ext uri="{D42A27DB-BD31-4B8C-83A1-F6EECF244321}">
                <p14:modId xmlns:p14="http://schemas.microsoft.com/office/powerpoint/2010/main" val="3761722530"/>
              </p:ext>
            </p:extLst>
          </p:nvPr>
        </p:nvGraphicFramePr>
        <p:xfrm>
          <a:off x="682414" y="946721"/>
          <a:ext cx="10953774" cy="5363591"/>
        </p:xfrm>
        <a:graphic>
          <a:graphicData uri="http://schemas.openxmlformats.org/drawingml/2006/table">
            <a:tbl>
              <a:tblPr firstRow="1" firstCol="1" bandRow="1">
                <a:tableStyleId>{5FD0F851-EC5A-4D38-B0AD-8093EC10F338}</a:tableStyleId>
              </a:tblPr>
              <a:tblGrid>
                <a:gridCol w="2281913">
                  <a:extLst>
                    <a:ext uri="{9D8B030D-6E8A-4147-A177-3AD203B41FA5}">
                      <a16:colId xmlns:a16="http://schemas.microsoft.com/office/drawing/2014/main" val="4111162678"/>
                    </a:ext>
                  </a:extLst>
                </a:gridCol>
                <a:gridCol w="1627824">
                  <a:extLst>
                    <a:ext uri="{9D8B030D-6E8A-4147-A177-3AD203B41FA5}">
                      <a16:colId xmlns:a16="http://schemas.microsoft.com/office/drawing/2014/main" val="2341294195"/>
                    </a:ext>
                  </a:extLst>
                </a:gridCol>
                <a:gridCol w="1402888">
                  <a:extLst>
                    <a:ext uri="{9D8B030D-6E8A-4147-A177-3AD203B41FA5}">
                      <a16:colId xmlns:a16="http://schemas.microsoft.com/office/drawing/2014/main" val="1863855144"/>
                    </a:ext>
                  </a:extLst>
                </a:gridCol>
                <a:gridCol w="2139848">
                  <a:extLst>
                    <a:ext uri="{9D8B030D-6E8A-4147-A177-3AD203B41FA5}">
                      <a16:colId xmlns:a16="http://schemas.microsoft.com/office/drawing/2014/main" val="3362940126"/>
                    </a:ext>
                  </a:extLst>
                </a:gridCol>
                <a:gridCol w="1811323">
                  <a:extLst>
                    <a:ext uri="{9D8B030D-6E8A-4147-A177-3AD203B41FA5}">
                      <a16:colId xmlns:a16="http://schemas.microsoft.com/office/drawing/2014/main" val="1434329362"/>
                    </a:ext>
                  </a:extLst>
                </a:gridCol>
                <a:gridCol w="1689978">
                  <a:extLst>
                    <a:ext uri="{9D8B030D-6E8A-4147-A177-3AD203B41FA5}">
                      <a16:colId xmlns:a16="http://schemas.microsoft.com/office/drawing/2014/main" val="1632167945"/>
                    </a:ext>
                  </a:extLst>
                </a:gridCol>
              </a:tblGrid>
              <a:tr h="164148">
                <a:tc>
                  <a:txBody>
                    <a:bodyPr/>
                    <a:lstStyle/>
                    <a:p>
                      <a:pPr algn="l">
                        <a:lnSpc>
                          <a:spcPct val="115000"/>
                        </a:lnSpc>
                        <a:spcAft>
                          <a:spcPts val="1000"/>
                        </a:spcAft>
                      </a:pPr>
                      <a:r>
                        <a:rPr lang="lv-LV" sz="1800" dirty="0">
                          <a:effectLst/>
                          <a:latin typeface="Arial" panose="020B0604020202020204" pitchFamily="34" charset="0"/>
                          <a:cs typeface="Arial" panose="020B0604020202020204" pitchFamily="34" charset="0"/>
                        </a:rPr>
                        <a:t>Mode</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l">
                        <a:lnSpc>
                          <a:spcPct val="115000"/>
                        </a:lnSpc>
                        <a:spcAft>
                          <a:spcPts val="1000"/>
                        </a:spcAft>
                      </a:pPr>
                      <a:r>
                        <a:rPr lang="lv-LV" sz="1800" dirty="0">
                          <a:effectLst/>
                          <a:latin typeface="Arial" panose="020B0604020202020204" pitchFamily="34" charset="0"/>
                          <a:cs typeface="Arial" panose="020B0604020202020204" pitchFamily="34" charset="0"/>
                        </a:rPr>
                        <a:t>Variant</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l">
                        <a:lnSpc>
                          <a:spcPct val="115000"/>
                        </a:lnSpc>
                        <a:spcAft>
                          <a:spcPts val="1000"/>
                        </a:spcAft>
                      </a:pPr>
                      <a:r>
                        <a:rPr lang="lv-LV" sz="1800" dirty="0" err="1">
                          <a:effectLst/>
                          <a:latin typeface="Arial" panose="020B0604020202020204" pitchFamily="34" charset="0"/>
                          <a:cs typeface="Arial" panose="020B0604020202020204" pitchFamily="34" charset="0"/>
                        </a:rPr>
                        <a:t>Model</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l">
                        <a:lnSpc>
                          <a:spcPct val="115000"/>
                        </a:lnSpc>
                        <a:spcAft>
                          <a:spcPts val="1000"/>
                        </a:spcAft>
                      </a:pPr>
                      <a:r>
                        <a:rPr lang="lv-LV" sz="1800" dirty="0">
                          <a:effectLst/>
                          <a:latin typeface="Arial" panose="020B0604020202020204" pitchFamily="34" charset="0"/>
                          <a:cs typeface="Arial" panose="020B0604020202020204" pitchFamily="34" charset="0"/>
                        </a:rPr>
                        <a:t>ROC-AUC</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l">
                        <a:lnSpc>
                          <a:spcPct val="115000"/>
                        </a:lnSpc>
                        <a:spcAft>
                          <a:spcPts val="1000"/>
                        </a:spcAft>
                      </a:pPr>
                      <a:r>
                        <a:rPr lang="lv-LV" sz="1800" dirty="0">
                          <a:effectLst/>
                          <a:latin typeface="Arial" panose="020B0604020202020204" pitchFamily="34" charset="0"/>
                          <a:cs typeface="Arial" panose="020B0604020202020204" pitchFamily="34" charset="0"/>
                        </a:rPr>
                        <a:t>PR-AUC</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l">
                        <a:lnSpc>
                          <a:spcPct val="115000"/>
                        </a:lnSpc>
                        <a:spcAft>
                          <a:spcPts val="1000"/>
                        </a:spcAft>
                      </a:pPr>
                      <a:r>
                        <a:rPr lang="lv-LV" sz="1800" dirty="0">
                          <a:effectLst/>
                          <a:latin typeface="Arial" panose="020B0604020202020204" pitchFamily="34" charset="0"/>
                          <a:cs typeface="Arial" panose="020B0604020202020204" pitchFamily="34" charset="0"/>
                        </a:rPr>
                        <a:t>FP/1000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420449036"/>
                  </a:ext>
                </a:extLst>
              </a:tr>
              <a:tr h="164148">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ADASYN</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GBM</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0.9920</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0.9196</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66.8317</a:t>
                      </a:r>
                    </a:p>
                  </a:txBody>
                  <a:tcPr marL="7620" marR="7620" marT="7620" marB="0" anchor="b">
                    <a:solidFill>
                      <a:schemeClr val="bg1"/>
                    </a:solidFill>
                  </a:tcPr>
                </a:tc>
                <a:extLst>
                  <a:ext uri="{0D108BD9-81ED-4DB2-BD59-A6C34878D82A}">
                    <a16:rowId xmlns:a16="http://schemas.microsoft.com/office/drawing/2014/main" val="1098922412"/>
                  </a:ext>
                </a:extLst>
              </a:tr>
              <a:tr h="164148">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Baseline</a:t>
                      </a:r>
                    </a:p>
                  </a:txBody>
                  <a:tcPr marL="7620" marR="7620" marT="7620" marB="0" anchor="b">
                    <a:solidFill>
                      <a:schemeClr val="accent3">
                        <a:lumMod val="20000"/>
                        <a:lumOff val="80000"/>
                      </a:schemeClr>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GBM</a:t>
                      </a:r>
                    </a:p>
                  </a:txBody>
                  <a:tcPr marL="7620" marR="7620" marT="7620" marB="0" anchor="b">
                    <a:solidFill>
                      <a:schemeClr val="accent3">
                        <a:lumMod val="20000"/>
                        <a:lumOff val="80000"/>
                      </a:schemeClr>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0.9764</a:t>
                      </a:r>
                    </a:p>
                  </a:txBody>
                  <a:tcPr marL="7620" marR="7620" marT="7620" marB="0" anchor="b">
                    <a:solidFill>
                      <a:schemeClr val="accent3">
                        <a:lumMod val="20000"/>
                        <a:lumOff val="80000"/>
                      </a:schemeClr>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0.9192</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251.2376</a:t>
                      </a:r>
                    </a:p>
                  </a:txBody>
                  <a:tcPr marL="7620" marR="7620" marT="7620" marB="0" anchor="b">
                    <a:solidFill>
                      <a:schemeClr val="accent3">
                        <a:lumMod val="20000"/>
                        <a:lumOff val="80000"/>
                      </a:schemeClr>
                    </a:solidFill>
                  </a:tcPr>
                </a:tc>
                <a:extLst>
                  <a:ext uri="{0D108BD9-81ED-4DB2-BD59-A6C34878D82A}">
                    <a16:rowId xmlns:a16="http://schemas.microsoft.com/office/drawing/2014/main" val="3951530621"/>
                  </a:ext>
                </a:extLst>
              </a:tr>
              <a:tr h="164148">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SMOTE</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GBM</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0.9914</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0.9242</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67.3267</a:t>
                      </a:r>
                    </a:p>
                  </a:txBody>
                  <a:tcPr marL="7620" marR="7620" marT="7620" marB="0" anchor="b">
                    <a:solidFill>
                      <a:schemeClr val="accent5">
                        <a:lumMod val="20000"/>
                        <a:lumOff val="80000"/>
                      </a:schemeClr>
                    </a:solidFill>
                  </a:tcPr>
                </a:tc>
                <a:extLst>
                  <a:ext uri="{0D108BD9-81ED-4DB2-BD59-A6C34878D82A}">
                    <a16:rowId xmlns:a16="http://schemas.microsoft.com/office/drawing/2014/main" val="101222853"/>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ADASYN</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GBM</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0.9803</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0.6701</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94.3069</a:t>
                      </a:r>
                    </a:p>
                  </a:txBody>
                  <a:tcPr marL="7620" marR="7620" marT="7620" marB="0" anchor="b">
                    <a:solidFill>
                      <a:schemeClr val="bg1"/>
                    </a:solidFill>
                  </a:tcPr>
                </a:tc>
                <a:extLst>
                  <a:ext uri="{0D108BD9-81ED-4DB2-BD59-A6C34878D82A}">
                    <a16:rowId xmlns:a16="http://schemas.microsoft.com/office/drawing/2014/main" val="4164010582"/>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Baseline</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GBM</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0.9728</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0.8487</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257.4257</a:t>
                      </a:r>
                    </a:p>
                  </a:txBody>
                  <a:tcPr marL="7620" marR="7620" marT="7620" marB="0" anchor="b">
                    <a:solidFill>
                      <a:schemeClr val="bg1"/>
                    </a:solidFill>
                  </a:tcPr>
                </a:tc>
                <a:extLst>
                  <a:ext uri="{0D108BD9-81ED-4DB2-BD59-A6C34878D82A}">
                    <a16:rowId xmlns:a16="http://schemas.microsoft.com/office/drawing/2014/main" val="906299343"/>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SMOTE</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GBM</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0.9854</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0.7815</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91.9554</a:t>
                      </a:r>
                    </a:p>
                  </a:txBody>
                  <a:tcPr marL="7620" marR="7620" marT="7620" marB="0" anchor="b">
                    <a:solidFill>
                      <a:schemeClr val="bg1"/>
                    </a:solidFill>
                  </a:tcPr>
                </a:tc>
                <a:extLst>
                  <a:ext uri="{0D108BD9-81ED-4DB2-BD59-A6C34878D82A}">
                    <a16:rowId xmlns:a16="http://schemas.microsoft.com/office/drawing/2014/main" val="3238319177"/>
                  </a:ext>
                </a:extLst>
              </a:tr>
              <a:tr h="164148">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ADASYN</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RF</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0.9960</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0.9023</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24.2574</a:t>
                      </a:r>
                    </a:p>
                  </a:txBody>
                  <a:tcPr marL="7620" marR="7620" marT="7620" marB="0" anchor="b">
                    <a:solidFill>
                      <a:schemeClr val="bg1"/>
                    </a:solidFill>
                  </a:tcPr>
                </a:tc>
                <a:extLst>
                  <a:ext uri="{0D108BD9-81ED-4DB2-BD59-A6C34878D82A}">
                    <a16:rowId xmlns:a16="http://schemas.microsoft.com/office/drawing/2014/main" val="1172157699"/>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accent3">
                        <a:lumMod val="20000"/>
                        <a:lumOff val="80000"/>
                      </a:schemeClr>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Baseline</a:t>
                      </a:r>
                    </a:p>
                  </a:txBody>
                  <a:tcPr marL="7620" marR="7620" marT="7620" marB="0" anchor="b">
                    <a:solidFill>
                      <a:schemeClr val="accent3">
                        <a:lumMod val="20000"/>
                        <a:lumOff val="80000"/>
                      </a:schemeClr>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RF</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0.9975</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0.9685</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26.3614</a:t>
                      </a:r>
                    </a:p>
                  </a:txBody>
                  <a:tcPr marL="7620" marR="7620" marT="7620" marB="0" anchor="b">
                    <a:solidFill>
                      <a:schemeClr val="accent3">
                        <a:lumMod val="20000"/>
                        <a:lumOff val="80000"/>
                      </a:schemeClr>
                    </a:solidFill>
                  </a:tcPr>
                </a:tc>
                <a:extLst>
                  <a:ext uri="{0D108BD9-81ED-4DB2-BD59-A6C34878D82A}">
                    <a16:rowId xmlns:a16="http://schemas.microsoft.com/office/drawing/2014/main" val="1127900809"/>
                  </a:ext>
                </a:extLst>
              </a:tr>
              <a:tr h="164148">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SMOTE</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RF</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0.9966</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0.9322</a:t>
                      </a:r>
                    </a:p>
                  </a:txBody>
                  <a:tcPr marL="7620" marR="7620" marT="7620" marB="0" anchor="b">
                    <a:solidFill>
                      <a:schemeClr val="accent5">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23.8861</a:t>
                      </a:r>
                    </a:p>
                  </a:txBody>
                  <a:tcPr marL="7620" marR="7620" marT="7620" marB="0" anchor="b">
                    <a:solidFill>
                      <a:schemeClr val="accent5">
                        <a:lumMod val="20000"/>
                        <a:lumOff val="80000"/>
                      </a:schemeClr>
                    </a:solidFill>
                  </a:tcPr>
                </a:tc>
                <a:extLst>
                  <a:ext uri="{0D108BD9-81ED-4DB2-BD59-A6C34878D82A}">
                    <a16:rowId xmlns:a16="http://schemas.microsoft.com/office/drawing/2014/main" val="2862779656"/>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ADASYN</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RF</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0.9907</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0.8058</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52.9703</a:t>
                      </a:r>
                    </a:p>
                  </a:txBody>
                  <a:tcPr marL="7620" marR="7620" marT="7620" marB="0" anchor="b">
                    <a:solidFill>
                      <a:schemeClr val="bg1"/>
                    </a:solidFill>
                  </a:tcPr>
                </a:tc>
                <a:extLst>
                  <a:ext uri="{0D108BD9-81ED-4DB2-BD59-A6C34878D82A}">
                    <a16:rowId xmlns:a16="http://schemas.microsoft.com/office/drawing/2014/main" val="1065290080"/>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Baseline</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RF</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0.9928</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0.8899</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87.8713</a:t>
                      </a:r>
                    </a:p>
                  </a:txBody>
                  <a:tcPr marL="7620" marR="7620" marT="7620" marB="0" anchor="b">
                    <a:solidFill>
                      <a:schemeClr val="bg1"/>
                    </a:solidFill>
                  </a:tcPr>
                </a:tc>
                <a:extLst>
                  <a:ext uri="{0D108BD9-81ED-4DB2-BD59-A6C34878D82A}">
                    <a16:rowId xmlns:a16="http://schemas.microsoft.com/office/drawing/2014/main" val="1516271532"/>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SMOTE</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RF</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0.9916</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0.8422</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63.7376</a:t>
                      </a:r>
                    </a:p>
                  </a:txBody>
                  <a:tcPr marL="7620" marR="7620" marT="7620" marB="0" anchor="b">
                    <a:solidFill>
                      <a:schemeClr val="bg1"/>
                    </a:solidFill>
                  </a:tcPr>
                </a:tc>
                <a:extLst>
                  <a:ext uri="{0D108BD9-81ED-4DB2-BD59-A6C34878D82A}">
                    <a16:rowId xmlns:a16="http://schemas.microsoft.com/office/drawing/2014/main" val="3492588381"/>
                  </a:ext>
                </a:extLst>
              </a:tr>
              <a:tr h="164148">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ADASYN</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XGB</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0.9977</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0.9673</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24.1337</a:t>
                      </a:r>
                    </a:p>
                  </a:txBody>
                  <a:tcPr marL="7620" marR="7620" marT="7620" marB="0" anchor="b">
                    <a:solidFill>
                      <a:schemeClr val="bg1"/>
                    </a:solidFill>
                  </a:tcPr>
                </a:tc>
                <a:extLst>
                  <a:ext uri="{0D108BD9-81ED-4DB2-BD59-A6C34878D82A}">
                    <a16:rowId xmlns:a16="http://schemas.microsoft.com/office/drawing/2014/main" val="1856367207"/>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Baseline</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XGB</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0.9956</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0.9030</a:t>
                      </a:r>
                    </a:p>
                  </a:txBody>
                  <a:tcPr marL="7620" marR="7620" marT="7620" marB="0" anchor="b">
                    <a:solidFill>
                      <a:schemeClr val="accent3">
                        <a:lumMod val="20000"/>
                        <a:lumOff val="80000"/>
                      </a:schemeClr>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27.5990</a:t>
                      </a:r>
                    </a:p>
                  </a:txBody>
                  <a:tcPr marL="7620" marR="7620" marT="7620" marB="0" anchor="b">
                    <a:solidFill>
                      <a:schemeClr val="accent3">
                        <a:lumMod val="20000"/>
                        <a:lumOff val="80000"/>
                      </a:schemeClr>
                    </a:solidFill>
                  </a:tcPr>
                </a:tc>
                <a:extLst>
                  <a:ext uri="{0D108BD9-81ED-4DB2-BD59-A6C34878D82A}">
                    <a16:rowId xmlns:a16="http://schemas.microsoft.com/office/drawing/2014/main" val="3579053772"/>
                  </a:ext>
                </a:extLst>
              </a:tr>
              <a:tr h="164148">
                <a:tc>
                  <a:txBody>
                    <a:bodyPr/>
                    <a:lstStyle/>
                    <a:p>
                      <a:pPr algn="l" fontAlgn="b"/>
                      <a:r>
                        <a:rPr lang="en-US" sz="1800" b="1" i="0" u="none" strike="noStrike" dirty="0">
                          <a:solidFill>
                            <a:srgbClr val="000000"/>
                          </a:solidFill>
                          <a:effectLst/>
                          <a:latin typeface="Arial" panose="020B0604020202020204" pitchFamily="34" charset="0"/>
                          <a:cs typeface="Arial" panose="020B0604020202020204" pitchFamily="34" charset="0"/>
                        </a:rPr>
                        <a:t>Full retrain</a:t>
                      </a:r>
                    </a:p>
                  </a:txBody>
                  <a:tcPr marL="7620" marR="7620" marT="7620" marB="0" anchor="b">
                    <a:solidFill>
                      <a:schemeClr val="accent5">
                        <a:lumMod val="20000"/>
                        <a:lumOff val="80000"/>
                      </a:schemeClr>
                    </a:solidFill>
                  </a:tcPr>
                </a:tc>
                <a:tc>
                  <a:txBody>
                    <a:bodyPr/>
                    <a:lstStyle/>
                    <a:p>
                      <a:pPr algn="l" fontAlgn="b"/>
                      <a:r>
                        <a:rPr lang="en-US" sz="1800" b="1" i="0" u="none" strike="noStrike">
                          <a:solidFill>
                            <a:srgbClr val="000000"/>
                          </a:solidFill>
                          <a:effectLst/>
                          <a:latin typeface="Arial" panose="020B0604020202020204" pitchFamily="34" charset="0"/>
                          <a:cs typeface="Arial" panose="020B0604020202020204" pitchFamily="34" charset="0"/>
                        </a:rPr>
                        <a:t>SMOTE</a:t>
                      </a:r>
                    </a:p>
                  </a:txBody>
                  <a:tcPr marL="7620" marR="7620" marT="7620" marB="0" anchor="b">
                    <a:solidFill>
                      <a:schemeClr val="accent5">
                        <a:lumMod val="20000"/>
                        <a:lumOff val="80000"/>
                      </a:schemeClr>
                    </a:solidFill>
                  </a:tcPr>
                </a:tc>
                <a:tc>
                  <a:txBody>
                    <a:bodyPr/>
                    <a:lstStyle/>
                    <a:p>
                      <a:pPr algn="l" fontAlgn="b"/>
                      <a:r>
                        <a:rPr lang="en-US" sz="1800" b="1" i="0" u="none" strike="noStrike" dirty="0">
                          <a:solidFill>
                            <a:srgbClr val="000000"/>
                          </a:solidFill>
                          <a:effectLst/>
                          <a:latin typeface="Arial" panose="020B0604020202020204" pitchFamily="34" charset="0"/>
                          <a:cs typeface="Arial" panose="020B0604020202020204" pitchFamily="34" charset="0"/>
                        </a:rPr>
                        <a:t>XGB</a:t>
                      </a:r>
                    </a:p>
                  </a:txBody>
                  <a:tcPr marL="7620" marR="7620" marT="7620" marB="0" anchor="b">
                    <a:solidFill>
                      <a:schemeClr val="accent5">
                        <a:lumMod val="20000"/>
                        <a:lumOff val="80000"/>
                      </a:schemeClr>
                    </a:solidFill>
                  </a:tcPr>
                </a:tc>
                <a:tc>
                  <a:txBody>
                    <a:bodyPr/>
                    <a:lstStyle/>
                    <a:p>
                      <a:pPr algn="l" fontAlgn="b"/>
                      <a:r>
                        <a:rPr lang="en-US" sz="1800" b="1" i="0" u="none" strike="noStrike">
                          <a:solidFill>
                            <a:srgbClr val="000000"/>
                          </a:solidFill>
                          <a:effectLst/>
                          <a:latin typeface="Arial" panose="020B0604020202020204" pitchFamily="34" charset="0"/>
                          <a:cs typeface="Arial" panose="020B0604020202020204" pitchFamily="34" charset="0"/>
                        </a:rPr>
                        <a:t>0.9977</a:t>
                      </a:r>
                    </a:p>
                  </a:txBody>
                  <a:tcPr marL="7620" marR="7620" marT="7620" marB="0" anchor="b">
                    <a:solidFill>
                      <a:schemeClr val="accent5">
                        <a:lumMod val="20000"/>
                        <a:lumOff val="80000"/>
                      </a:schemeClr>
                    </a:solidFill>
                  </a:tcPr>
                </a:tc>
                <a:tc>
                  <a:txBody>
                    <a:bodyPr/>
                    <a:lstStyle/>
                    <a:p>
                      <a:pPr algn="l" fontAlgn="b"/>
                      <a:r>
                        <a:rPr lang="en-US" sz="1800" b="1" i="0" u="none" strike="noStrike" dirty="0">
                          <a:solidFill>
                            <a:srgbClr val="000000"/>
                          </a:solidFill>
                          <a:effectLst/>
                          <a:latin typeface="Arial" panose="020B0604020202020204" pitchFamily="34" charset="0"/>
                          <a:cs typeface="Arial" panose="020B0604020202020204" pitchFamily="34" charset="0"/>
                        </a:rPr>
                        <a:t>0.9696</a:t>
                      </a:r>
                    </a:p>
                  </a:txBody>
                  <a:tcPr marL="7620" marR="7620" marT="7620" marB="0" anchor="b">
                    <a:solidFill>
                      <a:schemeClr val="accent5">
                        <a:lumMod val="20000"/>
                        <a:lumOff val="80000"/>
                      </a:schemeClr>
                    </a:solidFill>
                  </a:tcPr>
                </a:tc>
                <a:tc>
                  <a:txBody>
                    <a:bodyPr/>
                    <a:lstStyle/>
                    <a:p>
                      <a:pPr algn="l" fontAlgn="b"/>
                      <a:r>
                        <a:rPr lang="en-US" sz="1800" b="1" i="0" u="none" strike="noStrike" dirty="0">
                          <a:solidFill>
                            <a:srgbClr val="000000"/>
                          </a:solidFill>
                          <a:effectLst/>
                          <a:latin typeface="Arial" panose="020B0604020202020204" pitchFamily="34" charset="0"/>
                          <a:cs typeface="Arial" panose="020B0604020202020204" pitchFamily="34" charset="0"/>
                        </a:rPr>
                        <a:t>22.0297</a:t>
                      </a:r>
                    </a:p>
                  </a:txBody>
                  <a:tcPr marL="7620" marR="7620" marT="7620" marB="0" anchor="b">
                    <a:solidFill>
                      <a:schemeClr val="accent5">
                        <a:lumMod val="20000"/>
                        <a:lumOff val="80000"/>
                      </a:schemeClr>
                    </a:solidFill>
                  </a:tcPr>
                </a:tc>
                <a:extLst>
                  <a:ext uri="{0D108BD9-81ED-4DB2-BD59-A6C34878D82A}">
                    <a16:rowId xmlns:a16="http://schemas.microsoft.com/office/drawing/2014/main" val="4198800172"/>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ADASYN</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XGB</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0.9949</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0.8686</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33.5396</a:t>
                      </a:r>
                    </a:p>
                  </a:txBody>
                  <a:tcPr marL="7620" marR="7620" marT="7620" marB="0" anchor="b">
                    <a:solidFill>
                      <a:schemeClr val="bg1"/>
                    </a:solidFill>
                  </a:tcPr>
                </a:tc>
                <a:extLst>
                  <a:ext uri="{0D108BD9-81ED-4DB2-BD59-A6C34878D82A}">
                    <a16:rowId xmlns:a16="http://schemas.microsoft.com/office/drawing/2014/main" val="2083073276"/>
                  </a:ext>
                </a:extLst>
              </a:tr>
              <a:tr h="164148">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Baseline</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XGB</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0.9899</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0.8387</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50.7426</a:t>
                      </a:r>
                    </a:p>
                  </a:txBody>
                  <a:tcPr marL="7620" marR="7620" marT="7620" marB="0" anchor="b">
                    <a:solidFill>
                      <a:schemeClr val="bg1"/>
                    </a:solidFill>
                  </a:tcPr>
                </a:tc>
                <a:extLst>
                  <a:ext uri="{0D108BD9-81ED-4DB2-BD59-A6C34878D82A}">
                    <a16:rowId xmlns:a16="http://schemas.microsoft.com/office/drawing/2014/main" val="915044392"/>
                  </a:ext>
                </a:extLst>
              </a:tr>
              <a:tr h="164148">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Incremental</a:t>
                      </a:r>
                    </a:p>
                  </a:txBody>
                  <a:tcPr marL="7620" marR="7620" marT="7620" marB="0" anchor="b">
                    <a:solidFill>
                      <a:schemeClr val="bg1"/>
                    </a:solidFill>
                  </a:tcPr>
                </a:tc>
                <a:tc>
                  <a:txBody>
                    <a:bodyPr/>
                    <a:lstStyle/>
                    <a:p>
                      <a:pPr algn="l" fontAlgn="b"/>
                      <a:r>
                        <a:rPr lang="en-US" sz="1800" b="0" i="0" u="none" strike="noStrike">
                          <a:solidFill>
                            <a:srgbClr val="000000"/>
                          </a:solidFill>
                          <a:effectLst/>
                          <a:latin typeface="Arial" panose="020B0604020202020204" pitchFamily="34" charset="0"/>
                          <a:cs typeface="Arial" panose="020B0604020202020204" pitchFamily="34" charset="0"/>
                        </a:rPr>
                        <a:t>SMOTE</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XGB</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0.9958</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0.8924</a:t>
                      </a:r>
                    </a:p>
                  </a:txBody>
                  <a:tcPr marL="7620" marR="7620" marT="7620" marB="0" anchor="b">
                    <a:solidFill>
                      <a:schemeClr val="bg1"/>
                    </a:solidFill>
                  </a:tcPr>
                </a:tc>
                <a:tc>
                  <a:txBody>
                    <a:bodyPr/>
                    <a:lstStyle/>
                    <a:p>
                      <a:pPr algn="l" fontAlgn="b"/>
                      <a:r>
                        <a:rPr lang="en-US" sz="1800" b="0" i="0" u="none" strike="noStrike" dirty="0">
                          <a:solidFill>
                            <a:srgbClr val="000000"/>
                          </a:solidFill>
                          <a:effectLst/>
                          <a:latin typeface="Arial" panose="020B0604020202020204" pitchFamily="34" charset="0"/>
                          <a:cs typeface="Arial" panose="020B0604020202020204" pitchFamily="34" charset="0"/>
                        </a:rPr>
                        <a:t>31.8069</a:t>
                      </a:r>
                    </a:p>
                  </a:txBody>
                  <a:tcPr marL="7620" marR="7620" marT="7620" marB="0" anchor="b">
                    <a:solidFill>
                      <a:schemeClr val="bg1"/>
                    </a:solidFill>
                  </a:tcPr>
                </a:tc>
                <a:extLst>
                  <a:ext uri="{0D108BD9-81ED-4DB2-BD59-A6C34878D82A}">
                    <a16:rowId xmlns:a16="http://schemas.microsoft.com/office/drawing/2014/main" val="518705527"/>
                  </a:ext>
                </a:extLst>
              </a:tr>
            </a:tbl>
          </a:graphicData>
        </a:graphic>
      </p:graphicFrame>
      <p:sp>
        <p:nvSpPr>
          <p:cNvPr id="4" name="Slide Number Placeholder 3">
            <a:extLst>
              <a:ext uri="{FF2B5EF4-FFF2-40B4-BE49-F238E27FC236}">
                <a16:creationId xmlns:a16="http://schemas.microsoft.com/office/drawing/2014/main" id="{32FDB54D-3607-4DE6-9BB2-4E733BCA3B8D}"/>
              </a:ext>
            </a:extLst>
          </p:cNvPr>
          <p:cNvSpPr>
            <a:spLocks noGrp="1"/>
          </p:cNvSpPr>
          <p:nvPr>
            <p:ph type="sldNum" sz="quarter" idx="12"/>
          </p:nvPr>
        </p:nvSpPr>
        <p:spPr/>
        <p:txBody>
          <a:bodyPr/>
          <a:lstStyle/>
          <a:p>
            <a:pPr algn="ctr"/>
            <a:fld id="{1478D195-628D-428E-B98B-35B3E9B486B6}" type="slidenum">
              <a:rPr lang="en-US" smtClean="0"/>
              <a:pPr algn="ctr"/>
              <a:t>22</a:t>
            </a:fld>
            <a:endParaRPr lang="en-US"/>
          </a:p>
        </p:txBody>
      </p:sp>
    </p:spTree>
    <p:extLst>
      <p:ext uri="{BB962C8B-B14F-4D97-AF65-F5344CB8AC3E}">
        <p14:creationId xmlns:p14="http://schemas.microsoft.com/office/powerpoint/2010/main" val="2396820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0E646-B124-492B-A7EA-74077D1A5488}"/>
              </a:ext>
            </a:extLst>
          </p:cNvPr>
          <p:cNvSpPr>
            <a:spLocks noGrp="1"/>
          </p:cNvSpPr>
          <p:nvPr>
            <p:ph type="title"/>
          </p:nvPr>
        </p:nvSpPr>
        <p:spPr/>
        <p:txBody>
          <a:bodyPr/>
          <a:lstStyle/>
          <a:p>
            <a:r>
              <a:rPr lang="en-US" dirty="0"/>
              <a:t>Binary model Syn500</a:t>
            </a:r>
          </a:p>
        </p:txBody>
      </p:sp>
      <p:sp>
        <p:nvSpPr>
          <p:cNvPr id="4" name="Slide Number Placeholder 3">
            <a:extLst>
              <a:ext uri="{FF2B5EF4-FFF2-40B4-BE49-F238E27FC236}">
                <a16:creationId xmlns:a16="http://schemas.microsoft.com/office/drawing/2014/main" id="{32FDB54D-3607-4DE6-9BB2-4E733BCA3B8D}"/>
              </a:ext>
            </a:extLst>
          </p:cNvPr>
          <p:cNvSpPr>
            <a:spLocks noGrp="1"/>
          </p:cNvSpPr>
          <p:nvPr>
            <p:ph type="sldNum" sz="quarter" idx="12"/>
          </p:nvPr>
        </p:nvSpPr>
        <p:spPr/>
        <p:txBody>
          <a:bodyPr/>
          <a:lstStyle/>
          <a:p>
            <a:pPr algn="ctr"/>
            <a:fld id="{1478D195-628D-428E-B98B-35B3E9B486B6}" type="slidenum">
              <a:rPr lang="en-US" smtClean="0"/>
              <a:pPr algn="ctr"/>
              <a:t>23</a:t>
            </a:fld>
            <a:endParaRPr lang="en-US"/>
          </a:p>
        </p:txBody>
      </p:sp>
      <p:graphicFrame>
        <p:nvGraphicFramePr>
          <p:cNvPr id="6" name="Content Placeholder 5">
            <a:extLst>
              <a:ext uri="{FF2B5EF4-FFF2-40B4-BE49-F238E27FC236}">
                <a16:creationId xmlns:a16="http://schemas.microsoft.com/office/drawing/2014/main" id="{94A393DC-C688-4062-B1CC-E5835F037605}"/>
              </a:ext>
            </a:extLst>
          </p:cNvPr>
          <p:cNvGraphicFramePr>
            <a:graphicFrameLocks noGrp="1"/>
          </p:cNvGraphicFramePr>
          <p:nvPr>
            <p:ph idx="1"/>
            <p:extLst>
              <p:ext uri="{D42A27DB-BD31-4B8C-83A1-F6EECF244321}">
                <p14:modId xmlns:p14="http://schemas.microsoft.com/office/powerpoint/2010/main" val="1019583213"/>
              </p:ext>
            </p:extLst>
          </p:nvPr>
        </p:nvGraphicFramePr>
        <p:xfrm>
          <a:off x="482599" y="814604"/>
          <a:ext cx="11416146" cy="5598892"/>
        </p:xfrm>
        <a:graphic>
          <a:graphicData uri="http://schemas.openxmlformats.org/drawingml/2006/table">
            <a:tbl>
              <a:tblPr firstRow="1" firstCol="1" bandRow="1">
                <a:tableStyleId>{5FD0F851-EC5A-4D38-B0AD-8093EC10F338}</a:tableStyleId>
              </a:tblPr>
              <a:tblGrid>
                <a:gridCol w="1756154">
                  <a:extLst>
                    <a:ext uri="{9D8B030D-6E8A-4147-A177-3AD203B41FA5}">
                      <a16:colId xmlns:a16="http://schemas.microsoft.com/office/drawing/2014/main" val="3375594072"/>
                    </a:ext>
                  </a:extLst>
                </a:gridCol>
                <a:gridCol w="1283430">
                  <a:extLst>
                    <a:ext uri="{9D8B030D-6E8A-4147-A177-3AD203B41FA5}">
                      <a16:colId xmlns:a16="http://schemas.microsoft.com/office/drawing/2014/main" val="3835040141"/>
                    </a:ext>
                  </a:extLst>
                </a:gridCol>
                <a:gridCol w="1077901">
                  <a:extLst>
                    <a:ext uri="{9D8B030D-6E8A-4147-A177-3AD203B41FA5}">
                      <a16:colId xmlns:a16="http://schemas.microsoft.com/office/drawing/2014/main" val="4137266593"/>
                    </a:ext>
                  </a:extLst>
                </a:gridCol>
                <a:gridCol w="1648822">
                  <a:extLst>
                    <a:ext uri="{9D8B030D-6E8A-4147-A177-3AD203B41FA5}">
                      <a16:colId xmlns:a16="http://schemas.microsoft.com/office/drawing/2014/main" val="491310083"/>
                    </a:ext>
                  </a:extLst>
                </a:gridCol>
                <a:gridCol w="1393048">
                  <a:extLst>
                    <a:ext uri="{9D8B030D-6E8A-4147-A177-3AD203B41FA5}">
                      <a16:colId xmlns:a16="http://schemas.microsoft.com/office/drawing/2014/main" val="3246256490"/>
                    </a:ext>
                  </a:extLst>
                </a:gridCol>
                <a:gridCol w="1061915">
                  <a:extLst>
                    <a:ext uri="{9D8B030D-6E8A-4147-A177-3AD203B41FA5}">
                      <a16:colId xmlns:a16="http://schemas.microsoft.com/office/drawing/2014/main" val="3691978012"/>
                    </a:ext>
                  </a:extLst>
                </a:gridCol>
                <a:gridCol w="1895459">
                  <a:extLst>
                    <a:ext uri="{9D8B030D-6E8A-4147-A177-3AD203B41FA5}">
                      <a16:colId xmlns:a16="http://schemas.microsoft.com/office/drawing/2014/main" val="992463743"/>
                    </a:ext>
                  </a:extLst>
                </a:gridCol>
                <a:gridCol w="1299417">
                  <a:extLst>
                    <a:ext uri="{9D8B030D-6E8A-4147-A177-3AD203B41FA5}">
                      <a16:colId xmlns:a16="http://schemas.microsoft.com/office/drawing/2014/main" val="2559898072"/>
                    </a:ext>
                  </a:extLst>
                </a:gridCol>
              </a:tblGrid>
              <a:tr h="430684">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Mode</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Variant</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Model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ROC-AUC</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PR-AUC</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Recall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Precision@R</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FP/1000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1007470748"/>
                  </a:ext>
                </a:extLst>
              </a:tr>
              <a:tr h="430684">
                <a:tc>
                  <a:txBody>
                    <a:bodyPr/>
                    <a:lstStyle/>
                    <a:p>
                      <a:pPr>
                        <a:lnSpc>
                          <a:spcPct val="115000"/>
                        </a:lnSpc>
                        <a:spcAft>
                          <a:spcPts val="1000"/>
                        </a:spcAft>
                      </a:pPr>
                      <a:r>
                        <a:rPr lang="lv-LV" sz="1800" b="1" dirty="0" err="1">
                          <a:effectLst/>
                          <a:latin typeface="Arial" panose="020B0604020202020204" pitchFamily="34" charset="0"/>
                          <a:cs typeface="Arial" panose="020B0604020202020204" pitchFamily="34" charset="0"/>
                        </a:rPr>
                        <a:t>Full</a:t>
                      </a:r>
                      <a:r>
                        <a:rPr lang="lv-LV" sz="1800" b="1" dirty="0">
                          <a:effectLst/>
                          <a:latin typeface="Arial" panose="020B0604020202020204" pitchFamily="34" charset="0"/>
                          <a:cs typeface="Arial" panose="020B0604020202020204" pitchFamily="34" charset="0"/>
                        </a:rPr>
                        <a:t> </a:t>
                      </a:r>
                      <a:r>
                        <a:rPr lang="lv-LV" sz="1800" b="1" dirty="0" err="1">
                          <a:effectLst/>
                          <a:latin typeface="Arial" panose="020B0604020202020204" pitchFamily="34" charset="0"/>
                          <a:cs typeface="Arial" panose="020B0604020202020204" pitchFamily="34" charset="0"/>
                        </a:rPr>
                        <a:t>retrain</a:t>
                      </a:r>
                      <a:endParaRPr lang="en-US" sz="18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b="1" dirty="0">
                          <a:effectLst/>
                          <a:latin typeface="Arial" panose="020B0604020202020204" pitchFamily="34" charset="0"/>
                          <a:cs typeface="Arial" panose="020B0604020202020204" pitchFamily="34" charset="0"/>
                        </a:rPr>
                        <a:t>Baseline</a:t>
                      </a:r>
                      <a:endParaRPr lang="en-US" sz="18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GBM</a:t>
                      </a:r>
                      <a:endParaRPr lang="en-US" sz="18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dirty="0">
                          <a:effectLst/>
                          <a:latin typeface="Arial" panose="020B0604020202020204" pitchFamily="34" charset="0"/>
                          <a:cs typeface="Arial" panose="020B0604020202020204" pitchFamily="34" charset="0"/>
                        </a:rPr>
                        <a:t>0.704</a:t>
                      </a:r>
                      <a:endParaRPr lang="en-US" sz="18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0.312</a:t>
                      </a:r>
                      <a:endParaRPr lang="en-US" sz="18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0.792</a:t>
                      </a:r>
                      <a:endParaRPr lang="en-US" sz="18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0.062</a:t>
                      </a:r>
                      <a:endParaRPr lang="en-US" sz="1800" b="1">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dirty="0">
                          <a:effectLst/>
                          <a:latin typeface="Arial" panose="020B0604020202020204" pitchFamily="34" charset="0"/>
                          <a:cs typeface="Arial" panose="020B0604020202020204" pitchFamily="34" charset="0"/>
                        </a:rPr>
                        <a:t>588.2</a:t>
                      </a:r>
                      <a:endParaRPr lang="en-US" sz="18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1586761164"/>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Incremental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Baseline</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GBM</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0.703</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0.315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0.795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0.063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580.3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89503440"/>
                  </a:ext>
                </a:extLst>
              </a:tr>
              <a:tr h="430684">
                <a:tc>
                  <a:txBody>
                    <a:bodyPr/>
                    <a:lstStyle/>
                    <a:p>
                      <a:pPr>
                        <a:lnSpc>
                          <a:spcPct val="115000"/>
                        </a:lnSpc>
                        <a:spcAft>
                          <a:spcPts val="1000"/>
                        </a:spcAft>
                      </a:pPr>
                      <a:r>
                        <a:rPr lang="lv-LV" sz="1800" dirty="0" err="1">
                          <a:effectLst/>
                          <a:latin typeface="Arial" panose="020B0604020202020204" pitchFamily="34" charset="0"/>
                          <a:cs typeface="Arial" panose="020B0604020202020204" pitchFamily="34" charset="0"/>
                        </a:rPr>
                        <a:t>Full</a:t>
                      </a:r>
                      <a:r>
                        <a:rPr lang="lv-LV" sz="1800" dirty="0">
                          <a:effectLst/>
                          <a:latin typeface="Arial" panose="020B0604020202020204" pitchFamily="34" charset="0"/>
                          <a:cs typeface="Arial" panose="020B0604020202020204" pitchFamily="34" charset="0"/>
                        </a:rPr>
                        <a:t> </a:t>
                      </a:r>
                      <a:r>
                        <a:rPr lang="lv-LV" sz="1800" dirty="0" err="1">
                          <a:effectLst/>
                          <a:latin typeface="Arial" panose="020B0604020202020204" pitchFamily="34" charset="0"/>
                          <a:cs typeface="Arial" panose="020B0604020202020204" pitchFamily="34" charset="0"/>
                        </a:rPr>
                        <a:t>retrain</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Baseline</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RF</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0.710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0.378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0.998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0.049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948.7</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51458006"/>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Incremental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Baseline</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RF</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0.708</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0.359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0.990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0.049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924.3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1911956805"/>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Full retrain</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Baseline</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XGB</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0.687</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0.306</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0.779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0.061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582.6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2998230828"/>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Incremental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Baseline</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XGB</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0.684</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0.279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0.762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0.062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562.2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3083647499"/>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Full retrain</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ROSE</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GBM</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0.643</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0.223</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1.000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0.049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951.5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1442410509"/>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Incremental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ROSE</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GBM</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0.626</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0.151</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1.000</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0.049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951.5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3164188251"/>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Full retrain</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ROSE</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RF</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0.530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0.071</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1.000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0.049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951.5</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4062626346"/>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Incremental</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ROSE</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RF</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0.502</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0.049</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1.000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0.049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951.5</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1370365063"/>
                  </a:ext>
                </a:extLst>
              </a:tr>
              <a:tr h="430684">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Full retrain</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ROSE</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XGB</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0.640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0.205</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1.000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0.049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951.5</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2025638310"/>
                  </a:ext>
                </a:extLst>
              </a:tr>
              <a:tr h="430684">
                <a:tc>
                  <a:txBody>
                    <a:bodyPr/>
                    <a:lstStyle/>
                    <a:p>
                      <a:pPr>
                        <a:lnSpc>
                          <a:spcPct val="115000"/>
                        </a:lnSpc>
                        <a:spcAft>
                          <a:spcPts val="1000"/>
                        </a:spcAft>
                      </a:pPr>
                      <a:r>
                        <a:rPr lang="lv-LV" sz="1800" dirty="0" err="1">
                          <a:effectLst/>
                          <a:latin typeface="Arial" panose="020B0604020202020204" pitchFamily="34" charset="0"/>
                          <a:cs typeface="Arial" panose="020B0604020202020204" pitchFamily="34" charset="0"/>
                        </a:rPr>
                        <a:t>Incremental</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ROSE</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XGB</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0.613</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0.136</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effectLst/>
                          <a:latin typeface="Arial" panose="020B0604020202020204" pitchFamily="34" charset="0"/>
                          <a:cs typeface="Arial" panose="020B0604020202020204" pitchFamily="34" charset="0"/>
                        </a:rPr>
                        <a:t>1.000</a:t>
                      </a:r>
                      <a:endParaRPr lang="en-US" sz="18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0.049</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effectLst/>
                          <a:latin typeface="Arial" panose="020B0604020202020204" pitchFamily="34" charset="0"/>
                          <a:cs typeface="Arial" panose="020B0604020202020204" pitchFamily="34" charset="0"/>
                        </a:rPr>
                        <a:t>951.5</a:t>
                      </a:r>
                      <a:endParaRPr lang="en-US" sz="18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626803100"/>
                  </a:ext>
                </a:extLst>
              </a:tr>
            </a:tbl>
          </a:graphicData>
        </a:graphic>
      </p:graphicFrame>
    </p:spTree>
    <p:extLst>
      <p:ext uri="{BB962C8B-B14F-4D97-AF65-F5344CB8AC3E}">
        <p14:creationId xmlns:p14="http://schemas.microsoft.com/office/powerpoint/2010/main" val="1856843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40418-A5A9-4756-BA5F-F960B0589C5A}"/>
              </a:ext>
            </a:extLst>
          </p:cNvPr>
          <p:cNvSpPr>
            <a:spLocks noGrp="1"/>
          </p:cNvSpPr>
          <p:nvPr>
            <p:ph type="title"/>
          </p:nvPr>
        </p:nvSpPr>
        <p:spPr/>
        <p:txBody>
          <a:bodyPr>
            <a:normAutofit fontScale="90000"/>
          </a:bodyPr>
          <a:lstStyle/>
          <a:p>
            <a:r>
              <a:rPr lang="en-US" dirty="0"/>
              <a:t>Out of Fold and Platt calibration</a:t>
            </a:r>
            <a:r>
              <a:rPr lang="ru-RU" dirty="0"/>
              <a:t> </a:t>
            </a:r>
            <a:r>
              <a:rPr lang="en-US" dirty="0"/>
              <a:t>Syn100</a:t>
            </a:r>
          </a:p>
        </p:txBody>
      </p:sp>
      <p:graphicFrame>
        <p:nvGraphicFramePr>
          <p:cNvPr id="5" name="Content Placeholder 4">
            <a:extLst>
              <a:ext uri="{FF2B5EF4-FFF2-40B4-BE49-F238E27FC236}">
                <a16:creationId xmlns:a16="http://schemas.microsoft.com/office/drawing/2014/main" id="{43DA0C55-8D93-4724-8207-CDBC98BE3A30}"/>
              </a:ext>
            </a:extLst>
          </p:cNvPr>
          <p:cNvGraphicFramePr>
            <a:graphicFrameLocks noGrp="1"/>
          </p:cNvGraphicFramePr>
          <p:nvPr>
            <p:ph idx="1"/>
            <p:extLst>
              <p:ext uri="{D42A27DB-BD31-4B8C-83A1-F6EECF244321}">
                <p14:modId xmlns:p14="http://schemas.microsoft.com/office/powerpoint/2010/main" val="2832998686"/>
              </p:ext>
            </p:extLst>
          </p:nvPr>
        </p:nvGraphicFramePr>
        <p:xfrm>
          <a:off x="420688" y="881506"/>
          <a:ext cx="11288710" cy="5072476"/>
        </p:xfrm>
        <a:graphic>
          <a:graphicData uri="http://schemas.openxmlformats.org/drawingml/2006/table">
            <a:tbl>
              <a:tblPr firstRow="1" firstCol="1" bandRow="1">
                <a:tableStyleId>{5FD0F851-EC5A-4D38-B0AD-8093EC10F338}</a:tableStyleId>
              </a:tblPr>
              <a:tblGrid>
                <a:gridCol w="1128871">
                  <a:extLst>
                    <a:ext uri="{9D8B030D-6E8A-4147-A177-3AD203B41FA5}">
                      <a16:colId xmlns:a16="http://schemas.microsoft.com/office/drawing/2014/main" val="3480008458"/>
                    </a:ext>
                  </a:extLst>
                </a:gridCol>
                <a:gridCol w="1128871">
                  <a:extLst>
                    <a:ext uri="{9D8B030D-6E8A-4147-A177-3AD203B41FA5}">
                      <a16:colId xmlns:a16="http://schemas.microsoft.com/office/drawing/2014/main" val="3345776453"/>
                    </a:ext>
                  </a:extLst>
                </a:gridCol>
                <a:gridCol w="1128871">
                  <a:extLst>
                    <a:ext uri="{9D8B030D-6E8A-4147-A177-3AD203B41FA5}">
                      <a16:colId xmlns:a16="http://schemas.microsoft.com/office/drawing/2014/main" val="532771808"/>
                    </a:ext>
                  </a:extLst>
                </a:gridCol>
                <a:gridCol w="1128871">
                  <a:extLst>
                    <a:ext uri="{9D8B030D-6E8A-4147-A177-3AD203B41FA5}">
                      <a16:colId xmlns:a16="http://schemas.microsoft.com/office/drawing/2014/main" val="3867185578"/>
                    </a:ext>
                  </a:extLst>
                </a:gridCol>
                <a:gridCol w="1128871">
                  <a:extLst>
                    <a:ext uri="{9D8B030D-6E8A-4147-A177-3AD203B41FA5}">
                      <a16:colId xmlns:a16="http://schemas.microsoft.com/office/drawing/2014/main" val="3586908489"/>
                    </a:ext>
                  </a:extLst>
                </a:gridCol>
                <a:gridCol w="1128871">
                  <a:extLst>
                    <a:ext uri="{9D8B030D-6E8A-4147-A177-3AD203B41FA5}">
                      <a16:colId xmlns:a16="http://schemas.microsoft.com/office/drawing/2014/main" val="3310342125"/>
                    </a:ext>
                  </a:extLst>
                </a:gridCol>
                <a:gridCol w="1128871">
                  <a:extLst>
                    <a:ext uri="{9D8B030D-6E8A-4147-A177-3AD203B41FA5}">
                      <a16:colId xmlns:a16="http://schemas.microsoft.com/office/drawing/2014/main" val="1168359838"/>
                    </a:ext>
                  </a:extLst>
                </a:gridCol>
                <a:gridCol w="1128871">
                  <a:extLst>
                    <a:ext uri="{9D8B030D-6E8A-4147-A177-3AD203B41FA5}">
                      <a16:colId xmlns:a16="http://schemas.microsoft.com/office/drawing/2014/main" val="3529584811"/>
                    </a:ext>
                  </a:extLst>
                </a:gridCol>
                <a:gridCol w="1128871">
                  <a:extLst>
                    <a:ext uri="{9D8B030D-6E8A-4147-A177-3AD203B41FA5}">
                      <a16:colId xmlns:a16="http://schemas.microsoft.com/office/drawing/2014/main" val="3627917734"/>
                    </a:ext>
                  </a:extLst>
                </a:gridCol>
                <a:gridCol w="1128871">
                  <a:extLst>
                    <a:ext uri="{9D8B030D-6E8A-4147-A177-3AD203B41FA5}">
                      <a16:colId xmlns:a16="http://schemas.microsoft.com/office/drawing/2014/main" val="2375198669"/>
                    </a:ext>
                  </a:extLst>
                </a:gridCol>
              </a:tblGrid>
              <a:tr h="667894">
                <a:tc>
                  <a:txBody>
                    <a:bodyPr/>
                    <a:lstStyle/>
                    <a:p>
                      <a:pPr>
                        <a:lnSpc>
                          <a:spcPct val="115000"/>
                        </a:lnSpc>
                        <a:spcAft>
                          <a:spcPts val="1000"/>
                        </a:spcAft>
                      </a:pPr>
                      <a:r>
                        <a:rPr lang="lv-LV" sz="1800" b="1" dirty="0">
                          <a:effectLst/>
                          <a:latin typeface="Arial" panose="020B0604020202020204" pitchFamily="34" charset="0"/>
                          <a:cs typeface="Arial" panose="020B0604020202020204" pitchFamily="34" charset="0"/>
                        </a:rPr>
                        <a:t>Variant</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dirty="0" err="1">
                          <a:effectLst/>
                          <a:latin typeface="Arial" panose="020B0604020202020204" pitchFamily="34" charset="0"/>
                          <a:cs typeface="Arial" panose="020B0604020202020204" pitchFamily="34" charset="0"/>
                        </a:rPr>
                        <a:t>Model</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ROC-AUC</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PR-AUC</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Precision@R</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Recall</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FP/1000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Brier raw</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Brier Platt</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Platt-raw</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990736882"/>
                  </a:ext>
                </a:extLst>
              </a:tr>
              <a:tr h="489398">
                <a:tc>
                  <a:txBody>
                    <a:bodyPr/>
                    <a:lstStyle/>
                    <a:p>
                      <a:pPr>
                        <a:lnSpc>
                          <a:spcPct val="115000"/>
                        </a:lnSpc>
                        <a:spcAft>
                          <a:spcPts val="1000"/>
                        </a:spcAft>
                      </a:pPr>
                      <a:r>
                        <a:rPr lang="lv-LV" sz="1800" b="1" dirty="0">
                          <a:solidFill>
                            <a:srgbClr val="000000"/>
                          </a:solidFill>
                          <a:effectLst/>
                          <a:latin typeface="Arial" panose="020B0604020202020204" pitchFamily="34" charset="0"/>
                          <a:cs typeface="Arial" panose="020B0604020202020204" pitchFamily="34" charset="0"/>
                        </a:rPr>
                        <a:t>ADASYN</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GBM</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0.99992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0.99373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0.96861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0.49505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0.0123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0.0138</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+0.0015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2551138981"/>
                  </a:ext>
                </a:extLst>
              </a:tr>
              <a:tr h="489398">
                <a:tc>
                  <a:txBody>
                    <a:bodyPr/>
                    <a:lstStyle/>
                    <a:p>
                      <a:pPr>
                        <a:lnSpc>
                          <a:spcPct val="115000"/>
                        </a:lnSpc>
                        <a:spcAft>
                          <a:spcPts val="1000"/>
                        </a:spcAft>
                      </a:pPr>
                      <a:r>
                        <a:rPr lang="lv-LV" sz="1800" b="1" dirty="0">
                          <a:solidFill>
                            <a:srgbClr val="000000"/>
                          </a:solidFill>
                          <a:effectLst/>
                          <a:latin typeface="Arial" panose="020B0604020202020204" pitchFamily="34" charset="0"/>
                          <a:cs typeface="Arial" panose="020B0604020202020204" pitchFamily="34" charset="0"/>
                        </a:rPr>
                        <a:t>ADASYN</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RF</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0.99996</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0.99752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0.97949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0.39604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0.0077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0.0040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-0.0037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900077341"/>
                  </a:ext>
                </a:extLst>
              </a:tr>
              <a:tr h="489398">
                <a:tc>
                  <a:txBody>
                    <a:bodyPr/>
                    <a:lstStyle/>
                    <a:p>
                      <a:pPr>
                        <a:lnSpc>
                          <a:spcPct val="115000"/>
                        </a:lnSpc>
                        <a:spcAft>
                          <a:spcPts val="1000"/>
                        </a:spcAft>
                      </a:pPr>
                      <a:r>
                        <a:rPr lang="lv-LV" sz="1800" b="1">
                          <a:solidFill>
                            <a:srgbClr val="000000"/>
                          </a:solidFill>
                          <a:effectLst/>
                          <a:latin typeface="Arial" panose="020B0604020202020204" pitchFamily="34" charset="0"/>
                          <a:cs typeface="Arial" panose="020B0604020202020204" pitchFamily="34" charset="0"/>
                        </a:rPr>
                        <a:t>ADASYN</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XGB</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0.99995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0.99717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0.94544</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0.99010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0.0074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0.0063</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-0.0011</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2895509876"/>
                  </a:ext>
                </a:extLst>
              </a:tr>
              <a:tr h="489398">
                <a:tc>
                  <a:txBody>
                    <a:bodyPr/>
                    <a:lstStyle/>
                    <a:p>
                      <a:pPr>
                        <a:lnSpc>
                          <a:spcPct val="115000"/>
                        </a:lnSpc>
                        <a:spcAft>
                          <a:spcPts val="1000"/>
                        </a:spcAft>
                      </a:pPr>
                      <a:r>
                        <a:rPr lang="lv-LV" sz="1800" b="1" dirty="0">
                          <a:solidFill>
                            <a:srgbClr val="000000"/>
                          </a:solidFill>
                          <a:effectLst/>
                          <a:latin typeface="Arial" panose="020B0604020202020204" pitchFamily="34" charset="0"/>
                          <a:cs typeface="Arial" panose="020B0604020202020204" pitchFamily="34" charset="0"/>
                        </a:rPr>
                        <a:t>Baseline</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GBM</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0.99998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0.99908</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0.97754</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0.39604</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0.0047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0.0042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-0.0005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1992735444"/>
                  </a:ext>
                </a:extLst>
              </a:tr>
              <a:tr h="489398">
                <a:tc>
                  <a:txBody>
                    <a:bodyPr/>
                    <a:lstStyle/>
                    <a:p>
                      <a:pPr>
                        <a:lnSpc>
                          <a:spcPct val="115000"/>
                        </a:lnSpc>
                        <a:spcAft>
                          <a:spcPts val="1000"/>
                        </a:spcAft>
                      </a:pPr>
                      <a:r>
                        <a:rPr lang="lv-LV" sz="1800" b="1" dirty="0">
                          <a:solidFill>
                            <a:srgbClr val="000000"/>
                          </a:solidFill>
                          <a:effectLst/>
                          <a:latin typeface="Arial" panose="020B0604020202020204" pitchFamily="34" charset="0"/>
                          <a:cs typeface="Arial" panose="020B0604020202020204" pitchFamily="34" charset="0"/>
                        </a:rPr>
                        <a:t>Baseline</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RF</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0.99998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0.99878</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0.97500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0.49505</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0.0053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0.0087</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+0.0034</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3672362685"/>
                  </a:ext>
                </a:extLst>
              </a:tr>
              <a:tr h="489398">
                <a:tc>
                  <a:txBody>
                    <a:bodyPr/>
                    <a:lstStyle/>
                    <a:p>
                      <a:pPr>
                        <a:lnSpc>
                          <a:spcPct val="115000"/>
                        </a:lnSpc>
                        <a:spcAft>
                          <a:spcPts val="1000"/>
                        </a:spcAft>
                      </a:pPr>
                      <a:r>
                        <a:rPr lang="lv-LV" sz="1800" b="1" dirty="0">
                          <a:solidFill>
                            <a:srgbClr val="000000"/>
                          </a:solidFill>
                          <a:effectLst/>
                          <a:latin typeface="Arial" panose="020B0604020202020204" pitchFamily="34" charset="0"/>
                          <a:cs typeface="Arial" panose="020B0604020202020204" pitchFamily="34" charset="0"/>
                        </a:rPr>
                        <a:t>Baseline</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XGB</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0.99999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0.99931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0.97999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0.29703</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0.0045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0.0038</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-0.0007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447966414"/>
                  </a:ext>
                </a:extLst>
              </a:tr>
              <a:tr h="489398">
                <a:tc>
                  <a:txBody>
                    <a:bodyPr/>
                    <a:lstStyle/>
                    <a:p>
                      <a:pPr>
                        <a:lnSpc>
                          <a:spcPct val="115000"/>
                        </a:lnSpc>
                        <a:spcAft>
                          <a:spcPts val="1000"/>
                        </a:spcAft>
                      </a:pPr>
                      <a:r>
                        <a:rPr lang="lv-LV" sz="1800" b="1">
                          <a:solidFill>
                            <a:srgbClr val="000000"/>
                          </a:solidFill>
                          <a:effectLst/>
                          <a:latin typeface="Arial" panose="020B0604020202020204" pitchFamily="34" charset="0"/>
                          <a:cs typeface="Arial" panose="020B0604020202020204" pitchFamily="34" charset="0"/>
                        </a:rPr>
                        <a:t>SMOTE</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GBM</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0.99984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0.99444</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1.00000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0.09901</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0.0192</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0.0198</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+0.0006</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398816417"/>
                  </a:ext>
                </a:extLst>
              </a:tr>
              <a:tr h="489398">
                <a:tc>
                  <a:txBody>
                    <a:bodyPr/>
                    <a:lstStyle/>
                    <a:p>
                      <a:pPr>
                        <a:lnSpc>
                          <a:spcPct val="115000"/>
                        </a:lnSpc>
                        <a:spcAft>
                          <a:spcPts val="1000"/>
                        </a:spcAft>
                      </a:pPr>
                      <a:r>
                        <a:rPr lang="lv-LV" sz="1800" b="1" dirty="0">
                          <a:solidFill>
                            <a:srgbClr val="000000"/>
                          </a:solidFill>
                          <a:effectLst/>
                          <a:latin typeface="Arial" panose="020B0604020202020204" pitchFamily="34" charset="0"/>
                          <a:cs typeface="Arial" panose="020B0604020202020204" pitchFamily="34" charset="0"/>
                        </a:rPr>
                        <a:t>SMOTE</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RF</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0.99997</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0.99795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0.97949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0.39604</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0.0072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0.0038</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-0.0034</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1741633846"/>
                  </a:ext>
                </a:extLst>
              </a:tr>
              <a:tr h="489398">
                <a:tc>
                  <a:txBody>
                    <a:bodyPr/>
                    <a:lstStyle/>
                    <a:p>
                      <a:pPr>
                        <a:lnSpc>
                          <a:spcPct val="115000"/>
                        </a:lnSpc>
                        <a:spcAft>
                          <a:spcPts val="1000"/>
                        </a:spcAft>
                      </a:pPr>
                      <a:r>
                        <a:rPr lang="lv-LV" sz="1800" b="1" dirty="0">
                          <a:solidFill>
                            <a:srgbClr val="000000"/>
                          </a:solidFill>
                          <a:effectLst/>
                          <a:latin typeface="Arial" panose="020B0604020202020204" pitchFamily="34" charset="0"/>
                          <a:cs typeface="Arial" panose="020B0604020202020204" pitchFamily="34" charset="0"/>
                        </a:rPr>
                        <a:t>SMOTE</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XGB</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0.99999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a:solidFill>
                            <a:srgbClr val="000000"/>
                          </a:solidFill>
                          <a:effectLst/>
                          <a:latin typeface="Arial" panose="020B0604020202020204" pitchFamily="34" charset="0"/>
                          <a:cs typeface="Arial" panose="020B0604020202020204" pitchFamily="34" charset="0"/>
                        </a:rPr>
                        <a:t>0.99912</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0.98799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1.00000</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0.19802</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0.0099</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0.0135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dirty="0">
                          <a:solidFill>
                            <a:srgbClr val="000000"/>
                          </a:solidFill>
                          <a:effectLst/>
                          <a:latin typeface="Arial" panose="020B0604020202020204" pitchFamily="34" charset="0"/>
                          <a:cs typeface="Arial" panose="020B0604020202020204" pitchFamily="34" charset="0"/>
                        </a:rPr>
                        <a:t>+0.0035</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3098261781"/>
                  </a:ext>
                </a:extLst>
              </a:tr>
            </a:tbl>
          </a:graphicData>
        </a:graphic>
      </p:graphicFrame>
      <p:sp>
        <p:nvSpPr>
          <p:cNvPr id="4" name="Slide Number Placeholder 3">
            <a:extLst>
              <a:ext uri="{FF2B5EF4-FFF2-40B4-BE49-F238E27FC236}">
                <a16:creationId xmlns:a16="http://schemas.microsoft.com/office/drawing/2014/main" id="{BC35279A-52BD-478A-AEC4-5FECE2EA589D}"/>
              </a:ext>
            </a:extLst>
          </p:cNvPr>
          <p:cNvSpPr>
            <a:spLocks noGrp="1"/>
          </p:cNvSpPr>
          <p:nvPr>
            <p:ph type="sldNum" sz="quarter" idx="12"/>
          </p:nvPr>
        </p:nvSpPr>
        <p:spPr/>
        <p:txBody>
          <a:bodyPr/>
          <a:lstStyle/>
          <a:p>
            <a:pPr algn="ctr"/>
            <a:fld id="{1478D195-628D-428E-B98B-35B3E9B486B6}" type="slidenum">
              <a:rPr lang="en-US" smtClean="0"/>
              <a:pPr algn="ctr"/>
              <a:t>24</a:t>
            </a:fld>
            <a:endParaRPr lang="en-US"/>
          </a:p>
        </p:txBody>
      </p:sp>
    </p:spTree>
    <p:extLst>
      <p:ext uri="{BB962C8B-B14F-4D97-AF65-F5344CB8AC3E}">
        <p14:creationId xmlns:p14="http://schemas.microsoft.com/office/powerpoint/2010/main" val="2682605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40418-A5A9-4756-BA5F-F960B0589C5A}"/>
              </a:ext>
            </a:extLst>
          </p:cNvPr>
          <p:cNvSpPr>
            <a:spLocks noGrp="1"/>
          </p:cNvSpPr>
          <p:nvPr>
            <p:ph type="title"/>
          </p:nvPr>
        </p:nvSpPr>
        <p:spPr/>
        <p:txBody>
          <a:bodyPr>
            <a:normAutofit fontScale="90000"/>
          </a:bodyPr>
          <a:lstStyle/>
          <a:p>
            <a:r>
              <a:rPr lang="en-US" dirty="0"/>
              <a:t>Out of Fold and Platt calibration</a:t>
            </a:r>
            <a:r>
              <a:rPr lang="ru-RU" dirty="0"/>
              <a:t> </a:t>
            </a:r>
            <a:r>
              <a:rPr lang="en-US" dirty="0"/>
              <a:t>Syn</a:t>
            </a:r>
            <a:r>
              <a:rPr lang="ru-RU" dirty="0"/>
              <a:t>5</a:t>
            </a:r>
            <a:r>
              <a:rPr lang="en-US" dirty="0"/>
              <a:t>00</a:t>
            </a:r>
          </a:p>
        </p:txBody>
      </p:sp>
      <p:graphicFrame>
        <p:nvGraphicFramePr>
          <p:cNvPr id="5" name="Content Placeholder 4">
            <a:extLst>
              <a:ext uri="{FF2B5EF4-FFF2-40B4-BE49-F238E27FC236}">
                <a16:creationId xmlns:a16="http://schemas.microsoft.com/office/drawing/2014/main" id="{43DA0C55-8D93-4724-8207-CDBC98BE3A30}"/>
              </a:ext>
            </a:extLst>
          </p:cNvPr>
          <p:cNvGraphicFramePr>
            <a:graphicFrameLocks noGrp="1"/>
          </p:cNvGraphicFramePr>
          <p:nvPr>
            <p:ph idx="1"/>
            <p:extLst>
              <p:ext uri="{D42A27DB-BD31-4B8C-83A1-F6EECF244321}">
                <p14:modId xmlns:p14="http://schemas.microsoft.com/office/powerpoint/2010/main" val="2786539074"/>
              </p:ext>
            </p:extLst>
          </p:nvPr>
        </p:nvGraphicFramePr>
        <p:xfrm>
          <a:off x="420688" y="881506"/>
          <a:ext cx="11288710" cy="5189097"/>
        </p:xfrm>
        <a:graphic>
          <a:graphicData uri="http://schemas.openxmlformats.org/drawingml/2006/table">
            <a:tbl>
              <a:tblPr firstRow="1" firstCol="1" bandRow="1">
                <a:tableStyleId>{5FD0F851-EC5A-4D38-B0AD-8093EC10F338}</a:tableStyleId>
              </a:tblPr>
              <a:tblGrid>
                <a:gridCol w="1128871">
                  <a:extLst>
                    <a:ext uri="{9D8B030D-6E8A-4147-A177-3AD203B41FA5}">
                      <a16:colId xmlns:a16="http://schemas.microsoft.com/office/drawing/2014/main" val="3480008458"/>
                    </a:ext>
                  </a:extLst>
                </a:gridCol>
                <a:gridCol w="1128871">
                  <a:extLst>
                    <a:ext uri="{9D8B030D-6E8A-4147-A177-3AD203B41FA5}">
                      <a16:colId xmlns:a16="http://schemas.microsoft.com/office/drawing/2014/main" val="3345776453"/>
                    </a:ext>
                  </a:extLst>
                </a:gridCol>
                <a:gridCol w="1128871">
                  <a:extLst>
                    <a:ext uri="{9D8B030D-6E8A-4147-A177-3AD203B41FA5}">
                      <a16:colId xmlns:a16="http://schemas.microsoft.com/office/drawing/2014/main" val="532771808"/>
                    </a:ext>
                  </a:extLst>
                </a:gridCol>
                <a:gridCol w="1128871">
                  <a:extLst>
                    <a:ext uri="{9D8B030D-6E8A-4147-A177-3AD203B41FA5}">
                      <a16:colId xmlns:a16="http://schemas.microsoft.com/office/drawing/2014/main" val="3867185578"/>
                    </a:ext>
                  </a:extLst>
                </a:gridCol>
                <a:gridCol w="1128871">
                  <a:extLst>
                    <a:ext uri="{9D8B030D-6E8A-4147-A177-3AD203B41FA5}">
                      <a16:colId xmlns:a16="http://schemas.microsoft.com/office/drawing/2014/main" val="3586908489"/>
                    </a:ext>
                  </a:extLst>
                </a:gridCol>
                <a:gridCol w="1128871">
                  <a:extLst>
                    <a:ext uri="{9D8B030D-6E8A-4147-A177-3AD203B41FA5}">
                      <a16:colId xmlns:a16="http://schemas.microsoft.com/office/drawing/2014/main" val="3310342125"/>
                    </a:ext>
                  </a:extLst>
                </a:gridCol>
                <a:gridCol w="1128871">
                  <a:extLst>
                    <a:ext uri="{9D8B030D-6E8A-4147-A177-3AD203B41FA5}">
                      <a16:colId xmlns:a16="http://schemas.microsoft.com/office/drawing/2014/main" val="1168359838"/>
                    </a:ext>
                  </a:extLst>
                </a:gridCol>
                <a:gridCol w="1128871">
                  <a:extLst>
                    <a:ext uri="{9D8B030D-6E8A-4147-A177-3AD203B41FA5}">
                      <a16:colId xmlns:a16="http://schemas.microsoft.com/office/drawing/2014/main" val="3529584811"/>
                    </a:ext>
                  </a:extLst>
                </a:gridCol>
                <a:gridCol w="1128871">
                  <a:extLst>
                    <a:ext uri="{9D8B030D-6E8A-4147-A177-3AD203B41FA5}">
                      <a16:colId xmlns:a16="http://schemas.microsoft.com/office/drawing/2014/main" val="3627917734"/>
                    </a:ext>
                  </a:extLst>
                </a:gridCol>
                <a:gridCol w="1128871">
                  <a:extLst>
                    <a:ext uri="{9D8B030D-6E8A-4147-A177-3AD203B41FA5}">
                      <a16:colId xmlns:a16="http://schemas.microsoft.com/office/drawing/2014/main" val="2375198669"/>
                    </a:ext>
                  </a:extLst>
                </a:gridCol>
              </a:tblGrid>
              <a:tr h="961569">
                <a:tc>
                  <a:txBody>
                    <a:bodyPr/>
                    <a:lstStyle/>
                    <a:p>
                      <a:pPr>
                        <a:lnSpc>
                          <a:spcPct val="115000"/>
                        </a:lnSpc>
                        <a:spcAft>
                          <a:spcPts val="1000"/>
                        </a:spcAft>
                      </a:pPr>
                      <a:r>
                        <a:rPr lang="lv-LV" sz="1800" b="1" dirty="0">
                          <a:effectLst/>
                          <a:latin typeface="Arial" panose="020B0604020202020204" pitchFamily="34" charset="0"/>
                          <a:cs typeface="Arial" panose="020B0604020202020204" pitchFamily="34" charset="0"/>
                        </a:rPr>
                        <a:t>Variant</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dirty="0" err="1">
                          <a:effectLst/>
                          <a:latin typeface="Arial" panose="020B0604020202020204" pitchFamily="34" charset="0"/>
                          <a:cs typeface="Arial" panose="020B0604020202020204" pitchFamily="34" charset="0"/>
                        </a:rPr>
                        <a:t>Model</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ROC-AUC</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dirty="0">
                          <a:effectLst/>
                          <a:latin typeface="Arial" panose="020B0604020202020204" pitchFamily="34" charset="0"/>
                          <a:cs typeface="Arial" panose="020B0604020202020204" pitchFamily="34" charset="0"/>
                        </a:rPr>
                        <a:t>PR-AUC</a:t>
                      </a:r>
                      <a:endParaRPr lang="en-US" sz="24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Precision@R</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Recall</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FP/1000</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Brier raw</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Brier Platt</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800" b="1">
                          <a:effectLst/>
                          <a:latin typeface="Arial" panose="020B0604020202020204" pitchFamily="34" charset="0"/>
                          <a:cs typeface="Arial" panose="020B0604020202020204" pitchFamily="34" charset="0"/>
                        </a:rPr>
                        <a:t>Platt-raw</a:t>
                      </a:r>
                      <a:endParaRPr lang="en-US" sz="24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990736882"/>
                  </a:ext>
                </a:extLst>
              </a:tr>
              <a:tr h="704588">
                <a:tc>
                  <a:txBody>
                    <a:bodyPr/>
                    <a:lstStyle/>
                    <a:p>
                      <a:pPr>
                        <a:lnSpc>
                          <a:spcPct val="115000"/>
                        </a:lnSpc>
                        <a:spcAft>
                          <a:spcPts val="1000"/>
                        </a:spcAft>
                      </a:pPr>
                      <a:r>
                        <a:rPr lang="lv-LV" sz="1600" b="1" dirty="0">
                          <a:effectLst/>
                          <a:latin typeface="Arial" panose="020B0604020202020204" pitchFamily="34" charset="0"/>
                          <a:ea typeface="Times New Roman" panose="02020603050405020304" pitchFamily="18" charset="0"/>
                          <a:cs typeface="Arial" panose="020B0604020202020204" pitchFamily="34" charset="0"/>
                        </a:rPr>
                        <a:t>Baseline</a:t>
                      </a:r>
                      <a:endParaRPr lang="en-US" sz="1600" b="1"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a:solidFill>
                            <a:srgbClr val="000000"/>
                          </a:solidFill>
                          <a:effectLst/>
                          <a:latin typeface="Arial" panose="020B0604020202020204" pitchFamily="34" charset="0"/>
                          <a:ea typeface="Times New Roman" panose="02020603050405020304" pitchFamily="18" charset="0"/>
                          <a:cs typeface="Arial" panose="020B0604020202020204" pitchFamily="34" charset="0"/>
                        </a:rPr>
                        <a:t>GBM</a:t>
                      </a:r>
                      <a:endParaRPr lang="en-US" sz="1600" b="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0.83488</a:t>
                      </a:r>
                      <a:endParaRPr lang="en-US"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a:solidFill>
                            <a:srgbClr val="000000"/>
                          </a:solidFill>
                          <a:effectLst/>
                          <a:latin typeface="Arial" panose="020B0604020202020204" pitchFamily="34" charset="0"/>
                          <a:ea typeface="Times New Roman" panose="02020603050405020304" pitchFamily="18" charset="0"/>
                          <a:cs typeface="Arial" panose="020B0604020202020204" pitchFamily="34" charset="0"/>
                        </a:rPr>
                        <a:t>0.45761</a:t>
                      </a:r>
                      <a:endParaRPr lang="en-US" sz="1600" b="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0.06941</a:t>
                      </a:r>
                      <a:endParaRPr lang="en-US" sz="1600" b="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0.98050</a:t>
                      </a:r>
                      <a:endParaRPr lang="en-US" sz="1600" b="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a:solidFill>
                            <a:srgbClr val="000000"/>
                          </a:solidFill>
                          <a:effectLst/>
                          <a:latin typeface="Arial" panose="020B0604020202020204" pitchFamily="34" charset="0"/>
                          <a:ea typeface="Times New Roman" panose="02020603050405020304" pitchFamily="18" charset="0"/>
                          <a:cs typeface="Arial" panose="020B0604020202020204" pitchFamily="34" charset="0"/>
                        </a:rPr>
                        <a:t>638.65347</a:t>
                      </a:r>
                      <a:endParaRPr lang="en-US" sz="1600" b="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a:solidFill>
                            <a:srgbClr val="000000"/>
                          </a:solidFill>
                          <a:effectLst/>
                          <a:latin typeface="Arial" panose="020B0604020202020204" pitchFamily="34" charset="0"/>
                          <a:ea typeface="Times New Roman" panose="02020603050405020304" pitchFamily="18" charset="0"/>
                          <a:cs typeface="Arial" panose="020B0604020202020204" pitchFamily="34" charset="0"/>
                        </a:rPr>
                        <a:t>0.1193</a:t>
                      </a:r>
                      <a:endParaRPr lang="en-US" sz="1600" b="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0.0393</a:t>
                      </a:r>
                      <a:endParaRPr lang="en-US" sz="1600" b="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b="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-0.0800</a:t>
                      </a:r>
                      <a:endParaRPr lang="en-US" sz="1600" b="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2551138981"/>
                  </a:ext>
                </a:extLst>
              </a:tr>
              <a:tr h="704588">
                <a:tc>
                  <a:txBody>
                    <a:bodyPr/>
                    <a:lstStyle/>
                    <a:p>
                      <a:pPr>
                        <a:lnSpc>
                          <a:spcPct val="115000"/>
                        </a:lnSpc>
                        <a:spcAft>
                          <a:spcPts val="1000"/>
                        </a:spcAft>
                      </a:pPr>
                      <a:r>
                        <a:rPr lang="lv-LV"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Baseline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RF</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0.79676</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0.44866</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0.05537</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0.98133</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803.16832</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0.0377</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0.0366</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-0.0011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900077341"/>
                  </a:ext>
                </a:extLst>
              </a:tr>
              <a:tr h="704588">
                <a:tc>
                  <a:txBody>
                    <a:bodyPr/>
                    <a:lstStyle/>
                    <a:p>
                      <a:pPr>
                        <a:lnSpc>
                          <a:spcPct val="115000"/>
                        </a:lnSpc>
                        <a:spcAft>
                          <a:spcPts val="1000"/>
                        </a:spcAft>
                      </a:pPr>
                      <a:r>
                        <a:rPr lang="lv-LV" sz="1600" b="1"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Baseline</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XGB</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0.83489</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0.46955</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0.06881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0.98050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643.82178</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0.1017</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0.0397</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-0.0619</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accent5">
                        <a:lumMod val="20000"/>
                        <a:lumOff val="80000"/>
                      </a:schemeClr>
                    </a:solidFill>
                  </a:tcPr>
                </a:tc>
                <a:extLst>
                  <a:ext uri="{0D108BD9-81ED-4DB2-BD59-A6C34878D82A}">
                    <a16:rowId xmlns:a16="http://schemas.microsoft.com/office/drawing/2014/main" val="2895509876"/>
                  </a:ext>
                </a:extLst>
              </a:tr>
              <a:tr h="704588">
                <a:tc>
                  <a:txBody>
                    <a:bodyPr/>
                    <a:lstStyle/>
                    <a:p>
                      <a:pPr>
                        <a:lnSpc>
                          <a:spcPct val="115000"/>
                        </a:lnSpc>
                        <a:spcAft>
                          <a:spcPts val="1000"/>
                        </a:spcAft>
                      </a:pPr>
                      <a:r>
                        <a:rPr lang="lv-LV" sz="16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ROSE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GBM</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0.83084</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0.47165</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0.06782</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0.98050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650.97030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0.9291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0.9492</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+0.0201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1992735444"/>
                  </a:ext>
                </a:extLst>
              </a:tr>
              <a:tr h="704588">
                <a:tc>
                  <a:txBody>
                    <a:bodyPr/>
                    <a:lstStyle/>
                    <a:p>
                      <a:pPr>
                        <a:lnSpc>
                          <a:spcPct val="115000"/>
                        </a:lnSpc>
                        <a:spcAft>
                          <a:spcPts val="1000"/>
                        </a:spcAft>
                      </a:pPr>
                      <a:r>
                        <a:rPr lang="lv-LV" sz="1600" b="1">
                          <a:effectLst/>
                          <a:latin typeface="Arial" panose="020B0604020202020204" pitchFamily="34" charset="0"/>
                          <a:ea typeface="Times New Roman" panose="02020603050405020304" pitchFamily="18" charset="0"/>
                          <a:cs typeface="Arial" panose="020B0604020202020204" pitchFamily="34" charset="0"/>
                        </a:rPr>
                        <a:t>ROSE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effectLst/>
                          <a:latin typeface="Arial" panose="020B0604020202020204" pitchFamily="34" charset="0"/>
                          <a:ea typeface="Times New Roman" panose="02020603050405020304" pitchFamily="18" charset="0"/>
                          <a:cs typeface="Arial" panose="020B0604020202020204" pitchFamily="34" charset="0"/>
                        </a:rPr>
                        <a:t>RF</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dirty="0">
                          <a:effectLst/>
                          <a:latin typeface="Arial" panose="020B0604020202020204" pitchFamily="34" charset="0"/>
                          <a:ea typeface="Times New Roman" panose="02020603050405020304" pitchFamily="18" charset="0"/>
                          <a:cs typeface="Arial" panose="020B0604020202020204" pitchFamily="34" charset="0"/>
                        </a:rPr>
                        <a:t>0.79611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effectLst/>
                          <a:latin typeface="Arial" panose="020B0604020202020204" pitchFamily="34" charset="0"/>
                          <a:ea typeface="Times New Roman" panose="02020603050405020304" pitchFamily="18" charset="0"/>
                          <a:cs typeface="Arial" panose="020B0604020202020204" pitchFamily="34" charset="0"/>
                        </a:rPr>
                        <a:t>0.45045</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dirty="0">
                          <a:effectLst/>
                          <a:latin typeface="Arial" panose="020B0604020202020204" pitchFamily="34" charset="0"/>
                          <a:ea typeface="Times New Roman" panose="02020603050405020304" pitchFamily="18" charset="0"/>
                          <a:cs typeface="Arial" panose="020B0604020202020204" pitchFamily="34" charset="0"/>
                        </a:rPr>
                        <a:t>0.05414</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effectLst/>
                          <a:latin typeface="Arial" panose="020B0604020202020204" pitchFamily="34" charset="0"/>
                          <a:ea typeface="Times New Roman" panose="02020603050405020304" pitchFamily="18" charset="0"/>
                          <a:cs typeface="Arial" panose="020B0604020202020204" pitchFamily="34" charset="0"/>
                        </a:rPr>
                        <a:t>0.98299</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effectLst/>
                          <a:latin typeface="Arial" panose="020B0604020202020204" pitchFamily="34" charset="0"/>
                          <a:ea typeface="Times New Roman" panose="02020603050405020304" pitchFamily="18" charset="0"/>
                          <a:cs typeface="Arial" panose="020B0604020202020204" pitchFamily="34" charset="0"/>
                        </a:rPr>
                        <a:t>820.81188</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effectLst/>
                          <a:latin typeface="Arial" panose="020B0604020202020204" pitchFamily="34" charset="0"/>
                          <a:ea typeface="Times New Roman" panose="02020603050405020304" pitchFamily="18" charset="0"/>
                          <a:cs typeface="Arial" panose="020B0604020202020204" pitchFamily="34" charset="0"/>
                        </a:rPr>
                        <a:t>0.9474</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dirty="0">
                          <a:effectLst/>
                          <a:latin typeface="Arial" panose="020B0604020202020204" pitchFamily="34" charset="0"/>
                          <a:ea typeface="Times New Roman" panose="02020603050405020304" pitchFamily="18" charset="0"/>
                          <a:cs typeface="Arial" panose="020B0604020202020204" pitchFamily="34" charset="0"/>
                        </a:rPr>
                        <a:t>0.9491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effectLst/>
                          <a:latin typeface="Arial" panose="020B0604020202020204" pitchFamily="34" charset="0"/>
                          <a:ea typeface="Times New Roman" panose="02020603050405020304" pitchFamily="18" charset="0"/>
                          <a:cs typeface="Arial" panose="020B0604020202020204" pitchFamily="34" charset="0"/>
                        </a:rPr>
                        <a:t>+0.0017</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3672362685"/>
                  </a:ext>
                </a:extLst>
              </a:tr>
              <a:tr h="704588">
                <a:tc>
                  <a:txBody>
                    <a:bodyPr/>
                    <a:lstStyle/>
                    <a:p>
                      <a:pPr>
                        <a:lnSpc>
                          <a:spcPct val="115000"/>
                        </a:lnSpc>
                        <a:spcAft>
                          <a:spcPts val="1000"/>
                        </a:spcAft>
                      </a:pPr>
                      <a:r>
                        <a:rPr lang="lv-LV" sz="1600" b="1">
                          <a:solidFill>
                            <a:srgbClr val="000000"/>
                          </a:solidFill>
                          <a:effectLst/>
                          <a:latin typeface="Arial" panose="020B0604020202020204" pitchFamily="34" charset="0"/>
                          <a:ea typeface="Times New Roman" panose="02020603050405020304" pitchFamily="18" charset="0"/>
                          <a:cs typeface="Arial" panose="020B0604020202020204" pitchFamily="34" charset="0"/>
                        </a:rPr>
                        <a:t>ROSE</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XGB</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0.83988</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0.48527</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0.06963</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0.98050</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631.62376</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0.9501</a:t>
                      </a:r>
                      <a:endParaRPr lang="en-US" sz="160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0.9502</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tc>
                  <a:txBody>
                    <a:bodyPr/>
                    <a:lstStyle/>
                    <a:p>
                      <a:pPr>
                        <a:lnSpc>
                          <a:spcPct val="115000"/>
                        </a:lnSpc>
                        <a:spcAft>
                          <a:spcPts val="1000"/>
                        </a:spcAft>
                      </a:pPr>
                      <a:r>
                        <a:rPr lang="lv-LV" sz="16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+0.0001</a:t>
                      </a:r>
                      <a:endParaRPr lang="en-US" sz="1600" dirty="0">
                        <a:effectLst/>
                        <a:latin typeface="Arial" panose="020B0604020202020204" pitchFamily="34" charset="0"/>
                        <a:ea typeface="Times New Roman" panose="02020603050405020304" pitchFamily="18" charset="0"/>
                        <a:cs typeface="Arial" panose="020B0604020202020204" pitchFamily="34" charset="0"/>
                      </a:endParaRPr>
                    </a:p>
                  </a:txBody>
                  <a:tcPr marL="68580" marR="68580" marT="0" marB="0">
                    <a:solidFill>
                      <a:schemeClr val="bg1"/>
                    </a:solidFill>
                  </a:tcPr>
                </a:tc>
                <a:extLst>
                  <a:ext uri="{0D108BD9-81ED-4DB2-BD59-A6C34878D82A}">
                    <a16:rowId xmlns:a16="http://schemas.microsoft.com/office/drawing/2014/main" val="447966414"/>
                  </a:ext>
                </a:extLst>
              </a:tr>
            </a:tbl>
          </a:graphicData>
        </a:graphic>
      </p:graphicFrame>
      <p:sp>
        <p:nvSpPr>
          <p:cNvPr id="4" name="Slide Number Placeholder 3">
            <a:extLst>
              <a:ext uri="{FF2B5EF4-FFF2-40B4-BE49-F238E27FC236}">
                <a16:creationId xmlns:a16="http://schemas.microsoft.com/office/drawing/2014/main" id="{BC35279A-52BD-478A-AEC4-5FECE2EA589D}"/>
              </a:ext>
            </a:extLst>
          </p:cNvPr>
          <p:cNvSpPr>
            <a:spLocks noGrp="1"/>
          </p:cNvSpPr>
          <p:nvPr>
            <p:ph type="sldNum" sz="quarter" idx="12"/>
          </p:nvPr>
        </p:nvSpPr>
        <p:spPr/>
        <p:txBody>
          <a:bodyPr/>
          <a:lstStyle/>
          <a:p>
            <a:pPr algn="ctr"/>
            <a:fld id="{1478D195-628D-428E-B98B-35B3E9B486B6}" type="slidenum">
              <a:rPr lang="en-US" smtClean="0"/>
              <a:pPr algn="ctr"/>
              <a:t>25</a:t>
            </a:fld>
            <a:endParaRPr lang="en-US"/>
          </a:p>
        </p:txBody>
      </p:sp>
    </p:spTree>
    <p:extLst>
      <p:ext uri="{BB962C8B-B14F-4D97-AF65-F5344CB8AC3E}">
        <p14:creationId xmlns:p14="http://schemas.microsoft.com/office/powerpoint/2010/main" val="4083168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6300</TotalTime>
  <Words>6058</Words>
  <Application>Microsoft Office PowerPoint</Application>
  <PresentationFormat>Widescreen</PresentationFormat>
  <Paragraphs>1287</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Calibri Light</vt:lpstr>
      <vt:lpstr>Google Sans</vt:lpstr>
      <vt:lpstr>Times New Roman</vt:lpstr>
      <vt:lpstr>Office Theme</vt:lpstr>
      <vt:lpstr>Automated Risk-Scoring System (Framework) for Financial Institutions</vt:lpstr>
      <vt:lpstr>Problem Statement</vt:lpstr>
      <vt:lpstr>PowerPoint Presentation</vt:lpstr>
      <vt:lpstr>Literature Review and Research Gaps</vt:lpstr>
      <vt:lpstr>Research Limitations</vt:lpstr>
      <vt:lpstr>Framework Design</vt:lpstr>
      <vt:lpstr>GAN-Based Synthetic Data</vt:lpstr>
      <vt:lpstr>Rule-Based Synthetic Data</vt:lpstr>
      <vt:lpstr>Model Selection</vt:lpstr>
      <vt:lpstr>Balancing methods</vt:lpstr>
      <vt:lpstr>Binary model (Full retrain vs Incremental)</vt:lpstr>
      <vt:lpstr>Out of Fold and Platt calibration Syn100</vt:lpstr>
      <vt:lpstr>Out of Fold and Platt calibration Syn500</vt:lpstr>
      <vt:lpstr>Multiclass model Syn100 Baseline</vt:lpstr>
      <vt:lpstr>Multiclass model Syn500 Baseline</vt:lpstr>
      <vt:lpstr>Conclusion</vt:lpstr>
      <vt:lpstr>Scope and Contributions</vt:lpstr>
      <vt:lpstr>Thank you to Dr Sc. Eng. Nadezda Spiridovska and  Dr Sc. Eng. Jelena Kijonoka for their valuable supervision and advice at every stage of the research</vt:lpstr>
      <vt:lpstr>Thank you for your attention</vt:lpstr>
      <vt:lpstr>Framework Workflow</vt:lpstr>
      <vt:lpstr>Model Selection with H2O AutoML</vt:lpstr>
      <vt:lpstr>Binary model Syn100</vt:lpstr>
      <vt:lpstr>Binary model Syn500</vt:lpstr>
      <vt:lpstr>Out of Fold and Platt calibration Syn100</vt:lpstr>
      <vt:lpstr>Out of Fold and Platt calibration Syn500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Mihails Savrasovs</dc:creator>
  <cp:lastModifiedBy>Natalja Kryuchkova</cp:lastModifiedBy>
  <cp:revision>196</cp:revision>
  <dcterms:created xsi:type="dcterms:W3CDTF">2020-11-12T14:52:17Z</dcterms:created>
  <dcterms:modified xsi:type="dcterms:W3CDTF">2026-01-12T22:09:17Z</dcterms:modified>
</cp:coreProperties>
</file>