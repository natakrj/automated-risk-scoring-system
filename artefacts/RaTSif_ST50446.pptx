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7" r:id="rId2"/>
  </p:sldMasterIdLst>
  <p:notesMasterIdLst>
    <p:notesMasterId r:id="rId15"/>
  </p:notesMasterIdLst>
  <p:sldIdLst>
    <p:sldId id="256" r:id="rId3"/>
    <p:sldId id="257" r:id="rId4"/>
    <p:sldId id="258" r:id="rId5"/>
    <p:sldId id="279" r:id="rId6"/>
    <p:sldId id="259" r:id="rId7"/>
    <p:sldId id="260" r:id="rId8"/>
    <p:sldId id="270" r:id="rId9"/>
    <p:sldId id="273" r:id="rId10"/>
    <p:sldId id="277" r:id="rId11"/>
    <p:sldId id="262" r:id="rId12"/>
    <p:sldId id="268" r:id="rId13"/>
    <p:sldId id="278" r:id="rId14"/>
  </p:sldIdLst>
  <p:sldSz cx="8897938" cy="6673850"/>
  <p:notesSz cx="11430000" cy="6673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70" userDrawn="1">
          <p15:clr>
            <a:srgbClr val="A4A3A4"/>
          </p15:clr>
        </p15:guide>
        <p15:guide id="2" pos="16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1EB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65" autoAdjust="0"/>
  </p:normalViewPr>
  <p:slideViewPr>
    <p:cSldViewPr>
      <p:cViewPr varScale="1">
        <p:scale>
          <a:sx n="87" d="100"/>
          <a:sy n="87" d="100"/>
        </p:scale>
        <p:origin x="1397" y="67"/>
      </p:cViewPr>
      <p:guideLst>
        <p:guide orient="horz" pos="2870"/>
        <p:guide pos="168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1406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265375-E9C5-410C-A63F-64E412641872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3253273-20AD-458A-97AA-C7EF7138E0BF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Data Loading: Each transaction file (wave) loaded separately</a:t>
          </a:r>
        </a:p>
      </dgm:t>
    </dgm:pt>
    <dgm:pt modelId="{8D72467C-783C-49BA-8999-109870351B32}" type="parTrans" cxnId="{99AF79B4-F426-40ED-B9E1-77BBB953E57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8142D4-61EA-43B3-98D6-490D63FD601D}" type="sibTrans" cxnId="{99AF79B4-F426-40ED-B9E1-77BBB953E57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1A9834-BC94-483F-BDFB-9BAC27F7B929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Engineering:</a:t>
          </a:r>
        </a:p>
      </dgm:t>
    </dgm:pt>
    <dgm:pt modelId="{F5626C78-4AB2-47AB-A5AB-C4ABE7B7FF1B}" type="parTrans" cxnId="{DA63DD72-1D12-49B1-9EB7-76A3C3B0A62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9E22B9-5CD8-49CB-8E7B-B6179F373FCB}" type="sibTrans" cxnId="{DA63DD72-1D12-49B1-9EB7-76A3C3B0A62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0DD4E0-BCFE-4D6D-85D7-90192890F620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Text vectorization using TF-IDF (100 features)</a:t>
          </a:r>
        </a:p>
      </dgm:t>
    </dgm:pt>
    <dgm:pt modelId="{8165C392-91E6-44FB-A3E8-0BEC2B0AF419}" type="parTrans" cxnId="{2E782DE0-C747-4B0A-A643-AD169304A0F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171365-8593-4A6F-9174-679AB4F15077}" type="sibTrans" cxnId="{2E782DE0-C747-4B0A-A643-AD169304A0F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5B6DEB-2C0D-41BA-AFFC-AC16D6F65474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Date features (day of week, month, weekend)</a:t>
          </a:r>
        </a:p>
      </dgm:t>
    </dgm:pt>
    <dgm:pt modelId="{B40BEF17-AB7F-4E2C-AC96-C9ADF82B7AB0}" type="parTrans" cxnId="{A53310D9-80BE-4A5F-AC67-D259F170C10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2B0711-17E1-432D-9EDC-1D1F66FB95ED}" type="sibTrans" cxnId="{A53310D9-80BE-4A5F-AC67-D259F170C10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FD36C7-A5F4-4426-8FF8-4B64E9C3F977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Amount features (log transform, binning) Transaction pattern features</a:t>
          </a:r>
        </a:p>
      </dgm:t>
    </dgm:pt>
    <dgm:pt modelId="{CA91E3A8-9D19-42D1-A459-55684DF56E28}" type="parTrans" cxnId="{0FD363F5-209C-4D99-AE6F-A38B626B1AC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A87220-64E4-4EDA-8B9B-76986F4630D0}" type="sibTrans" cxnId="{0FD363F5-209C-4D99-AE6F-A38B626B1AC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05531F-4A38-4E52-83BE-2C2A450758AA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Scaling: Standardization for consistent model training</a:t>
          </a:r>
        </a:p>
      </dgm:t>
    </dgm:pt>
    <dgm:pt modelId="{E36290C5-84D9-4F8A-8D3D-E2791BFB282B}" type="parTrans" cxnId="{C383C9EB-3D56-4C3D-8F36-2A0862D981F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085047-C6DD-45DF-B26D-F91FB39F9D87}" type="sibTrans" cxnId="{C383C9EB-3D56-4C3D-8F36-2A0862D981F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E1B391-3E2E-489D-934F-554EEE8E3567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Applied SMOTE to balance class distribution</a:t>
          </a:r>
        </a:p>
      </dgm:t>
    </dgm:pt>
    <dgm:pt modelId="{863715AB-F3BE-4AE0-A46C-E35005C407E3}" type="parTrans" cxnId="{93C5C693-B191-4BB5-B307-757434F1914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58AE5D-AA65-447B-8F51-3B7A02C1F705}" type="sibTrans" cxnId="{93C5C693-B191-4BB5-B307-757434F1914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C19A10-0B21-43D1-9126-A281D394C40C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 set shapes after SMOTE: ~77,000 samples with 119 features</a:t>
          </a:r>
        </a:p>
      </dgm:t>
    </dgm:pt>
    <dgm:pt modelId="{82D56E2B-E69E-4642-98BD-1303B381630F}" type="parTrans" cxnId="{CC00039B-DAD4-4E95-9718-4B9D7281226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360C49-EACC-4669-ABBE-AF21599CDB2C}" type="sibTrans" cxnId="{CC00039B-DAD4-4E95-9718-4B9D7281226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47E573-FABA-4AA6-861D-8C691A769E99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Data Splitting into 80% training and 20% test sets</a:t>
          </a:r>
        </a:p>
      </dgm:t>
    </dgm:pt>
    <dgm:pt modelId="{5F6F1A2B-924B-4CD2-BA0B-F368BC32679E}" type="parTrans" cxnId="{4C7EAB0F-E434-46BA-803B-39BCE7A1E513}">
      <dgm:prSet/>
      <dgm:spPr/>
      <dgm:t>
        <a:bodyPr/>
        <a:lstStyle/>
        <a:p>
          <a:endParaRPr lang="en-US"/>
        </a:p>
      </dgm:t>
    </dgm:pt>
    <dgm:pt modelId="{BC299985-FD10-4789-9A8F-42B633D69695}" type="sibTrans" cxnId="{4C7EAB0F-E434-46BA-803B-39BCE7A1E513}">
      <dgm:prSet/>
      <dgm:spPr/>
      <dgm:t>
        <a:bodyPr/>
        <a:lstStyle/>
        <a:p>
          <a:endParaRPr lang="en-US"/>
        </a:p>
      </dgm:t>
    </dgm:pt>
    <dgm:pt modelId="{ECFEF847-7D39-49E8-8551-33E7264F611A}" type="pres">
      <dgm:prSet presAssocID="{9A265375-E9C5-410C-A63F-64E412641872}" presName="linear" presStyleCnt="0">
        <dgm:presLayoutVars>
          <dgm:animLvl val="lvl"/>
          <dgm:resizeHandles val="exact"/>
        </dgm:presLayoutVars>
      </dgm:prSet>
      <dgm:spPr/>
    </dgm:pt>
    <dgm:pt modelId="{F037E367-4536-493E-AB69-854A539C9570}" type="pres">
      <dgm:prSet presAssocID="{C3253273-20AD-458A-97AA-C7EF7138E0B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216CCDD-9511-406E-A985-D6C092D41BAC}" type="pres">
      <dgm:prSet presAssocID="{318142D4-61EA-43B3-98D6-490D63FD601D}" presName="spacer" presStyleCnt="0"/>
      <dgm:spPr/>
    </dgm:pt>
    <dgm:pt modelId="{053C5930-7AB0-40FA-9912-0528BF4870F0}" type="pres">
      <dgm:prSet presAssocID="{301A9834-BC94-483F-BDFB-9BAC27F7B92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2E202F9-18AE-4FA1-9EB0-888BD31DA714}" type="pres">
      <dgm:prSet presAssocID="{301A9834-BC94-483F-BDFB-9BAC27F7B929}" presName="childText" presStyleLbl="revTx" presStyleIdx="0" presStyleCnt="1">
        <dgm:presLayoutVars>
          <dgm:bulletEnabled val="1"/>
        </dgm:presLayoutVars>
      </dgm:prSet>
      <dgm:spPr/>
    </dgm:pt>
    <dgm:pt modelId="{FDEC1FCE-2DCE-4D3B-AA44-5FBB9A1B542B}" type="pres">
      <dgm:prSet presAssocID="{5A05531F-4A38-4E52-83BE-2C2A450758A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C8AC207-F257-42A8-9827-3A7BF2D3A94D}" type="pres">
      <dgm:prSet presAssocID="{09085047-C6DD-45DF-B26D-F91FB39F9D87}" presName="spacer" presStyleCnt="0"/>
      <dgm:spPr/>
    </dgm:pt>
    <dgm:pt modelId="{63D4F606-31C5-4224-8D50-D8CC58A2A3F0}" type="pres">
      <dgm:prSet presAssocID="{E5E1B391-3E2E-489D-934F-554EEE8E356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7DCA42A-262B-4F5C-88C4-F59CF7DF46F5}" type="pres">
      <dgm:prSet presAssocID="{3E58AE5D-AA65-447B-8F51-3B7A02C1F705}" presName="spacer" presStyleCnt="0"/>
      <dgm:spPr/>
    </dgm:pt>
    <dgm:pt modelId="{9FB41F30-B690-4B71-9BFB-97EC6BF28712}" type="pres">
      <dgm:prSet presAssocID="{69C19A10-0B21-43D1-9126-A281D394C40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4B20B05-6D5D-4A01-BD68-A7381D2BEC3C}" type="pres">
      <dgm:prSet presAssocID="{DF360C49-EACC-4669-ABBE-AF21599CDB2C}" presName="spacer" presStyleCnt="0"/>
      <dgm:spPr/>
    </dgm:pt>
    <dgm:pt modelId="{01E817E6-67B0-4FBF-86B6-4F6794F426F9}" type="pres">
      <dgm:prSet presAssocID="{A847E573-FABA-4AA6-861D-8C691A769E99}" presName="parentText" presStyleLbl="node1" presStyleIdx="5" presStyleCnt="6" custLinFactNeighborX="-58202" custLinFactNeighborY="-59333">
        <dgm:presLayoutVars>
          <dgm:chMax val="0"/>
          <dgm:bulletEnabled val="1"/>
        </dgm:presLayoutVars>
      </dgm:prSet>
      <dgm:spPr/>
    </dgm:pt>
  </dgm:ptLst>
  <dgm:cxnLst>
    <dgm:cxn modelId="{4C7EAB0F-E434-46BA-803B-39BCE7A1E513}" srcId="{9A265375-E9C5-410C-A63F-64E412641872}" destId="{A847E573-FABA-4AA6-861D-8C691A769E99}" srcOrd="5" destOrd="0" parTransId="{5F6F1A2B-924B-4CD2-BA0B-F368BC32679E}" sibTransId="{BC299985-FD10-4789-9A8F-42B633D69695}"/>
    <dgm:cxn modelId="{99672016-F8DD-4F5C-9573-9CC8291C7A81}" type="presOf" srcId="{7B5B6DEB-2C0D-41BA-AFFC-AC16D6F65474}" destId="{A2E202F9-18AE-4FA1-9EB0-888BD31DA714}" srcOrd="0" destOrd="1" presId="urn:microsoft.com/office/officeart/2005/8/layout/vList2"/>
    <dgm:cxn modelId="{AC837418-ACB9-4A83-9530-ED49896C9D51}" type="presOf" srcId="{5A05531F-4A38-4E52-83BE-2C2A450758AA}" destId="{FDEC1FCE-2DCE-4D3B-AA44-5FBB9A1B542B}" srcOrd="0" destOrd="0" presId="urn:microsoft.com/office/officeart/2005/8/layout/vList2"/>
    <dgm:cxn modelId="{B8A6712D-91A0-456B-AB2B-52720E5B92AC}" type="presOf" srcId="{E5E1B391-3E2E-489D-934F-554EEE8E3567}" destId="{63D4F606-31C5-4224-8D50-D8CC58A2A3F0}" srcOrd="0" destOrd="0" presId="urn:microsoft.com/office/officeart/2005/8/layout/vList2"/>
    <dgm:cxn modelId="{9D39743F-1809-4C62-8C90-05F9D5C45FDB}" type="presOf" srcId="{F6FD36C7-A5F4-4426-8FF8-4B64E9C3F977}" destId="{A2E202F9-18AE-4FA1-9EB0-888BD31DA714}" srcOrd="0" destOrd="2" presId="urn:microsoft.com/office/officeart/2005/8/layout/vList2"/>
    <dgm:cxn modelId="{9B101460-AB50-4998-822C-5E94F8D4C425}" type="presOf" srcId="{9A265375-E9C5-410C-A63F-64E412641872}" destId="{ECFEF847-7D39-49E8-8551-33E7264F611A}" srcOrd="0" destOrd="0" presId="urn:microsoft.com/office/officeart/2005/8/layout/vList2"/>
    <dgm:cxn modelId="{DA63DD72-1D12-49B1-9EB7-76A3C3B0A625}" srcId="{9A265375-E9C5-410C-A63F-64E412641872}" destId="{301A9834-BC94-483F-BDFB-9BAC27F7B929}" srcOrd="1" destOrd="0" parTransId="{F5626C78-4AB2-47AB-A5AB-C4ABE7B7FF1B}" sibTransId="{239E22B9-5CD8-49CB-8E7B-B6179F373FCB}"/>
    <dgm:cxn modelId="{051C0577-1B5C-4B6E-AEFC-74FA6FE494C9}" type="presOf" srcId="{69C19A10-0B21-43D1-9126-A281D394C40C}" destId="{9FB41F30-B690-4B71-9BFB-97EC6BF28712}" srcOrd="0" destOrd="0" presId="urn:microsoft.com/office/officeart/2005/8/layout/vList2"/>
    <dgm:cxn modelId="{7E5D0382-FCC4-4BAE-B581-1A05D9F7C46A}" type="presOf" srcId="{C3253273-20AD-458A-97AA-C7EF7138E0BF}" destId="{F037E367-4536-493E-AB69-854A539C9570}" srcOrd="0" destOrd="0" presId="urn:microsoft.com/office/officeart/2005/8/layout/vList2"/>
    <dgm:cxn modelId="{93C5C693-B191-4BB5-B307-757434F19143}" srcId="{9A265375-E9C5-410C-A63F-64E412641872}" destId="{E5E1B391-3E2E-489D-934F-554EEE8E3567}" srcOrd="3" destOrd="0" parTransId="{863715AB-F3BE-4AE0-A46C-E35005C407E3}" sibTransId="{3E58AE5D-AA65-447B-8F51-3B7A02C1F705}"/>
    <dgm:cxn modelId="{39797F99-66E8-42AB-AB70-BE5413507554}" type="presOf" srcId="{190DD4E0-BCFE-4D6D-85D7-90192890F620}" destId="{A2E202F9-18AE-4FA1-9EB0-888BD31DA714}" srcOrd="0" destOrd="0" presId="urn:microsoft.com/office/officeart/2005/8/layout/vList2"/>
    <dgm:cxn modelId="{CC00039B-DAD4-4E95-9718-4B9D72812265}" srcId="{9A265375-E9C5-410C-A63F-64E412641872}" destId="{69C19A10-0B21-43D1-9126-A281D394C40C}" srcOrd="4" destOrd="0" parTransId="{82D56E2B-E69E-4642-98BD-1303B381630F}" sibTransId="{DF360C49-EACC-4669-ABBE-AF21599CDB2C}"/>
    <dgm:cxn modelId="{99AF79B4-F426-40ED-B9E1-77BBB953E57D}" srcId="{9A265375-E9C5-410C-A63F-64E412641872}" destId="{C3253273-20AD-458A-97AA-C7EF7138E0BF}" srcOrd="0" destOrd="0" parTransId="{8D72467C-783C-49BA-8999-109870351B32}" sibTransId="{318142D4-61EA-43B3-98D6-490D63FD601D}"/>
    <dgm:cxn modelId="{D7EE91D1-A1D3-48F6-8EDC-8AAA404820FE}" type="presOf" srcId="{A847E573-FABA-4AA6-861D-8C691A769E99}" destId="{01E817E6-67B0-4FBF-86B6-4F6794F426F9}" srcOrd="0" destOrd="0" presId="urn:microsoft.com/office/officeart/2005/8/layout/vList2"/>
    <dgm:cxn modelId="{A53310D9-80BE-4A5F-AC67-D259F170C109}" srcId="{301A9834-BC94-483F-BDFB-9BAC27F7B929}" destId="{7B5B6DEB-2C0D-41BA-AFFC-AC16D6F65474}" srcOrd="1" destOrd="0" parTransId="{B40BEF17-AB7F-4E2C-AC96-C9ADF82B7AB0}" sibTransId="{3B2B0711-17E1-432D-9EDC-1D1F66FB95ED}"/>
    <dgm:cxn modelId="{2E782DE0-C747-4B0A-A643-AD169304A0F5}" srcId="{301A9834-BC94-483F-BDFB-9BAC27F7B929}" destId="{190DD4E0-BCFE-4D6D-85D7-90192890F620}" srcOrd="0" destOrd="0" parTransId="{8165C392-91E6-44FB-A3E8-0BEC2B0AF419}" sibTransId="{57171365-8593-4A6F-9174-679AB4F15077}"/>
    <dgm:cxn modelId="{C383C9EB-3D56-4C3D-8F36-2A0862D981F9}" srcId="{9A265375-E9C5-410C-A63F-64E412641872}" destId="{5A05531F-4A38-4E52-83BE-2C2A450758AA}" srcOrd="2" destOrd="0" parTransId="{E36290C5-84D9-4F8A-8D3D-E2791BFB282B}" sibTransId="{09085047-C6DD-45DF-B26D-F91FB39F9D87}"/>
    <dgm:cxn modelId="{F19DA6EC-17A7-4405-AD48-9FE3DC13304B}" type="presOf" srcId="{301A9834-BC94-483F-BDFB-9BAC27F7B929}" destId="{053C5930-7AB0-40FA-9912-0528BF4870F0}" srcOrd="0" destOrd="0" presId="urn:microsoft.com/office/officeart/2005/8/layout/vList2"/>
    <dgm:cxn modelId="{0FD363F5-209C-4D99-AE6F-A38B626B1AC1}" srcId="{301A9834-BC94-483F-BDFB-9BAC27F7B929}" destId="{F6FD36C7-A5F4-4426-8FF8-4B64E9C3F977}" srcOrd="2" destOrd="0" parTransId="{CA91E3A8-9D19-42D1-A459-55684DF56E28}" sibTransId="{A0A87220-64E4-4EDA-8B9B-76986F4630D0}"/>
    <dgm:cxn modelId="{5193546A-128E-4562-A8B0-DACE7940408A}" type="presParOf" srcId="{ECFEF847-7D39-49E8-8551-33E7264F611A}" destId="{F037E367-4536-493E-AB69-854A539C9570}" srcOrd="0" destOrd="0" presId="urn:microsoft.com/office/officeart/2005/8/layout/vList2"/>
    <dgm:cxn modelId="{97296E4A-BFD8-4C10-B1F8-47BD46EBA014}" type="presParOf" srcId="{ECFEF847-7D39-49E8-8551-33E7264F611A}" destId="{9216CCDD-9511-406E-A985-D6C092D41BAC}" srcOrd="1" destOrd="0" presId="urn:microsoft.com/office/officeart/2005/8/layout/vList2"/>
    <dgm:cxn modelId="{93829C21-BDF2-4901-B43F-8D95212B1F16}" type="presParOf" srcId="{ECFEF847-7D39-49E8-8551-33E7264F611A}" destId="{053C5930-7AB0-40FA-9912-0528BF4870F0}" srcOrd="2" destOrd="0" presId="urn:microsoft.com/office/officeart/2005/8/layout/vList2"/>
    <dgm:cxn modelId="{8CCC01CF-D4B0-4707-9B71-90C45C7B08B0}" type="presParOf" srcId="{ECFEF847-7D39-49E8-8551-33E7264F611A}" destId="{A2E202F9-18AE-4FA1-9EB0-888BD31DA714}" srcOrd="3" destOrd="0" presId="urn:microsoft.com/office/officeart/2005/8/layout/vList2"/>
    <dgm:cxn modelId="{1F85478D-75BB-4E2F-9EB0-69F6DD08168B}" type="presParOf" srcId="{ECFEF847-7D39-49E8-8551-33E7264F611A}" destId="{FDEC1FCE-2DCE-4D3B-AA44-5FBB9A1B542B}" srcOrd="4" destOrd="0" presId="urn:microsoft.com/office/officeart/2005/8/layout/vList2"/>
    <dgm:cxn modelId="{DBF72DCC-93FE-4D2D-8E59-B6784A11B7E9}" type="presParOf" srcId="{ECFEF847-7D39-49E8-8551-33E7264F611A}" destId="{EC8AC207-F257-42A8-9827-3A7BF2D3A94D}" srcOrd="5" destOrd="0" presId="urn:microsoft.com/office/officeart/2005/8/layout/vList2"/>
    <dgm:cxn modelId="{5EFA8125-B08D-44CD-AEA2-E7B8C5DD43AC}" type="presParOf" srcId="{ECFEF847-7D39-49E8-8551-33E7264F611A}" destId="{63D4F606-31C5-4224-8D50-D8CC58A2A3F0}" srcOrd="6" destOrd="0" presId="urn:microsoft.com/office/officeart/2005/8/layout/vList2"/>
    <dgm:cxn modelId="{E2684884-C1A6-4E9B-BF49-40C4989A01A7}" type="presParOf" srcId="{ECFEF847-7D39-49E8-8551-33E7264F611A}" destId="{37DCA42A-262B-4F5C-88C4-F59CF7DF46F5}" srcOrd="7" destOrd="0" presId="urn:microsoft.com/office/officeart/2005/8/layout/vList2"/>
    <dgm:cxn modelId="{E083E9A8-7F20-4E8F-9057-C2F82C40A1E2}" type="presParOf" srcId="{ECFEF847-7D39-49E8-8551-33E7264F611A}" destId="{9FB41F30-B690-4B71-9BFB-97EC6BF28712}" srcOrd="8" destOrd="0" presId="urn:microsoft.com/office/officeart/2005/8/layout/vList2"/>
    <dgm:cxn modelId="{9A3BC4A8-4862-4B32-9D01-2346A833217F}" type="presParOf" srcId="{ECFEF847-7D39-49E8-8551-33E7264F611A}" destId="{14B20B05-6D5D-4A01-BD68-A7381D2BEC3C}" srcOrd="9" destOrd="0" presId="urn:microsoft.com/office/officeart/2005/8/layout/vList2"/>
    <dgm:cxn modelId="{AE7E8DB6-F965-412D-A1FA-E06FBAB34E33}" type="presParOf" srcId="{ECFEF847-7D39-49E8-8551-33E7264F611A}" destId="{01E817E6-67B0-4FBF-86B6-4F6794F426F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7E367-4536-493E-AB69-854A539C9570}">
      <dsp:nvSpPr>
        <dsp:cNvPr id="0" name=""/>
        <dsp:cNvSpPr/>
      </dsp:nvSpPr>
      <dsp:spPr>
        <a:xfrm>
          <a:off x="0" y="1911"/>
          <a:ext cx="7535294" cy="433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Loading: Each transaction file (wave) loaded separately</a:t>
          </a:r>
        </a:p>
      </dsp:txBody>
      <dsp:txXfrm>
        <a:off x="21172" y="23083"/>
        <a:ext cx="7492950" cy="391376"/>
      </dsp:txXfrm>
    </dsp:sp>
    <dsp:sp modelId="{053C5930-7AB0-40FA-9912-0528BF4870F0}">
      <dsp:nvSpPr>
        <dsp:cNvPr id="0" name=""/>
        <dsp:cNvSpPr/>
      </dsp:nvSpPr>
      <dsp:spPr>
        <a:xfrm>
          <a:off x="0" y="449188"/>
          <a:ext cx="7535294" cy="433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Engineering:</a:t>
          </a:r>
        </a:p>
      </dsp:txBody>
      <dsp:txXfrm>
        <a:off x="21172" y="470360"/>
        <a:ext cx="7492950" cy="391376"/>
      </dsp:txXfrm>
    </dsp:sp>
    <dsp:sp modelId="{A2E202F9-18AE-4FA1-9EB0-888BD31DA714}">
      <dsp:nvSpPr>
        <dsp:cNvPr id="0" name=""/>
        <dsp:cNvSpPr/>
      </dsp:nvSpPr>
      <dsp:spPr>
        <a:xfrm>
          <a:off x="0" y="882908"/>
          <a:ext cx="7535294" cy="114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24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Text vectorization using TF-IDF (100 features)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Date features (day of week, month, weekend)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Amount features (log transform, binning) Transaction pattern features</a:t>
          </a:r>
        </a:p>
      </dsp:txBody>
      <dsp:txXfrm>
        <a:off x="0" y="882908"/>
        <a:ext cx="7535294" cy="1149808"/>
      </dsp:txXfrm>
    </dsp:sp>
    <dsp:sp modelId="{FDEC1FCE-2DCE-4D3B-AA44-5FBB9A1B542B}">
      <dsp:nvSpPr>
        <dsp:cNvPr id="0" name=""/>
        <dsp:cNvSpPr/>
      </dsp:nvSpPr>
      <dsp:spPr>
        <a:xfrm>
          <a:off x="0" y="2032716"/>
          <a:ext cx="7535294" cy="433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Scaling: Standardization for consistent model training</a:t>
          </a:r>
        </a:p>
      </dsp:txBody>
      <dsp:txXfrm>
        <a:off x="21172" y="2053888"/>
        <a:ext cx="7492950" cy="391376"/>
      </dsp:txXfrm>
    </dsp:sp>
    <dsp:sp modelId="{63D4F606-31C5-4224-8D50-D8CC58A2A3F0}">
      <dsp:nvSpPr>
        <dsp:cNvPr id="0" name=""/>
        <dsp:cNvSpPr/>
      </dsp:nvSpPr>
      <dsp:spPr>
        <a:xfrm>
          <a:off x="0" y="2479993"/>
          <a:ext cx="7535294" cy="433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Applied SMOTE to balance class distribution</a:t>
          </a:r>
        </a:p>
      </dsp:txBody>
      <dsp:txXfrm>
        <a:off x="21172" y="2501165"/>
        <a:ext cx="7492950" cy="391376"/>
      </dsp:txXfrm>
    </dsp:sp>
    <dsp:sp modelId="{9FB41F30-B690-4B71-9BFB-97EC6BF28712}">
      <dsp:nvSpPr>
        <dsp:cNvPr id="0" name=""/>
        <dsp:cNvSpPr/>
      </dsp:nvSpPr>
      <dsp:spPr>
        <a:xfrm>
          <a:off x="0" y="2927270"/>
          <a:ext cx="7535294" cy="433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 set shapes after SMOTE: ~77,000 samples with 119 features</a:t>
          </a:r>
        </a:p>
      </dsp:txBody>
      <dsp:txXfrm>
        <a:off x="21172" y="2948442"/>
        <a:ext cx="7492950" cy="391376"/>
      </dsp:txXfrm>
    </dsp:sp>
    <dsp:sp modelId="{01E817E6-67B0-4FBF-86B6-4F6794F426F9}">
      <dsp:nvSpPr>
        <dsp:cNvPr id="0" name=""/>
        <dsp:cNvSpPr/>
      </dsp:nvSpPr>
      <dsp:spPr>
        <a:xfrm>
          <a:off x="0" y="3366503"/>
          <a:ext cx="7535294" cy="433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Splitting into 80% training and 20% test sets</a:t>
          </a:r>
        </a:p>
      </dsp:txBody>
      <dsp:txXfrm>
        <a:off x="21172" y="3387675"/>
        <a:ext cx="7492950" cy="391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53000" cy="334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473825" y="0"/>
            <a:ext cx="4953000" cy="334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BACA9-1B39-4906-BDA4-60CC3430740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14813" y="835025"/>
            <a:ext cx="3000375" cy="225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43000" y="3211513"/>
            <a:ext cx="9144000" cy="2628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338888"/>
            <a:ext cx="4953000" cy="334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73825" y="6338888"/>
            <a:ext cx="4953000" cy="334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016EF-6FBA-42D1-9516-DD7B3063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1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14813" y="835025"/>
            <a:ext cx="3000375" cy="2251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016EF-6FBA-42D1-9516-DD7B30633B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86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Lack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models: Many studies rely on machine learning (ML) and deep learning (DL) models, but these models often lack interpretability, making it challenging for financial institutions to justify risk assessments.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Imbalanced fraud detection datasets: Fraud detection datasets are highly imbalanced, with fraudulent transactions being a small fraction of the total transactions. Many studies struggle with this issue and rely on oversampling techniques (e.g., SMOTE, GANs)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may not always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well.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Use of synthetic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anonymised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 most studies use synthetic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anonymised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due to the unavailability of real-world financial transaction data.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	Static nature of many models: Many models are static and do not adapt to evolving fraud patterns. Financial fraudsters constantly change their tactics, and risk scoring systems need to be dynamic and adaptive.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	Lack of integration with regulatory frameworks: Few studies integrate their models with existing regulatory frameworks (e.g., Basel AML Index, FATF recommendations). This is crucial for practical implementation in financial institutions.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	Limited focus on risk scoring: Most studies focus on fraud detection or anomaly detection but do not explicitly address risk scoring.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016EF-6FBA-42D1-9516-DD7B30633B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44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7246" y="199403"/>
            <a:ext cx="5263446" cy="359457"/>
          </a:xfrm>
        </p:spPr>
        <p:txBody>
          <a:bodyPr lIns="0" tIns="0" rIns="0" bIns="0"/>
          <a:lstStyle>
            <a:lvl1pPr>
              <a:defRPr sz="2336" b="1" i="0">
                <a:solidFill>
                  <a:srgbClr val="0033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789AFE1D-0952-4F7B-8751-09AA9E0B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5829" y="6417748"/>
            <a:ext cx="582109" cy="224323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algn="r">
              <a:defRPr sz="1246" b="1"/>
            </a:lvl1pPr>
          </a:lstStyle>
          <a:p>
            <a:fld id="{CC7D8618-F20C-406E-B464-04F15D14577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7A3E8B79-C5A4-4592-8031-5F95C877E3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0758" y="6417748"/>
            <a:ext cx="3925071" cy="224323"/>
          </a:xfrm>
          <a:solidFill>
            <a:schemeClr val="accent2"/>
          </a:solidFill>
        </p:spPr>
        <p:txBody>
          <a:bodyPr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>
                <a:solidFill>
                  <a:schemeClr val="bg1"/>
                </a:solidFill>
              </a:defRPr>
            </a:lvl1pPr>
            <a:lvl2pPr>
              <a:defRPr sz="985">
                <a:solidFill>
                  <a:schemeClr val="bg1"/>
                </a:solidFill>
              </a:defRPr>
            </a:lvl2pPr>
            <a:lvl3pPr>
              <a:defRPr sz="985">
                <a:solidFill>
                  <a:schemeClr val="bg1"/>
                </a:solidFill>
              </a:defRPr>
            </a:lvl3pPr>
            <a:lvl4pPr>
              <a:defRPr sz="985">
                <a:solidFill>
                  <a:schemeClr val="bg1"/>
                </a:solidFill>
              </a:defRPr>
            </a:lvl4pPr>
            <a:lvl5pPr>
              <a:defRPr sz="98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RaTSiF</a:t>
            </a:r>
            <a:r>
              <a:rPr lang="en-US" dirty="0"/>
              <a:t>, Riga, Latvia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9AB00067-0210-4D82-BF78-E14EC398BC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6555" y="6417748"/>
            <a:ext cx="3304203" cy="224323"/>
          </a:xfrm>
          <a:solidFill>
            <a:srgbClr val="003366"/>
          </a:solidFill>
        </p:spPr>
        <p:txBody>
          <a:bodyPr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>
                <a:solidFill>
                  <a:schemeClr val="bg1"/>
                </a:solidFill>
              </a:defRPr>
            </a:lvl1pPr>
            <a:lvl2pPr>
              <a:defRPr sz="985">
                <a:solidFill>
                  <a:schemeClr val="bg1"/>
                </a:solidFill>
              </a:defRPr>
            </a:lvl2pPr>
            <a:lvl3pPr>
              <a:defRPr sz="985">
                <a:solidFill>
                  <a:schemeClr val="bg1"/>
                </a:solidFill>
              </a:defRPr>
            </a:lvl3pPr>
            <a:lvl4pPr>
              <a:defRPr sz="985">
                <a:solidFill>
                  <a:schemeClr val="bg1"/>
                </a:solidFill>
              </a:defRPr>
            </a:lvl4pPr>
            <a:lvl5pPr>
              <a:defRPr sz="98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Author name(s)</a:t>
            </a:r>
            <a:endParaRPr lang="en-GB" dirty="0"/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1126090A-0172-470D-AC13-D4CDF479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3" y="6417748"/>
            <a:ext cx="1082582" cy="226467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168367">
              <a:tabLst>
                <a:tab pos="174381" algn="l"/>
              </a:tabLst>
            </a:pPr>
            <a:fld id="{4FBE97BA-5B46-494E-B253-4DA7FC7C2D65}" type="datetime1">
              <a:rPr lang="en-US" smtClean="0"/>
              <a:pPr marL="168367">
                <a:tabLst>
                  <a:tab pos="174381" algn="l"/>
                </a:tabLst>
              </a:pPr>
              <a:t>1/7/2026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7246" y="199403"/>
            <a:ext cx="5263446" cy="359457"/>
          </a:xfrm>
        </p:spPr>
        <p:txBody>
          <a:bodyPr lIns="0" tIns="0" rIns="0" bIns="0"/>
          <a:lstStyle>
            <a:lvl1pPr>
              <a:defRPr sz="2336" b="1" i="0">
                <a:solidFill>
                  <a:srgbClr val="0033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80797" y="1430700"/>
            <a:ext cx="3464758" cy="233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18" b="0" i="0">
                <a:solidFill>
                  <a:srgbClr val="33333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573095" y="1363376"/>
            <a:ext cx="3903228" cy="233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18" b="0" i="0">
                <a:solidFill>
                  <a:srgbClr val="373C3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8442A7CA-B067-4BBF-8F84-21C0DB24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3" y="6417748"/>
            <a:ext cx="1082582" cy="226467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168367">
              <a:tabLst>
                <a:tab pos="174381" algn="l"/>
              </a:tabLst>
            </a:pPr>
            <a:fld id="{FF8FB625-9B19-4811-ADA5-46FFE04CA6DF}" type="datetime1">
              <a:rPr lang="en-US" smtClean="0"/>
              <a:pPr marL="168367">
                <a:tabLst>
                  <a:tab pos="174381" algn="l"/>
                </a:tabLst>
              </a:pPr>
              <a:t>1/7/2026</a:t>
            </a:fld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DF79D320-ED5E-49C4-8F60-43436D502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6555" y="6417748"/>
            <a:ext cx="3304203" cy="224323"/>
          </a:xfrm>
          <a:solidFill>
            <a:srgbClr val="003366"/>
          </a:solidFill>
        </p:spPr>
        <p:txBody>
          <a:bodyPr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>
                <a:solidFill>
                  <a:schemeClr val="bg1"/>
                </a:solidFill>
              </a:defRPr>
            </a:lvl1pPr>
            <a:lvl2pPr>
              <a:defRPr sz="985">
                <a:solidFill>
                  <a:schemeClr val="bg1"/>
                </a:solidFill>
              </a:defRPr>
            </a:lvl2pPr>
            <a:lvl3pPr>
              <a:defRPr sz="985">
                <a:solidFill>
                  <a:schemeClr val="bg1"/>
                </a:solidFill>
              </a:defRPr>
            </a:lvl3pPr>
            <a:lvl4pPr>
              <a:defRPr sz="985">
                <a:solidFill>
                  <a:schemeClr val="bg1"/>
                </a:solidFill>
              </a:defRPr>
            </a:lvl4pPr>
            <a:lvl5pPr>
              <a:defRPr sz="98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Author name(s)</a:t>
            </a:r>
            <a:endParaRPr lang="en-GB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17DE96A-9D67-41F0-B929-39B6D7C23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0758" y="6417748"/>
            <a:ext cx="3925071" cy="224323"/>
          </a:xfrm>
          <a:solidFill>
            <a:schemeClr val="accent2"/>
          </a:solidFill>
        </p:spPr>
        <p:txBody>
          <a:bodyPr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>
                <a:solidFill>
                  <a:schemeClr val="bg1"/>
                </a:solidFill>
              </a:defRPr>
            </a:lvl1pPr>
            <a:lvl2pPr>
              <a:defRPr sz="985">
                <a:solidFill>
                  <a:schemeClr val="bg1"/>
                </a:solidFill>
              </a:defRPr>
            </a:lvl2pPr>
            <a:lvl3pPr>
              <a:defRPr sz="985">
                <a:solidFill>
                  <a:schemeClr val="bg1"/>
                </a:solidFill>
              </a:defRPr>
            </a:lvl3pPr>
            <a:lvl4pPr>
              <a:defRPr sz="985">
                <a:solidFill>
                  <a:schemeClr val="bg1"/>
                </a:solidFill>
              </a:defRPr>
            </a:lvl4pPr>
            <a:lvl5pPr>
              <a:defRPr sz="98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RaTSiF</a:t>
            </a:r>
            <a:r>
              <a:rPr lang="en-US" dirty="0"/>
              <a:t>, Riga, Latvia</a:t>
            </a:r>
            <a:endParaRPr lang="en-GB" dirty="0"/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AEBABF00-D8D3-4090-88EE-2ABE68EF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5829" y="6417748"/>
            <a:ext cx="582109" cy="224323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algn="r">
              <a:defRPr sz="1246" b="1"/>
            </a:lvl1pPr>
          </a:lstStyle>
          <a:p>
            <a:fld id="{CC7D8618-F20C-406E-B464-04F15D14577A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" y="336976"/>
            <a:ext cx="8897936" cy="461665"/>
          </a:xfrm>
        </p:spPr>
        <p:txBody>
          <a:bodyPr/>
          <a:lstStyle>
            <a:lvl1pPr marL="84184" indent="0"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74381" indent="-174381">
              <a:lnSpc>
                <a:spcPct val="150000"/>
              </a:lnSpc>
              <a:buFont typeface="Arial" panose="020B0604020202020204" pitchFamily="34" charset="0"/>
              <a:buChar char="•"/>
              <a:defRPr sz="1818"/>
            </a:lvl1pPr>
            <a:lvl2pPr marL="349964" indent="-175583">
              <a:lnSpc>
                <a:spcPct val="150000"/>
              </a:lnSpc>
              <a:buClr>
                <a:schemeClr val="accent2"/>
              </a:buClr>
              <a:defRPr sz="1818"/>
            </a:lvl2pPr>
            <a:lvl3pPr marL="518332" indent="-170773">
              <a:lnSpc>
                <a:spcPct val="150000"/>
              </a:lnSpc>
              <a:buClr>
                <a:schemeClr val="accent2"/>
              </a:buClr>
              <a:defRPr sz="1818"/>
            </a:lvl3pPr>
            <a:lvl4pPr marL="692712" indent="-174381">
              <a:lnSpc>
                <a:spcPct val="150000"/>
              </a:lnSpc>
              <a:buClr>
                <a:schemeClr val="accent2"/>
              </a:buClr>
              <a:defRPr sz="1818"/>
            </a:lvl4pPr>
            <a:lvl5pPr marL="867093" indent="-174381">
              <a:lnSpc>
                <a:spcPct val="150000"/>
              </a:lnSpc>
              <a:buClr>
                <a:schemeClr val="accent2"/>
              </a:buClr>
              <a:defRPr sz="1818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" y="2145"/>
            <a:ext cx="4448968" cy="251815"/>
          </a:xfrm>
        </p:spPr>
        <p:txBody>
          <a:bodyPr anchor="ctr" anchorCtr="0">
            <a:noAutofit/>
          </a:bodyPr>
          <a:lstStyle>
            <a:lvl1pPr marL="168367" indent="0" algn="l">
              <a:lnSpc>
                <a:spcPct val="100000"/>
              </a:lnSpc>
              <a:buNone/>
              <a:defRPr sz="985">
                <a:solidFill>
                  <a:schemeClr val="bg1"/>
                </a:solidFill>
              </a:defRPr>
            </a:lvl1pPr>
            <a:lvl2pPr>
              <a:defRPr sz="985">
                <a:solidFill>
                  <a:schemeClr val="bg1"/>
                </a:solidFill>
              </a:defRPr>
            </a:lvl2pPr>
            <a:lvl3pPr>
              <a:defRPr sz="985">
                <a:solidFill>
                  <a:schemeClr val="bg1"/>
                </a:solidFill>
              </a:defRPr>
            </a:lvl3pPr>
            <a:lvl4pPr>
              <a:defRPr sz="985">
                <a:solidFill>
                  <a:schemeClr val="bg1"/>
                </a:solidFill>
              </a:defRPr>
            </a:lvl4pPr>
            <a:lvl5pPr>
              <a:defRPr sz="98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section</a:t>
            </a:r>
            <a:endParaRPr lang="en-GB" dirty="0"/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448970" y="2145"/>
            <a:ext cx="4448968" cy="251815"/>
          </a:xfrm>
        </p:spPr>
        <p:txBody>
          <a:bodyPr anchor="ctr" anchorCtr="0">
            <a:noAutofit/>
          </a:bodyPr>
          <a:lstStyle>
            <a:lvl1pPr marL="168367" indent="0" algn="l">
              <a:lnSpc>
                <a:spcPct val="100000"/>
              </a:lnSpc>
              <a:buNone/>
              <a:defRPr sz="985" baseline="0">
                <a:solidFill>
                  <a:schemeClr val="bg1"/>
                </a:solidFill>
              </a:defRPr>
            </a:lvl1pPr>
            <a:lvl2pPr>
              <a:defRPr sz="985">
                <a:solidFill>
                  <a:schemeClr val="bg1"/>
                </a:solidFill>
              </a:defRPr>
            </a:lvl2pPr>
            <a:lvl3pPr>
              <a:defRPr sz="985">
                <a:solidFill>
                  <a:schemeClr val="bg1"/>
                </a:solidFill>
              </a:defRPr>
            </a:lvl3pPr>
            <a:lvl4pPr>
              <a:defRPr sz="985">
                <a:solidFill>
                  <a:schemeClr val="bg1"/>
                </a:solidFill>
              </a:defRPr>
            </a:lvl4pPr>
            <a:lvl5pPr>
              <a:defRPr sz="98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Short paper title</a:t>
            </a:r>
            <a:endParaRPr lang="en-GB" dirty="0"/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2AEDFB39-A739-431D-8B86-71001A7000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3" y="6417748"/>
            <a:ext cx="1082582" cy="226467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168367">
              <a:tabLst>
                <a:tab pos="174381" algn="l"/>
              </a:tabLst>
            </a:pPr>
            <a:fld id="{8213B50E-631A-4832-8A09-DCDE4558FA27}" type="datetime1">
              <a:rPr lang="en-US" smtClean="0"/>
              <a:pPr marL="168367">
                <a:tabLst>
                  <a:tab pos="174381" algn="l"/>
                </a:tabLst>
              </a:pPr>
              <a:t>1/7/2026</a:t>
            </a:fld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F54FDBC1-B547-45DA-9868-A1C36AB296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6555" y="6417748"/>
            <a:ext cx="3304203" cy="224323"/>
          </a:xfrm>
          <a:solidFill>
            <a:srgbClr val="003366"/>
          </a:solidFill>
        </p:spPr>
        <p:txBody>
          <a:bodyPr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>
                <a:solidFill>
                  <a:schemeClr val="bg1"/>
                </a:solidFill>
              </a:defRPr>
            </a:lvl1pPr>
            <a:lvl2pPr>
              <a:defRPr sz="985">
                <a:solidFill>
                  <a:schemeClr val="bg1"/>
                </a:solidFill>
              </a:defRPr>
            </a:lvl2pPr>
            <a:lvl3pPr>
              <a:defRPr sz="985">
                <a:solidFill>
                  <a:schemeClr val="bg1"/>
                </a:solidFill>
              </a:defRPr>
            </a:lvl3pPr>
            <a:lvl4pPr>
              <a:defRPr sz="985">
                <a:solidFill>
                  <a:schemeClr val="bg1"/>
                </a:solidFill>
              </a:defRPr>
            </a:lvl4pPr>
            <a:lvl5pPr>
              <a:defRPr sz="98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Author name(s)</a:t>
            </a:r>
            <a:endParaRPr lang="en-GB" dirty="0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A37E075-FE94-4F7A-AD18-847CB27882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0758" y="6417748"/>
            <a:ext cx="3925071" cy="224323"/>
          </a:xfrm>
          <a:solidFill>
            <a:schemeClr val="accent2"/>
          </a:solidFill>
        </p:spPr>
        <p:txBody>
          <a:bodyPr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>
                <a:solidFill>
                  <a:schemeClr val="bg1"/>
                </a:solidFill>
              </a:defRPr>
            </a:lvl1pPr>
            <a:lvl2pPr>
              <a:defRPr sz="985">
                <a:solidFill>
                  <a:schemeClr val="bg1"/>
                </a:solidFill>
              </a:defRPr>
            </a:lvl2pPr>
            <a:lvl3pPr>
              <a:defRPr sz="985">
                <a:solidFill>
                  <a:schemeClr val="bg1"/>
                </a:solidFill>
              </a:defRPr>
            </a:lvl3pPr>
            <a:lvl4pPr>
              <a:defRPr sz="985">
                <a:solidFill>
                  <a:schemeClr val="bg1"/>
                </a:solidFill>
              </a:defRPr>
            </a:lvl4pPr>
            <a:lvl5pPr>
              <a:defRPr sz="98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RaTSiF</a:t>
            </a:r>
            <a:r>
              <a:rPr lang="en-US" dirty="0"/>
              <a:t>, Riga, Latvia</a:t>
            </a:r>
            <a:endParaRPr lang="en-GB" dirty="0"/>
          </a:p>
        </p:txBody>
      </p:sp>
      <p:sp>
        <p:nvSpPr>
          <p:cNvPr id="18" name="Slide Number Placeholder 12">
            <a:extLst>
              <a:ext uri="{FF2B5EF4-FFF2-40B4-BE49-F238E27FC236}">
                <a16:creationId xmlns:a16="http://schemas.microsoft.com/office/drawing/2014/main" id="{0572E128-3387-4111-951E-96E97E45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5829" y="6417748"/>
            <a:ext cx="582109" cy="224323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algn="r">
              <a:defRPr sz="1246" b="1"/>
            </a:lvl1pPr>
          </a:lstStyle>
          <a:p>
            <a:fld id="{CC7D8618-F20C-406E-B464-04F15D145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4052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7246" y="199403"/>
            <a:ext cx="5263446" cy="359457"/>
          </a:xfrm>
        </p:spPr>
        <p:txBody>
          <a:bodyPr lIns="0" tIns="0" rIns="0" bIns="0"/>
          <a:lstStyle>
            <a:lvl1pPr>
              <a:defRPr sz="2336" b="1" i="0">
                <a:solidFill>
                  <a:srgbClr val="0033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1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9661">
              <a:spcBef>
                <a:spcPts val="12"/>
              </a:spcBef>
            </a:pPr>
            <a:fld id="{81D60167-4931-47E6-BA6A-407CBD079E47}" type="slidenum">
              <a:rPr lang="en-US" smtClean="0"/>
              <a:pPr marL="29661">
                <a:spcBef>
                  <a:spcPts val="12"/>
                </a:spcBef>
              </a:pPr>
              <a:t>‹#›</a:t>
            </a:fld>
            <a:r>
              <a:rPr lang="en-US" spc="175"/>
              <a:t> </a:t>
            </a:r>
            <a:r>
              <a:rPr lang="en-US"/>
              <a:t>/</a:t>
            </a:r>
            <a:r>
              <a:rPr lang="en-US" spc="175"/>
              <a:t> </a:t>
            </a:r>
            <a:r>
              <a:rPr lang="en-US" spc="-19"/>
              <a:t>17</a:t>
            </a:r>
            <a:endParaRPr lang="en-US" spc="-19" dirty="0"/>
          </a:p>
        </p:txBody>
      </p:sp>
    </p:spTree>
    <p:extLst>
      <p:ext uri="{BB962C8B-B14F-4D97-AF65-F5344CB8AC3E}">
        <p14:creationId xmlns:p14="http://schemas.microsoft.com/office/powerpoint/2010/main" val="141858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" y="336976"/>
            <a:ext cx="8897936" cy="960224"/>
          </a:xfrm>
        </p:spPr>
        <p:txBody>
          <a:bodyPr/>
          <a:lstStyle>
            <a:lvl1pPr marL="81104" indent="0"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507" y="1418303"/>
            <a:ext cx="8894169" cy="503377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9201" indent="-179201" algn="l" defTabSz="711860" rtl="0" eaLnBrk="1" latinLnBrk="0" hangingPunct="1">
              <a:lnSpc>
                <a:spcPct val="150000"/>
              </a:lnSpc>
              <a:spcBef>
                <a:spcPts val="934"/>
              </a:spcBef>
              <a:spcAft>
                <a:spcPts val="156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179201" algn="l"/>
                <a:tab pos="491876" algn="l"/>
              </a:tabLst>
              <a:defRPr sz="1868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9638" indent="-180437" algn="l" defTabSz="711860" rtl="0" eaLnBrk="1" latinLnBrk="0" hangingPunct="1">
              <a:lnSpc>
                <a:spcPct val="15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tabLst>
                <a:tab pos="359638" algn="l"/>
              </a:tabLst>
              <a:defRPr sz="1868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2660" indent="-173022" algn="l" defTabSz="711860" rtl="0" eaLnBrk="1" latinLnBrk="0" hangingPunct="1">
              <a:lnSpc>
                <a:spcPct val="15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868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11860" indent="-179201" algn="l" defTabSz="711860" rtl="0" eaLnBrk="1" latinLnBrk="0" hangingPunct="1">
              <a:lnSpc>
                <a:spcPct val="15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868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91062" indent="-179201" algn="l" defTabSz="711860" rtl="0" eaLnBrk="1" latinLnBrk="0" hangingPunct="1">
              <a:lnSpc>
                <a:spcPct val="15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868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56350" indent="-177965" algn="l" defTabSz="711860" rtl="0" eaLnBrk="1" latinLnBrk="0" hangingPunct="1">
              <a:lnSpc>
                <a:spcPct val="9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09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012050" indent="-177965" algn="l" defTabSz="711860" rtl="0" eaLnBrk="1" latinLnBrk="0" hangingPunct="1">
              <a:lnSpc>
                <a:spcPct val="9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09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67750" indent="-177965" algn="l" defTabSz="711860" rtl="0" eaLnBrk="1" latinLnBrk="0" hangingPunct="1">
              <a:lnSpc>
                <a:spcPct val="9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09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323450" indent="-177965" algn="l" defTabSz="711860" rtl="0" eaLnBrk="1" latinLnBrk="0" hangingPunct="1">
              <a:lnSpc>
                <a:spcPct val="9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09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10"/>
          <p:cNvSpPr>
            <a:spLocks noGrp="1"/>
          </p:cNvSpPr>
          <p:nvPr>
            <p:ph type="dt" sz="half" idx="10"/>
          </p:nvPr>
        </p:nvSpPr>
        <p:spPr>
          <a:xfrm>
            <a:off x="3972" y="6419911"/>
            <a:ext cx="1067753" cy="252469"/>
          </a:xfrm>
        </p:spPr>
        <p:txBody>
          <a:bodyPr/>
          <a:lstStyle>
            <a:lvl1pPr>
              <a:defRPr sz="949"/>
            </a:lvl1pPr>
          </a:lstStyle>
          <a:p>
            <a:fld id="{08BEDE44-1516-426B-A7F6-90631F077F57}" type="datetime1">
              <a:rPr lang="en-US" smtClean="0"/>
              <a:t>1/7/2026</a:t>
            </a:fld>
            <a:endParaRPr lang="en-GB" dirty="0"/>
          </a:p>
        </p:txBody>
      </p:sp>
      <p:sp>
        <p:nvSpPr>
          <p:cNvPr id="11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858833" y="6601968"/>
            <a:ext cx="620916" cy="248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355930" rtl="0" eaLnBrk="1" latinLnBrk="0" hangingPunct="1">
              <a:defRPr sz="1557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55930" algn="l" defTabSz="355930" rtl="0" eaLnBrk="1" latinLnBrk="0" hangingPunct="1"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1860" algn="l" defTabSz="355930" rtl="0" eaLnBrk="1" latinLnBrk="0" hangingPunct="1"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7791" algn="l" defTabSz="355930" rtl="0" eaLnBrk="1" latinLnBrk="0" hangingPunct="1"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3721" algn="l" defTabSz="355930" rtl="0" eaLnBrk="1" latinLnBrk="0" hangingPunct="1"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9651" algn="l" defTabSz="355930" rtl="0" eaLnBrk="1" latinLnBrk="0" hangingPunct="1"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5581" algn="l" defTabSz="355930" rtl="0" eaLnBrk="1" latinLnBrk="0" hangingPunct="1"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1511" algn="l" defTabSz="355930" rtl="0" eaLnBrk="1" latinLnBrk="0" hangingPunct="1"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47442" algn="l" defTabSz="355930" rtl="0" eaLnBrk="1" latinLnBrk="0" hangingPunct="1"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7D8618-F20C-406E-B464-04F15D14577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86507" y="1418303"/>
            <a:ext cx="8894169" cy="5033773"/>
          </a:xfrm>
          <a:prstGeom prst="rect">
            <a:avLst/>
          </a:prstGeom>
        </p:spPr>
        <p:txBody>
          <a:bodyPr vert="horz" lIns="0" tIns="45720" rIns="0" bIns="45720" rtlCol="0" anchor="ctr" anchorCtr="0">
            <a:normAutofit/>
          </a:bodyPr>
          <a:lstStyle>
            <a:lvl1pPr marL="179201" indent="-179201" algn="l" defTabSz="711860" rtl="0" eaLnBrk="1" latinLnBrk="0" hangingPunct="1">
              <a:lnSpc>
                <a:spcPct val="150000"/>
              </a:lnSpc>
              <a:spcBef>
                <a:spcPts val="934"/>
              </a:spcBef>
              <a:spcAft>
                <a:spcPts val="156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179201" algn="l"/>
                <a:tab pos="491876" algn="l"/>
              </a:tabLst>
              <a:defRPr sz="1868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9638" indent="-180437" algn="l" defTabSz="711860" rtl="0" eaLnBrk="1" latinLnBrk="0" hangingPunct="1">
              <a:lnSpc>
                <a:spcPct val="15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tabLst>
                <a:tab pos="359638" algn="l"/>
              </a:tabLst>
              <a:defRPr sz="1868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2660" indent="-173022" algn="l" defTabSz="711860" rtl="0" eaLnBrk="1" latinLnBrk="0" hangingPunct="1">
              <a:lnSpc>
                <a:spcPct val="15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868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11860" indent="-179201" algn="l" defTabSz="711860" rtl="0" eaLnBrk="1" latinLnBrk="0" hangingPunct="1">
              <a:lnSpc>
                <a:spcPct val="15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868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91062" indent="-179201" algn="l" defTabSz="711860" rtl="0" eaLnBrk="1" latinLnBrk="0" hangingPunct="1">
              <a:lnSpc>
                <a:spcPct val="15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868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56350" indent="-177965" algn="l" defTabSz="711860" rtl="0" eaLnBrk="1" latinLnBrk="0" hangingPunct="1">
              <a:lnSpc>
                <a:spcPct val="9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09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012050" indent="-177965" algn="l" defTabSz="711860" rtl="0" eaLnBrk="1" latinLnBrk="0" hangingPunct="1">
              <a:lnSpc>
                <a:spcPct val="9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09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67750" indent="-177965" algn="l" defTabSz="711860" rtl="0" eaLnBrk="1" latinLnBrk="0" hangingPunct="1">
              <a:lnSpc>
                <a:spcPct val="9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09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323450" indent="-177965" algn="l" defTabSz="711860" rtl="0" eaLnBrk="1" latinLnBrk="0" hangingPunct="1">
              <a:lnSpc>
                <a:spcPct val="90000"/>
              </a:lnSpc>
              <a:spcBef>
                <a:spcPts val="156"/>
              </a:spcBef>
              <a:spcAft>
                <a:spcPts val="311"/>
              </a:spcAft>
              <a:buClr>
                <a:schemeClr val="accent1"/>
              </a:buClr>
              <a:buFont typeface="Calibri" pitchFamily="34" charset="0"/>
              <a:buChar char="◦"/>
              <a:defRPr sz="109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207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0814" y="548877"/>
            <a:ext cx="7340799" cy="3660098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817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377-C23C-4D4C-BCEE-CA072886C173}" type="datetime1">
              <a:rPr lang="en-US" smtClean="0"/>
              <a:t>1/7/2026</a:t>
            </a:fld>
            <a:endParaRPr lang="en-GB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81371" y="4226772"/>
            <a:ext cx="720733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130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0815" y="1122706"/>
            <a:ext cx="7354621" cy="297724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Thank you wording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1D85-B3CD-4737-8C8A-A767A8FEBEBD}" type="datetime1">
              <a:rPr lang="en-US" smtClean="0"/>
              <a:t>1/7/2026</a:t>
            </a:fld>
            <a:endParaRPr lang="en-GB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814636" y="4823302"/>
            <a:ext cx="7340799" cy="1112522"/>
          </a:xfrm>
          <a:prstGeom prst="rect">
            <a:avLst/>
          </a:prstGeom>
        </p:spPr>
        <p:txBody>
          <a:bodyPr lIns="91440" rIns="91440" anchor="t" anchorCtr="0">
            <a:normAutofit/>
          </a:bodyPr>
          <a:lstStyle>
            <a:lvl1pPr marL="0" indent="0" algn="r">
              <a:buNone/>
              <a:defRPr sz="1314" cap="none" spc="146" baseline="0">
                <a:solidFill>
                  <a:schemeClr val="tx2"/>
                </a:solidFill>
                <a:latin typeface="+mj-lt"/>
              </a:defRPr>
            </a:lvl1pPr>
            <a:lvl2pPr marL="333685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2pPr>
            <a:lvl3pPr marL="667369" indent="0">
              <a:buNone/>
              <a:defRPr sz="1168">
                <a:solidFill>
                  <a:schemeClr val="tx1">
                    <a:tint val="75000"/>
                  </a:schemeClr>
                </a:solidFill>
              </a:defRPr>
            </a:lvl3pPr>
            <a:lvl4pPr marL="1001054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4pPr>
            <a:lvl5pPr marL="1334738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5pPr>
            <a:lvl6pPr marL="1668423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6pPr>
            <a:lvl7pPr marL="2002107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7pPr>
            <a:lvl8pPr marL="2335792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8pPr>
            <a:lvl9pPr marL="2669477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Contact information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00814" y="4333553"/>
            <a:ext cx="7340799" cy="365170"/>
          </a:xfrm>
          <a:prstGeom prst="rect">
            <a:avLst/>
          </a:prstGeom>
        </p:spPr>
        <p:txBody>
          <a:bodyPr lIns="91440" rIns="91440" anchor="t" anchorCtr="0">
            <a:normAutofit/>
          </a:bodyPr>
          <a:lstStyle>
            <a:lvl1pPr marL="0" indent="0" algn="r">
              <a:buNone/>
              <a:defRPr sz="1752" cap="none" spc="146" baseline="0">
                <a:solidFill>
                  <a:schemeClr val="tx2"/>
                </a:solidFill>
                <a:latin typeface="+mj-lt"/>
              </a:defRPr>
            </a:lvl1pPr>
            <a:lvl2pPr marL="333685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2pPr>
            <a:lvl3pPr marL="667369" indent="0">
              <a:buNone/>
              <a:defRPr sz="1168">
                <a:solidFill>
                  <a:schemeClr val="tx1">
                    <a:tint val="75000"/>
                  </a:schemeClr>
                </a:solidFill>
              </a:defRPr>
            </a:lvl3pPr>
            <a:lvl4pPr marL="1001054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4pPr>
            <a:lvl5pPr marL="1334738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5pPr>
            <a:lvl6pPr marL="1668423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6pPr>
            <a:lvl7pPr marL="2002107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7pPr>
            <a:lvl8pPr marL="2335792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8pPr>
            <a:lvl9pPr marL="2669477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Author name(s)</a:t>
            </a:r>
          </a:p>
        </p:txBody>
      </p:sp>
    </p:spTree>
    <p:extLst>
      <p:ext uri="{BB962C8B-B14F-4D97-AF65-F5344CB8AC3E}">
        <p14:creationId xmlns:p14="http://schemas.microsoft.com/office/powerpoint/2010/main" val="1419420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06825" y="2864919"/>
            <a:ext cx="6084288" cy="3055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36" b="1" i="0">
                <a:solidFill>
                  <a:srgbClr val="0033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34691" y="3737356"/>
            <a:ext cx="6228557" cy="2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352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0" y="0"/>
            <a:ext cx="8897938" cy="6667500"/>
          </a:xfrm>
          <a:custGeom>
            <a:avLst/>
            <a:gdLst/>
            <a:ahLst/>
            <a:cxnLst/>
            <a:rect l="l" t="t" r="r" b="b"/>
            <a:pathLst>
              <a:path w="11430000" h="6667500">
                <a:moveTo>
                  <a:pt x="11429999" y="6667499"/>
                </a:moveTo>
                <a:lnTo>
                  <a:pt x="0" y="66674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667499"/>
                </a:lnTo>
                <a:close/>
              </a:path>
            </a:pathLst>
          </a:custGeom>
          <a:solidFill>
            <a:srgbClr val="F0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7246" y="199403"/>
            <a:ext cx="5263446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33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2102" y="1269777"/>
            <a:ext cx="811393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6" r:id="rId3"/>
    <p:sldLayoutId id="2147483674" r:id="rId4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5930">
        <a:defRPr>
          <a:latin typeface="+mn-lt"/>
          <a:ea typeface="+mn-ea"/>
          <a:cs typeface="+mn-cs"/>
        </a:defRPr>
      </a:lvl2pPr>
      <a:lvl3pPr marL="711860">
        <a:defRPr>
          <a:latin typeface="+mn-lt"/>
          <a:ea typeface="+mn-ea"/>
          <a:cs typeface="+mn-cs"/>
        </a:defRPr>
      </a:lvl3pPr>
      <a:lvl4pPr marL="1067791">
        <a:defRPr>
          <a:latin typeface="+mn-lt"/>
          <a:ea typeface="+mn-ea"/>
          <a:cs typeface="+mn-cs"/>
        </a:defRPr>
      </a:lvl4pPr>
      <a:lvl5pPr marL="1423721">
        <a:defRPr>
          <a:latin typeface="+mn-lt"/>
          <a:ea typeface="+mn-ea"/>
          <a:cs typeface="+mn-cs"/>
        </a:defRPr>
      </a:lvl5pPr>
      <a:lvl6pPr marL="1779651">
        <a:defRPr>
          <a:latin typeface="+mn-lt"/>
          <a:ea typeface="+mn-ea"/>
          <a:cs typeface="+mn-cs"/>
        </a:defRPr>
      </a:lvl6pPr>
      <a:lvl7pPr marL="2135581">
        <a:defRPr>
          <a:latin typeface="+mn-lt"/>
          <a:ea typeface="+mn-ea"/>
          <a:cs typeface="+mn-cs"/>
        </a:defRPr>
      </a:lvl7pPr>
      <a:lvl8pPr marL="2491511">
        <a:defRPr>
          <a:latin typeface="+mn-lt"/>
          <a:ea typeface="+mn-ea"/>
          <a:cs typeface="+mn-cs"/>
        </a:defRPr>
      </a:lvl8pPr>
      <a:lvl9pPr marL="28474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5930">
        <a:defRPr>
          <a:latin typeface="+mn-lt"/>
          <a:ea typeface="+mn-ea"/>
          <a:cs typeface="+mn-cs"/>
        </a:defRPr>
      </a:lvl2pPr>
      <a:lvl3pPr marL="711860">
        <a:defRPr>
          <a:latin typeface="+mn-lt"/>
          <a:ea typeface="+mn-ea"/>
          <a:cs typeface="+mn-cs"/>
        </a:defRPr>
      </a:lvl3pPr>
      <a:lvl4pPr marL="1067791">
        <a:defRPr>
          <a:latin typeface="+mn-lt"/>
          <a:ea typeface="+mn-ea"/>
          <a:cs typeface="+mn-cs"/>
        </a:defRPr>
      </a:lvl4pPr>
      <a:lvl5pPr marL="1423721">
        <a:defRPr>
          <a:latin typeface="+mn-lt"/>
          <a:ea typeface="+mn-ea"/>
          <a:cs typeface="+mn-cs"/>
        </a:defRPr>
      </a:lvl5pPr>
      <a:lvl6pPr marL="1779651">
        <a:defRPr>
          <a:latin typeface="+mn-lt"/>
          <a:ea typeface="+mn-ea"/>
          <a:cs typeface="+mn-cs"/>
        </a:defRPr>
      </a:lvl6pPr>
      <a:lvl7pPr marL="2135581">
        <a:defRPr>
          <a:latin typeface="+mn-lt"/>
          <a:ea typeface="+mn-ea"/>
          <a:cs typeface="+mn-cs"/>
        </a:defRPr>
      </a:lvl7pPr>
      <a:lvl8pPr marL="2491511">
        <a:defRPr>
          <a:latin typeface="+mn-lt"/>
          <a:ea typeface="+mn-ea"/>
          <a:cs typeface="+mn-cs"/>
        </a:defRPr>
      </a:lvl8pPr>
      <a:lvl9pPr marL="284744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4445457" y="6429255"/>
            <a:ext cx="4452481" cy="245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" y="6428520"/>
            <a:ext cx="4445457" cy="245332"/>
          </a:xfrm>
          <a:prstGeom prst="rect">
            <a:avLst/>
          </a:prstGeom>
          <a:solidFill>
            <a:srgbClr val="214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" y="278909"/>
            <a:ext cx="8897936" cy="960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2303" y="6425575"/>
            <a:ext cx="1083362" cy="240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9">
                <a:solidFill>
                  <a:srgbClr val="FFFFFF"/>
                </a:solidFill>
              </a:defRPr>
            </a:lvl1pPr>
          </a:lstStyle>
          <a:p>
            <a:fld id="{460FF4EC-4A73-49DD-BD55-8E4D6A95B82C}" type="datetime1">
              <a:rPr lang="en-US" smtClean="0"/>
              <a:t>1/7/2026</a:t>
            </a:fld>
            <a:endParaRPr lang="en-GB" dirty="0"/>
          </a:p>
        </p:txBody>
      </p:sp>
      <p:sp>
        <p:nvSpPr>
          <p:cNvPr id="14" name="Text Placeholder 14"/>
          <p:cNvSpPr txBox="1">
            <a:spLocks/>
          </p:cNvSpPr>
          <p:nvPr userDrawn="1"/>
        </p:nvSpPr>
        <p:spPr>
          <a:xfrm>
            <a:off x="4445458" y="6425574"/>
            <a:ext cx="4452481" cy="24827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49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Research and Technology – Step into the Future</a:t>
            </a:r>
            <a:endParaRPr lang="en-GB" sz="949" dirty="0"/>
          </a:p>
        </p:txBody>
      </p:sp>
      <p:sp>
        <p:nvSpPr>
          <p:cNvPr id="21" name="Text Placeholder 14"/>
          <p:cNvSpPr txBox="1">
            <a:spLocks/>
          </p:cNvSpPr>
          <p:nvPr userDrawn="1"/>
        </p:nvSpPr>
        <p:spPr>
          <a:xfrm>
            <a:off x="1081060" y="6425575"/>
            <a:ext cx="3364398" cy="24680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22" dirty="0"/>
              <a:t>Riga,</a:t>
            </a:r>
            <a:r>
              <a:rPr lang="en-US" sz="1022" baseline="0" dirty="0"/>
              <a:t> Latvia</a:t>
            </a:r>
            <a:endParaRPr lang="en-GB" sz="1022" dirty="0"/>
          </a:p>
        </p:txBody>
      </p:sp>
    </p:spTree>
    <p:extLst>
      <p:ext uri="{BB962C8B-B14F-4D97-AF65-F5344CB8AC3E}">
        <p14:creationId xmlns:p14="http://schemas.microsoft.com/office/powerpoint/2010/main" val="186219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9" r:id="rId2"/>
    <p:sldLayoutId id="2147483670" r:id="rId3"/>
    <p:sldLayoutId id="2147483671" r:id="rId4"/>
  </p:sldLayoutIdLst>
  <p:hf hdr="0" ftr="0"/>
  <p:txStyles>
    <p:titleStyle>
      <a:lvl1pPr algn="l" defTabSz="667369" rtl="0" eaLnBrk="1" latinLnBrk="0" hangingPunct="1">
        <a:lnSpc>
          <a:spcPct val="85000"/>
        </a:lnSpc>
        <a:spcBef>
          <a:spcPct val="0"/>
        </a:spcBef>
        <a:buNone/>
        <a:defRPr sz="3503" kern="1200" spc="-37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6737" indent="-66737" algn="l" defTabSz="667369" rtl="0" eaLnBrk="1" latinLnBrk="0" hangingPunct="1">
        <a:lnSpc>
          <a:spcPct val="90000"/>
        </a:lnSpc>
        <a:spcBef>
          <a:spcPts val="876"/>
        </a:spcBef>
        <a:spcAft>
          <a:spcPts val="146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4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0295" indent="-133474" algn="l" defTabSz="667369" rtl="0" eaLnBrk="1" latinLnBrk="0" hangingPunct="1">
        <a:lnSpc>
          <a:spcPct val="90000"/>
        </a:lnSpc>
        <a:spcBef>
          <a:spcPts val="146"/>
        </a:spcBef>
        <a:spcAft>
          <a:spcPts val="292"/>
        </a:spcAft>
        <a:buClr>
          <a:schemeClr val="accent1"/>
        </a:buClr>
        <a:buFont typeface="Calibri" pitchFamily="34" charset="0"/>
        <a:buChar char="◦"/>
        <a:defRPr sz="131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13769" indent="-133474" algn="l" defTabSz="667369" rtl="0" eaLnBrk="1" latinLnBrk="0" hangingPunct="1">
        <a:lnSpc>
          <a:spcPct val="90000"/>
        </a:lnSpc>
        <a:spcBef>
          <a:spcPts val="146"/>
        </a:spcBef>
        <a:spcAft>
          <a:spcPts val="292"/>
        </a:spcAft>
        <a:buClr>
          <a:schemeClr val="accent1"/>
        </a:buClr>
        <a:buFont typeface="Calibri" pitchFamily="34" charset="0"/>
        <a:buChar char="◦"/>
        <a:defRPr sz="10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47243" indent="-133474" algn="l" defTabSz="667369" rtl="0" eaLnBrk="1" latinLnBrk="0" hangingPunct="1">
        <a:lnSpc>
          <a:spcPct val="90000"/>
        </a:lnSpc>
        <a:spcBef>
          <a:spcPts val="146"/>
        </a:spcBef>
        <a:spcAft>
          <a:spcPts val="292"/>
        </a:spcAft>
        <a:buClr>
          <a:schemeClr val="accent1"/>
        </a:buClr>
        <a:buFont typeface="Calibri" pitchFamily="34" charset="0"/>
        <a:buChar char="◦"/>
        <a:defRPr sz="10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80717" indent="-133474" algn="l" defTabSz="667369" rtl="0" eaLnBrk="1" latinLnBrk="0" hangingPunct="1">
        <a:lnSpc>
          <a:spcPct val="90000"/>
        </a:lnSpc>
        <a:spcBef>
          <a:spcPts val="146"/>
        </a:spcBef>
        <a:spcAft>
          <a:spcPts val="292"/>
        </a:spcAft>
        <a:buClr>
          <a:schemeClr val="accent1"/>
        </a:buClr>
        <a:buFont typeface="Calibri" pitchFamily="34" charset="0"/>
        <a:buChar char="◦"/>
        <a:defRPr sz="10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02828" indent="-166843" algn="l" defTabSz="667369" rtl="0" eaLnBrk="1" latinLnBrk="0" hangingPunct="1">
        <a:lnSpc>
          <a:spcPct val="90000"/>
        </a:lnSpc>
        <a:spcBef>
          <a:spcPts val="146"/>
        </a:spcBef>
        <a:spcAft>
          <a:spcPts val="292"/>
        </a:spcAft>
        <a:buClr>
          <a:schemeClr val="accent1"/>
        </a:buClr>
        <a:buFont typeface="Calibri" pitchFamily="34" charset="0"/>
        <a:buChar char="◦"/>
        <a:defRPr sz="10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48797" indent="-166843" algn="l" defTabSz="667369" rtl="0" eaLnBrk="1" latinLnBrk="0" hangingPunct="1">
        <a:lnSpc>
          <a:spcPct val="90000"/>
        </a:lnSpc>
        <a:spcBef>
          <a:spcPts val="146"/>
        </a:spcBef>
        <a:spcAft>
          <a:spcPts val="292"/>
        </a:spcAft>
        <a:buClr>
          <a:schemeClr val="accent1"/>
        </a:buClr>
        <a:buFont typeface="Calibri" pitchFamily="34" charset="0"/>
        <a:buChar char="◦"/>
        <a:defRPr sz="10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094766" indent="-166843" algn="l" defTabSz="667369" rtl="0" eaLnBrk="1" latinLnBrk="0" hangingPunct="1">
        <a:lnSpc>
          <a:spcPct val="90000"/>
        </a:lnSpc>
        <a:spcBef>
          <a:spcPts val="146"/>
        </a:spcBef>
        <a:spcAft>
          <a:spcPts val="292"/>
        </a:spcAft>
        <a:buClr>
          <a:schemeClr val="accent1"/>
        </a:buClr>
        <a:buFont typeface="Calibri" pitchFamily="34" charset="0"/>
        <a:buChar char="◦"/>
        <a:defRPr sz="10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40734" indent="-166843" algn="l" defTabSz="667369" rtl="0" eaLnBrk="1" latinLnBrk="0" hangingPunct="1">
        <a:lnSpc>
          <a:spcPct val="90000"/>
        </a:lnSpc>
        <a:spcBef>
          <a:spcPts val="146"/>
        </a:spcBef>
        <a:spcAft>
          <a:spcPts val="292"/>
        </a:spcAft>
        <a:buClr>
          <a:schemeClr val="accent1"/>
        </a:buClr>
        <a:buFont typeface="Calibri" pitchFamily="34" charset="0"/>
        <a:buChar char="◦"/>
        <a:defRPr sz="10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7369" rtl="0" eaLnBrk="1" latinLnBrk="0" hangingPunct="1">
        <a:defRPr sz="1314" kern="1200">
          <a:solidFill>
            <a:schemeClr val="tx1"/>
          </a:solidFill>
          <a:latin typeface="+mn-lt"/>
          <a:ea typeface="+mn-ea"/>
          <a:cs typeface="+mn-cs"/>
        </a:defRPr>
      </a:lvl1pPr>
      <a:lvl2pPr marL="333685" algn="l" defTabSz="667369" rtl="0" eaLnBrk="1" latinLnBrk="0" hangingPunct="1">
        <a:defRPr sz="1314" kern="1200">
          <a:solidFill>
            <a:schemeClr val="tx1"/>
          </a:solidFill>
          <a:latin typeface="+mn-lt"/>
          <a:ea typeface="+mn-ea"/>
          <a:cs typeface="+mn-cs"/>
        </a:defRPr>
      </a:lvl2pPr>
      <a:lvl3pPr marL="667369" algn="l" defTabSz="667369" rtl="0" eaLnBrk="1" latinLnBrk="0" hangingPunct="1">
        <a:defRPr sz="1314" kern="1200">
          <a:solidFill>
            <a:schemeClr val="tx1"/>
          </a:solidFill>
          <a:latin typeface="+mn-lt"/>
          <a:ea typeface="+mn-ea"/>
          <a:cs typeface="+mn-cs"/>
        </a:defRPr>
      </a:lvl3pPr>
      <a:lvl4pPr marL="1001054" algn="l" defTabSz="667369" rtl="0" eaLnBrk="1" latinLnBrk="0" hangingPunct="1">
        <a:defRPr sz="1314" kern="1200">
          <a:solidFill>
            <a:schemeClr val="tx1"/>
          </a:solidFill>
          <a:latin typeface="+mn-lt"/>
          <a:ea typeface="+mn-ea"/>
          <a:cs typeface="+mn-cs"/>
        </a:defRPr>
      </a:lvl4pPr>
      <a:lvl5pPr marL="1334738" algn="l" defTabSz="667369" rtl="0" eaLnBrk="1" latinLnBrk="0" hangingPunct="1">
        <a:defRPr sz="1314" kern="1200">
          <a:solidFill>
            <a:schemeClr val="tx1"/>
          </a:solidFill>
          <a:latin typeface="+mn-lt"/>
          <a:ea typeface="+mn-ea"/>
          <a:cs typeface="+mn-cs"/>
        </a:defRPr>
      </a:lvl5pPr>
      <a:lvl6pPr marL="1668423" algn="l" defTabSz="667369" rtl="0" eaLnBrk="1" latinLnBrk="0" hangingPunct="1">
        <a:defRPr sz="1314" kern="1200">
          <a:solidFill>
            <a:schemeClr val="tx1"/>
          </a:solidFill>
          <a:latin typeface="+mn-lt"/>
          <a:ea typeface="+mn-ea"/>
          <a:cs typeface="+mn-cs"/>
        </a:defRPr>
      </a:lvl6pPr>
      <a:lvl7pPr marL="2002107" algn="l" defTabSz="667369" rtl="0" eaLnBrk="1" latinLnBrk="0" hangingPunct="1">
        <a:defRPr sz="1314" kern="1200">
          <a:solidFill>
            <a:schemeClr val="tx1"/>
          </a:solidFill>
          <a:latin typeface="+mn-lt"/>
          <a:ea typeface="+mn-ea"/>
          <a:cs typeface="+mn-cs"/>
        </a:defRPr>
      </a:lvl7pPr>
      <a:lvl8pPr marL="2335792" algn="l" defTabSz="667369" rtl="0" eaLnBrk="1" latinLnBrk="0" hangingPunct="1">
        <a:defRPr sz="1314" kern="1200">
          <a:solidFill>
            <a:schemeClr val="tx1"/>
          </a:solidFill>
          <a:latin typeface="+mn-lt"/>
          <a:ea typeface="+mn-ea"/>
          <a:cs typeface="+mn-cs"/>
        </a:defRPr>
      </a:lvl8pPr>
      <a:lvl9pPr marL="2669477" algn="l" defTabSz="667369" rtl="0" eaLnBrk="1" latinLnBrk="0" hangingPunct="1">
        <a:defRPr sz="13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127072" y="1913190"/>
            <a:ext cx="7296309" cy="1301431"/>
          </a:xfrm>
          <a:prstGeom prst="rect">
            <a:avLst/>
          </a:prstGeom>
        </p:spPr>
        <p:txBody>
          <a:bodyPr vert="horz" wrap="square" lIns="0" tIns="7415" rIns="0" bIns="0" rtlCol="0" anchor="ctr">
            <a:spAutoFit/>
          </a:bodyPr>
          <a:lstStyle/>
          <a:p>
            <a:pPr marL="1403947" marR="3955" indent="-1394554" algn="ctr">
              <a:lnSpc>
                <a:spcPct val="100400"/>
              </a:lnSpc>
              <a:spcBef>
                <a:spcPts val="58"/>
              </a:spcBef>
            </a:pPr>
            <a:r>
              <a:rPr lang="en-US" sz="4204" b="0" dirty="0"/>
              <a:t>Automated Risk-Scoring System for Financial Institutions</a:t>
            </a:r>
            <a:endParaRPr lang="en-US" sz="4204" dirty="0"/>
          </a:p>
        </p:txBody>
      </p:sp>
      <p:sp>
        <p:nvSpPr>
          <p:cNvPr id="3" name="object 3"/>
          <p:cNvSpPr txBox="1"/>
          <p:nvPr/>
        </p:nvSpPr>
        <p:spPr>
          <a:xfrm>
            <a:off x="355918" y="4701275"/>
            <a:ext cx="8067463" cy="109596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3252807" marR="3955" indent="-3243414">
              <a:lnSpc>
                <a:spcPct val="100699"/>
              </a:lnSpc>
              <a:spcBef>
                <a:spcPts val="66"/>
              </a:spcBef>
            </a:pPr>
            <a:r>
              <a:rPr lang="en-US" sz="1246" dirty="0">
                <a:solidFill>
                  <a:schemeClr val="tx1"/>
                </a:solidFill>
                <a:latin typeface="Times New Roman"/>
                <a:cs typeface="Times New Roman"/>
              </a:rPr>
              <a:t>Natalja Krjuckova</a:t>
            </a:r>
          </a:p>
          <a:p>
            <a:pPr marL="3252807" marR="3955" indent="-3243414">
              <a:lnSpc>
                <a:spcPct val="100699"/>
              </a:lnSpc>
              <a:spcBef>
                <a:spcPts val="66"/>
              </a:spcBef>
            </a:pPr>
            <a:r>
              <a:rPr lang="en-US" sz="1246" dirty="0">
                <a:solidFill>
                  <a:schemeClr val="tx1"/>
                </a:solidFill>
                <a:latin typeface="Times New Roman"/>
                <a:cs typeface="Times New Roman"/>
              </a:rPr>
              <a:t>Transport and Telecommunication Institute (TSI)</a:t>
            </a:r>
          </a:p>
          <a:p>
            <a:pPr marL="3252807" marR="3955" indent="-3243414">
              <a:lnSpc>
                <a:spcPct val="100699"/>
              </a:lnSpc>
              <a:spcBef>
                <a:spcPts val="66"/>
              </a:spcBef>
            </a:pPr>
            <a:r>
              <a:rPr lang="en-US" sz="1246" dirty="0">
                <a:solidFill>
                  <a:schemeClr val="tx1"/>
                </a:solidFill>
                <a:latin typeface="Times New Roman"/>
                <a:cs typeface="Times New Roman"/>
              </a:rPr>
              <a:t>Supervised by: </a:t>
            </a:r>
            <a:r>
              <a:rPr lang="en-US" sz="1246" dirty="0" err="1">
                <a:solidFill>
                  <a:schemeClr val="tx1"/>
                </a:solidFill>
                <a:latin typeface="Times New Roman"/>
                <a:cs typeface="Times New Roman"/>
              </a:rPr>
              <a:t>Dr.Sc.Eng</a:t>
            </a:r>
            <a:r>
              <a:rPr lang="en-US" sz="1246" dirty="0">
                <a:solidFill>
                  <a:schemeClr val="tx1"/>
                </a:solidFill>
                <a:latin typeface="Times New Roman"/>
                <a:cs typeface="Times New Roman"/>
              </a:rPr>
              <a:t>. </a:t>
            </a:r>
            <a:r>
              <a:rPr lang="en-US" sz="1246" dirty="0" err="1">
                <a:solidFill>
                  <a:schemeClr val="tx1"/>
                </a:solidFill>
                <a:latin typeface="Times New Roman"/>
                <a:cs typeface="Times New Roman"/>
              </a:rPr>
              <a:t>Nadezda</a:t>
            </a:r>
            <a:r>
              <a:rPr lang="en-US" sz="1246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246" dirty="0" err="1">
                <a:solidFill>
                  <a:schemeClr val="tx1"/>
                </a:solidFill>
                <a:latin typeface="Times New Roman"/>
                <a:cs typeface="Times New Roman"/>
              </a:rPr>
              <a:t>Spiridovska</a:t>
            </a:r>
            <a:r>
              <a:rPr lang="en-US" sz="1246" dirty="0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lang="en-US" sz="1246" dirty="0" err="1">
                <a:solidFill>
                  <a:schemeClr val="tx1"/>
                </a:solidFill>
                <a:latin typeface="Times New Roman"/>
                <a:cs typeface="Times New Roman"/>
              </a:rPr>
              <a:t>Dr.Sc.Eng</a:t>
            </a:r>
            <a:r>
              <a:rPr lang="en-US" sz="1246" dirty="0">
                <a:solidFill>
                  <a:schemeClr val="tx1"/>
                </a:solidFill>
                <a:latin typeface="Times New Roman"/>
                <a:cs typeface="Times New Roman"/>
              </a:rPr>
              <a:t>. Jelena </a:t>
            </a:r>
            <a:r>
              <a:rPr lang="en-US" sz="1246" dirty="0" err="1">
                <a:solidFill>
                  <a:schemeClr val="tx1"/>
                </a:solidFill>
                <a:latin typeface="Times New Roman"/>
                <a:cs typeface="Times New Roman"/>
              </a:rPr>
              <a:t>Kijonok</a:t>
            </a:r>
            <a:r>
              <a:rPr lang="en-US" sz="1246" dirty="0">
                <a:solidFill>
                  <a:schemeClr val="tx1"/>
                </a:solidFill>
                <a:latin typeface="Times New Roman"/>
                <a:cs typeface="Times New Roman"/>
              </a:rPr>
              <a:t>. </a:t>
            </a:r>
          </a:p>
          <a:p>
            <a:pPr marL="3252807" marR="3955" indent="-3243414">
              <a:lnSpc>
                <a:spcPct val="100699"/>
              </a:lnSpc>
              <a:spcBef>
                <a:spcPts val="66"/>
              </a:spcBef>
            </a:pPr>
            <a:endParaRPr lang="en-US" sz="3192" dirty="0">
              <a:solidFill>
                <a:srgbClr val="0066CC"/>
              </a:solidFill>
              <a:latin typeface="Times New Roman"/>
              <a:cs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73970" y="645428"/>
            <a:ext cx="2344607" cy="13841"/>
          </a:xfrm>
          <a:custGeom>
            <a:avLst/>
            <a:gdLst/>
            <a:ahLst/>
            <a:cxnLst/>
            <a:rect l="l" t="t" r="r" b="b"/>
            <a:pathLst>
              <a:path w="3011804" h="17779">
                <a:moveTo>
                  <a:pt x="3011804" y="17716"/>
                </a:moveTo>
                <a:lnTo>
                  <a:pt x="0" y="17716"/>
                </a:lnTo>
                <a:lnTo>
                  <a:pt x="0" y="0"/>
                </a:lnTo>
                <a:lnTo>
                  <a:pt x="3011804" y="0"/>
                </a:lnTo>
                <a:lnTo>
                  <a:pt x="3011804" y="17716"/>
                </a:lnTo>
                <a:close/>
              </a:path>
            </a:pathLst>
          </a:custGeom>
          <a:solidFill>
            <a:srgbClr val="66A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81969" y="287333"/>
            <a:ext cx="4097447" cy="371936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1461291">
              <a:spcBef>
                <a:spcPts val="97"/>
              </a:spcBef>
            </a:pPr>
            <a:r>
              <a:rPr dirty="0"/>
              <a:t>Research</a:t>
            </a:r>
            <a:r>
              <a:rPr spc="-27" dirty="0"/>
              <a:t> </a:t>
            </a:r>
            <a:r>
              <a:rPr spc="-8" dirty="0"/>
              <a:t>Problem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9408" y="1017364"/>
            <a:ext cx="4187468" cy="4757961"/>
            <a:chOff x="400049" y="1340643"/>
            <a:chExt cx="5379085" cy="4314190"/>
          </a:xfrm>
        </p:grpSpPr>
        <p:sp>
          <p:nvSpPr>
            <p:cNvPr id="5" name="object 5"/>
            <p:cNvSpPr/>
            <p:nvPr/>
          </p:nvSpPr>
          <p:spPr>
            <a:xfrm>
              <a:off x="400049" y="1340643"/>
              <a:ext cx="5379085" cy="4314190"/>
            </a:xfrm>
            <a:custGeom>
              <a:avLst/>
              <a:gdLst/>
              <a:ahLst/>
              <a:cxnLst/>
              <a:rect l="l" t="t" r="r" b="b"/>
              <a:pathLst>
                <a:path w="5379085" h="431419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379085" h="4314190">
                  <a:moveTo>
                    <a:pt x="5378957" y="4313967"/>
                  </a:moveTo>
                  <a:lnTo>
                    <a:pt x="5268846" y="4313967"/>
                  </a:lnTo>
                  <a:lnTo>
                    <a:pt x="5275627" y="4312618"/>
                  </a:lnTo>
                  <a:lnTo>
                    <a:pt x="5288650" y="4307224"/>
                  </a:lnTo>
                  <a:lnTo>
                    <a:pt x="5313600" y="4274645"/>
                  </a:lnTo>
                  <a:lnTo>
                    <a:pt x="5314949" y="4267866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378957" y="0"/>
                  </a:lnTo>
                  <a:lnTo>
                    <a:pt x="5378957" y="4313967"/>
                  </a:lnTo>
                  <a:close/>
                </a:path>
                <a:path w="5379085" h="4314190">
                  <a:moveTo>
                    <a:pt x="46102" y="4313967"/>
                  </a:moveTo>
                  <a:lnTo>
                    <a:pt x="0" y="4313967"/>
                  </a:lnTo>
                  <a:lnTo>
                    <a:pt x="0" y="4267866"/>
                  </a:lnTo>
                  <a:lnTo>
                    <a:pt x="1348" y="4274645"/>
                  </a:lnTo>
                  <a:lnTo>
                    <a:pt x="6742" y="4287668"/>
                  </a:lnTo>
                  <a:lnTo>
                    <a:pt x="10583" y="4293416"/>
                  </a:lnTo>
                  <a:lnTo>
                    <a:pt x="20550" y="4303383"/>
                  </a:lnTo>
                  <a:lnTo>
                    <a:pt x="26298" y="4307224"/>
                  </a:lnTo>
                  <a:lnTo>
                    <a:pt x="39321" y="4312618"/>
                  </a:lnTo>
                  <a:lnTo>
                    <a:pt x="46102" y="431396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1340643"/>
              <a:ext cx="5314950" cy="4314190"/>
            </a:xfrm>
            <a:custGeom>
              <a:avLst/>
              <a:gdLst/>
              <a:ahLst/>
              <a:cxnLst/>
              <a:rect l="l" t="t" r="r" b="b"/>
              <a:pathLst>
                <a:path w="5314950" h="4314190">
                  <a:moveTo>
                    <a:pt x="5265290" y="4313967"/>
                  </a:moveTo>
                  <a:lnTo>
                    <a:pt x="49659" y="4313967"/>
                  </a:lnTo>
                  <a:lnTo>
                    <a:pt x="46203" y="4313627"/>
                  </a:lnTo>
                  <a:lnTo>
                    <a:pt x="10896" y="4293246"/>
                  </a:lnTo>
                  <a:lnTo>
                    <a:pt x="0" y="4264307"/>
                  </a:lnTo>
                  <a:lnTo>
                    <a:pt x="0" y="4260818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4264307"/>
                  </a:lnTo>
                  <a:lnTo>
                    <a:pt x="5296914" y="4300867"/>
                  </a:lnTo>
                  <a:lnTo>
                    <a:pt x="5268746" y="4313627"/>
                  </a:lnTo>
                  <a:lnTo>
                    <a:pt x="5265290" y="4313967"/>
                  </a:lnTo>
                  <a:close/>
                </a:path>
              </a:pathLst>
            </a:custGeom>
            <a:solidFill>
              <a:srgbClr val="F5F5F5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sz="half" idx="2"/>
          </p:nvPr>
        </p:nvSpPr>
        <p:spPr>
          <a:xfrm>
            <a:off x="259408" y="1355724"/>
            <a:ext cx="3984979" cy="3863937"/>
          </a:xfrm>
          <a:prstGeom prst="rect">
            <a:avLst/>
          </a:prstGeom>
        </p:spPr>
        <p:txBody>
          <a:bodyPr vert="horz" wrap="square" lIns="0" tIns="9392" rIns="0" bIns="0" rtlCol="0">
            <a:spAutoFit/>
          </a:bodyPr>
          <a:lstStyle/>
          <a:p>
            <a:pPr marL="295637" marR="176976" indent="-285750">
              <a:lnSpc>
                <a:spcPct val="116300"/>
              </a:lnSpc>
              <a:spcBef>
                <a:spcPts val="74"/>
              </a:spcBef>
              <a:buFont typeface="Arial" panose="020B0604020202020204" pitchFamily="34" charset="0"/>
              <a:buChar char="•"/>
            </a:pPr>
            <a:r>
              <a:rPr sz="2000" dirty="0"/>
              <a:t>Financial sector struggles with </a:t>
            </a:r>
            <a:r>
              <a:rPr sz="2000" spc="-8" dirty="0"/>
              <a:t>monitoring </a:t>
            </a:r>
            <a:r>
              <a:rPr sz="2000" dirty="0"/>
              <a:t>fraudulent </a:t>
            </a:r>
            <a:r>
              <a:rPr sz="2000" spc="-8" dirty="0"/>
              <a:t>operations</a:t>
            </a:r>
          </a:p>
          <a:p>
            <a:pPr marL="295637" marR="178954" indent="-285750">
              <a:lnSpc>
                <a:spcPct val="117700"/>
              </a:lnSpc>
              <a:spcBef>
                <a:spcPts val="735"/>
              </a:spcBef>
              <a:buFont typeface="Arial" panose="020B0604020202020204" pitchFamily="34" charset="0"/>
              <a:buChar char="•"/>
            </a:pPr>
            <a:r>
              <a:rPr sz="2000" dirty="0"/>
              <a:t>Money laundering amounts to 2-5% </a:t>
            </a:r>
            <a:r>
              <a:rPr sz="2000" spc="-19" dirty="0"/>
              <a:t>of </a:t>
            </a:r>
            <a:r>
              <a:rPr sz="2000" dirty="0"/>
              <a:t>global</a:t>
            </a:r>
            <a:r>
              <a:rPr sz="2000" spc="-8" dirty="0"/>
              <a:t> </a:t>
            </a:r>
            <a:r>
              <a:rPr sz="2000" dirty="0"/>
              <a:t>GDP</a:t>
            </a:r>
            <a:r>
              <a:rPr sz="2000" spc="-62" dirty="0"/>
              <a:t> </a:t>
            </a:r>
            <a:r>
              <a:rPr sz="2000" dirty="0"/>
              <a:t>annually</a:t>
            </a:r>
            <a:r>
              <a:rPr sz="2000" spc="-4" dirty="0"/>
              <a:t> </a:t>
            </a:r>
            <a:r>
              <a:rPr sz="2000" dirty="0"/>
              <a:t>(€715</a:t>
            </a:r>
            <a:r>
              <a:rPr sz="2000" spc="-8" dirty="0"/>
              <a:t> </a:t>
            </a:r>
            <a:r>
              <a:rPr sz="2000" dirty="0"/>
              <a:t>billion</a:t>
            </a:r>
            <a:r>
              <a:rPr sz="2000" spc="-4" dirty="0"/>
              <a:t> </a:t>
            </a:r>
            <a:r>
              <a:rPr sz="2000" dirty="0"/>
              <a:t>-</a:t>
            </a:r>
            <a:r>
              <a:rPr sz="2000" spc="-4" dirty="0"/>
              <a:t> </a:t>
            </a:r>
            <a:r>
              <a:rPr sz="2000" spc="-8" dirty="0"/>
              <a:t>€1.87 trillion)</a:t>
            </a:r>
          </a:p>
          <a:p>
            <a:pPr marL="295637" marR="3955" indent="-285750">
              <a:lnSpc>
                <a:spcPct val="116199"/>
              </a:lnSpc>
              <a:spcBef>
                <a:spcPts val="759"/>
              </a:spcBef>
              <a:buFont typeface="Arial" panose="020B0604020202020204" pitchFamily="34" charset="0"/>
              <a:buChar char="•"/>
            </a:pPr>
            <a:r>
              <a:rPr sz="2000" dirty="0"/>
              <a:t>Basel</a:t>
            </a:r>
            <a:r>
              <a:rPr sz="2000" spc="-86" dirty="0"/>
              <a:t> </a:t>
            </a:r>
            <a:r>
              <a:rPr sz="2000" dirty="0"/>
              <a:t>AML/CFT</a:t>
            </a:r>
            <a:r>
              <a:rPr sz="2000" spc="-27" dirty="0"/>
              <a:t> </a:t>
            </a:r>
            <a:r>
              <a:rPr sz="2000" dirty="0"/>
              <a:t>Index 2024 identifies </a:t>
            </a:r>
            <a:r>
              <a:rPr sz="2000" spc="-8" dirty="0"/>
              <a:t>fraud </a:t>
            </a:r>
            <a:r>
              <a:rPr sz="2000" dirty="0"/>
              <a:t>as</a:t>
            </a:r>
            <a:r>
              <a:rPr sz="2000" spc="-8" dirty="0"/>
              <a:t> </a:t>
            </a:r>
            <a:r>
              <a:rPr sz="2000" dirty="0"/>
              <a:t>principal</a:t>
            </a:r>
            <a:r>
              <a:rPr sz="2000" spc="-8" dirty="0"/>
              <a:t> </a:t>
            </a:r>
            <a:r>
              <a:rPr sz="2000" dirty="0"/>
              <a:t>offense</a:t>
            </a:r>
            <a:r>
              <a:rPr sz="2000" spc="-4" dirty="0"/>
              <a:t> </a:t>
            </a:r>
            <a:r>
              <a:rPr sz="2000" dirty="0"/>
              <a:t>in</a:t>
            </a:r>
            <a:r>
              <a:rPr sz="2000" spc="-8" dirty="0"/>
              <a:t> </a:t>
            </a:r>
            <a:r>
              <a:rPr sz="2000" dirty="0"/>
              <a:t>financial</a:t>
            </a:r>
            <a:r>
              <a:rPr sz="2000" spc="-4" dirty="0"/>
              <a:t> </a:t>
            </a:r>
            <a:r>
              <a:rPr sz="2000" spc="-8" dirty="0"/>
              <a:t>institutions</a:t>
            </a:r>
          </a:p>
          <a:p>
            <a:pPr marL="295637" marR="134957" indent="-285750">
              <a:lnSpc>
                <a:spcPct val="116199"/>
              </a:lnSpc>
              <a:spcBef>
                <a:spcPts val="763"/>
              </a:spcBef>
              <a:buFont typeface="Arial" panose="020B0604020202020204" pitchFamily="34" charset="0"/>
              <a:buChar char="•"/>
            </a:pPr>
            <a:r>
              <a:rPr sz="2000" dirty="0"/>
              <a:t>Increasing regulatory requirements for </a:t>
            </a:r>
            <a:r>
              <a:rPr sz="2000" spc="-19" dirty="0"/>
              <a:t>ML </a:t>
            </a:r>
            <a:r>
              <a:rPr sz="2000" dirty="0"/>
              <a:t>risk </a:t>
            </a:r>
            <a:r>
              <a:rPr sz="2000" spc="-8" dirty="0"/>
              <a:t>assessment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4536781" y="1017365"/>
            <a:ext cx="4049729" cy="4757967"/>
            <a:chOff x="5827775" y="1340643"/>
            <a:chExt cx="5202126" cy="4314196"/>
          </a:xfrm>
        </p:grpSpPr>
        <p:sp>
          <p:nvSpPr>
            <p:cNvPr id="13" name="object 13"/>
            <p:cNvSpPr/>
            <p:nvPr/>
          </p:nvSpPr>
          <p:spPr>
            <a:xfrm>
              <a:off x="5827775" y="1340643"/>
              <a:ext cx="110489" cy="4314190"/>
            </a:xfrm>
            <a:custGeom>
              <a:avLst/>
              <a:gdLst/>
              <a:ahLst/>
              <a:cxnLst/>
              <a:rect l="l" t="t" r="r" b="b"/>
              <a:pathLst>
                <a:path w="110489" h="4314190">
                  <a:moveTo>
                    <a:pt x="110491" y="4313967"/>
                  </a:moveTo>
                  <a:lnTo>
                    <a:pt x="0" y="4313967"/>
                  </a:lnTo>
                  <a:lnTo>
                    <a:pt x="0" y="0"/>
                  </a:lnTo>
                  <a:lnTo>
                    <a:pt x="110489" y="0"/>
                  </a:lnTo>
                  <a:lnTo>
                    <a:pt x="103710" y="1348"/>
                  </a:lnTo>
                  <a:lnTo>
                    <a:pt x="90686" y="6742"/>
                  </a:lnTo>
                  <a:lnTo>
                    <a:pt x="65737" y="39321"/>
                  </a:lnTo>
                  <a:lnTo>
                    <a:pt x="64388" y="46101"/>
                  </a:lnTo>
                  <a:lnTo>
                    <a:pt x="64388" y="4267866"/>
                  </a:lnTo>
                  <a:lnTo>
                    <a:pt x="84939" y="4303383"/>
                  </a:lnTo>
                  <a:lnTo>
                    <a:pt x="103710" y="4312618"/>
                  </a:lnTo>
                  <a:lnTo>
                    <a:pt x="110491" y="431396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92165" y="1340649"/>
              <a:ext cx="5137785" cy="4314190"/>
            </a:xfrm>
            <a:custGeom>
              <a:avLst/>
              <a:gdLst/>
              <a:ahLst/>
              <a:cxnLst/>
              <a:rect l="l" t="t" r="r" b="b"/>
              <a:pathLst>
                <a:path w="5137784" h="4314190">
                  <a:moveTo>
                    <a:pt x="5137785" y="0"/>
                  </a:moveTo>
                  <a:lnTo>
                    <a:pt x="49657" y="0"/>
                  </a:lnTo>
                  <a:lnTo>
                    <a:pt x="46202" y="342"/>
                  </a:lnTo>
                  <a:lnTo>
                    <a:pt x="10883" y="20713"/>
                  </a:lnTo>
                  <a:lnTo>
                    <a:pt x="0" y="49657"/>
                  </a:lnTo>
                  <a:lnTo>
                    <a:pt x="0" y="4264304"/>
                  </a:lnTo>
                  <a:lnTo>
                    <a:pt x="18034" y="4300867"/>
                  </a:lnTo>
                  <a:lnTo>
                    <a:pt x="49657" y="4313961"/>
                  </a:lnTo>
                  <a:lnTo>
                    <a:pt x="5137785" y="4313961"/>
                  </a:lnTo>
                  <a:lnTo>
                    <a:pt x="5137785" y="3655491"/>
                  </a:lnTo>
                  <a:lnTo>
                    <a:pt x="5137785" y="2580716"/>
                  </a:lnTo>
                  <a:lnTo>
                    <a:pt x="5137785" y="2441918"/>
                  </a:lnTo>
                  <a:lnTo>
                    <a:pt x="5137785" y="1358277"/>
                  </a:lnTo>
                  <a:lnTo>
                    <a:pt x="5137785" y="1219479"/>
                  </a:lnTo>
                  <a:lnTo>
                    <a:pt x="5137785" y="144691"/>
                  </a:lnTo>
                  <a:lnTo>
                    <a:pt x="5137785" y="0"/>
                  </a:lnTo>
                  <a:close/>
                </a:path>
              </a:pathLst>
            </a:custGeom>
            <a:solidFill>
              <a:srgbClr val="0066CC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802544" y="1355724"/>
            <a:ext cx="3543612" cy="3724655"/>
          </a:xfrm>
          <a:prstGeom prst="rect">
            <a:avLst/>
          </a:prstGeom>
        </p:spPr>
        <p:txBody>
          <a:bodyPr vert="horz" wrap="square" lIns="0" tIns="145333" rIns="0" bIns="0" rtlCol="0">
            <a:spAutoFit/>
          </a:bodyPr>
          <a:lstStyle/>
          <a:p>
            <a:pPr algn="ctr">
              <a:spcBef>
                <a:spcPts val="1144"/>
              </a:spcBef>
            </a:pPr>
            <a:r>
              <a:rPr sz="2400" b="1" spc="-8" dirty="0">
                <a:solidFill>
                  <a:srgbClr val="003366"/>
                </a:solidFill>
                <a:latin typeface="Times New Roman"/>
                <a:cs typeface="Times New Roman"/>
              </a:rPr>
              <a:t>2-</a:t>
            </a:r>
            <a:r>
              <a:rPr sz="2400" b="1" spc="-19" dirty="0">
                <a:solidFill>
                  <a:srgbClr val="003366"/>
                </a:solidFill>
                <a:latin typeface="Times New Roman"/>
                <a:cs typeface="Times New Roman"/>
              </a:rPr>
              <a:t>5%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spcBef>
                <a:spcPts val="537"/>
              </a:spcBef>
            </a:pP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global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GDP</a:t>
            </a:r>
            <a:r>
              <a:rPr sz="1600" spc="-5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involved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600" spc="-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money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laundering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annually</a:t>
            </a:r>
            <a:endParaRPr sz="1600" dirty="0">
              <a:latin typeface="Times New Roman"/>
              <a:cs typeface="Times New Roman"/>
            </a:endParaRPr>
          </a:p>
          <a:p>
            <a:pPr>
              <a:spcBef>
                <a:spcPts val="1168"/>
              </a:spcBef>
            </a:pPr>
            <a:endParaRPr sz="16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€1.87</a:t>
            </a:r>
            <a:r>
              <a:rPr sz="2400" b="1" spc="-12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8" dirty="0">
                <a:solidFill>
                  <a:srgbClr val="003366"/>
                </a:solidFill>
                <a:latin typeface="Times New Roman"/>
                <a:cs typeface="Times New Roman"/>
              </a:rPr>
              <a:t>trillion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spcBef>
                <a:spcPts val="537"/>
              </a:spcBef>
            </a:pP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upper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estimate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annual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money</a:t>
            </a:r>
            <a:r>
              <a:rPr sz="1600" spc="-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laundering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volume</a:t>
            </a:r>
            <a:endParaRPr sz="1600" dirty="0">
              <a:latin typeface="Times New Roman"/>
              <a:cs typeface="Times New Roman"/>
            </a:endParaRPr>
          </a:p>
          <a:p>
            <a:pPr>
              <a:spcBef>
                <a:spcPts val="1226"/>
              </a:spcBef>
            </a:pPr>
            <a:endParaRPr sz="16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spc="-8" dirty="0">
                <a:solidFill>
                  <a:srgbClr val="003366"/>
                </a:solidFill>
                <a:latin typeface="Times New Roman"/>
                <a:cs typeface="Times New Roman"/>
              </a:rPr>
              <a:t>Increasing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spcBef>
                <a:spcPts val="537"/>
              </a:spcBef>
            </a:pP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regulatory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requirements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33333"/>
                </a:solidFill>
                <a:latin typeface="Times New Roman"/>
                <a:cs typeface="Times New Roman"/>
              </a:rPr>
              <a:t>financial</a:t>
            </a:r>
            <a:r>
              <a:rPr sz="1600" spc="-8" dirty="0">
                <a:solidFill>
                  <a:srgbClr val="333333"/>
                </a:solidFill>
                <a:latin typeface="Times New Roman"/>
                <a:cs typeface="Times New Roman"/>
              </a:rPr>
              <a:t> institutions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5775B3-7B7F-4F82-974D-3420912D9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5829" y="6491053"/>
            <a:ext cx="582109" cy="202485"/>
          </a:xfrm>
        </p:spPr>
        <p:txBody>
          <a:bodyPr anchor="ctr"/>
          <a:lstStyle/>
          <a:p>
            <a:fld id="{CC7D8618-F20C-406E-B464-04F15D14577A}" type="slidenum">
              <a:rPr lang="en-GB" smtClean="0">
                <a:solidFill>
                  <a:schemeClr val="bg1"/>
                </a:solidFill>
              </a:rPr>
              <a:pPr/>
              <a:t>2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21CBEE9A-A078-4231-A8BF-770A47EFDF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07" y="6491576"/>
            <a:ext cx="1138936" cy="201963"/>
          </a:xfrm>
        </p:spPr>
        <p:txBody>
          <a:bodyPr/>
          <a:lstStyle/>
          <a:p>
            <a:fld id="{87DDF110-EE35-4A7F-B214-B856D7B1D9E6}" type="datetime5">
              <a:rPr lang="en-GB" smtClean="0"/>
              <a:t>7-Jan-26</a:t>
            </a:fld>
            <a:endParaRPr lang="en-GB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C29858DF-193A-43BB-B2D8-4624AB9815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0743" y="6492099"/>
            <a:ext cx="3524483" cy="201440"/>
          </a:xfrm>
        </p:spPr>
        <p:txBody>
          <a:bodyPr/>
          <a:lstStyle/>
          <a:p>
            <a:r>
              <a:rPr lang="en-GB" dirty="0"/>
              <a:t>Natalja Krjuckova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E80DA77A-0AC8-465B-B008-B3AD5F307B34}"/>
              </a:ext>
            </a:extLst>
          </p:cNvPr>
          <p:cNvSpPr txBox="1">
            <a:spLocks/>
          </p:cNvSpPr>
          <p:nvPr/>
        </p:nvSpPr>
        <p:spPr>
          <a:xfrm>
            <a:off x="4676829" y="6491576"/>
            <a:ext cx="3669327" cy="20144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216271" indent="0" algn="r">
              <a:lnSpc>
                <a:spcPct val="100000"/>
              </a:lnSpc>
              <a:buNone/>
              <a:tabLst>
                <a:tab pos="223996" algn="l"/>
              </a:tabLst>
              <a:defRPr sz="126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 sz="985" dirty="0" err="1"/>
              <a:t>RaTSiF</a:t>
            </a:r>
            <a:r>
              <a:rPr lang="en-GB" sz="985" dirty="0"/>
              <a:t>, Riga, Latvia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4769" y="297990"/>
            <a:ext cx="5929893" cy="371936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1333750">
              <a:spcBef>
                <a:spcPts val="97"/>
              </a:spcBef>
            </a:pPr>
            <a:r>
              <a:rPr lang="en-US" dirty="0"/>
              <a:t>Research Goal and Objectives</a:t>
            </a:r>
            <a:endParaRPr spc="-8" dirty="0"/>
          </a:p>
        </p:txBody>
      </p:sp>
      <p:grpSp>
        <p:nvGrpSpPr>
          <p:cNvPr id="4" name="object 4"/>
          <p:cNvGrpSpPr/>
          <p:nvPr/>
        </p:nvGrpSpPr>
        <p:grpSpPr>
          <a:xfrm>
            <a:off x="309476" y="1055703"/>
            <a:ext cx="8319572" cy="4948221"/>
            <a:chOff x="400049" y="1774697"/>
            <a:chExt cx="10687051" cy="3446145"/>
          </a:xfrm>
        </p:grpSpPr>
        <p:sp>
          <p:nvSpPr>
            <p:cNvPr id="5" name="object 5"/>
            <p:cNvSpPr/>
            <p:nvPr/>
          </p:nvSpPr>
          <p:spPr>
            <a:xfrm>
              <a:off x="400049" y="1774697"/>
              <a:ext cx="10629900" cy="3446145"/>
            </a:xfrm>
            <a:custGeom>
              <a:avLst/>
              <a:gdLst/>
              <a:ahLst/>
              <a:cxnLst/>
              <a:rect l="l" t="t" r="r" b="b"/>
              <a:pathLst>
                <a:path w="10629900" h="344614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10629900" h="3446145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w="10629900" h="3446145">
                  <a:moveTo>
                    <a:pt x="10629899" y="3445859"/>
                  </a:moveTo>
                  <a:lnTo>
                    <a:pt x="10583794" y="3445859"/>
                  </a:lnTo>
                  <a:lnTo>
                    <a:pt x="10590576" y="3444509"/>
                  </a:lnTo>
                  <a:lnTo>
                    <a:pt x="10603599" y="3439115"/>
                  </a:lnTo>
                  <a:lnTo>
                    <a:pt x="10628550" y="3406536"/>
                  </a:lnTo>
                  <a:lnTo>
                    <a:pt x="10629899" y="3399757"/>
                  </a:lnTo>
                  <a:lnTo>
                    <a:pt x="10629899" y="3445859"/>
                  </a:lnTo>
                  <a:close/>
                </a:path>
                <a:path w="10629900" h="3446145">
                  <a:moveTo>
                    <a:pt x="46104" y="3445859"/>
                  </a:moveTo>
                  <a:lnTo>
                    <a:pt x="0" y="3445859"/>
                  </a:lnTo>
                  <a:lnTo>
                    <a:pt x="0" y="3399757"/>
                  </a:lnTo>
                  <a:lnTo>
                    <a:pt x="1348" y="3406536"/>
                  </a:lnTo>
                  <a:lnTo>
                    <a:pt x="6742" y="3419560"/>
                  </a:lnTo>
                  <a:lnTo>
                    <a:pt x="10583" y="3425307"/>
                  </a:lnTo>
                  <a:lnTo>
                    <a:pt x="20550" y="3435274"/>
                  </a:lnTo>
                  <a:lnTo>
                    <a:pt x="26298" y="3439115"/>
                  </a:lnTo>
                  <a:lnTo>
                    <a:pt x="39321" y="3444509"/>
                  </a:lnTo>
                  <a:lnTo>
                    <a:pt x="46104" y="344585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1774697"/>
              <a:ext cx="10629900" cy="3446145"/>
            </a:xfrm>
            <a:custGeom>
              <a:avLst/>
              <a:gdLst/>
              <a:ahLst/>
              <a:cxnLst/>
              <a:rect l="l" t="t" r="r" b="b"/>
              <a:pathLst>
                <a:path w="10629900" h="3446145">
                  <a:moveTo>
                    <a:pt x="10580239" y="3445859"/>
                  </a:moveTo>
                  <a:lnTo>
                    <a:pt x="49659" y="3445859"/>
                  </a:lnTo>
                  <a:lnTo>
                    <a:pt x="46203" y="3445518"/>
                  </a:lnTo>
                  <a:lnTo>
                    <a:pt x="10896" y="3425138"/>
                  </a:lnTo>
                  <a:lnTo>
                    <a:pt x="0" y="3396199"/>
                  </a:lnTo>
                  <a:lnTo>
                    <a:pt x="0" y="3392709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3396199"/>
                  </a:lnTo>
                  <a:lnTo>
                    <a:pt x="10611863" y="3432758"/>
                  </a:lnTo>
                  <a:lnTo>
                    <a:pt x="10583695" y="3445518"/>
                  </a:lnTo>
                  <a:lnTo>
                    <a:pt x="10580239" y="3445859"/>
                  </a:lnTo>
                  <a:close/>
                </a:path>
              </a:pathLst>
            </a:custGeom>
            <a:solidFill>
              <a:srgbClr val="F5F5F5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7148" y="1157055"/>
            <a:ext cx="8287018" cy="4626132"/>
          </a:xfrm>
          <a:prstGeom prst="rect">
            <a:avLst/>
          </a:prstGeom>
        </p:spPr>
        <p:txBody>
          <a:bodyPr vert="horz" wrap="square" lIns="0" tIns="9392" rIns="0" bIns="0" rtlCol="0">
            <a:spAutoFit/>
          </a:bodyPr>
          <a:lstStyle/>
          <a:p>
            <a:pPr algn="l"/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Goal:</a:t>
            </a:r>
          </a:p>
          <a:p>
            <a:pPr algn="l"/>
            <a:endParaRPr lang="en-US" sz="2000" b="0" i="0" dirty="0">
              <a:solidFill>
                <a:srgbClr val="2C3E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risk-scoring system for detecting suspicious financial transactions using machine learning techniques</a:t>
            </a:r>
          </a:p>
          <a:p>
            <a:pPr algn="l"/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Objectives:</a:t>
            </a:r>
          </a:p>
          <a:p>
            <a:pPr algn="l"/>
            <a:endParaRPr lang="en-US" sz="2000" b="0" i="0" dirty="0">
              <a:solidFill>
                <a:srgbClr val="2C3E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synthetic transaction data that accurately simulates real-world fraud patterns.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implement machine learning models for suspicious activity detection.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explainable AI techniques to ensure model interpretability and regulatory compliance.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model adaptability across multiple data waves to simulate evolving fraud patterns.</a:t>
            </a:r>
          </a:p>
        </p:txBody>
      </p:sp>
      <p:sp>
        <p:nvSpPr>
          <p:cNvPr id="19" name="Slide Number Placeholder 17">
            <a:extLst>
              <a:ext uri="{FF2B5EF4-FFF2-40B4-BE49-F238E27FC236}">
                <a16:creationId xmlns:a16="http://schemas.microsoft.com/office/drawing/2014/main" id="{F4D56411-495A-4291-BF50-10EF9002BD80}"/>
              </a:ext>
            </a:extLst>
          </p:cNvPr>
          <p:cNvSpPr txBox="1">
            <a:spLocks/>
          </p:cNvSpPr>
          <p:nvPr/>
        </p:nvSpPr>
        <p:spPr>
          <a:xfrm>
            <a:off x="8315829" y="6491053"/>
            <a:ext cx="582109" cy="20248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defPPr>
              <a:defRPr kern="0"/>
            </a:defPPr>
            <a:lvl1pPr algn="r">
              <a:defRPr sz="1246" b="1"/>
            </a:lvl1pPr>
          </a:lstStyle>
          <a:p>
            <a:fld id="{CC7D8618-F20C-406E-B464-04F15D14577A}" type="slidenum">
              <a:rPr lang="en-GB" smtClean="0">
                <a:solidFill>
                  <a:schemeClr val="bg1"/>
                </a:solidFill>
              </a:rPr>
              <a:pPr/>
              <a:t>3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1CD5B369-2E83-41AC-9C1B-7A3717BE87CE}"/>
              </a:ext>
            </a:extLst>
          </p:cNvPr>
          <p:cNvSpPr txBox="1">
            <a:spLocks/>
          </p:cNvSpPr>
          <p:nvPr/>
        </p:nvSpPr>
        <p:spPr>
          <a:xfrm>
            <a:off x="1807" y="6491576"/>
            <a:ext cx="1138936" cy="201963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defPPr>
              <a:defRPr kern="0"/>
            </a:defPPr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7DDF110-EE35-4A7F-B214-B856D7B1D9E6}" type="datetime5">
              <a:rPr lang="en-GB" smtClean="0"/>
              <a:pPr/>
              <a:t>7-Jan-26</a:t>
            </a:fld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460C2E-9040-455B-8AD0-18C0FC3AC13E}"/>
              </a:ext>
            </a:extLst>
          </p:cNvPr>
          <p:cNvSpPr txBox="1">
            <a:spLocks/>
          </p:cNvSpPr>
          <p:nvPr/>
        </p:nvSpPr>
        <p:spPr>
          <a:xfrm>
            <a:off x="1140743" y="6492099"/>
            <a:ext cx="3524483" cy="201440"/>
          </a:xfrm>
          <a:prstGeom prst="rect">
            <a:avLst/>
          </a:prstGeom>
          <a:solidFill>
            <a:srgbClr val="003366"/>
          </a:solidFill>
        </p:spPr>
        <p:txBody>
          <a:bodyPr wrap="square" lIns="0" tIns="0" rIns="0" bIns="0"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93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1186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6779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2372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779651">
              <a:defRPr>
                <a:latin typeface="+mn-lt"/>
                <a:ea typeface="+mn-ea"/>
                <a:cs typeface="+mn-cs"/>
              </a:defRPr>
            </a:lvl6pPr>
            <a:lvl7pPr marL="2135581">
              <a:defRPr>
                <a:latin typeface="+mn-lt"/>
                <a:ea typeface="+mn-ea"/>
                <a:cs typeface="+mn-cs"/>
              </a:defRPr>
            </a:lvl7pPr>
            <a:lvl8pPr marL="2491511">
              <a:defRPr>
                <a:latin typeface="+mn-lt"/>
                <a:ea typeface="+mn-ea"/>
                <a:cs typeface="+mn-cs"/>
              </a:defRPr>
            </a:lvl8pPr>
            <a:lvl9pPr marL="2847442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Natalja Krjuckova</a:t>
            </a:r>
            <a:endParaRPr lang="en-GB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A5FC85A-8CF8-4BFC-B71C-69EC06CCB1BD}"/>
              </a:ext>
            </a:extLst>
          </p:cNvPr>
          <p:cNvSpPr txBox="1">
            <a:spLocks/>
          </p:cNvSpPr>
          <p:nvPr/>
        </p:nvSpPr>
        <p:spPr>
          <a:xfrm>
            <a:off x="4676829" y="6491576"/>
            <a:ext cx="3669327" cy="20144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216271" indent="0" algn="r">
              <a:lnSpc>
                <a:spcPct val="100000"/>
              </a:lnSpc>
              <a:buNone/>
              <a:tabLst>
                <a:tab pos="223996" algn="l"/>
              </a:tabLst>
              <a:defRPr sz="126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 sz="985" dirty="0" err="1"/>
              <a:t>RaTSiF</a:t>
            </a:r>
            <a:r>
              <a:rPr lang="en-GB" sz="985" dirty="0"/>
              <a:t>, Riga, Latvia</a:t>
            </a: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C727ECDE-DDB1-4A82-BBCF-29017C56F6E1}"/>
              </a:ext>
            </a:extLst>
          </p:cNvPr>
          <p:cNvSpPr/>
          <p:nvPr/>
        </p:nvSpPr>
        <p:spPr>
          <a:xfrm>
            <a:off x="3273970" y="645428"/>
            <a:ext cx="2344607" cy="13841"/>
          </a:xfrm>
          <a:custGeom>
            <a:avLst/>
            <a:gdLst/>
            <a:ahLst/>
            <a:cxnLst/>
            <a:rect l="l" t="t" r="r" b="b"/>
            <a:pathLst>
              <a:path w="3011804" h="17779">
                <a:moveTo>
                  <a:pt x="3011804" y="17716"/>
                </a:moveTo>
                <a:lnTo>
                  <a:pt x="0" y="17716"/>
                </a:lnTo>
                <a:lnTo>
                  <a:pt x="0" y="0"/>
                </a:lnTo>
                <a:lnTo>
                  <a:pt x="3011804" y="0"/>
                </a:lnTo>
                <a:lnTo>
                  <a:pt x="3011804" y="17716"/>
                </a:lnTo>
                <a:close/>
              </a:path>
            </a:pathLst>
          </a:custGeom>
          <a:solidFill>
            <a:srgbClr val="66AA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86769" y="215373"/>
            <a:ext cx="5929893" cy="371936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1333750">
              <a:spcBef>
                <a:spcPts val="97"/>
              </a:spcBef>
            </a:pPr>
            <a:r>
              <a:rPr lang="en-US" dirty="0"/>
              <a:t>Identified Gaps</a:t>
            </a:r>
            <a:endParaRPr spc="-8" dirty="0"/>
          </a:p>
        </p:txBody>
      </p:sp>
      <p:grpSp>
        <p:nvGrpSpPr>
          <p:cNvPr id="4" name="object 4"/>
          <p:cNvGrpSpPr/>
          <p:nvPr/>
        </p:nvGrpSpPr>
        <p:grpSpPr>
          <a:xfrm>
            <a:off x="309476" y="1055703"/>
            <a:ext cx="8319572" cy="4948221"/>
            <a:chOff x="400049" y="1774697"/>
            <a:chExt cx="10687051" cy="3446145"/>
          </a:xfrm>
        </p:grpSpPr>
        <p:sp>
          <p:nvSpPr>
            <p:cNvPr id="5" name="object 5"/>
            <p:cNvSpPr/>
            <p:nvPr/>
          </p:nvSpPr>
          <p:spPr>
            <a:xfrm>
              <a:off x="400049" y="1774697"/>
              <a:ext cx="10629900" cy="3446145"/>
            </a:xfrm>
            <a:custGeom>
              <a:avLst/>
              <a:gdLst/>
              <a:ahLst/>
              <a:cxnLst/>
              <a:rect l="l" t="t" r="r" b="b"/>
              <a:pathLst>
                <a:path w="10629900" h="344614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10629900" h="3446145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w="10629900" h="3446145">
                  <a:moveTo>
                    <a:pt x="10629899" y="3445859"/>
                  </a:moveTo>
                  <a:lnTo>
                    <a:pt x="10583794" y="3445859"/>
                  </a:lnTo>
                  <a:lnTo>
                    <a:pt x="10590576" y="3444509"/>
                  </a:lnTo>
                  <a:lnTo>
                    <a:pt x="10603599" y="3439115"/>
                  </a:lnTo>
                  <a:lnTo>
                    <a:pt x="10628550" y="3406536"/>
                  </a:lnTo>
                  <a:lnTo>
                    <a:pt x="10629899" y="3399757"/>
                  </a:lnTo>
                  <a:lnTo>
                    <a:pt x="10629899" y="3445859"/>
                  </a:lnTo>
                  <a:close/>
                </a:path>
                <a:path w="10629900" h="3446145">
                  <a:moveTo>
                    <a:pt x="46104" y="3445859"/>
                  </a:moveTo>
                  <a:lnTo>
                    <a:pt x="0" y="3445859"/>
                  </a:lnTo>
                  <a:lnTo>
                    <a:pt x="0" y="3399757"/>
                  </a:lnTo>
                  <a:lnTo>
                    <a:pt x="1348" y="3406536"/>
                  </a:lnTo>
                  <a:lnTo>
                    <a:pt x="6742" y="3419560"/>
                  </a:lnTo>
                  <a:lnTo>
                    <a:pt x="10583" y="3425307"/>
                  </a:lnTo>
                  <a:lnTo>
                    <a:pt x="20550" y="3435274"/>
                  </a:lnTo>
                  <a:lnTo>
                    <a:pt x="26298" y="3439115"/>
                  </a:lnTo>
                  <a:lnTo>
                    <a:pt x="39321" y="3444509"/>
                  </a:lnTo>
                  <a:lnTo>
                    <a:pt x="46104" y="344585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1774697"/>
              <a:ext cx="10629900" cy="3446145"/>
            </a:xfrm>
            <a:custGeom>
              <a:avLst/>
              <a:gdLst/>
              <a:ahLst/>
              <a:cxnLst/>
              <a:rect l="l" t="t" r="r" b="b"/>
              <a:pathLst>
                <a:path w="10629900" h="3446145">
                  <a:moveTo>
                    <a:pt x="10580239" y="3445859"/>
                  </a:moveTo>
                  <a:lnTo>
                    <a:pt x="49659" y="3445859"/>
                  </a:lnTo>
                  <a:lnTo>
                    <a:pt x="46203" y="3445518"/>
                  </a:lnTo>
                  <a:lnTo>
                    <a:pt x="10896" y="3425138"/>
                  </a:lnTo>
                  <a:lnTo>
                    <a:pt x="0" y="3396199"/>
                  </a:lnTo>
                  <a:lnTo>
                    <a:pt x="0" y="3392709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3396199"/>
                  </a:lnTo>
                  <a:lnTo>
                    <a:pt x="10611863" y="3432758"/>
                  </a:lnTo>
                  <a:lnTo>
                    <a:pt x="10583695" y="3445518"/>
                  </a:lnTo>
                  <a:lnTo>
                    <a:pt x="10580239" y="3445859"/>
                  </a:lnTo>
                  <a:close/>
                </a:path>
              </a:pathLst>
            </a:custGeom>
            <a:solidFill>
              <a:srgbClr val="F5F5F5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Slide Number Placeholder 17">
            <a:extLst>
              <a:ext uri="{FF2B5EF4-FFF2-40B4-BE49-F238E27FC236}">
                <a16:creationId xmlns:a16="http://schemas.microsoft.com/office/drawing/2014/main" id="{F4D56411-495A-4291-BF50-10EF9002BD80}"/>
              </a:ext>
            </a:extLst>
          </p:cNvPr>
          <p:cNvSpPr txBox="1">
            <a:spLocks/>
          </p:cNvSpPr>
          <p:nvPr/>
        </p:nvSpPr>
        <p:spPr>
          <a:xfrm>
            <a:off x="8315829" y="6491053"/>
            <a:ext cx="582109" cy="20248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defPPr>
              <a:defRPr kern="0"/>
            </a:defPPr>
            <a:lvl1pPr algn="r">
              <a:defRPr sz="1246" b="1"/>
            </a:lvl1pPr>
          </a:lstStyle>
          <a:p>
            <a:fld id="{CC7D8618-F20C-406E-B464-04F15D14577A}" type="slidenum">
              <a:rPr lang="en-GB" smtClean="0">
                <a:solidFill>
                  <a:schemeClr val="bg1"/>
                </a:solidFill>
              </a:rPr>
              <a:pPr/>
              <a:t>4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1CD5B369-2E83-41AC-9C1B-7A3717BE87CE}"/>
              </a:ext>
            </a:extLst>
          </p:cNvPr>
          <p:cNvSpPr txBox="1">
            <a:spLocks/>
          </p:cNvSpPr>
          <p:nvPr/>
        </p:nvSpPr>
        <p:spPr>
          <a:xfrm>
            <a:off x="1807" y="6491576"/>
            <a:ext cx="1138936" cy="201963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defPPr>
              <a:defRPr kern="0"/>
            </a:defPPr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7DDF110-EE35-4A7F-B214-B856D7B1D9E6}" type="datetime5">
              <a:rPr lang="en-GB" smtClean="0"/>
              <a:pPr/>
              <a:t>7-Jan-26</a:t>
            </a:fld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460C2E-9040-455B-8AD0-18C0FC3AC13E}"/>
              </a:ext>
            </a:extLst>
          </p:cNvPr>
          <p:cNvSpPr txBox="1">
            <a:spLocks/>
          </p:cNvSpPr>
          <p:nvPr/>
        </p:nvSpPr>
        <p:spPr>
          <a:xfrm>
            <a:off x="1140743" y="6492099"/>
            <a:ext cx="3524483" cy="201440"/>
          </a:xfrm>
          <a:prstGeom prst="rect">
            <a:avLst/>
          </a:prstGeom>
          <a:solidFill>
            <a:srgbClr val="003366"/>
          </a:solidFill>
        </p:spPr>
        <p:txBody>
          <a:bodyPr wrap="square" lIns="0" tIns="0" rIns="0" bIns="0"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93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1186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6779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2372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779651">
              <a:defRPr>
                <a:latin typeface="+mn-lt"/>
                <a:ea typeface="+mn-ea"/>
                <a:cs typeface="+mn-cs"/>
              </a:defRPr>
            </a:lvl6pPr>
            <a:lvl7pPr marL="2135581">
              <a:defRPr>
                <a:latin typeface="+mn-lt"/>
                <a:ea typeface="+mn-ea"/>
                <a:cs typeface="+mn-cs"/>
              </a:defRPr>
            </a:lvl7pPr>
            <a:lvl8pPr marL="2491511">
              <a:defRPr>
                <a:latin typeface="+mn-lt"/>
                <a:ea typeface="+mn-ea"/>
                <a:cs typeface="+mn-cs"/>
              </a:defRPr>
            </a:lvl8pPr>
            <a:lvl9pPr marL="2847442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Natalja Krjuckova</a:t>
            </a:r>
            <a:endParaRPr lang="en-GB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A5FC85A-8CF8-4BFC-B71C-69EC06CCB1BD}"/>
              </a:ext>
            </a:extLst>
          </p:cNvPr>
          <p:cNvSpPr txBox="1">
            <a:spLocks/>
          </p:cNvSpPr>
          <p:nvPr/>
        </p:nvSpPr>
        <p:spPr>
          <a:xfrm>
            <a:off x="4676829" y="6491576"/>
            <a:ext cx="3669327" cy="20144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216271" indent="0" algn="r">
              <a:lnSpc>
                <a:spcPct val="100000"/>
              </a:lnSpc>
              <a:buNone/>
              <a:tabLst>
                <a:tab pos="223996" algn="l"/>
              </a:tabLst>
              <a:defRPr sz="126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 sz="985" dirty="0" err="1"/>
              <a:t>RaTSiF</a:t>
            </a:r>
            <a:r>
              <a:rPr lang="en-GB" sz="985" dirty="0"/>
              <a:t>, Riga, Latvia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534158-C120-4805-B20C-5B36716360B4}"/>
              </a:ext>
            </a:extLst>
          </p:cNvPr>
          <p:cNvSpPr txBox="1"/>
          <p:nvPr/>
        </p:nvSpPr>
        <p:spPr>
          <a:xfrm>
            <a:off x="347344" y="1431925"/>
            <a:ext cx="83133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model transparency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most ML/DL papers give high accuracy but can’t explain why a transaction is risky, leaving banks with answers regulators won’t accept.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fraud detection datasets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Fraud constitutes only 1–5 % of transactions; prevailing oversampling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remedies (e.g., SMOTE, GANs) often fail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live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 validation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Most studies depend on synthetic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anonymised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datasets, reducing the realism of their findings.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adaptability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many published models are not retrained, leaving them unable to track rapidly evolving fraud tactics.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integration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Few studies integrate their models with existing regulatory frameworks (e.g., Basel AML Index, FATF recommendations).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focus on risk scoring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Most studies focus on fraud detection or anomaly detection but do not explicitly address risk scoring.</a:t>
            </a: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D6D7E8E5-260E-483D-8C00-BACA81AA1982}"/>
              </a:ext>
            </a:extLst>
          </p:cNvPr>
          <p:cNvSpPr/>
          <p:nvPr/>
        </p:nvSpPr>
        <p:spPr>
          <a:xfrm>
            <a:off x="3273970" y="645428"/>
            <a:ext cx="2344607" cy="13841"/>
          </a:xfrm>
          <a:custGeom>
            <a:avLst/>
            <a:gdLst/>
            <a:ahLst/>
            <a:cxnLst/>
            <a:rect l="l" t="t" r="r" b="b"/>
            <a:pathLst>
              <a:path w="3011804" h="17779">
                <a:moveTo>
                  <a:pt x="3011804" y="17716"/>
                </a:moveTo>
                <a:lnTo>
                  <a:pt x="0" y="17716"/>
                </a:lnTo>
                <a:lnTo>
                  <a:pt x="0" y="0"/>
                </a:lnTo>
                <a:lnTo>
                  <a:pt x="3011804" y="0"/>
                </a:lnTo>
                <a:lnTo>
                  <a:pt x="3011804" y="17716"/>
                </a:lnTo>
                <a:close/>
              </a:path>
            </a:pathLst>
          </a:custGeom>
          <a:solidFill>
            <a:srgbClr val="66AA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5955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5888" y="230031"/>
            <a:ext cx="4097447" cy="371936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1139965">
              <a:spcBef>
                <a:spcPts val="97"/>
              </a:spcBef>
            </a:pPr>
            <a:r>
              <a:rPr dirty="0"/>
              <a:t>Methodology</a:t>
            </a:r>
            <a:r>
              <a:rPr spc="-12" dirty="0"/>
              <a:t> </a:t>
            </a:r>
            <a:r>
              <a:rPr spc="-8" dirty="0"/>
              <a:t>Overview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1427" y="1050925"/>
            <a:ext cx="8275082" cy="4648200"/>
            <a:chOff x="400049" y="1508950"/>
            <a:chExt cx="10629900" cy="3977640"/>
          </a:xfrm>
        </p:grpSpPr>
        <p:sp>
          <p:nvSpPr>
            <p:cNvPr id="5" name="object 5"/>
            <p:cNvSpPr/>
            <p:nvPr/>
          </p:nvSpPr>
          <p:spPr>
            <a:xfrm>
              <a:off x="400049" y="1508950"/>
              <a:ext cx="10629900" cy="3977640"/>
            </a:xfrm>
            <a:custGeom>
              <a:avLst/>
              <a:gdLst/>
              <a:ahLst/>
              <a:cxnLst/>
              <a:rect l="l" t="t" r="r" b="b"/>
              <a:pathLst>
                <a:path w="10629900" h="397764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10629900" h="3977640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w="10629900" h="3977640">
                  <a:moveTo>
                    <a:pt x="10629899" y="3977354"/>
                  </a:moveTo>
                  <a:lnTo>
                    <a:pt x="10583794" y="3977354"/>
                  </a:lnTo>
                  <a:lnTo>
                    <a:pt x="10590576" y="3976004"/>
                  </a:lnTo>
                  <a:lnTo>
                    <a:pt x="10603599" y="3970610"/>
                  </a:lnTo>
                  <a:lnTo>
                    <a:pt x="10628550" y="3938031"/>
                  </a:lnTo>
                  <a:lnTo>
                    <a:pt x="10629899" y="3931252"/>
                  </a:lnTo>
                  <a:lnTo>
                    <a:pt x="10629899" y="3977354"/>
                  </a:lnTo>
                  <a:close/>
                </a:path>
                <a:path w="10629900" h="3977640">
                  <a:moveTo>
                    <a:pt x="46104" y="3977354"/>
                  </a:moveTo>
                  <a:lnTo>
                    <a:pt x="0" y="3977354"/>
                  </a:lnTo>
                  <a:lnTo>
                    <a:pt x="0" y="3931252"/>
                  </a:lnTo>
                  <a:lnTo>
                    <a:pt x="1348" y="3938031"/>
                  </a:lnTo>
                  <a:lnTo>
                    <a:pt x="6742" y="3951055"/>
                  </a:lnTo>
                  <a:lnTo>
                    <a:pt x="10583" y="3956802"/>
                  </a:lnTo>
                  <a:lnTo>
                    <a:pt x="20550" y="3966769"/>
                  </a:lnTo>
                  <a:lnTo>
                    <a:pt x="26298" y="3970610"/>
                  </a:lnTo>
                  <a:lnTo>
                    <a:pt x="39321" y="3976004"/>
                  </a:lnTo>
                  <a:lnTo>
                    <a:pt x="46104" y="397735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1508950"/>
              <a:ext cx="10629900" cy="3977640"/>
            </a:xfrm>
            <a:custGeom>
              <a:avLst/>
              <a:gdLst/>
              <a:ahLst/>
              <a:cxnLst/>
              <a:rect l="l" t="t" r="r" b="b"/>
              <a:pathLst>
                <a:path w="10629900" h="3977640">
                  <a:moveTo>
                    <a:pt x="10580239" y="3977354"/>
                  </a:moveTo>
                  <a:lnTo>
                    <a:pt x="49659" y="3977354"/>
                  </a:lnTo>
                  <a:lnTo>
                    <a:pt x="46203" y="3977013"/>
                  </a:lnTo>
                  <a:lnTo>
                    <a:pt x="10896" y="3956634"/>
                  </a:lnTo>
                  <a:lnTo>
                    <a:pt x="0" y="3927694"/>
                  </a:lnTo>
                  <a:lnTo>
                    <a:pt x="0" y="3924204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3927694"/>
                  </a:lnTo>
                  <a:lnTo>
                    <a:pt x="10611863" y="3964254"/>
                  </a:lnTo>
                  <a:lnTo>
                    <a:pt x="10583695" y="3977013"/>
                  </a:lnTo>
                  <a:lnTo>
                    <a:pt x="10580239" y="3977354"/>
                  </a:lnTo>
                  <a:close/>
                </a:path>
              </a:pathLst>
            </a:custGeom>
            <a:solidFill>
              <a:srgbClr val="F5F5F5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6421" y="3998118"/>
              <a:ext cx="70866" cy="708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6421" y="4476463"/>
              <a:ext cx="70866" cy="7086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778032" y="3731425"/>
            <a:ext cx="3810789" cy="1259043"/>
          </a:xfrm>
          <a:prstGeom prst="rect">
            <a:avLst/>
          </a:prstGeom>
        </p:spPr>
        <p:txBody>
          <a:bodyPr vert="horz" wrap="square" lIns="0" tIns="9887" rIns="0" bIns="0" rtlCol="0">
            <a:spAutoFit/>
          </a:bodyPr>
          <a:lstStyle/>
          <a:p>
            <a:pPr marL="9887">
              <a:spcBef>
                <a:spcPts val="78"/>
              </a:spcBef>
            </a:pPr>
            <a:r>
              <a:rPr dirty="0">
                <a:solidFill>
                  <a:srgbClr val="333333"/>
                </a:solidFill>
                <a:latin typeface="Times New Roman"/>
                <a:cs typeface="Times New Roman"/>
              </a:rPr>
              <a:t>Implementation of SMOTE for balanced </a:t>
            </a:r>
            <a:r>
              <a:rPr spc="-8" dirty="0">
                <a:solidFill>
                  <a:srgbClr val="333333"/>
                </a:solidFill>
                <a:latin typeface="Times New Roman"/>
                <a:cs typeface="Times New Roman"/>
              </a:rPr>
              <a:t>training</a:t>
            </a:r>
            <a:endParaRPr>
              <a:latin typeface="Times New Roman"/>
              <a:cs typeface="Times New Roman"/>
            </a:endParaRPr>
          </a:p>
          <a:p>
            <a:pPr marL="9887">
              <a:spcBef>
                <a:spcPts val="1113"/>
              </a:spcBef>
            </a:pPr>
            <a:r>
              <a:rPr dirty="0">
                <a:solidFill>
                  <a:srgbClr val="333333"/>
                </a:solidFill>
                <a:latin typeface="Times New Roman"/>
                <a:cs typeface="Times New Roman"/>
              </a:rPr>
              <a:t>Feature engineering for transaction </a:t>
            </a:r>
            <a:r>
              <a:rPr spc="-8" dirty="0">
                <a:solidFill>
                  <a:srgbClr val="333333"/>
                </a:solidFill>
                <a:latin typeface="Times New Roman"/>
                <a:cs typeface="Times New Roman"/>
              </a:rPr>
              <a:t>patterns</a:t>
            </a:r>
            <a:endParaRPr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07706" y="2024231"/>
            <a:ext cx="2482525" cy="1503751"/>
            <a:chOff x="4120514" y="1650681"/>
            <a:chExt cx="3188970" cy="1931670"/>
          </a:xfrm>
        </p:grpSpPr>
        <p:sp>
          <p:nvSpPr>
            <p:cNvPr id="17" name="object 17"/>
            <p:cNvSpPr/>
            <p:nvPr/>
          </p:nvSpPr>
          <p:spPr>
            <a:xfrm>
              <a:off x="4120514" y="1650682"/>
              <a:ext cx="3188970" cy="1931670"/>
            </a:xfrm>
            <a:custGeom>
              <a:avLst/>
              <a:gdLst/>
              <a:ahLst/>
              <a:cxnLst/>
              <a:rect l="l" t="t" r="r" b="b"/>
              <a:pathLst>
                <a:path w="3188970" h="1931670">
                  <a:moveTo>
                    <a:pt x="3142868" y="1931098"/>
                  </a:moveTo>
                  <a:lnTo>
                    <a:pt x="46101" y="1931098"/>
                  </a:lnTo>
                  <a:lnTo>
                    <a:pt x="39321" y="1929749"/>
                  </a:lnTo>
                  <a:lnTo>
                    <a:pt x="6742" y="1904799"/>
                  </a:lnTo>
                  <a:lnTo>
                    <a:pt x="0" y="1884996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6101" y="0"/>
                  </a:lnTo>
                  <a:lnTo>
                    <a:pt x="3142868" y="0"/>
                  </a:lnTo>
                  <a:lnTo>
                    <a:pt x="3178385" y="20550"/>
                  </a:lnTo>
                  <a:lnTo>
                    <a:pt x="3188969" y="46101"/>
                  </a:lnTo>
                  <a:lnTo>
                    <a:pt x="3188969" y="1884996"/>
                  </a:lnTo>
                  <a:lnTo>
                    <a:pt x="3168419" y="1920514"/>
                  </a:lnTo>
                  <a:lnTo>
                    <a:pt x="3142868" y="1931098"/>
                  </a:lnTo>
                  <a:close/>
                </a:path>
              </a:pathLst>
            </a:custGeom>
            <a:solidFill>
              <a:srgbClr val="F5F5F5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0514" y="1650681"/>
              <a:ext cx="3188970" cy="1931670"/>
            </a:xfrm>
            <a:custGeom>
              <a:avLst/>
              <a:gdLst/>
              <a:ahLst/>
              <a:cxnLst/>
              <a:rect l="l" t="t" r="r" b="b"/>
              <a:pathLst>
                <a:path w="3188970" h="1931670">
                  <a:moveTo>
                    <a:pt x="3142868" y="1931098"/>
                  </a:moveTo>
                  <a:lnTo>
                    <a:pt x="46101" y="1931098"/>
                  </a:lnTo>
                  <a:lnTo>
                    <a:pt x="39321" y="1929749"/>
                  </a:lnTo>
                  <a:lnTo>
                    <a:pt x="6742" y="1904799"/>
                  </a:lnTo>
                  <a:lnTo>
                    <a:pt x="0" y="1884996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6101" y="0"/>
                  </a:lnTo>
                  <a:lnTo>
                    <a:pt x="3142868" y="0"/>
                  </a:lnTo>
                  <a:lnTo>
                    <a:pt x="3149647" y="1348"/>
                  </a:lnTo>
                  <a:lnTo>
                    <a:pt x="3162671" y="6742"/>
                  </a:lnTo>
                  <a:lnTo>
                    <a:pt x="3165837" y="8858"/>
                  </a:lnTo>
                  <a:lnTo>
                    <a:pt x="47276" y="8858"/>
                  </a:lnTo>
                  <a:lnTo>
                    <a:pt x="41626" y="9982"/>
                  </a:lnTo>
                  <a:lnTo>
                    <a:pt x="9981" y="41626"/>
                  </a:lnTo>
                  <a:lnTo>
                    <a:pt x="8858" y="47276"/>
                  </a:lnTo>
                  <a:lnTo>
                    <a:pt x="8858" y="1883821"/>
                  </a:lnTo>
                  <a:lnTo>
                    <a:pt x="30773" y="1916620"/>
                  </a:lnTo>
                  <a:lnTo>
                    <a:pt x="47276" y="1922240"/>
                  </a:lnTo>
                  <a:lnTo>
                    <a:pt x="3165837" y="1922240"/>
                  </a:lnTo>
                  <a:lnTo>
                    <a:pt x="3162671" y="1924355"/>
                  </a:lnTo>
                  <a:lnTo>
                    <a:pt x="3149647" y="1929749"/>
                  </a:lnTo>
                  <a:lnTo>
                    <a:pt x="3142868" y="1931098"/>
                  </a:lnTo>
                  <a:close/>
                </a:path>
                <a:path w="3188970" h="1931670">
                  <a:moveTo>
                    <a:pt x="3165837" y="1922240"/>
                  </a:moveTo>
                  <a:lnTo>
                    <a:pt x="3141693" y="1922240"/>
                  </a:lnTo>
                  <a:lnTo>
                    <a:pt x="3147343" y="1921116"/>
                  </a:lnTo>
                  <a:lnTo>
                    <a:pt x="3158196" y="1916620"/>
                  </a:lnTo>
                  <a:lnTo>
                    <a:pt x="3180111" y="1883821"/>
                  </a:lnTo>
                  <a:lnTo>
                    <a:pt x="3180111" y="47276"/>
                  </a:lnTo>
                  <a:lnTo>
                    <a:pt x="3158195" y="14477"/>
                  </a:lnTo>
                  <a:lnTo>
                    <a:pt x="3141693" y="8858"/>
                  </a:lnTo>
                  <a:lnTo>
                    <a:pt x="3165837" y="8858"/>
                  </a:lnTo>
                  <a:lnTo>
                    <a:pt x="3188969" y="46101"/>
                  </a:lnTo>
                  <a:lnTo>
                    <a:pt x="3188969" y="1884996"/>
                  </a:lnTo>
                  <a:lnTo>
                    <a:pt x="3187620" y="1891776"/>
                  </a:lnTo>
                  <a:lnTo>
                    <a:pt x="3182225" y="1904799"/>
                  </a:lnTo>
                  <a:lnTo>
                    <a:pt x="3178385" y="1910547"/>
                  </a:lnTo>
                  <a:lnTo>
                    <a:pt x="3168419" y="1920514"/>
                  </a:lnTo>
                  <a:lnTo>
                    <a:pt x="3165837" y="1922240"/>
                  </a:lnTo>
                  <a:close/>
                </a:path>
              </a:pathLst>
            </a:custGeom>
            <a:solidFill>
              <a:srgbClr val="003366">
                <a:alpha val="30198"/>
              </a:srgbClr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5582126" y="1792414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4" h="266064">
                  <a:moveTo>
                    <a:pt x="132873" y="265747"/>
                  </a:moveTo>
                  <a:lnTo>
                    <a:pt x="94301" y="260027"/>
                  </a:lnTo>
                  <a:lnTo>
                    <a:pt x="59052" y="243354"/>
                  </a:lnTo>
                  <a:lnTo>
                    <a:pt x="30159" y="217168"/>
                  </a:lnTo>
                  <a:lnTo>
                    <a:pt x="10113" y="183722"/>
                  </a:lnTo>
                  <a:lnTo>
                    <a:pt x="637" y="145897"/>
                  </a:lnTo>
                  <a:lnTo>
                    <a:pt x="0" y="132873"/>
                  </a:lnTo>
                  <a:lnTo>
                    <a:pt x="159" y="126345"/>
                  </a:lnTo>
                  <a:lnTo>
                    <a:pt x="7763" y="88116"/>
                  </a:lnTo>
                  <a:lnTo>
                    <a:pt x="26151" y="53714"/>
                  </a:lnTo>
                  <a:lnTo>
                    <a:pt x="53713" y="26152"/>
                  </a:lnTo>
                  <a:lnTo>
                    <a:pt x="88116" y="7763"/>
                  </a:lnTo>
                  <a:lnTo>
                    <a:pt x="126345" y="159"/>
                  </a:lnTo>
                  <a:lnTo>
                    <a:pt x="132873" y="0"/>
                  </a:lnTo>
                  <a:lnTo>
                    <a:pt x="139401" y="159"/>
                  </a:lnTo>
                  <a:lnTo>
                    <a:pt x="177629" y="7763"/>
                  </a:lnTo>
                  <a:lnTo>
                    <a:pt x="212032" y="26152"/>
                  </a:lnTo>
                  <a:lnTo>
                    <a:pt x="239593" y="53713"/>
                  </a:lnTo>
                  <a:lnTo>
                    <a:pt x="257982" y="88116"/>
                  </a:lnTo>
                  <a:lnTo>
                    <a:pt x="265587" y="126345"/>
                  </a:lnTo>
                  <a:lnTo>
                    <a:pt x="265747" y="132873"/>
                  </a:lnTo>
                  <a:lnTo>
                    <a:pt x="265587" y="139401"/>
                  </a:lnTo>
                  <a:lnTo>
                    <a:pt x="257982" y="177630"/>
                  </a:lnTo>
                  <a:lnTo>
                    <a:pt x="239593" y="212033"/>
                  </a:lnTo>
                  <a:lnTo>
                    <a:pt x="212032" y="239594"/>
                  </a:lnTo>
                  <a:lnTo>
                    <a:pt x="177629" y="257983"/>
                  </a:lnTo>
                  <a:lnTo>
                    <a:pt x="139401" y="265587"/>
                  </a:lnTo>
                  <a:lnTo>
                    <a:pt x="132873" y="265747"/>
                  </a:lnTo>
                  <a:close/>
                </a:path>
              </a:pathLst>
            </a:custGeom>
            <a:solidFill>
              <a:srgbClr val="0066CC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09145" y="2023709"/>
            <a:ext cx="2079646" cy="1387528"/>
          </a:xfrm>
          <a:prstGeom prst="rect">
            <a:avLst/>
          </a:prstGeom>
        </p:spPr>
        <p:txBody>
          <a:bodyPr vert="horz" wrap="square" lIns="0" tIns="67723" rIns="0" bIns="0" rtlCol="0">
            <a:spAutoFit/>
          </a:bodyPr>
          <a:lstStyle/>
          <a:p>
            <a:pPr algn="ctr">
              <a:spcBef>
                <a:spcPts val="533"/>
              </a:spcBef>
            </a:pPr>
            <a:r>
              <a:rPr spc="-39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dirty="0">
              <a:latin typeface="Times New Roman"/>
              <a:cs typeface="Times New Roman"/>
            </a:endParaRPr>
          </a:p>
          <a:p>
            <a:pPr algn="ctr">
              <a:spcBef>
                <a:spcPts val="459"/>
              </a:spcBef>
            </a:pPr>
            <a:r>
              <a:rPr dirty="0">
                <a:solidFill>
                  <a:srgbClr val="373C3C"/>
                </a:solidFill>
                <a:latin typeface="Times New Roman"/>
                <a:cs typeface="Times New Roman"/>
              </a:rPr>
              <a:t>Model </a:t>
            </a:r>
            <a:r>
              <a:rPr spc="-8" dirty="0">
                <a:solidFill>
                  <a:srgbClr val="373C3C"/>
                </a:solidFill>
                <a:latin typeface="Times New Roman"/>
                <a:cs typeface="Times New Roman"/>
              </a:rPr>
              <a:t>Development</a:t>
            </a:r>
            <a:endParaRPr dirty="0">
              <a:latin typeface="Times New Roman"/>
              <a:cs typeface="Times New Roman"/>
            </a:endParaRPr>
          </a:p>
          <a:p>
            <a:pPr marL="9393" marR="3955" algn="ctr">
              <a:lnSpc>
                <a:spcPct val="107300"/>
              </a:lnSpc>
              <a:spcBef>
                <a:spcPts val="1032"/>
              </a:spcBef>
            </a:pPr>
            <a:r>
              <a:rPr dirty="0">
                <a:solidFill>
                  <a:srgbClr val="333333"/>
                </a:solidFill>
                <a:latin typeface="Times New Roman"/>
                <a:cs typeface="Times New Roman"/>
              </a:rPr>
              <a:t>Random Forest, </a:t>
            </a:r>
            <a:r>
              <a:rPr spc="-8" dirty="0">
                <a:solidFill>
                  <a:srgbClr val="333333"/>
                </a:solidFill>
                <a:latin typeface="Times New Roman"/>
                <a:cs typeface="Times New Roman"/>
              </a:rPr>
              <a:t>XGBoost, </a:t>
            </a:r>
            <a:r>
              <a:rPr spc="-19" dirty="0">
                <a:solidFill>
                  <a:srgbClr val="333333"/>
                </a:solidFill>
                <a:latin typeface="Times New Roman"/>
                <a:cs typeface="Times New Roman"/>
              </a:rPr>
              <a:t>GBM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18399" y="2570866"/>
            <a:ext cx="309450" cy="443866"/>
          </a:xfrm>
          <a:prstGeom prst="rect">
            <a:avLst/>
          </a:prstGeom>
        </p:spPr>
        <p:txBody>
          <a:bodyPr vert="horz" wrap="square" lIns="0" tIns="12853" rIns="0" bIns="0" rtlCol="0">
            <a:spAutoFit/>
          </a:bodyPr>
          <a:lstStyle/>
          <a:p>
            <a:pPr marL="9887">
              <a:spcBef>
                <a:spcPts val="101"/>
              </a:spcBef>
            </a:pPr>
            <a:r>
              <a:rPr sz="2800" spc="-39" dirty="0">
                <a:solidFill>
                  <a:srgbClr val="0066CC"/>
                </a:solidFill>
                <a:latin typeface="Times New Roman"/>
                <a:cs typeface="Times New Roman"/>
              </a:rPr>
              <a:t>→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00546" y="2024231"/>
            <a:ext cx="2476098" cy="1503751"/>
            <a:chOff x="7708105" y="1650681"/>
            <a:chExt cx="3180715" cy="1931670"/>
          </a:xfrm>
        </p:grpSpPr>
        <p:sp>
          <p:nvSpPr>
            <p:cNvPr id="23" name="object 23"/>
            <p:cNvSpPr/>
            <p:nvPr/>
          </p:nvSpPr>
          <p:spPr>
            <a:xfrm>
              <a:off x="7708105" y="1650682"/>
              <a:ext cx="3180715" cy="1931670"/>
            </a:xfrm>
            <a:custGeom>
              <a:avLst/>
              <a:gdLst/>
              <a:ahLst/>
              <a:cxnLst/>
              <a:rect l="l" t="t" r="r" b="b"/>
              <a:pathLst>
                <a:path w="3180715" h="1931670">
                  <a:moveTo>
                    <a:pt x="3134011" y="1931098"/>
                  </a:moveTo>
                  <a:lnTo>
                    <a:pt x="46101" y="1931098"/>
                  </a:lnTo>
                  <a:lnTo>
                    <a:pt x="39321" y="1929749"/>
                  </a:lnTo>
                  <a:lnTo>
                    <a:pt x="6743" y="1904799"/>
                  </a:lnTo>
                  <a:lnTo>
                    <a:pt x="0" y="1884996"/>
                  </a:lnTo>
                  <a:lnTo>
                    <a:pt x="0" y="46101"/>
                  </a:lnTo>
                  <a:lnTo>
                    <a:pt x="20551" y="10583"/>
                  </a:lnTo>
                  <a:lnTo>
                    <a:pt x="46101" y="0"/>
                  </a:lnTo>
                  <a:lnTo>
                    <a:pt x="3134011" y="0"/>
                  </a:lnTo>
                  <a:lnTo>
                    <a:pt x="3169527" y="20550"/>
                  </a:lnTo>
                  <a:lnTo>
                    <a:pt x="3180112" y="46101"/>
                  </a:lnTo>
                  <a:lnTo>
                    <a:pt x="3180112" y="1884996"/>
                  </a:lnTo>
                  <a:lnTo>
                    <a:pt x="3159560" y="1920514"/>
                  </a:lnTo>
                  <a:lnTo>
                    <a:pt x="3134011" y="1931098"/>
                  </a:lnTo>
                  <a:close/>
                </a:path>
              </a:pathLst>
            </a:custGeom>
            <a:solidFill>
              <a:srgbClr val="F5F5F5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7708105" y="1650681"/>
              <a:ext cx="3180715" cy="1931670"/>
            </a:xfrm>
            <a:custGeom>
              <a:avLst/>
              <a:gdLst/>
              <a:ahLst/>
              <a:cxnLst/>
              <a:rect l="l" t="t" r="r" b="b"/>
              <a:pathLst>
                <a:path w="3180715" h="1931670">
                  <a:moveTo>
                    <a:pt x="3134010" y="1931098"/>
                  </a:moveTo>
                  <a:lnTo>
                    <a:pt x="46101" y="1931098"/>
                  </a:lnTo>
                  <a:lnTo>
                    <a:pt x="39321" y="1929749"/>
                  </a:lnTo>
                  <a:lnTo>
                    <a:pt x="6743" y="1904799"/>
                  </a:lnTo>
                  <a:lnTo>
                    <a:pt x="0" y="1884996"/>
                  </a:lnTo>
                  <a:lnTo>
                    <a:pt x="0" y="46101"/>
                  </a:lnTo>
                  <a:lnTo>
                    <a:pt x="20551" y="10583"/>
                  </a:lnTo>
                  <a:lnTo>
                    <a:pt x="46101" y="0"/>
                  </a:lnTo>
                  <a:lnTo>
                    <a:pt x="3134010" y="0"/>
                  </a:lnTo>
                  <a:lnTo>
                    <a:pt x="3140789" y="1348"/>
                  </a:lnTo>
                  <a:lnTo>
                    <a:pt x="3153812" y="6742"/>
                  </a:lnTo>
                  <a:lnTo>
                    <a:pt x="3156978" y="8858"/>
                  </a:lnTo>
                  <a:lnTo>
                    <a:pt x="47276" y="8858"/>
                  </a:lnTo>
                  <a:lnTo>
                    <a:pt x="41626" y="9982"/>
                  </a:lnTo>
                  <a:lnTo>
                    <a:pt x="9982" y="41626"/>
                  </a:lnTo>
                  <a:lnTo>
                    <a:pt x="8858" y="47276"/>
                  </a:lnTo>
                  <a:lnTo>
                    <a:pt x="8858" y="1883821"/>
                  </a:lnTo>
                  <a:lnTo>
                    <a:pt x="30773" y="1916620"/>
                  </a:lnTo>
                  <a:lnTo>
                    <a:pt x="47276" y="1922240"/>
                  </a:lnTo>
                  <a:lnTo>
                    <a:pt x="3156977" y="1922240"/>
                  </a:lnTo>
                  <a:lnTo>
                    <a:pt x="3153812" y="1924355"/>
                  </a:lnTo>
                  <a:lnTo>
                    <a:pt x="3140789" y="1929749"/>
                  </a:lnTo>
                  <a:lnTo>
                    <a:pt x="3134010" y="1931098"/>
                  </a:lnTo>
                  <a:close/>
                </a:path>
                <a:path w="3180715" h="1931670">
                  <a:moveTo>
                    <a:pt x="3156977" y="1922240"/>
                  </a:moveTo>
                  <a:lnTo>
                    <a:pt x="3132835" y="1922240"/>
                  </a:lnTo>
                  <a:lnTo>
                    <a:pt x="3138485" y="1921116"/>
                  </a:lnTo>
                  <a:lnTo>
                    <a:pt x="3149338" y="1916620"/>
                  </a:lnTo>
                  <a:lnTo>
                    <a:pt x="3171253" y="1883821"/>
                  </a:lnTo>
                  <a:lnTo>
                    <a:pt x="3171253" y="47276"/>
                  </a:lnTo>
                  <a:lnTo>
                    <a:pt x="3149338" y="14477"/>
                  </a:lnTo>
                  <a:lnTo>
                    <a:pt x="3132835" y="8858"/>
                  </a:lnTo>
                  <a:lnTo>
                    <a:pt x="3156978" y="8858"/>
                  </a:lnTo>
                  <a:lnTo>
                    <a:pt x="3180111" y="46101"/>
                  </a:lnTo>
                  <a:lnTo>
                    <a:pt x="3180111" y="1884996"/>
                  </a:lnTo>
                  <a:lnTo>
                    <a:pt x="3178762" y="1891776"/>
                  </a:lnTo>
                  <a:lnTo>
                    <a:pt x="3173367" y="1904799"/>
                  </a:lnTo>
                  <a:lnTo>
                    <a:pt x="3169527" y="1910547"/>
                  </a:lnTo>
                  <a:lnTo>
                    <a:pt x="3159560" y="1920514"/>
                  </a:lnTo>
                  <a:lnTo>
                    <a:pt x="3156977" y="1922240"/>
                  </a:lnTo>
                  <a:close/>
                </a:path>
              </a:pathLst>
            </a:custGeom>
            <a:solidFill>
              <a:srgbClr val="003366">
                <a:alpha val="30198"/>
              </a:srgbClr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9160859" y="1792414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4">
                  <a:moveTo>
                    <a:pt x="132873" y="265747"/>
                  </a:moveTo>
                  <a:lnTo>
                    <a:pt x="94300" y="260027"/>
                  </a:lnTo>
                  <a:lnTo>
                    <a:pt x="59051" y="243354"/>
                  </a:lnTo>
                  <a:lnTo>
                    <a:pt x="30159" y="217168"/>
                  </a:lnTo>
                  <a:lnTo>
                    <a:pt x="10113" y="183722"/>
                  </a:lnTo>
                  <a:lnTo>
                    <a:pt x="637" y="145897"/>
                  </a:lnTo>
                  <a:lnTo>
                    <a:pt x="0" y="132873"/>
                  </a:lnTo>
                  <a:lnTo>
                    <a:pt x="159" y="126345"/>
                  </a:lnTo>
                  <a:lnTo>
                    <a:pt x="7762" y="88116"/>
                  </a:lnTo>
                  <a:lnTo>
                    <a:pt x="26151" y="53714"/>
                  </a:lnTo>
                  <a:lnTo>
                    <a:pt x="53713" y="26152"/>
                  </a:lnTo>
                  <a:lnTo>
                    <a:pt x="88116" y="7763"/>
                  </a:lnTo>
                  <a:lnTo>
                    <a:pt x="126345" y="159"/>
                  </a:lnTo>
                  <a:lnTo>
                    <a:pt x="132873" y="0"/>
                  </a:lnTo>
                  <a:lnTo>
                    <a:pt x="139401" y="159"/>
                  </a:lnTo>
                  <a:lnTo>
                    <a:pt x="177628" y="7763"/>
                  </a:lnTo>
                  <a:lnTo>
                    <a:pt x="212031" y="26152"/>
                  </a:lnTo>
                  <a:lnTo>
                    <a:pt x="239593" y="53713"/>
                  </a:lnTo>
                  <a:lnTo>
                    <a:pt x="257982" y="88116"/>
                  </a:lnTo>
                  <a:lnTo>
                    <a:pt x="265587" y="126345"/>
                  </a:lnTo>
                  <a:lnTo>
                    <a:pt x="265747" y="132873"/>
                  </a:lnTo>
                  <a:lnTo>
                    <a:pt x="265587" y="139401"/>
                  </a:lnTo>
                  <a:lnTo>
                    <a:pt x="257981" y="177630"/>
                  </a:lnTo>
                  <a:lnTo>
                    <a:pt x="239593" y="212033"/>
                  </a:lnTo>
                  <a:lnTo>
                    <a:pt x="212031" y="239594"/>
                  </a:lnTo>
                  <a:lnTo>
                    <a:pt x="177629" y="257983"/>
                  </a:lnTo>
                  <a:lnTo>
                    <a:pt x="139401" y="265587"/>
                  </a:lnTo>
                  <a:lnTo>
                    <a:pt x="132873" y="265747"/>
                  </a:lnTo>
                  <a:close/>
                </a:path>
              </a:pathLst>
            </a:custGeom>
            <a:solidFill>
              <a:srgbClr val="0066CC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195024" y="2039171"/>
            <a:ext cx="2120805" cy="1387528"/>
          </a:xfrm>
          <a:prstGeom prst="rect">
            <a:avLst/>
          </a:prstGeom>
        </p:spPr>
        <p:txBody>
          <a:bodyPr vert="horz" wrap="square" lIns="0" tIns="67723" rIns="0" bIns="0" rtlCol="0">
            <a:spAutoFit/>
          </a:bodyPr>
          <a:lstStyle/>
          <a:p>
            <a:pPr algn="ctr">
              <a:spcBef>
                <a:spcPts val="533"/>
              </a:spcBef>
            </a:pPr>
            <a:r>
              <a:rPr spc="-39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dirty="0">
              <a:latin typeface="Times New Roman"/>
              <a:cs typeface="Times New Roman"/>
            </a:endParaRPr>
          </a:p>
          <a:p>
            <a:pPr algn="ctr">
              <a:spcBef>
                <a:spcPts val="459"/>
              </a:spcBef>
            </a:pPr>
            <a:r>
              <a:rPr dirty="0">
                <a:solidFill>
                  <a:srgbClr val="373C3C"/>
                </a:solidFill>
                <a:latin typeface="Times New Roman"/>
                <a:cs typeface="Times New Roman"/>
              </a:rPr>
              <a:t>Training</a:t>
            </a:r>
            <a:r>
              <a:rPr spc="-54" dirty="0">
                <a:solidFill>
                  <a:srgbClr val="373C3C"/>
                </a:solidFill>
                <a:latin typeface="Times New Roman"/>
                <a:cs typeface="Times New Roman"/>
              </a:rPr>
              <a:t> </a:t>
            </a:r>
            <a:r>
              <a:rPr spc="-8" dirty="0">
                <a:solidFill>
                  <a:srgbClr val="373C3C"/>
                </a:solidFill>
                <a:latin typeface="Times New Roman"/>
                <a:cs typeface="Times New Roman"/>
              </a:rPr>
              <a:t>Process</a:t>
            </a:r>
            <a:endParaRPr dirty="0">
              <a:latin typeface="Times New Roman"/>
              <a:cs typeface="Times New Roman"/>
            </a:endParaRPr>
          </a:p>
          <a:p>
            <a:pPr marL="9887" marR="3955" algn="ctr">
              <a:lnSpc>
                <a:spcPct val="107300"/>
              </a:lnSpc>
              <a:spcBef>
                <a:spcPts val="1032"/>
              </a:spcBef>
            </a:pPr>
            <a:r>
              <a:rPr dirty="0">
                <a:solidFill>
                  <a:srgbClr val="333333"/>
                </a:solidFill>
                <a:latin typeface="Times New Roman"/>
                <a:cs typeface="Times New Roman"/>
              </a:rPr>
              <a:t>Real-world </a:t>
            </a:r>
            <a:r>
              <a:rPr spc="-8" dirty="0">
                <a:solidFill>
                  <a:srgbClr val="333333"/>
                </a:solidFill>
                <a:latin typeface="Times New Roman"/>
                <a:cs typeface="Times New Roman"/>
              </a:rPr>
              <a:t>conditions simulation</a:t>
            </a:r>
            <a:endParaRPr dirty="0">
              <a:latin typeface="Times New Roman"/>
              <a:cs typeface="Times New Roman"/>
            </a:endParaRPr>
          </a:p>
        </p:txBody>
      </p:sp>
      <p:grpSp>
        <p:nvGrpSpPr>
          <p:cNvPr id="34" name="object 16">
            <a:extLst>
              <a:ext uri="{FF2B5EF4-FFF2-40B4-BE49-F238E27FC236}">
                <a16:creationId xmlns:a16="http://schemas.microsoft.com/office/drawing/2014/main" id="{BAC9E8B5-C94F-427C-9E01-B1B819371593}"/>
              </a:ext>
            </a:extLst>
          </p:cNvPr>
          <p:cNvGrpSpPr/>
          <p:nvPr/>
        </p:nvGrpSpPr>
        <p:grpSpPr>
          <a:xfrm>
            <a:off x="414866" y="2039170"/>
            <a:ext cx="2482525" cy="1488813"/>
            <a:chOff x="4120514" y="1650681"/>
            <a:chExt cx="3188970" cy="1931670"/>
          </a:xfrm>
        </p:grpSpPr>
        <p:sp>
          <p:nvSpPr>
            <p:cNvPr id="35" name="object 17">
              <a:extLst>
                <a:ext uri="{FF2B5EF4-FFF2-40B4-BE49-F238E27FC236}">
                  <a16:creationId xmlns:a16="http://schemas.microsoft.com/office/drawing/2014/main" id="{4B29DA48-555B-49D7-A044-F9FBB33A8E65}"/>
                </a:ext>
              </a:extLst>
            </p:cNvPr>
            <p:cNvSpPr/>
            <p:nvPr/>
          </p:nvSpPr>
          <p:spPr>
            <a:xfrm>
              <a:off x="4120514" y="1650682"/>
              <a:ext cx="3188970" cy="1931670"/>
            </a:xfrm>
            <a:custGeom>
              <a:avLst/>
              <a:gdLst/>
              <a:ahLst/>
              <a:cxnLst/>
              <a:rect l="l" t="t" r="r" b="b"/>
              <a:pathLst>
                <a:path w="3188970" h="1931670">
                  <a:moveTo>
                    <a:pt x="3142868" y="1931098"/>
                  </a:moveTo>
                  <a:lnTo>
                    <a:pt x="46101" y="1931098"/>
                  </a:lnTo>
                  <a:lnTo>
                    <a:pt x="39321" y="1929749"/>
                  </a:lnTo>
                  <a:lnTo>
                    <a:pt x="6742" y="1904799"/>
                  </a:lnTo>
                  <a:lnTo>
                    <a:pt x="0" y="1884996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6101" y="0"/>
                  </a:lnTo>
                  <a:lnTo>
                    <a:pt x="3142868" y="0"/>
                  </a:lnTo>
                  <a:lnTo>
                    <a:pt x="3178385" y="20550"/>
                  </a:lnTo>
                  <a:lnTo>
                    <a:pt x="3188969" y="46101"/>
                  </a:lnTo>
                  <a:lnTo>
                    <a:pt x="3188969" y="1884996"/>
                  </a:lnTo>
                  <a:lnTo>
                    <a:pt x="3168419" y="1920514"/>
                  </a:lnTo>
                  <a:lnTo>
                    <a:pt x="3142868" y="1931098"/>
                  </a:lnTo>
                  <a:close/>
                </a:path>
              </a:pathLst>
            </a:custGeom>
            <a:solidFill>
              <a:srgbClr val="F5F5F5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18">
              <a:extLst>
                <a:ext uri="{FF2B5EF4-FFF2-40B4-BE49-F238E27FC236}">
                  <a16:creationId xmlns:a16="http://schemas.microsoft.com/office/drawing/2014/main" id="{684F3E64-21B0-4C34-A1DE-6C8ECBA1CED8}"/>
                </a:ext>
              </a:extLst>
            </p:cNvPr>
            <p:cNvSpPr/>
            <p:nvPr/>
          </p:nvSpPr>
          <p:spPr>
            <a:xfrm>
              <a:off x="4120514" y="1650681"/>
              <a:ext cx="3188970" cy="1931670"/>
            </a:xfrm>
            <a:custGeom>
              <a:avLst/>
              <a:gdLst/>
              <a:ahLst/>
              <a:cxnLst/>
              <a:rect l="l" t="t" r="r" b="b"/>
              <a:pathLst>
                <a:path w="3188970" h="1931670">
                  <a:moveTo>
                    <a:pt x="3142868" y="1931098"/>
                  </a:moveTo>
                  <a:lnTo>
                    <a:pt x="46101" y="1931098"/>
                  </a:lnTo>
                  <a:lnTo>
                    <a:pt x="39321" y="1929749"/>
                  </a:lnTo>
                  <a:lnTo>
                    <a:pt x="6742" y="1904799"/>
                  </a:lnTo>
                  <a:lnTo>
                    <a:pt x="0" y="1884996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6101" y="0"/>
                  </a:lnTo>
                  <a:lnTo>
                    <a:pt x="3142868" y="0"/>
                  </a:lnTo>
                  <a:lnTo>
                    <a:pt x="3149647" y="1348"/>
                  </a:lnTo>
                  <a:lnTo>
                    <a:pt x="3162671" y="6742"/>
                  </a:lnTo>
                  <a:lnTo>
                    <a:pt x="3165837" y="8858"/>
                  </a:lnTo>
                  <a:lnTo>
                    <a:pt x="47276" y="8858"/>
                  </a:lnTo>
                  <a:lnTo>
                    <a:pt x="41626" y="9982"/>
                  </a:lnTo>
                  <a:lnTo>
                    <a:pt x="9981" y="41626"/>
                  </a:lnTo>
                  <a:lnTo>
                    <a:pt x="8858" y="47276"/>
                  </a:lnTo>
                  <a:lnTo>
                    <a:pt x="8858" y="1883821"/>
                  </a:lnTo>
                  <a:lnTo>
                    <a:pt x="30773" y="1916620"/>
                  </a:lnTo>
                  <a:lnTo>
                    <a:pt x="47276" y="1922240"/>
                  </a:lnTo>
                  <a:lnTo>
                    <a:pt x="3165837" y="1922240"/>
                  </a:lnTo>
                  <a:lnTo>
                    <a:pt x="3162671" y="1924355"/>
                  </a:lnTo>
                  <a:lnTo>
                    <a:pt x="3149647" y="1929749"/>
                  </a:lnTo>
                  <a:lnTo>
                    <a:pt x="3142868" y="1931098"/>
                  </a:lnTo>
                  <a:close/>
                </a:path>
                <a:path w="3188970" h="1931670">
                  <a:moveTo>
                    <a:pt x="3165837" y="1922240"/>
                  </a:moveTo>
                  <a:lnTo>
                    <a:pt x="3141693" y="1922240"/>
                  </a:lnTo>
                  <a:lnTo>
                    <a:pt x="3147343" y="1921116"/>
                  </a:lnTo>
                  <a:lnTo>
                    <a:pt x="3158196" y="1916620"/>
                  </a:lnTo>
                  <a:lnTo>
                    <a:pt x="3180111" y="1883821"/>
                  </a:lnTo>
                  <a:lnTo>
                    <a:pt x="3180111" y="47276"/>
                  </a:lnTo>
                  <a:lnTo>
                    <a:pt x="3158195" y="14477"/>
                  </a:lnTo>
                  <a:lnTo>
                    <a:pt x="3141693" y="8858"/>
                  </a:lnTo>
                  <a:lnTo>
                    <a:pt x="3165837" y="8858"/>
                  </a:lnTo>
                  <a:lnTo>
                    <a:pt x="3188969" y="46101"/>
                  </a:lnTo>
                  <a:lnTo>
                    <a:pt x="3188969" y="1884996"/>
                  </a:lnTo>
                  <a:lnTo>
                    <a:pt x="3187620" y="1891776"/>
                  </a:lnTo>
                  <a:lnTo>
                    <a:pt x="3182225" y="1904799"/>
                  </a:lnTo>
                  <a:lnTo>
                    <a:pt x="3178385" y="1910547"/>
                  </a:lnTo>
                  <a:lnTo>
                    <a:pt x="3168419" y="1920514"/>
                  </a:lnTo>
                  <a:lnTo>
                    <a:pt x="3165837" y="1922240"/>
                  </a:lnTo>
                  <a:close/>
                </a:path>
              </a:pathLst>
            </a:custGeom>
            <a:solidFill>
              <a:srgbClr val="003366">
                <a:alpha val="30198"/>
              </a:srgbClr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19">
              <a:extLst>
                <a:ext uri="{FF2B5EF4-FFF2-40B4-BE49-F238E27FC236}">
                  <a16:creationId xmlns:a16="http://schemas.microsoft.com/office/drawing/2014/main" id="{45763095-0559-40AC-9B6C-BAF794B3EDDB}"/>
                </a:ext>
              </a:extLst>
            </p:cNvPr>
            <p:cNvSpPr/>
            <p:nvPr/>
          </p:nvSpPr>
          <p:spPr>
            <a:xfrm>
              <a:off x="5582126" y="1792414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4" h="266064">
                  <a:moveTo>
                    <a:pt x="132873" y="265747"/>
                  </a:moveTo>
                  <a:lnTo>
                    <a:pt x="94301" y="260027"/>
                  </a:lnTo>
                  <a:lnTo>
                    <a:pt x="59052" y="243354"/>
                  </a:lnTo>
                  <a:lnTo>
                    <a:pt x="30159" y="217168"/>
                  </a:lnTo>
                  <a:lnTo>
                    <a:pt x="10113" y="183722"/>
                  </a:lnTo>
                  <a:lnTo>
                    <a:pt x="637" y="145897"/>
                  </a:lnTo>
                  <a:lnTo>
                    <a:pt x="0" y="132873"/>
                  </a:lnTo>
                  <a:lnTo>
                    <a:pt x="159" y="126345"/>
                  </a:lnTo>
                  <a:lnTo>
                    <a:pt x="7763" y="88116"/>
                  </a:lnTo>
                  <a:lnTo>
                    <a:pt x="26151" y="53714"/>
                  </a:lnTo>
                  <a:lnTo>
                    <a:pt x="53713" y="26152"/>
                  </a:lnTo>
                  <a:lnTo>
                    <a:pt x="88116" y="7763"/>
                  </a:lnTo>
                  <a:lnTo>
                    <a:pt x="126345" y="159"/>
                  </a:lnTo>
                  <a:lnTo>
                    <a:pt x="132873" y="0"/>
                  </a:lnTo>
                  <a:lnTo>
                    <a:pt x="139401" y="159"/>
                  </a:lnTo>
                  <a:lnTo>
                    <a:pt x="177629" y="7763"/>
                  </a:lnTo>
                  <a:lnTo>
                    <a:pt x="212032" y="26152"/>
                  </a:lnTo>
                  <a:lnTo>
                    <a:pt x="239593" y="53713"/>
                  </a:lnTo>
                  <a:lnTo>
                    <a:pt x="257982" y="88116"/>
                  </a:lnTo>
                  <a:lnTo>
                    <a:pt x="265587" y="126345"/>
                  </a:lnTo>
                  <a:lnTo>
                    <a:pt x="265747" y="132873"/>
                  </a:lnTo>
                  <a:lnTo>
                    <a:pt x="265587" y="139401"/>
                  </a:lnTo>
                  <a:lnTo>
                    <a:pt x="257982" y="177630"/>
                  </a:lnTo>
                  <a:lnTo>
                    <a:pt x="239593" y="212033"/>
                  </a:lnTo>
                  <a:lnTo>
                    <a:pt x="212032" y="239594"/>
                  </a:lnTo>
                  <a:lnTo>
                    <a:pt x="177629" y="257983"/>
                  </a:lnTo>
                  <a:lnTo>
                    <a:pt x="139401" y="265587"/>
                  </a:lnTo>
                  <a:lnTo>
                    <a:pt x="132873" y="265747"/>
                  </a:lnTo>
                  <a:close/>
                </a:path>
              </a:pathLst>
            </a:custGeom>
            <a:solidFill>
              <a:srgbClr val="0066CC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29114" y="2570866"/>
            <a:ext cx="309450" cy="443866"/>
          </a:xfrm>
          <a:prstGeom prst="rect">
            <a:avLst/>
          </a:prstGeom>
        </p:spPr>
        <p:txBody>
          <a:bodyPr vert="horz" wrap="square" lIns="0" tIns="12853" rIns="0" bIns="0" rtlCol="0">
            <a:spAutoFit/>
          </a:bodyPr>
          <a:lstStyle/>
          <a:p>
            <a:pPr marL="9887">
              <a:spcBef>
                <a:spcPts val="101"/>
              </a:spcBef>
            </a:pPr>
            <a:r>
              <a:rPr sz="2800" spc="-39" dirty="0">
                <a:solidFill>
                  <a:srgbClr val="0066CC"/>
                </a:solidFill>
                <a:latin typeface="Times New Roman"/>
                <a:cs typeface="Times New Roman"/>
              </a:rPr>
              <a:t>→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7599" y="2035741"/>
            <a:ext cx="2239560" cy="1394388"/>
          </a:xfrm>
          <a:prstGeom prst="rect">
            <a:avLst/>
          </a:prstGeom>
        </p:spPr>
        <p:txBody>
          <a:bodyPr vert="horz" wrap="square" lIns="0" tIns="67723" rIns="0" bIns="0" rtlCol="0">
            <a:spAutoFit/>
          </a:bodyPr>
          <a:lstStyle/>
          <a:p>
            <a:pPr algn="ctr">
              <a:spcBef>
                <a:spcPts val="533"/>
              </a:spcBef>
            </a:pPr>
            <a:r>
              <a:rPr lang="en-US" spc="-39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lang="en-US" dirty="0">
              <a:latin typeface="Times New Roman"/>
              <a:cs typeface="Times New Roman"/>
            </a:endParaRPr>
          </a:p>
          <a:p>
            <a:pPr algn="ctr">
              <a:spcBef>
                <a:spcPts val="459"/>
              </a:spcBef>
            </a:pPr>
            <a:r>
              <a:rPr dirty="0">
                <a:solidFill>
                  <a:srgbClr val="373C3C"/>
                </a:solidFill>
                <a:latin typeface="Times New Roman"/>
                <a:cs typeface="Times New Roman"/>
              </a:rPr>
              <a:t>Synthetic Data </a:t>
            </a:r>
            <a:r>
              <a:rPr spc="-8" dirty="0">
                <a:solidFill>
                  <a:srgbClr val="373C3C"/>
                </a:solidFill>
                <a:latin typeface="Times New Roman"/>
                <a:cs typeface="Times New Roman"/>
              </a:rPr>
              <a:t>Creation</a:t>
            </a:r>
            <a:endParaRPr dirty="0">
              <a:latin typeface="Times New Roman"/>
              <a:cs typeface="Times New Roman"/>
            </a:endParaRPr>
          </a:p>
          <a:p>
            <a:pPr algn="ctr">
              <a:spcBef>
                <a:spcPts val="1168"/>
              </a:spcBef>
            </a:pPr>
            <a:r>
              <a:rPr dirty="0">
                <a:solidFill>
                  <a:srgbClr val="333333"/>
                </a:solidFill>
                <a:latin typeface="Times New Roman"/>
                <a:cs typeface="Times New Roman"/>
              </a:rPr>
              <a:t>35 unique fraud </a:t>
            </a:r>
            <a:r>
              <a:rPr spc="-8" dirty="0">
                <a:solidFill>
                  <a:srgbClr val="333333"/>
                </a:solidFill>
                <a:latin typeface="Times New Roman"/>
                <a:cs typeface="Times New Roman"/>
              </a:rPr>
              <a:t>scenarios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38" name="Slide Number Placeholder 17">
            <a:extLst>
              <a:ext uri="{FF2B5EF4-FFF2-40B4-BE49-F238E27FC236}">
                <a16:creationId xmlns:a16="http://schemas.microsoft.com/office/drawing/2014/main" id="{ECCD95B1-25E0-4AC7-B1EF-79B959580755}"/>
              </a:ext>
            </a:extLst>
          </p:cNvPr>
          <p:cNvSpPr txBox="1">
            <a:spLocks/>
          </p:cNvSpPr>
          <p:nvPr/>
        </p:nvSpPr>
        <p:spPr>
          <a:xfrm>
            <a:off x="8315829" y="6491053"/>
            <a:ext cx="582109" cy="20248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defPPr>
              <a:defRPr kern="0"/>
            </a:defPPr>
            <a:lvl1pPr algn="r">
              <a:defRPr sz="1246" b="1"/>
            </a:lvl1pPr>
          </a:lstStyle>
          <a:p>
            <a:fld id="{CC7D8618-F20C-406E-B464-04F15D14577A}" type="slidenum">
              <a:rPr lang="en-GB" smtClean="0">
                <a:solidFill>
                  <a:schemeClr val="bg1"/>
                </a:solidFill>
              </a:rPr>
              <a:pPr/>
              <a:t>5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9" name="Date Placeholder 2">
            <a:extLst>
              <a:ext uri="{FF2B5EF4-FFF2-40B4-BE49-F238E27FC236}">
                <a16:creationId xmlns:a16="http://schemas.microsoft.com/office/drawing/2014/main" id="{4A9A8AE2-D1A7-492D-BC68-1B9E5310936B}"/>
              </a:ext>
            </a:extLst>
          </p:cNvPr>
          <p:cNvSpPr txBox="1">
            <a:spLocks/>
          </p:cNvSpPr>
          <p:nvPr/>
        </p:nvSpPr>
        <p:spPr>
          <a:xfrm>
            <a:off x="1807" y="6491576"/>
            <a:ext cx="1138936" cy="201963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defPPr>
              <a:defRPr kern="0"/>
            </a:defPPr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7DDF110-EE35-4A7F-B214-B856D7B1D9E6}" type="datetime5">
              <a:rPr lang="en-GB" smtClean="0"/>
              <a:pPr/>
              <a:t>7-Jan-26</a:t>
            </a:fld>
            <a:endParaRPr lang="en-GB" dirty="0"/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72D2C14E-E3E3-4BF2-88AC-8BBB5922F252}"/>
              </a:ext>
            </a:extLst>
          </p:cNvPr>
          <p:cNvSpPr txBox="1">
            <a:spLocks/>
          </p:cNvSpPr>
          <p:nvPr/>
        </p:nvSpPr>
        <p:spPr>
          <a:xfrm>
            <a:off x="1140743" y="6492099"/>
            <a:ext cx="3524483" cy="201440"/>
          </a:xfrm>
          <a:prstGeom prst="rect">
            <a:avLst/>
          </a:prstGeom>
          <a:solidFill>
            <a:srgbClr val="003366"/>
          </a:solidFill>
        </p:spPr>
        <p:txBody>
          <a:bodyPr wrap="square" lIns="0" tIns="0" rIns="0" bIns="0"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93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1186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6779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2372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779651">
              <a:defRPr>
                <a:latin typeface="+mn-lt"/>
                <a:ea typeface="+mn-ea"/>
                <a:cs typeface="+mn-cs"/>
              </a:defRPr>
            </a:lvl6pPr>
            <a:lvl7pPr marL="2135581">
              <a:defRPr>
                <a:latin typeface="+mn-lt"/>
                <a:ea typeface="+mn-ea"/>
                <a:cs typeface="+mn-cs"/>
              </a:defRPr>
            </a:lvl7pPr>
            <a:lvl8pPr marL="2491511">
              <a:defRPr>
                <a:latin typeface="+mn-lt"/>
                <a:ea typeface="+mn-ea"/>
                <a:cs typeface="+mn-cs"/>
              </a:defRPr>
            </a:lvl8pPr>
            <a:lvl9pPr marL="2847442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Natalja Krjuckova</a:t>
            </a:r>
            <a:endParaRPr lang="en-GB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B6F6E2BB-5EA7-4900-AA3F-47D99965BBCD}"/>
              </a:ext>
            </a:extLst>
          </p:cNvPr>
          <p:cNvSpPr txBox="1">
            <a:spLocks/>
          </p:cNvSpPr>
          <p:nvPr/>
        </p:nvSpPr>
        <p:spPr>
          <a:xfrm>
            <a:off x="4676829" y="6491576"/>
            <a:ext cx="3669327" cy="20144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216271" indent="0" algn="r">
              <a:lnSpc>
                <a:spcPct val="100000"/>
              </a:lnSpc>
              <a:buNone/>
              <a:tabLst>
                <a:tab pos="223996" algn="l"/>
              </a:tabLst>
              <a:defRPr sz="126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 sz="985" dirty="0" err="1"/>
              <a:t>RaTSiF</a:t>
            </a:r>
            <a:r>
              <a:rPr lang="en-GB" sz="985" dirty="0"/>
              <a:t>, Riga, Latvia</a:t>
            </a:r>
          </a:p>
        </p:txBody>
      </p:sp>
      <p:sp>
        <p:nvSpPr>
          <p:cNvPr id="42" name="object 2">
            <a:extLst>
              <a:ext uri="{FF2B5EF4-FFF2-40B4-BE49-F238E27FC236}">
                <a16:creationId xmlns:a16="http://schemas.microsoft.com/office/drawing/2014/main" id="{C32C2D48-CA0D-48E5-BF86-37AAE7BB8400}"/>
              </a:ext>
            </a:extLst>
          </p:cNvPr>
          <p:cNvSpPr/>
          <p:nvPr/>
        </p:nvSpPr>
        <p:spPr>
          <a:xfrm>
            <a:off x="3273970" y="645428"/>
            <a:ext cx="2344607" cy="13841"/>
          </a:xfrm>
          <a:custGeom>
            <a:avLst/>
            <a:gdLst/>
            <a:ahLst/>
            <a:cxnLst/>
            <a:rect l="l" t="t" r="r" b="b"/>
            <a:pathLst>
              <a:path w="3011804" h="17779">
                <a:moveTo>
                  <a:pt x="3011804" y="17716"/>
                </a:moveTo>
                <a:lnTo>
                  <a:pt x="0" y="17716"/>
                </a:lnTo>
                <a:lnTo>
                  <a:pt x="0" y="0"/>
                </a:lnTo>
                <a:lnTo>
                  <a:pt x="3011804" y="0"/>
                </a:lnTo>
                <a:lnTo>
                  <a:pt x="3011804" y="17716"/>
                </a:lnTo>
                <a:close/>
              </a:path>
            </a:pathLst>
          </a:custGeom>
          <a:solidFill>
            <a:srgbClr val="66AA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6535" y="207004"/>
            <a:ext cx="4831649" cy="371936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1088553">
              <a:spcBef>
                <a:spcPts val="97"/>
              </a:spcBef>
            </a:pPr>
            <a:r>
              <a:rPr dirty="0"/>
              <a:t>Synthetic</a:t>
            </a:r>
            <a:r>
              <a:rPr spc="8" dirty="0"/>
              <a:t> </a:t>
            </a:r>
            <a:r>
              <a:rPr dirty="0"/>
              <a:t>Data</a:t>
            </a:r>
            <a:r>
              <a:rPr spc="12" dirty="0"/>
              <a:t> </a:t>
            </a:r>
            <a:r>
              <a:rPr spc="-8" dirty="0"/>
              <a:t>Creation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1428" y="1493247"/>
            <a:ext cx="4187468" cy="3930911"/>
            <a:chOff x="400049" y="968597"/>
            <a:chExt cx="5379085" cy="5049520"/>
          </a:xfrm>
        </p:grpSpPr>
        <p:sp>
          <p:nvSpPr>
            <p:cNvPr id="5" name="object 5"/>
            <p:cNvSpPr/>
            <p:nvPr/>
          </p:nvSpPr>
          <p:spPr>
            <a:xfrm>
              <a:off x="400049" y="968597"/>
              <a:ext cx="5379085" cy="5049520"/>
            </a:xfrm>
            <a:custGeom>
              <a:avLst/>
              <a:gdLst/>
              <a:ahLst/>
              <a:cxnLst/>
              <a:rect l="l" t="t" r="r" b="b"/>
              <a:pathLst>
                <a:path w="5379085" h="504952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379085" h="5049520">
                  <a:moveTo>
                    <a:pt x="5378957" y="5049202"/>
                  </a:moveTo>
                  <a:lnTo>
                    <a:pt x="5268844" y="5049202"/>
                  </a:lnTo>
                  <a:lnTo>
                    <a:pt x="5275627" y="5047852"/>
                  </a:lnTo>
                  <a:lnTo>
                    <a:pt x="5288650" y="5042458"/>
                  </a:lnTo>
                  <a:lnTo>
                    <a:pt x="5313600" y="5009879"/>
                  </a:lnTo>
                  <a:lnTo>
                    <a:pt x="5314949" y="5003100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378957" y="0"/>
                  </a:lnTo>
                  <a:lnTo>
                    <a:pt x="5378957" y="5049202"/>
                  </a:lnTo>
                  <a:close/>
                </a:path>
                <a:path w="5379085" h="5049520">
                  <a:moveTo>
                    <a:pt x="46104" y="5049202"/>
                  </a:moveTo>
                  <a:lnTo>
                    <a:pt x="0" y="5049202"/>
                  </a:lnTo>
                  <a:lnTo>
                    <a:pt x="0" y="5003100"/>
                  </a:lnTo>
                  <a:lnTo>
                    <a:pt x="1348" y="5009879"/>
                  </a:lnTo>
                  <a:lnTo>
                    <a:pt x="6742" y="5022902"/>
                  </a:lnTo>
                  <a:lnTo>
                    <a:pt x="10583" y="5028650"/>
                  </a:lnTo>
                  <a:lnTo>
                    <a:pt x="20550" y="5038618"/>
                  </a:lnTo>
                  <a:lnTo>
                    <a:pt x="26298" y="5042458"/>
                  </a:lnTo>
                  <a:lnTo>
                    <a:pt x="39321" y="5047852"/>
                  </a:lnTo>
                  <a:lnTo>
                    <a:pt x="46104" y="504920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968597"/>
              <a:ext cx="5314950" cy="5049520"/>
            </a:xfrm>
            <a:custGeom>
              <a:avLst/>
              <a:gdLst/>
              <a:ahLst/>
              <a:cxnLst/>
              <a:rect l="l" t="t" r="r" b="b"/>
              <a:pathLst>
                <a:path w="5314950" h="5049520">
                  <a:moveTo>
                    <a:pt x="5265290" y="5049201"/>
                  </a:moveTo>
                  <a:lnTo>
                    <a:pt x="49659" y="5049201"/>
                  </a:lnTo>
                  <a:lnTo>
                    <a:pt x="46203" y="5048861"/>
                  </a:lnTo>
                  <a:lnTo>
                    <a:pt x="10896" y="5028482"/>
                  </a:lnTo>
                  <a:lnTo>
                    <a:pt x="0" y="4999542"/>
                  </a:lnTo>
                  <a:lnTo>
                    <a:pt x="0" y="4996052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4999542"/>
                  </a:lnTo>
                  <a:lnTo>
                    <a:pt x="5296914" y="5036102"/>
                  </a:lnTo>
                  <a:lnTo>
                    <a:pt x="5268746" y="5048861"/>
                  </a:lnTo>
                  <a:lnTo>
                    <a:pt x="5265290" y="5049201"/>
                  </a:lnTo>
                  <a:close/>
                </a:path>
              </a:pathLst>
            </a:custGeom>
            <a:solidFill>
              <a:srgbClr val="F5F5F5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403" y="1260919"/>
              <a:ext cx="70866" cy="708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403" y="2084736"/>
              <a:ext cx="70866" cy="708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403" y="2899695"/>
              <a:ext cx="70866" cy="708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403" y="3714654"/>
              <a:ext cx="70866" cy="708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403" y="4538471"/>
              <a:ext cx="70866" cy="7086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80796" y="1563354"/>
            <a:ext cx="3408899" cy="3108011"/>
          </a:xfrm>
          <a:prstGeom prst="rect">
            <a:avLst/>
          </a:prstGeom>
        </p:spPr>
        <p:txBody>
          <a:bodyPr vert="horz" wrap="square" lIns="0" tIns="9887" rIns="0" bIns="0" rtlCol="0">
            <a:spAutoFit/>
          </a:bodyPr>
          <a:lstStyle/>
          <a:p>
            <a:pPr marL="9887" marR="3955">
              <a:lnSpc>
                <a:spcPct val="116199"/>
              </a:lnSpc>
              <a:spcBef>
                <a:spcPts val="78"/>
              </a:spcBef>
            </a:pPr>
            <a:r>
              <a:rPr sz="1518" dirty="0">
                <a:solidFill>
                  <a:srgbClr val="333333"/>
                </a:solidFill>
                <a:latin typeface="Times New Roman"/>
                <a:cs typeface="Times New Roman"/>
              </a:rPr>
              <a:t>Created initial dataset with </a:t>
            </a:r>
            <a:r>
              <a:rPr lang="en-US" sz="1518" dirty="0">
                <a:solidFill>
                  <a:srgbClr val="333333"/>
                </a:solidFill>
                <a:latin typeface="Times New Roman"/>
                <a:cs typeface="Times New Roman"/>
              </a:rPr>
              <a:t>35</a:t>
            </a:r>
            <a:r>
              <a:rPr sz="1518" dirty="0">
                <a:solidFill>
                  <a:srgbClr val="333333"/>
                </a:solidFill>
                <a:latin typeface="Times New Roman"/>
                <a:cs typeface="Times New Roman"/>
              </a:rPr>
              <a:t> distinct </a:t>
            </a:r>
            <a:r>
              <a:rPr sz="1518" spc="-8" dirty="0">
                <a:solidFill>
                  <a:srgbClr val="333333"/>
                </a:solidFill>
                <a:latin typeface="Times New Roman"/>
                <a:cs typeface="Times New Roman"/>
              </a:rPr>
              <a:t>fraud types</a:t>
            </a:r>
            <a:endParaRPr sz="1518" dirty="0">
              <a:latin typeface="Times New Roman"/>
              <a:cs typeface="Times New Roman"/>
            </a:endParaRPr>
          </a:p>
          <a:p>
            <a:pPr marL="9887" marR="276835">
              <a:lnSpc>
                <a:spcPct val="116199"/>
              </a:lnSpc>
              <a:spcBef>
                <a:spcPts val="814"/>
              </a:spcBef>
            </a:pPr>
            <a:r>
              <a:rPr sz="1518" dirty="0">
                <a:solidFill>
                  <a:srgbClr val="333333"/>
                </a:solidFill>
                <a:latin typeface="Times New Roman"/>
                <a:cs typeface="Times New Roman"/>
              </a:rPr>
              <a:t>Ratio of 1-5% suspicious transactions </a:t>
            </a:r>
            <a:r>
              <a:rPr sz="1518" spc="-19" dirty="0">
                <a:solidFill>
                  <a:srgbClr val="333333"/>
                </a:solidFill>
                <a:latin typeface="Times New Roman"/>
                <a:cs typeface="Times New Roman"/>
              </a:rPr>
              <a:t>to </a:t>
            </a:r>
            <a:r>
              <a:rPr sz="1518" dirty="0">
                <a:solidFill>
                  <a:srgbClr val="333333"/>
                </a:solidFill>
                <a:latin typeface="Times New Roman"/>
                <a:cs typeface="Times New Roman"/>
              </a:rPr>
              <a:t>simulate actual fraud </a:t>
            </a:r>
            <a:r>
              <a:rPr sz="1518" spc="-8" dirty="0">
                <a:solidFill>
                  <a:srgbClr val="333333"/>
                </a:solidFill>
                <a:latin typeface="Times New Roman"/>
                <a:cs typeface="Times New Roman"/>
              </a:rPr>
              <a:t>trends</a:t>
            </a:r>
            <a:endParaRPr sz="1518" dirty="0">
              <a:latin typeface="Times New Roman"/>
              <a:cs typeface="Times New Roman"/>
            </a:endParaRPr>
          </a:p>
          <a:p>
            <a:pPr marL="9887" marR="14336">
              <a:lnSpc>
                <a:spcPct val="116300"/>
              </a:lnSpc>
              <a:spcBef>
                <a:spcPts val="759"/>
              </a:spcBef>
            </a:pPr>
            <a:r>
              <a:rPr lang="en-US" sz="1518" dirty="0">
                <a:solidFill>
                  <a:srgbClr val="333333"/>
                </a:solidFill>
                <a:latin typeface="Times New Roman"/>
                <a:cs typeface="Times New Roman"/>
              </a:rPr>
              <a:t>S</a:t>
            </a:r>
            <a:r>
              <a:rPr sz="1518" dirty="0">
                <a:solidFill>
                  <a:srgbClr val="333333"/>
                </a:solidFill>
                <a:latin typeface="Times New Roman"/>
                <a:cs typeface="Times New Roman"/>
              </a:rPr>
              <a:t>cenarios with ability to </a:t>
            </a:r>
            <a:r>
              <a:rPr sz="1518" spc="-8" dirty="0">
                <a:solidFill>
                  <a:srgbClr val="333333"/>
                </a:solidFill>
                <a:latin typeface="Times New Roman"/>
                <a:cs typeface="Times New Roman"/>
              </a:rPr>
              <a:t>combine </a:t>
            </a:r>
            <a:r>
              <a:rPr sz="1518" dirty="0">
                <a:solidFill>
                  <a:srgbClr val="333333"/>
                </a:solidFill>
                <a:latin typeface="Times New Roman"/>
                <a:cs typeface="Times New Roman"/>
              </a:rPr>
              <a:t>in unlimited </a:t>
            </a:r>
            <a:r>
              <a:rPr sz="1518" spc="-16" dirty="0">
                <a:solidFill>
                  <a:srgbClr val="333333"/>
                </a:solidFill>
                <a:latin typeface="Times New Roman"/>
                <a:cs typeface="Times New Roman"/>
              </a:rPr>
              <a:t>ways</a:t>
            </a:r>
            <a:endParaRPr sz="1518" dirty="0">
              <a:latin typeface="Times New Roman"/>
              <a:cs typeface="Times New Roman"/>
            </a:endParaRPr>
          </a:p>
          <a:p>
            <a:pPr marL="9887" marR="355930">
              <a:lnSpc>
                <a:spcPct val="116199"/>
              </a:lnSpc>
              <a:spcBef>
                <a:spcPts val="763"/>
              </a:spcBef>
            </a:pPr>
            <a:r>
              <a:rPr sz="1518" dirty="0">
                <a:solidFill>
                  <a:srgbClr val="333333"/>
                </a:solidFill>
                <a:latin typeface="Times New Roman"/>
                <a:cs typeface="Times New Roman"/>
              </a:rPr>
              <a:t>Included country risk data and </a:t>
            </a:r>
            <a:r>
              <a:rPr sz="1518" spc="-8" dirty="0">
                <a:solidFill>
                  <a:srgbClr val="333333"/>
                </a:solidFill>
                <a:latin typeface="Times New Roman"/>
                <a:cs typeface="Times New Roman"/>
              </a:rPr>
              <a:t>offshore </a:t>
            </a:r>
            <a:r>
              <a:rPr sz="1518" dirty="0">
                <a:solidFill>
                  <a:srgbClr val="333333"/>
                </a:solidFill>
                <a:latin typeface="Times New Roman"/>
                <a:cs typeface="Times New Roman"/>
              </a:rPr>
              <a:t>company </a:t>
            </a:r>
            <a:r>
              <a:rPr sz="1518" spc="-8" dirty="0">
                <a:solidFill>
                  <a:srgbClr val="333333"/>
                </a:solidFill>
                <a:latin typeface="Times New Roman"/>
                <a:cs typeface="Times New Roman"/>
              </a:rPr>
              <a:t>information</a:t>
            </a:r>
            <a:endParaRPr sz="1518" dirty="0">
              <a:latin typeface="Times New Roman"/>
              <a:cs typeface="Times New Roman"/>
            </a:endParaRPr>
          </a:p>
          <a:p>
            <a:pPr marL="9887" marR="63276">
              <a:lnSpc>
                <a:spcPct val="116199"/>
              </a:lnSpc>
              <a:spcBef>
                <a:spcPts val="814"/>
              </a:spcBef>
            </a:pPr>
            <a:r>
              <a:rPr sz="1518" dirty="0">
                <a:solidFill>
                  <a:srgbClr val="333333"/>
                </a:solidFill>
                <a:latin typeface="Times New Roman"/>
                <a:cs typeface="Times New Roman"/>
              </a:rPr>
              <a:t>Generated realistic transaction </a:t>
            </a:r>
            <a:r>
              <a:rPr sz="1518" spc="-8" dirty="0">
                <a:solidFill>
                  <a:srgbClr val="333333"/>
                </a:solidFill>
                <a:latin typeface="Times New Roman"/>
                <a:cs typeface="Times New Roman"/>
              </a:rPr>
              <a:t>descriptions </a:t>
            </a:r>
            <a:r>
              <a:rPr sz="1518" dirty="0">
                <a:solidFill>
                  <a:srgbClr val="333333"/>
                </a:solidFill>
                <a:latin typeface="Times New Roman"/>
                <a:cs typeface="Times New Roman"/>
              </a:rPr>
              <a:t>and </a:t>
            </a:r>
            <a:r>
              <a:rPr sz="1518" spc="-8" dirty="0">
                <a:solidFill>
                  <a:srgbClr val="333333"/>
                </a:solidFill>
                <a:latin typeface="Times New Roman"/>
                <a:cs typeface="Times New Roman"/>
              </a:rPr>
              <a:t>patterns</a:t>
            </a:r>
            <a:endParaRPr sz="1518" dirty="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36761" y="1493247"/>
            <a:ext cx="4049748" cy="3930912"/>
            <a:chOff x="5827775" y="968596"/>
            <a:chExt cx="5202174" cy="5049521"/>
          </a:xfrm>
        </p:grpSpPr>
        <p:sp>
          <p:nvSpPr>
            <p:cNvPr id="14" name="object 14"/>
            <p:cNvSpPr/>
            <p:nvPr/>
          </p:nvSpPr>
          <p:spPr>
            <a:xfrm>
              <a:off x="5827775" y="968597"/>
              <a:ext cx="110489" cy="5049520"/>
            </a:xfrm>
            <a:custGeom>
              <a:avLst/>
              <a:gdLst/>
              <a:ahLst/>
              <a:cxnLst/>
              <a:rect l="l" t="t" r="r" b="b"/>
              <a:pathLst>
                <a:path w="110489" h="5049520">
                  <a:moveTo>
                    <a:pt x="110493" y="5049202"/>
                  </a:moveTo>
                  <a:lnTo>
                    <a:pt x="0" y="5049202"/>
                  </a:lnTo>
                  <a:lnTo>
                    <a:pt x="0" y="0"/>
                  </a:lnTo>
                  <a:lnTo>
                    <a:pt x="110489" y="0"/>
                  </a:lnTo>
                  <a:lnTo>
                    <a:pt x="103710" y="1348"/>
                  </a:lnTo>
                  <a:lnTo>
                    <a:pt x="90686" y="6742"/>
                  </a:lnTo>
                  <a:lnTo>
                    <a:pt x="65737" y="39321"/>
                  </a:lnTo>
                  <a:lnTo>
                    <a:pt x="64388" y="46101"/>
                  </a:lnTo>
                  <a:lnTo>
                    <a:pt x="64388" y="5003100"/>
                  </a:lnTo>
                  <a:lnTo>
                    <a:pt x="84939" y="5038618"/>
                  </a:lnTo>
                  <a:lnTo>
                    <a:pt x="103710" y="5047852"/>
                  </a:lnTo>
                  <a:lnTo>
                    <a:pt x="110493" y="504920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892164" y="968596"/>
              <a:ext cx="5137785" cy="5049520"/>
            </a:xfrm>
            <a:custGeom>
              <a:avLst/>
              <a:gdLst/>
              <a:ahLst/>
              <a:cxnLst/>
              <a:rect l="l" t="t" r="r" b="b"/>
              <a:pathLst>
                <a:path w="5137784" h="5049520">
                  <a:moveTo>
                    <a:pt x="5137785" y="5049202"/>
                  </a:moveTo>
                  <a:lnTo>
                    <a:pt x="49659" y="5049202"/>
                  </a:lnTo>
                  <a:lnTo>
                    <a:pt x="46203" y="5048861"/>
                  </a:lnTo>
                  <a:lnTo>
                    <a:pt x="10896" y="5028482"/>
                  </a:lnTo>
                  <a:lnTo>
                    <a:pt x="0" y="4999542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5049202"/>
                  </a:lnTo>
                  <a:close/>
                </a:path>
              </a:pathLst>
            </a:custGeom>
            <a:solidFill>
              <a:srgbClr val="0066CC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953359" y="1558376"/>
              <a:ext cx="4996180" cy="3694429"/>
            </a:xfrm>
            <a:custGeom>
              <a:avLst/>
              <a:gdLst/>
              <a:ahLst/>
              <a:cxnLst/>
              <a:rect l="l" t="t" r="r" b="b"/>
              <a:pathLst>
                <a:path w="4996180" h="3694429">
                  <a:moveTo>
                    <a:pt x="4996065" y="2888386"/>
                  </a:moveTo>
                  <a:lnTo>
                    <a:pt x="4993068" y="2887789"/>
                  </a:lnTo>
                  <a:lnTo>
                    <a:pt x="38430" y="2887789"/>
                  </a:lnTo>
                  <a:lnTo>
                    <a:pt x="5626" y="2909709"/>
                  </a:lnTo>
                  <a:lnTo>
                    <a:pt x="0" y="2926207"/>
                  </a:lnTo>
                  <a:lnTo>
                    <a:pt x="0" y="3655479"/>
                  </a:lnTo>
                  <a:lnTo>
                    <a:pt x="21920" y="3688270"/>
                  </a:lnTo>
                  <a:lnTo>
                    <a:pt x="38430" y="3693896"/>
                  </a:lnTo>
                  <a:lnTo>
                    <a:pt x="4993068" y="3693896"/>
                  </a:lnTo>
                  <a:lnTo>
                    <a:pt x="4996065" y="3693299"/>
                  </a:lnTo>
                  <a:lnTo>
                    <a:pt x="4996065" y="2888386"/>
                  </a:lnTo>
                  <a:close/>
                </a:path>
                <a:path w="4996180" h="3694429">
                  <a:moveTo>
                    <a:pt x="4996065" y="1444498"/>
                  </a:moveTo>
                  <a:lnTo>
                    <a:pt x="4993068" y="1443901"/>
                  </a:lnTo>
                  <a:lnTo>
                    <a:pt x="38430" y="1443901"/>
                  </a:lnTo>
                  <a:lnTo>
                    <a:pt x="5626" y="1465821"/>
                  </a:lnTo>
                  <a:lnTo>
                    <a:pt x="0" y="1482318"/>
                  </a:lnTo>
                  <a:lnTo>
                    <a:pt x="0" y="2211578"/>
                  </a:lnTo>
                  <a:lnTo>
                    <a:pt x="21920" y="2244382"/>
                  </a:lnTo>
                  <a:lnTo>
                    <a:pt x="38430" y="2249995"/>
                  </a:lnTo>
                  <a:lnTo>
                    <a:pt x="4993068" y="2249995"/>
                  </a:lnTo>
                  <a:lnTo>
                    <a:pt x="4996065" y="2249411"/>
                  </a:lnTo>
                  <a:lnTo>
                    <a:pt x="4996065" y="1444498"/>
                  </a:lnTo>
                  <a:close/>
                </a:path>
                <a:path w="4996180" h="3694429">
                  <a:moveTo>
                    <a:pt x="4996065" y="596"/>
                  </a:moveTo>
                  <a:lnTo>
                    <a:pt x="4993068" y="0"/>
                  </a:lnTo>
                  <a:lnTo>
                    <a:pt x="38430" y="0"/>
                  </a:lnTo>
                  <a:lnTo>
                    <a:pt x="5626" y="21920"/>
                  </a:lnTo>
                  <a:lnTo>
                    <a:pt x="0" y="38430"/>
                  </a:lnTo>
                  <a:lnTo>
                    <a:pt x="0" y="767689"/>
                  </a:lnTo>
                  <a:lnTo>
                    <a:pt x="21920" y="800493"/>
                  </a:lnTo>
                  <a:lnTo>
                    <a:pt x="38430" y="806107"/>
                  </a:lnTo>
                  <a:lnTo>
                    <a:pt x="4993068" y="806107"/>
                  </a:lnTo>
                  <a:lnTo>
                    <a:pt x="4996065" y="805510"/>
                  </a:lnTo>
                  <a:lnTo>
                    <a:pt x="4996065" y="596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27744" y="1579903"/>
            <a:ext cx="1656005" cy="209726"/>
          </a:xfrm>
          <a:prstGeom prst="rect">
            <a:avLst/>
          </a:prstGeom>
        </p:spPr>
        <p:txBody>
          <a:bodyPr vert="horz" wrap="square" lIns="0" tIns="11864" rIns="0" bIns="0" rtlCol="0">
            <a:spAutoFit/>
          </a:bodyPr>
          <a:lstStyle/>
          <a:p>
            <a:pPr marL="9887">
              <a:spcBef>
                <a:spcPts val="93"/>
              </a:spcBef>
            </a:pPr>
            <a:r>
              <a:rPr sz="1285" dirty="0">
                <a:solidFill>
                  <a:srgbClr val="373C3C"/>
                </a:solidFill>
                <a:latin typeface="Times New Roman"/>
                <a:cs typeface="Times New Roman"/>
              </a:rPr>
              <a:t>Data</a:t>
            </a:r>
            <a:r>
              <a:rPr sz="1285" spc="43" dirty="0">
                <a:solidFill>
                  <a:srgbClr val="373C3C"/>
                </a:solidFill>
                <a:latin typeface="Times New Roman"/>
                <a:cs typeface="Times New Roman"/>
              </a:rPr>
              <a:t> </a:t>
            </a:r>
            <a:r>
              <a:rPr sz="1285" dirty="0">
                <a:solidFill>
                  <a:srgbClr val="373C3C"/>
                </a:solidFill>
                <a:latin typeface="Times New Roman"/>
                <a:cs typeface="Times New Roman"/>
              </a:rPr>
              <a:t>Generation</a:t>
            </a:r>
            <a:r>
              <a:rPr sz="1285" spc="43" dirty="0">
                <a:solidFill>
                  <a:srgbClr val="373C3C"/>
                </a:solidFill>
                <a:latin typeface="Times New Roman"/>
                <a:cs typeface="Times New Roman"/>
              </a:rPr>
              <a:t> </a:t>
            </a:r>
            <a:r>
              <a:rPr sz="1285" spc="-8" dirty="0">
                <a:solidFill>
                  <a:srgbClr val="373C3C"/>
                </a:solidFill>
                <a:latin typeface="Times New Roman"/>
                <a:cs typeface="Times New Roman"/>
              </a:rPr>
              <a:t>Process</a:t>
            </a:r>
            <a:endParaRPr sz="128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21720" y="2131575"/>
            <a:ext cx="1868073" cy="209726"/>
          </a:xfrm>
          <a:prstGeom prst="rect">
            <a:avLst/>
          </a:prstGeom>
        </p:spPr>
        <p:txBody>
          <a:bodyPr vert="horz" wrap="square" lIns="0" tIns="11864" rIns="0" bIns="0" rtlCol="0">
            <a:spAutoFit/>
          </a:bodyPr>
          <a:lstStyle/>
          <a:p>
            <a:pPr marL="9887">
              <a:spcBef>
                <a:spcPts val="93"/>
              </a:spcBef>
            </a:pPr>
            <a:r>
              <a:rPr sz="1285" b="1" dirty="0">
                <a:solidFill>
                  <a:srgbClr val="333333"/>
                </a:solidFill>
                <a:latin typeface="Times New Roman"/>
                <a:cs typeface="Times New Roman"/>
              </a:rPr>
              <a:t>Fraud</a:t>
            </a:r>
            <a:r>
              <a:rPr sz="1285" b="1" spc="43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85" b="1" dirty="0">
                <a:solidFill>
                  <a:srgbClr val="333333"/>
                </a:solidFill>
                <a:latin typeface="Times New Roman"/>
                <a:cs typeface="Times New Roman"/>
              </a:rPr>
              <a:t>Scenario</a:t>
            </a:r>
            <a:r>
              <a:rPr sz="1285" b="1" spc="47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85" b="1" spc="-8" dirty="0">
                <a:solidFill>
                  <a:srgbClr val="333333"/>
                </a:solidFill>
                <a:latin typeface="Times New Roman"/>
                <a:cs typeface="Times New Roman"/>
              </a:rPr>
              <a:t>Definition</a:t>
            </a:r>
            <a:endParaRPr sz="128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83707" y="2655664"/>
            <a:ext cx="144344" cy="310422"/>
          </a:xfrm>
          <a:prstGeom prst="rect">
            <a:avLst/>
          </a:prstGeom>
        </p:spPr>
        <p:txBody>
          <a:bodyPr vert="horz" wrap="square" lIns="0" tIns="10875" rIns="0" bIns="0" rtlCol="0">
            <a:spAutoFit/>
          </a:bodyPr>
          <a:lstStyle/>
          <a:p>
            <a:pPr marL="9887">
              <a:spcBef>
                <a:spcPts val="86"/>
              </a:spcBef>
            </a:pPr>
            <a:r>
              <a:rPr sz="1946" spc="-39" dirty="0">
                <a:solidFill>
                  <a:srgbClr val="333333"/>
                </a:solidFill>
                <a:latin typeface="Times New Roman"/>
                <a:cs typeface="Times New Roman"/>
              </a:rPr>
              <a:t>↓</a:t>
            </a:r>
            <a:endParaRPr sz="1946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93050" y="3255608"/>
            <a:ext cx="1725211" cy="209726"/>
          </a:xfrm>
          <a:prstGeom prst="rect">
            <a:avLst/>
          </a:prstGeom>
        </p:spPr>
        <p:txBody>
          <a:bodyPr vert="horz" wrap="square" lIns="0" tIns="11864" rIns="0" bIns="0" rtlCol="0">
            <a:spAutoFit/>
          </a:bodyPr>
          <a:lstStyle/>
          <a:p>
            <a:pPr marL="9887">
              <a:spcBef>
                <a:spcPts val="93"/>
              </a:spcBef>
            </a:pPr>
            <a:r>
              <a:rPr sz="1285" b="1" dirty="0">
                <a:solidFill>
                  <a:srgbClr val="333333"/>
                </a:solidFill>
                <a:latin typeface="Times New Roman"/>
                <a:cs typeface="Times New Roman"/>
              </a:rPr>
              <a:t>Pattern</a:t>
            </a:r>
            <a:r>
              <a:rPr sz="1285" b="1" spc="43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85" b="1" spc="-8" dirty="0">
                <a:solidFill>
                  <a:srgbClr val="333333"/>
                </a:solidFill>
                <a:latin typeface="Times New Roman"/>
                <a:cs typeface="Times New Roman"/>
              </a:rPr>
              <a:t>Implementation</a:t>
            </a:r>
            <a:endParaRPr sz="128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83707" y="3779696"/>
            <a:ext cx="144344" cy="310422"/>
          </a:xfrm>
          <a:prstGeom prst="rect">
            <a:avLst/>
          </a:prstGeom>
        </p:spPr>
        <p:txBody>
          <a:bodyPr vert="horz" wrap="square" lIns="0" tIns="10875" rIns="0" bIns="0" rtlCol="0">
            <a:spAutoFit/>
          </a:bodyPr>
          <a:lstStyle/>
          <a:p>
            <a:pPr marL="9887">
              <a:spcBef>
                <a:spcPts val="86"/>
              </a:spcBef>
            </a:pPr>
            <a:r>
              <a:rPr sz="1946" spc="-39" dirty="0">
                <a:solidFill>
                  <a:srgbClr val="333333"/>
                </a:solidFill>
                <a:latin typeface="Times New Roman"/>
                <a:cs typeface="Times New Roman"/>
              </a:rPr>
              <a:t>↓</a:t>
            </a:r>
            <a:endParaRPr sz="1946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03403" y="4379639"/>
            <a:ext cx="1904653" cy="209726"/>
          </a:xfrm>
          <a:prstGeom prst="rect">
            <a:avLst/>
          </a:prstGeom>
        </p:spPr>
        <p:txBody>
          <a:bodyPr vert="horz" wrap="square" lIns="0" tIns="11864" rIns="0" bIns="0" rtlCol="0">
            <a:spAutoFit/>
          </a:bodyPr>
          <a:lstStyle/>
          <a:p>
            <a:pPr marL="9887">
              <a:spcBef>
                <a:spcPts val="93"/>
              </a:spcBef>
            </a:pPr>
            <a:r>
              <a:rPr sz="1285" b="1" dirty="0">
                <a:solidFill>
                  <a:srgbClr val="333333"/>
                </a:solidFill>
                <a:latin typeface="Times New Roman"/>
                <a:cs typeface="Times New Roman"/>
              </a:rPr>
              <a:t>Synthetic</a:t>
            </a:r>
            <a:r>
              <a:rPr sz="1285" b="1" spc="3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85" b="1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1285" b="1" spc="43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85" b="1" spc="-8" dirty="0">
                <a:solidFill>
                  <a:srgbClr val="333333"/>
                </a:solidFill>
                <a:latin typeface="Times New Roman"/>
                <a:cs typeface="Times New Roman"/>
              </a:rPr>
              <a:t>Generation</a:t>
            </a:r>
            <a:endParaRPr sz="1285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85085" y="4938208"/>
            <a:ext cx="1941233" cy="209726"/>
          </a:xfrm>
          <a:prstGeom prst="rect">
            <a:avLst/>
          </a:prstGeom>
        </p:spPr>
        <p:txBody>
          <a:bodyPr vert="horz" wrap="square" lIns="0" tIns="11864" rIns="0" bIns="0" rtlCol="0">
            <a:spAutoFit/>
          </a:bodyPr>
          <a:lstStyle/>
          <a:p>
            <a:pPr marL="9887">
              <a:spcBef>
                <a:spcPts val="93"/>
              </a:spcBef>
            </a:pPr>
            <a:r>
              <a:rPr sz="1285" dirty="0">
                <a:solidFill>
                  <a:srgbClr val="333333"/>
                </a:solidFill>
                <a:latin typeface="Times New Roman"/>
                <a:cs typeface="Times New Roman"/>
              </a:rPr>
              <a:t>1-5%</a:t>
            </a:r>
            <a:r>
              <a:rPr sz="1285" spc="43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85" dirty="0">
                <a:solidFill>
                  <a:srgbClr val="333333"/>
                </a:solidFill>
                <a:latin typeface="Times New Roman"/>
                <a:cs typeface="Times New Roman"/>
              </a:rPr>
              <a:t>suspicious</a:t>
            </a:r>
            <a:r>
              <a:rPr sz="1285" spc="43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85" spc="-8" dirty="0">
                <a:solidFill>
                  <a:srgbClr val="333333"/>
                </a:solidFill>
                <a:latin typeface="Times New Roman"/>
                <a:cs typeface="Times New Roman"/>
              </a:rPr>
              <a:t>transactions</a:t>
            </a:r>
            <a:endParaRPr sz="1285">
              <a:latin typeface="Times New Roman"/>
              <a:cs typeface="Times New Roman"/>
            </a:endParaRPr>
          </a:p>
        </p:txBody>
      </p:sp>
      <p:sp>
        <p:nvSpPr>
          <p:cNvPr id="31" name="Slide Number Placeholder 17">
            <a:extLst>
              <a:ext uri="{FF2B5EF4-FFF2-40B4-BE49-F238E27FC236}">
                <a16:creationId xmlns:a16="http://schemas.microsoft.com/office/drawing/2014/main" id="{712BC86D-1A48-4E80-A867-BDC6C997803F}"/>
              </a:ext>
            </a:extLst>
          </p:cNvPr>
          <p:cNvSpPr txBox="1">
            <a:spLocks/>
          </p:cNvSpPr>
          <p:nvPr/>
        </p:nvSpPr>
        <p:spPr>
          <a:xfrm>
            <a:off x="8315829" y="6491053"/>
            <a:ext cx="582109" cy="20248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defPPr>
              <a:defRPr kern="0"/>
            </a:defPPr>
            <a:lvl1pPr algn="r">
              <a:defRPr sz="1246" b="1"/>
            </a:lvl1pPr>
          </a:lstStyle>
          <a:p>
            <a:fld id="{CC7D8618-F20C-406E-B464-04F15D14577A}" type="slidenum">
              <a:rPr lang="en-GB" smtClean="0">
                <a:solidFill>
                  <a:schemeClr val="bg1"/>
                </a:solidFill>
              </a:rPr>
              <a:pPr/>
              <a:t>6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2" name="Date Placeholder 2">
            <a:extLst>
              <a:ext uri="{FF2B5EF4-FFF2-40B4-BE49-F238E27FC236}">
                <a16:creationId xmlns:a16="http://schemas.microsoft.com/office/drawing/2014/main" id="{C2F743C2-1EFD-4FAC-8865-3395C679E8EC}"/>
              </a:ext>
            </a:extLst>
          </p:cNvPr>
          <p:cNvSpPr txBox="1">
            <a:spLocks/>
          </p:cNvSpPr>
          <p:nvPr/>
        </p:nvSpPr>
        <p:spPr>
          <a:xfrm>
            <a:off x="1807" y="6491576"/>
            <a:ext cx="1138936" cy="201963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defPPr>
              <a:defRPr kern="0"/>
            </a:defPPr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7DDF110-EE35-4A7F-B214-B856D7B1D9E6}" type="datetime5">
              <a:rPr lang="en-GB" smtClean="0"/>
              <a:pPr/>
              <a:t>7-Jan-26</a:t>
            </a:fld>
            <a:endParaRPr lang="en-GB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67615895-4D6F-494F-B1FB-4B2737B1092F}"/>
              </a:ext>
            </a:extLst>
          </p:cNvPr>
          <p:cNvSpPr txBox="1">
            <a:spLocks/>
          </p:cNvSpPr>
          <p:nvPr/>
        </p:nvSpPr>
        <p:spPr>
          <a:xfrm>
            <a:off x="1140743" y="6492099"/>
            <a:ext cx="3524483" cy="201440"/>
          </a:xfrm>
          <a:prstGeom prst="rect">
            <a:avLst/>
          </a:prstGeom>
          <a:solidFill>
            <a:srgbClr val="003366"/>
          </a:solidFill>
        </p:spPr>
        <p:txBody>
          <a:bodyPr wrap="square" lIns="0" tIns="0" rIns="0" bIns="0"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93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1186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6779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2372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779651">
              <a:defRPr>
                <a:latin typeface="+mn-lt"/>
                <a:ea typeface="+mn-ea"/>
                <a:cs typeface="+mn-cs"/>
              </a:defRPr>
            </a:lvl6pPr>
            <a:lvl7pPr marL="2135581">
              <a:defRPr>
                <a:latin typeface="+mn-lt"/>
                <a:ea typeface="+mn-ea"/>
                <a:cs typeface="+mn-cs"/>
              </a:defRPr>
            </a:lvl7pPr>
            <a:lvl8pPr marL="2491511">
              <a:defRPr>
                <a:latin typeface="+mn-lt"/>
                <a:ea typeface="+mn-ea"/>
                <a:cs typeface="+mn-cs"/>
              </a:defRPr>
            </a:lvl8pPr>
            <a:lvl9pPr marL="2847442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Natalja Krjuckova</a:t>
            </a:r>
            <a:endParaRPr lang="en-GB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B5A3E4AA-39DB-4232-8CFC-E6D1D3B4014F}"/>
              </a:ext>
            </a:extLst>
          </p:cNvPr>
          <p:cNvSpPr txBox="1">
            <a:spLocks/>
          </p:cNvSpPr>
          <p:nvPr/>
        </p:nvSpPr>
        <p:spPr>
          <a:xfrm>
            <a:off x="4676829" y="6491576"/>
            <a:ext cx="3669327" cy="20144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216271" indent="0" algn="r">
              <a:lnSpc>
                <a:spcPct val="100000"/>
              </a:lnSpc>
              <a:buNone/>
              <a:tabLst>
                <a:tab pos="223996" algn="l"/>
              </a:tabLst>
              <a:defRPr sz="126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 sz="985" dirty="0" err="1"/>
              <a:t>RaTSiF</a:t>
            </a:r>
            <a:r>
              <a:rPr lang="en-GB" sz="985" dirty="0"/>
              <a:t>, Riga, Latvia</a:t>
            </a:r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C5E0A058-FB91-45C6-96D8-7AA13132143A}"/>
              </a:ext>
            </a:extLst>
          </p:cNvPr>
          <p:cNvSpPr/>
          <p:nvPr/>
        </p:nvSpPr>
        <p:spPr>
          <a:xfrm>
            <a:off x="3273970" y="645428"/>
            <a:ext cx="2344607" cy="13841"/>
          </a:xfrm>
          <a:custGeom>
            <a:avLst/>
            <a:gdLst/>
            <a:ahLst/>
            <a:cxnLst/>
            <a:rect l="l" t="t" r="r" b="b"/>
            <a:pathLst>
              <a:path w="3011804" h="17779">
                <a:moveTo>
                  <a:pt x="3011804" y="17716"/>
                </a:moveTo>
                <a:lnTo>
                  <a:pt x="0" y="17716"/>
                </a:lnTo>
                <a:lnTo>
                  <a:pt x="0" y="0"/>
                </a:lnTo>
                <a:lnTo>
                  <a:pt x="3011804" y="0"/>
                </a:lnTo>
                <a:lnTo>
                  <a:pt x="3011804" y="17716"/>
                </a:lnTo>
                <a:close/>
              </a:path>
            </a:pathLst>
          </a:custGeom>
          <a:solidFill>
            <a:srgbClr val="66AA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4369" y="202278"/>
            <a:ext cx="4495800" cy="371936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1000065">
              <a:spcBef>
                <a:spcPts val="97"/>
              </a:spcBef>
            </a:pPr>
            <a:r>
              <a:rPr dirty="0"/>
              <a:t>Data</a:t>
            </a:r>
            <a:r>
              <a:rPr spc="-23" dirty="0"/>
              <a:t> </a:t>
            </a:r>
            <a:r>
              <a:rPr dirty="0"/>
              <a:t>Preparation</a:t>
            </a:r>
            <a:r>
              <a:rPr spc="-19" dirty="0"/>
              <a:t> </a:t>
            </a:r>
            <a:r>
              <a:rPr spc="-8" dirty="0"/>
              <a:t>Process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6290" y="1102419"/>
            <a:ext cx="8230593" cy="4785277"/>
            <a:chOff x="400049" y="977455"/>
            <a:chExt cx="5379085" cy="5040630"/>
          </a:xfrm>
        </p:grpSpPr>
        <p:sp>
          <p:nvSpPr>
            <p:cNvPr id="5" name="object 5"/>
            <p:cNvSpPr/>
            <p:nvPr/>
          </p:nvSpPr>
          <p:spPr>
            <a:xfrm>
              <a:off x="400049" y="977455"/>
              <a:ext cx="5379085" cy="5040630"/>
            </a:xfrm>
            <a:custGeom>
              <a:avLst/>
              <a:gdLst/>
              <a:ahLst/>
              <a:cxnLst/>
              <a:rect l="l" t="t" r="r" b="b"/>
              <a:pathLst>
                <a:path w="5379085" h="504063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379085" h="5040630">
                  <a:moveTo>
                    <a:pt x="5378957" y="5040344"/>
                  </a:moveTo>
                  <a:lnTo>
                    <a:pt x="5268844" y="5040344"/>
                  </a:lnTo>
                  <a:lnTo>
                    <a:pt x="5275627" y="5038994"/>
                  </a:lnTo>
                  <a:lnTo>
                    <a:pt x="5288650" y="5033600"/>
                  </a:lnTo>
                  <a:lnTo>
                    <a:pt x="5313600" y="5001021"/>
                  </a:lnTo>
                  <a:lnTo>
                    <a:pt x="5314949" y="4994242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378957" y="0"/>
                  </a:lnTo>
                  <a:lnTo>
                    <a:pt x="5378957" y="5040344"/>
                  </a:lnTo>
                  <a:close/>
                </a:path>
                <a:path w="5379085" h="5040630">
                  <a:moveTo>
                    <a:pt x="46104" y="5040344"/>
                  </a:moveTo>
                  <a:lnTo>
                    <a:pt x="0" y="5040344"/>
                  </a:lnTo>
                  <a:lnTo>
                    <a:pt x="0" y="4994242"/>
                  </a:lnTo>
                  <a:lnTo>
                    <a:pt x="1348" y="5001021"/>
                  </a:lnTo>
                  <a:lnTo>
                    <a:pt x="6742" y="5014044"/>
                  </a:lnTo>
                  <a:lnTo>
                    <a:pt x="10583" y="5019792"/>
                  </a:lnTo>
                  <a:lnTo>
                    <a:pt x="20550" y="5029759"/>
                  </a:lnTo>
                  <a:lnTo>
                    <a:pt x="26298" y="5033600"/>
                  </a:lnTo>
                  <a:lnTo>
                    <a:pt x="39321" y="5038994"/>
                  </a:lnTo>
                  <a:lnTo>
                    <a:pt x="46104" y="504034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977455"/>
              <a:ext cx="5314950" cy="5040630"/>
            </a:xfrm>
            <a:custGeom>
              <a:avLst/>
              <a:gdLst/>
              <a:ahLst/>
              <a:cxnLst/>
              <a:rect l="l" t="t" r="r" b="b"/>
              <a:pathLst>
                <a:path w="5314950" h="5040630">
                  <a:moveTo>
                    <a:pt x="5265290" y="5040343"/>
                  </a:moveTo>
                  <a:lnTo>
                    <a:pt x="49659" y="5040343"/>
                  </a:lnTo>
                  <a:lnTo>
                    <a:pt x="46203" y="5040003"/>
                  </a:lnTo>
                  <a:lnTo>
                    <a:pt x="10896" y="5019624"/>
                  </a:lnTo>
                  <a:lnTo>
                    <a:pt x="0" y="4990684"/>
                  </a:lnTo>
                  <a:lnTo>
                    <a:pt x="0" y="4987194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4990684"/>
                  </a:lnTo>
                  <a:lnTo>
                    <a:pt x="5296914" y="5027243"/>
                  </a:lnTo>
                  <a:lnTo>
                    <a:pt x="5268746" y="5040003"/>
                  </a:lnTo>
                  <a:lnTo>
                    <a:pt x="5265290" y="5040343"/>
                  </a:lnTo>
                  <a:close/>
                </a:path>
              </a:pathLst>
            </a:custGeom>
            <a:solidFill>
              <a:srgbClr val="F5F5F5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22FFAAEB-B885-4AD0-8D84-30BD7A0C2A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0637967"/>
              </p:ext>
            </p:extLst>
          </p:nvPr>
        </p:nvGraphicFramePr>
        <p:xfrm>
          <a:off x="571275" y="1508125"/>
          <a:ext cx="7535294" cy="38101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Slide Number Placeholder 17">
            <a:extLst>
              <a:ext uri="{FF2B5EF4-FFF2-40B4-BE49-F238E27FC236}">
                <a16:creationId xmlns:a16="http://schemas.microsoft.com/office/drawing/2014/main" id="{59AE8825-C33F-4ED1-BF9D-437932C47ED3}"/>
              </a:ext>
            </a:extLst>
          </p:cNvPr>
          <p:cNvSpPr txBox="1">
            <a:spLocks/>
          </p:cNvSpPr>
          <p:nvPr/>
        </p:nvSpPr>
        <p:spPr>
          <a:xfrm>
            <a:off x="8315829" y="6491053"/>
            <a:ext cx="582109" cy="20248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defPPr>
              <a:defRPr kern="0"/>
            </a:defPPr>
            <a:lvl1pPr algn="r">
              <a:defRPr sz="1246" b="1"/>
            </a:lvl1pPr>
          </a:lstStyle>
          <a:p>
            <a:fld id="{CC7D8618-F20C-406E-B464-04F15D14577A}" type="slidenum">
              <a:rPr lang="en-GB" smtClean="0">
                <a:solidFill>
                  <a:schemeClr val="bg1"/>
                </a:solidFill>
              </a:rPr>
              <a:pPr/>
              <a:t>7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6" name="Date Placeholder 2">
            <a:extLst>
              <a:ext uri="{FF2B5EF4-FFF2-40B4-BE49-F238E27FC236}">
                <a16:creationId xmlns:a16="http://schemas.microsoft.com/office/drawing/2014/main" id="{FD97290B-52C1-403E-96A7-BC6FD6E019B2}"/>
              </a:ext>
            </a:extLst>
          </p:cNvPr>
          <p:cNvSpPr txBox="1">
            <a:spLocks/>
          </p:cNvSpPr>
          <p:nvPr/>
        </p:nvSpPr>
        <p:spPr>
          <a:xfrm>
            <a:off x="1807" y="6491576"/>
            <a:ext cx="1138936" cy="201963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defPPr>
              <a:defRPr kern="0"/>
            </a:defPPr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7DDF110-EE35-4A7F-B214-B856D7B1D9E6}" type="datetime5">
              <a:rPr lang="en-GB" smtClean="0"/>
              <a:pPr/>
              <a:t>7-Jan-26</a:t>
            </a:fld>
            <a:endParaRPr lang="en-GB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E377B8B-83EB-468F-80BF-314D76B0399A}"/>
              </a:ext>
            </a:extLst>
          </p:cNvPr>
          <p:cNvSpPr txBox="1">
            <a:spLocks/>
          </p:cNvSpPr>
          <p:nvPr/>
        </p:nvSpPr>
        <p:spPr>
          <a:xfrm>
            <a:off x="1140743" y="6492099"/>
            <a:ext cx="3524483" cy="201440"/>
          </a:xfrm>
          <a:prstGeom prst="rect">
            <a:avLst/>
          </a:prstGeom>
          <a:solidFill>
            <a:srgbClr val="003366"/>
          </a:solidFill>
        </p:spPr>
        <p:txBody>
          <a:bodyPr wrap="square" lIns="0" tIns="0" rIns="0" bIns="0"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93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1186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6779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2372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779651">
              <a:defRPr>
                <a:latin typeface="+mn-lt"/>
                <a:ea typeface="+mn-ea"/>
                <a:cs typeface="+mn-cs"/>
              </a:defRPr>
            </a:lvl6pPr>
            <a:lvl7pPr marL="2135581">
              <a:defRPr>
                <a:latin typeface="+mn-lt"/>
                <a:ea typeface="+mn-ea"/>
                <a:cs typeface="+mn-cs"/>
              </a:defRPr>
            </a:lvl7pPr>
            <a:lvl8pPr marL="2491511">
              <a:defRPr>
                <a:latin typeface="+mn-lt"/>
                <a:ea typeface="+mn-ea"/>
                <a:cs typeface="+mn-cs"/>
              </a:defRPr>
            </a:lvl8pPr>
            <a:lvl9pPr marL="2847442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Natalja Krjuckova</a:t>
            </a:r>
            <a:endParaRPr lang="en-GB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52966-776D-4ADC-985B-EB651C0F1635}"/>
              </a:ext>
            </a:extLst>
          </p:cNvPr>
          <p:cNvSpPr txBox="1">
            <a:spLocks/>
          </p:cNvSpPr>
          <p:nvPr/>
        </p:nvSpPr>
        <p:spPr>
          <a:xfrm>
            <a:off x="4676829" y="6491576"/>
            <a:ext cx="3669327" cy="20144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216271" indent="0" algn="r">
              <a:lnSpc>
                <a:spcPct val="100000"/>
              </a:lnSpc>
              <a:buNone/>
              <a:tabLst>
                <a:tab pos="223996" algn="l"/>
              </a:tabLst>
              <a:defRPr sz="126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 sz="985" dirty="0" err="1"/>
              <a:t>RaTSiF</a:t>
            </a:r>
            <a:r>
              <a:rPr lang="en-GB" sz="985" dirty="0"/>
              <a:t>, Riga, Latvia</a:t>
            </a: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3F34A05B-D56A-4A8B-8A12-9F47F45A498F}"/>
              </a:ext>
            </a:extLst>
          </p:cNvPr>
          <p:cNvSpPr/>
          <p:nvPr/>
        </p:nvSpPr>
        <p:spPr>
          <a:xfrm>
            <a:off x="3273970" y="645428"/>
            <a:ext cx="2344607" cy="13841"/>
          </a:xfrm>
          <a:custGeom>
            <a:avLst/>
            <a:gdLst/>
            <a:ahLst/>
            <a:cxnLst/>
            <a:rect l="l" t="t" r="r" b="b"/>
            <a:pathLst>
              <a:path w="3011804" h="17779">
                <a:moveTo>
                  <a:pt x="3011804" y="17716"/>
                </a:moveTo>
                <a:lnTo>
                  <a:pt x="0" y="17716"/>
                </a:lnTo>
                <a:lnTo>
                  <a:pt x="0" y="0"/>
                </a:lnTo>
                <a:lnTo>
                  <a:pt x="3011804" y="0"/>
                </a:lnTo>
                <a:lnTo>
                  <a:pt x="3011804" y="17716"/>
                </a:lnTo>
                <a:close/>
              </a:path>
            </a:pathLst>
          </a:custGeom>
          <a:solidFill>
            <a:srgbClr val="66AA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D407CC0A-AF13-4C0B-8BBB-1B904CB7D1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69" y="237347"/>
            <a:ext cx="4152371" cy="371936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1410867">
              <a:spcBef>
                <a:spcPts val="97"/>
              </a:spcBef>
            </a:pPr>
            <a:r>
              <a:rPr spc="-27" dirty="0"/>
              <a:t>Training</a:t>
            </a:r>
            <a:r>
              <a:rPr spc="-89" dirty="0"/>
              <a:t> </a:t>
            </a:r>
            <a:r>
              <a:rPr spc="-8" dirty="0"/>
              <a:t>Approach</a:t>
            </a:r>
          </a:p>
        </p:txBody>
      </p:sp>
      <p:sp>
        <p:nvSpPr>
          <p:cNvPr id="10" name="Slide Number Placeholder 17">
            <a:extLst>
              <a:ext uri="{FF2B5EF4-FFF2-40B4-BE49-F238E27FC236}">
                <a16:creationId xmlns:a16="http://schemas.microsoft.com/office/drawing/2014/main" id="{34D21048-4E60-4BE8-AB3E-198FAD3B79FA}"/>
              </a:ext>
            </a:extLst>
          </p:cNvPr>
          <p:cNvSpPr txBox="1">
            <a:spLocks/>
          </p:cNvSpPr>
          <p:nvPr/>
        </p:nvSpPr>
        <p:spPr>
          <a:xfrm>
            <a:off x="8315829" y="6491053"/>
            <a:ext cx="582109" cy="20248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defPPr>
              <a:defRPr kern="0"/>
            </a:defPPr>
            <a:lvl1pPr algn="r">
              <a:defRPr sz="1246" b="1"/>
            </a:lvl1pPr>
          </a:lstStyle>
          <a:p>
            <a:fld id="{CC7D8618-F20C-406E-B464-04F15D14577A}" type="slidenum">
              <a:rPr lang="en-GB" smtClean="0">
                <a:solidFill>
                  <a:schemeClr val="bg1"/>
                </a:solidFill>
              </a:rPr>
              <a:pPr/>
              <a:t>8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2EF85A16-9492-4824-A26A-42667F0B1D7B}"/>
              </a:ext>
            </a:extLst>
          </p:cNvPr>
          <p:cNvSpPr txBox="1">
            <a:spLocks/>
          </p:cNvSpPr>
          <p:nvPr/>
        </p:nvSpPr>
        <p:spPr>
          <a:xfrm>
            <a:off x="1807" y="6491576"/>
            <a:ext cx="1138936" cy="201963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defPPr>
              <a:defRPr kern="0"/>
            </a:defPPr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7DDF110-EE35-4A7F-B214-B856D7B1D9E6}" type="datetime5">
              <a:rPr lang="en-GB" smtClean="0"/>
              <a:pPr/>
              <a:t>7-Jan-26</a:t>
            </a:fld>
            <a:endParaRPr lang="en-GB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19FB1145-9695-4260-87E1-5F96FA8BB6B4}"/>
              </a:ext>
            </a:extLst>
          </p:cNvPr>
          <p:cNvSpPr txBox="1">
            <a:spLocks/>
          </p:cNvSpPr>
          <p:nvPr/>
        </p:nvSpPr>
        <p:spPr>
          <a:xfrm>
            <a:off x="1140743" y="6492099"/>
            <a:ext cx="3524483" cy="201440"/>
          </a:xfrm>
          <a:prstGeom prst="rect">
            <a:avLst/>
          </a:prstGeom>
          <a:solidFill>
            <a:srgbClr val="003366"/>
          </a:solidFill>
        </p:spPr>
        <p:txBody>
          <a:bodyPr wrap="square" lIns="0" tIns="0" rIns="0" bIns="0"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93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1186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6779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2372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779651">
              <a:defRPr>
                <a:latin typeface="+mn-lt"/>
                <a:ea typeface="+mn-ea"/>
                <a:cs typeface="+mn-cs"/>
              </a:defRPr>
            </a:lvl6pPr>
            <a:lvl7pPr marL="2135581">
              <a:defRPr>
                <a:latin typeface="+mn-lt"/>
                <a:ea typeface="+mn-ea"/>
                <a:cs typeface="+mn-cs"/>
              </a:defRPr>
            </a:lvl7pPr>
            <a:lvl8pPr marL="2491511">
              <a:defRPr>
                <a:latin typeface="+mn-lt"/>
                <a:ea typeface="+mn-ea"/>
                <a:cs typeface="+mn-cs"/>
              </a:defRPr>
            </a:lvl8pPr>
            <a:lvl9pPr marL="2847442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Natalja Krjuckova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FA1F9C23-BCC2-477E-BB9F-F697470A1479}"/>
              </a:ext>
            </a:extLst>
          </p:cNvPr>
          <p:cNvSpPr txBox="1">
            <a:spLocks/>
          </p:cNvSpPr>
          <p:nvPr/>
        </p:nvSpPr>
        <p:spPr>
          <a:xfrm>
            <a:off x="4676829" y="6491576"/>
            <a:ext cx="3669327" cy="20144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216271" indent="0" algn="r">
              <a:lnSpc>
                <a:spcPct val="100000"/>
              </a:lnSpc>
              <a:buNone/>
              <a:tabLst>
                <a:tab pos="223996" algn="l"/>
              </a:tabLst>
              <a:defRPr sz="126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 sz="985" dirty="0" err="1"/>
              <a:t>RaTSiF</a:t>
            </a:r>
            <a:r>
              <a:rPr lang="en-GB" sz="985" dirty="0"/>
              <a:t>, Riga, Latvia</a:t>
            </a:r>
          </a:p>
        </p:txBody>
      </p:sp>
      <p:grpSp>
        <p:nvGrpSpPr>
          <p:cNvPr id="36" name="object 3">
            <a:extLst>
              <a:ext uri="{FF2B5EF4-FFF2-40B4-BE49-F238E27FC236}">
                <a16:creationId xmlns:a16="http://schemas.microsoft.com/office/drawing/2014/main" id="{C670ADE5-F54B-4CFB-81D1-5D35C1121729}"/>
              </a:ext>
            </a:extLst>
          </p:cNvPr>
          <p:cNvGrpSpPr/>
          <p:nvPr/>
        </p:nvGrpSpPr>
        <p:grpSpPr>
          <a:xfrm>
            <a:off x="405715" y="1431184"/>
            <a:ext cx="4114802" cy="4179065"/>
            <a:chOff x="502919" y="888872"/>
            <a:chExt cx="5285740" cy="5368290"/>
          </a:xfrm>
        </p:grpSpPr>
        <p:sp>
          <p:nvSpPr>
            <p:cNvPr id="37" name="object 4">
              <a:extLst>
                <a:ext uri="{FF2B5EF4-FFF2-40B4-BE49-F238E27FC236}">
                  <a16:creationId xmlns:a16="http://schemas.microsoft.com/office/drawing/2014/main" id="{A26B374C-04CD-4002-B6E4-5D9913EE26A6}"/>
                </a:ext>
              </a:extLst>
            </p:cNvPr>
            <p:cNvSpPr/>
            <p:nvPr/>
          </p:nvSpPr>
          <p:spPr>
            <a:xfrm>
              <a:off x="502919" y="888872"/>
              <a:ext cx="5285740" cy="5368290"/>
            </a:xfrm>
            <a:custGeom>
              <a:avLst/>
              <a:gdLst/>
              <a:ahLst/>
              <a:cxnLst/>
              <a:rect l="l" t="t" r="r" b="b"/>
              <a:pathLst>
                <a:path w="5285740" h="5368290">
                  <a:moveTo>
                    <a:pt x="120399" y="5368099"/>
                  </a:moveTo>
                  <a:lnTo>
                    <a:pt x="0" y="5368099"/>
                  </a:lnTo>
                  <a:lnTo>
                    <a:pt x="0" y="0"/>
                  </a:lnTo>
                  <a:lnTo>
                    <a:pt x="120396" y="0"/>
                  </a:lnTo>
                  <a:lnTo>
                    <a:pt x="113616" y="1348"/>
                  </a:lnTo>
                  <a:lnTo>
                    <a:pt x="100593" y="6742"/>
                  </a:lnTo>
                  <a:lnTo>
                    <a:pt x="75643" y="39321"/>
                  </a:lnTo>
                  <a:lnTo>
                    <a:pt x="74294" y="46101"/>
                  </a:lnTo>
                  <a:lnTo>
                    <a:pt x="74294" y="5321997"/>
                  </a:lnTo>
                  <a:lnTo>
                    <a:pt x="94845" y="5357515"/>
                  </a:lnTo>
                  <a:lnTo>
                    <a:pt x="113616" y="5366750"/>
                  </a:lnTo>
                  <a:lnTo>
                    <a:pt x="120399" y="5368099"/>
                  </a:lnTo>
                  <a:close/>
                </a:path>
                <a:path w="5285740" h="5368290">
                  <a:moveTo>
                    <a:pt x="5285231" y="5368099"/>
                  </a:moveTo>
                  <a:lnTo>
                    <a:pt x="5165974" y="5368099"/>
                  </a:lnTo>
                  <a:lnTo>
                    <a:pt x="5172757" y="5366750"/>
                  </a:lnTo>
                  <a:lnTo>
                    <a:pt x="5185780" y="5361355"/>
                  </a:lnTo>
                  <a:lnTo>
                    <a:pt x="5210730" y="5328777"/>
                  </a:lnTo>
                  <a:lnTo>
                    <a:pt x="5212079" y="5321997"/>
                  </a:lnTo>
                  <a:lnTo>
                    <a:pt x="5212079" y="46101"/>
                  </a:lnTo>
                  <a:lnTo>
                    <a:pt x="5191528" y="10583"/>
                  </a:lnTo>
                  <a:lnTo>
                    <a:pt x="5165977" y="0"/>
                  </a:lnTo>
                  <a:lnTo>
                    <a:pt x="5285231" y="0"/>
                  </a:lnTo>
                  <a:lnTo>
                    <a:pt x="5285231" y="53680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5">
              <a:extLst>
                <a:ext uri="{FF2B5EF4-FFF2-40B4-BE49-F238E27FC236}">
                  <a16:creationId xmlns:a16="http://schemas.microsoft.com/office/drawing/2014/main" id="{F2789ED2-6F79-49C5-B724-DDB3A75142B1}"/>
                </a:ext>
              </a:extLst>
            </p:cNvPr>
            <p:cNvSpPr/>
            <p:nvPr/>
          </p:nvSpPr>
          <p:spPr>
            <a:xfrm>
              <a:off x="577214" y="888872"/>
              <a:ext cx="5137785" cy="5368290"/>
            </a:xfrm>
            <a:custGeom>
              <a:avLst/>
              <a:gdLst/>
              <a:ahLst/>
              <a:cxnLst/>
              <a:rect l="l" t="t" r="r" b="b"/>
              <a:pathLst>
                <a:path w="5137785" h="5368290">
                  <a:moveTo>
                    <a:pt x="5088125" y="5368099"/>
                  </a:moveTo>
                  <a:lnTo>
                    <a:pt x="49659" y="5368099"/>
                  </a:lnTo>
                  <a:lnTo>
                    <a:pt x="46203" y="5367758"/>
                  </a:lnTo>
                  <a:lnTo>
                    <a:pt x="10896" y="5347379"/>
                  </a:lnTo>
                  <a:lnTo>
                    <a:pt x="0" y="5318439"/>
                  </a:lnTo>
                  <a:lnTo>
                    <a:pt x="0" y="5314949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088125" y="0"/>
                  </a:lnTo>
                  <a:lnTo>
                    <a:pt x="5124685" y="18034"/>
                  </a:lnTo>
                  <a:lnTo>
                    <a:pt x="5137784" y="49659"/>
                  </a:lnTo>
                  <a:lnTo>
                    <a:pt x="5137784" y="5318439"/>
                  </a:lnTo>
                  <a:lnTo>
                    <a:pt x="5119749" y="5354999"/>
                  </a:lnTo>
                  <a:lnTo>
                    <a:pt x="5091581" y="5367758"/>
                  </a:lnTo>
                  <a:lnTo>
                    <a:pt x="5088125" y="5368099"/>
                  </a:lnTo>
                  <a:close/>
                </a:path>
              </a:pathLst>
            </a:custGeom>
            <a:solidFill>
              <a:srgbClr val="FFFFFF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6">
              <a:extLst>
                <a:ext uri="{FF2B5EF4-FFF2-40B4-BE49-F238E27FC236}">
                  <a16:creationId xmlns:a16="http://schemas.microsoft.com/office/drawing/2014/main" id="{068F7766-C4C9-4111-87EC-3033D2BB8798}"/>
                </a:ext>
              </a:extLst>
            </p:cNvPr>
            <p:cNvSpPr/>
            <p:nvPr/>
          </p:nvSpPr>
          <p:spPr>
            <a:xfrm>
              <a:off x="1055547" y="1570964"/>
              <a:ext cx="151130" cy="4074795"/>
            </a:xfrm>
            <a:custGeom>
              <a:avLst/>
              <a:gdLst/>
              <a:ahLst/>
              <a:cxnLst/>
              <a:rect l="l" t="t" r="r" b="b"/>
              <a:pathLst>
                <a:path w="151130" h="4074795">
                  <a:moveTo>
                    <a:pt x="53162" y="2577744"/>
                  </a:moveTo>
                  <a:lnTo>
                    <a:pt x="30099" y="2551176"/>
                  </a:lnTo>
                  <a:lnTo>
                    <a:pt x="23063" y="2551176"/>
                  </a:lnTo>
                  <a:lnTo>
                    <a:pt x="0" y="2574226"/>
                  </a:lnTo>
                  <a:lnTo>
                    <a:pt x="0" y="2581275"/>
                  </a:lnTo>
                  <a:lnTo>
                    <a:pt x="23063" y="2604325"/>
                  </a:lnTo>
                  <a:lnTo>
                    <a:pt x="30099" y="2604325"/>
                  </a:lnTo>
                  <a:lnTo>
                    <a:pt x="53162" y="2577744"/>
                  </a:lnTo>
                  <a:close/>
                </a:path>
                <a:path w="151130" h="4074795">
                  <a:moveTo>
                    <a:pt x="53162" y="1984248"/>
                  </a:moveTo>
                  <a:lnTo>
                    <a:pt x="30099" y="1957666"/>
                  </a:lnTo>
                  <a:lnTo>
                    <a:pt x="23063" y="1957666"/>
                  </a:lnTo>
                  <a:lnTo>
                    <a:pt x="0" y="1980717"/>
                  </a:lnTo>
                  <a:lnTo>
                    <a:pt x="0" y="1987765"/>
                  </a:lnTo>
                  <a:lnTo>
                    <a:pt x="23063" y="2010816"/>
                  </a:lnTo>
                  <a:lnTo>
                    <a:pt x="30099" y="2010816"/>
                  </a:lnTo>
                  <a:lnTo>
                    <a:pt x="53162" y="1984248"/>
                  </a:lnTo>
                  <a:close/>
                </a:path>
                <a:path w="151130" h="4074795">
                  <a:moveTo>
                    <a:pt x="53162" y="1629918"/>
                  </a:moveTo>
                  <a:lnTo>
                    <a:pt x="30099" y="1603336"/>
                  </a:lnTo>
                  <a:lnTo>
                    <a:pt x="23063" y="1603336"/>
                  </a:lnTo>
                  <a:lnTo>
                    <a:pt x="0" y="1626387"/>
                  </a:lnTo>
                  <a:lnTo>
                    <a:pt x="0" y="1633435"/>
                  </a:lnTo>
                  <a:lnTo>
                    <a:pt x="23063" y="1656486"/>
                  </a:lnTo>
                  <a:lnTo>
                    <a:pt x="30099" y="1656486"/>
                  </a:lnTo>
                  <a:lnTo>
                    <a:pt x="53162" y="1629918"/>
                  </a:lnTo>
                  <a:close/>
                </a:path>
                <a:path w="151130" h="4074795">
                  <a:moveTo>
                    <a:pt x="53162" y="620077"/>
                  </a:moveTo>
                  <a:lnTo>
                    <a:pt x="30099" y="593496"/>
                  </a:lnTo>
                  <a:lnTo>
                    <a:pt x="23063" y="593496"/>
                  </a:lnTo>
                  <a:lnTo>
                    <a:pt x="0" y="616546"/>
                  </a:lnTo>
                  <a:lnTo>
                    <a:pt x="0" y="623595"/>
                  </a:lnTo>
                  <a:lnTo>
                    <a:pt x="23063" y="646645"/>
                  </a:lnTo>
                  <a:lnTo>
                    <a:pt x="30099" y="646645"/>
                  </a:lnTo>
                  <a:lnTo>
                    <a:pt x="53162" y="620077"/>
                  </a:lnTo>
                  <a:close/>
                </a:path>
                <a:path w="151130" h="4074795">
                  <a:moveTo>
                    <a:pt x="53162" y="26568"/>
                  </a:moveTo>
                  <a:lnTo>
                    <a:pt x="30099" y="0"/>
                  </a:lnTo>
                  <a:lnTo>
                    <a:pt x="23063" y="0"/>
                  </a:lnTo>
                  <a:lnTo>
                    <a:pt x="0" y="23050"/>
                  </a:lnTo>
                  <a:lnTo>
                    <a:pt x="0" y="30099"/>
                  </a:lnTo>
                  <a:lnTo>
                    <a:pt x="23063" y="53149"/>
                  </a:lnTo>
                  <a:lnTo>
                    <a:pt x="30099" y="53149"/>
                  </a:lnTo>
                  <a:lnTo>
                    <a:pt x="53162" y="26568"/>
                  </a:lnTo>
                  <a:close/>
                </a:path>
                <a:path w="151130" h="4074795">
                  <a:moveTo>
                    <a:pt x="150596" y="4044696"/>
                  </a:moveTo>
                  <a:lnTo>
                    <a:pt x="127546" y="4021645"/>
                  </a:lnTo>
                  <a:lnTo>
                    <a:pt x="120497" y="4021645"/>
                  </a:lnTo>
                  <a:lnTo>
                    <a:pt x="97447" y="4044696"/>
                  </a:lnTo>
                  <a:lnTo>
                    <a:pt x="97447" y="4051744"/>
                  </a:lnTo>
                  <a:lnTo>
                    <a:pt x="120497" y="4074795"/>
                  </a:lnTo>
                  <a:lnTo>
                    <a:pt x="127546" y="4074795"/>
                  </a:lnTo>
                  <a:lnTo>
                    <a:pt x="150596" y="4051744"/>
                  </a:lnTo>
                  <a:lnTo>
                    <a:pt x="150596" y="4048214"/>
                  </a:lnTo>
                  <a:lnTo>
                    <a:pt x="150596" y="4044696"/>
                  </a:lnTo>
                  <a:close/>
                </a:path>
                <a:path w="151130" h="4074795">
                  <a:moveTo>
                    <a:pt x="150596" y="3690366"/>
                  </a:moveTo>
                  <a:lnTo>
                    <a:pt x="127546" y="3667315"/>
                  </a:lnTo>
                  <a:lnTo>
                    <a:pt x="120497" y="3667315"/>
                  </a:lnTo>
                  <a:lnTo>
                    <a:pt x="97447" y="3690366"/>
                  </a:lnTo>
                  <a:lnTo>
                    <a:pt x="97447" y="3697414"/>
                  </a:lnTo>
                  <a:lnTo>
                    <a:pt x="120497" y="3720465"/>
                  </a:lnTo>
                  <a:lnTo>
                    <a:pt x="127546" y="3720465"/>
                  </a:lnTo>
                  <a:lnTo>
                    <a:pt x="150596" y="3697414"/>
                  </a:lnTo>
                  <a:lnTo>
                    <a:pt x="150596" y="3693884"/>
                  </a:lnTo>
                  <a:lnTo>
                    <a:pt x="150596" y="3690366"/>
                  </a:lnTo>
                  <a:close/>
                </a:path>
                <a:path w="151130" h="4074795">
                  <a:moveTo>
                    <a:pt x="150596" y="3336036"/>
                  </a:moveTo>
                  <a:lnTo>
                    <a:pt x="127546" y="3312985"/>
                  </a:lnTo>
                  <a:lnTo>
                    <a:pt x="120497" y="3312985"/>
                  </a:lnTo>
                  <a:lnTo>
                    <a:pt x="97447" y="3336036"/>
                  </a:lnTo>
                  <a:lnTo>
                    <a:pt x="97447" y="3343084"/>
                  </a:lnTo>
                  <a:lnTo>
                    <a:pt x="120497" y="3366135"/>
                  </a:lnTo>
                  <a:lnTo>
                    <a:pt x="127546" y="3366135"/>
                  </a:lnTo>
                  <a:lnTo>
                    <a:pt x="150596" y="3343084"/>
                  </a:lnTo>
                  <a:lnTo>
                    <a:pt x="150596" y="3339554"/>
                  </a:lnTo>
                  <a:lnTo>
                    <a:pt x="150596" y="3336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7">
            <a:extLst>
              <a:ext uri="{FF2B5EF4-FFF2-40B4-BE49-F238E27FC236}">
                <a16:creationId xmlns:a16="http://schemas.microsoft.com/office/drawing/2014/main" id="{1096A775-27D0-401F-9A6D-EB8364869004}"/>
              </a:ext>
            </a:extLst>
          </p:cNvPr>
          <p:cNvSpPr txBox="1"/>
          <p:nvPr/>
        </p:nvSpPr>
        <p:spPr>
          <a:xfrm>
            <a:off x="939412" y="1413009"/>
            <a:ext cx="3303112" cy="3806739"/>
          </a:xfrm>
          <a:prstGeom prst="rect">
            <a:avLst/>
          </a:prstGeom>
        </p:spPr>
        <p:txBody>
          <a:bodyPr vert="horz" wrap="square" lIns="0" tIns="140390" rIns="0" bIns="0" rtlCol="0">
            <a:spAutoFit/>
          </a:bodyPr>
          <a:lstStyle/>
          <a:p>
            <a:pPr marR="277329" algn="ctr">
              <a:spcBef>
                <a:spcPts val="1105"/>
              </a:spcBef>
            </a:pPr>
            <a:r>
              <a:rPr sz="1479" spc="-8" dirty="0">
                <a:solidFill>
                  <a:srgbClr val="2B3D4F"/>
                </a:solidFill>
                <a:latin typeface="Times New Roman"/>
                <a:cs typeface="Times New Roman"/>
              </a:rPr>
              <a:t>Multi-</a:t>
            </a:r>
            <a:r>
              <a:rPr sz="1479" spc="-23" dirty="0">
                <a:solidFill>
                  <a:srgbClr val="2B3D4F"/>
                </a:solidFill>
                <a:latin typeface="Times New Roman"/>
                <a:cs typeface="Times New Roman"/>
              </a:rPr>
              <a:t>Wave</a:t>
            </a:r>
            <a:r>
              <a:rPr sz="1479" spc="-70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479" dirty="0">
                <a:solidFill>
                  <a:srgbClr val="2B3D4F"/>
                </a:solidFill>
                <a:latin typeface="Times New Roman"/>
                <a:cs typeface="Times New Roman"/>
              </a:rPr>
              <a:t>Training</a:t>
            </a:r>
            <a:r>
              <a:rPr sz="1479" spc="-58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479" spc="-8" dirty="0">
                <a:solidFill>
                  <a:srgbClr val="2B3D4F"/>
                </a:solidFill>
                <a:latin typeface="Times New Roman"/>
                <a:cs typeface="Times New Roman"/>
              </a:rPr>
              <a:t>Overview:</a:t>
            </a:r>
            <a:endParaRPr sz="1479" dirty="0">
              <a:latin typeface="Times New Roman"/>
              <a:cs typeface="Times New Roman"/>
            </a:endParaRPr>
          </a:p>
          <a:p>
            <a:pPr marL="9887" marR="8898">
              <a:lnSpc>
                <a:spcPct val="108200"/>
              </a:lnSpc>
              <a:spcBef>
                <a:spcPts val="693"/>
              </a:spcBef>
            </a:pPr>
            <a:r>
              <a:rPr sz="1129" dirty="0">
                <a:latin typeface="Times New Roman"/>
                <a:cs typeface="Times New Roman"/>
              </a:rPr>
              <a:t>Simulates</a:t>
            </a:r>
            <a:r>
              <a:rPr sz="1129" spc="27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real-world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conditions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using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5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data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waves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spc="-16" dirty="0">
                <a:latin typeface="Times New Roman"/>
                <a:cs typeface="Times New Roman"/>
              </a:rPr>
              <a:t>with </a:t>
            </a:r>
            <a:r>
              <a:rPr sz="1129" dirty="0">
                <a:latin typeface="Times New Roman"/>
                <a:cs typeface="Times New Roman"/>
              </a:rPr>
              <a:t>varying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spc="-8" dirty="0">
                <a:latin typeface="Times New Roman"/>
                <a:cs typeface="Times New Roman"/>
              </a:rPr>
              <a:t>distributions</a:t>
            </a:r>
            <a:endParaRPr sz="1129" dirty="0">
              <a:latin typeface="Times New Roman"/>
              <a:cs typeface="Times New Roman"/>
            </a:endParaRPr>
          </a:p>
          <a:p>
            <a:pPr marL="9887" marR="407342">
              <a:lnSpc>
                <a:spcPct val="112200"/>
              </a:lnSpc>
              <a:spcBef>
                <a:spcPts val="650"/>
              </a:spcBef>
            </a:pPr>
            <a:r>
              <a:rPr sz="1129" dirty="0">
                <a:latin typeface="Times New Roman"/>
                <a:cs typeface="Times New Roman"/>
              </a:rPr>
              <a:t>Each</a:t>
            </a:r>
            <a:r>
              <a:rPr sz="1129" spc="27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wave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processed</a:t>
            </a:r>
            <a:r>
              <a:rPr sz="1129" spc="27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independently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to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test</a:t>
            </a:r>
            <a:r>
              <a:rPr sz="1129" spc="27" dirty="0">
                <a:latin typeface="Times New Roman"/>
                <a:cs typeface="Times New Roman"/>
              </a:rPr>
              <a:t> </a:t>
            </a:r>
            <a:r>
              <a:rPr sz="1129" spc="-8" dirty="0">
                <a:latin typeface="Times New Roman"/>
                <a:cs typeface="Times New Roman"/>
              </a:rPr>
              <a:t>model </a:t>
            </a:r>
            <a:r>
              <a:rPr sz="1129" dirty="0">
                <a:latin typeface="Times New Roman"/>
                <a:cs typeface="Times New Roman"/>
              </a:rPr>
              <a:t>adaptability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and</a:t>
            </a:r>
            <a:r>
              <a:rPr sz="1129" spc="35" dirty="0">
                <a:latin typeface="Times New Roman"/>
                <a:cs typeface="Times New Roman"/>
              </a:rPr>
              <a:t> </a:t>
            </a:r>
            <a:r>
              <a:rPr sz="1129" spc="-8" dirty="0">
                <a:latin typeface="Times New Roman"/>
                <a:cs typeface="Times New Roman"/>
              </a:rPr>
              <a:t>robustness</a:t>
            </a:r>
            <a:endParaRPr sz="1129" dirty="0">
              <a:latin typeface="Times New Roman"/>
              <a:cs typeface="Times New Roman"/>
            </a:endParaRPr>
          </a:p>
          <a:p>
            <a:pPr marR="277329" algn="ctr">
              <a:spcBef>
                <a:spcPts val="740"/>
              </a:spcBef>
            </a:pPr>
            <a:r>
              <a:rPr sz="1479" dirty="0">
                <a:solidFill>
                  <a:srgbClr val="2B3D4F"/>
                </a:solidFill>
                <a:latin typeface="Times New Roman"/>
                <a:cs typeface="Times New Roman"/>
              </a:rPr>
              <a:t>Binary</a:t>
            </a:r>
            <a:r>
              <a:rPr sz="1479" spc="-43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479" dirty="0">
                <a:solidFill>
                  <a:srgbClr val="2B3D4F"/>
                </a:solidFill>
                <a:latin typeface="Times New Roman"/>
                <a:cs typeface="Times New Roman"/>
              </a:rPr>
              <a:t>Classification</a:t>
            </a:r>
            <a:r>
              <a:rPr sz="1479" spc="-39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479" spc="-8" dirty="0">
                <a:solidFill>
                  <a:srgbClr val="2B3D4F"/>
                </a:solidFill>
                <a:latin typeface="Times New Roman"/>
                <a:cs typeface="Times New Roman"/>
              </a:rPr>
              <a:t>Stage:</a:t>
            </a:r>
            <a:endParaRPr sz="1479" dirty="0">
              <a:latin typeface="Times New Roman"/>
              <a:cs typeface="Times New Roman"/>
            </a:endParaRPr>
          </a:p>
          <a:p>
            <a:pPr marL="9887">
              <a:spcBef>
                <a:spcPts val="802"/>
              </a:spcBef>
            </a:pPr>
            <a:r>
              <a:rPr sz="1129" dirty="0">
                <a:latin typeface="Times New Roman"/>
                <a:cs typeface="Times New Roman"/>
              </a:rPr>
              <a:t>Train</a:t>
            </a:r>
            <a:r>
              <a:rPr sz="1129" spc="19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3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models:</a:t>
            </a:r>
            <a:r>
              <a:rPr sz="1129" spc="19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Random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Forest,</a:t>
            </a:r>
            <a:r>
              <a:rPr sz="1129" spc="19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XGBoost,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spc="-19" dirty="0">
                <a:latin typeface="Times New Roman"/>
                <a:cs typeface="Times New Roman"/>
              </a:rPr>
              <a:t>GBM</a:t>
            </a:r>
            <a:endParaRPr sz="1129" dirty="0">
              <a:latin typeface="Times New Roman"/>
              <a:cs typeface="Times New Roman"/>
            </a:endParaRPr>
          </a:p>
          <a:p>
            <a:pPr marL="9887" marR="238275">
              <a:lnSpc>
                <a:spcPct val="108200"/>
              </a:lnSpc>
              <a:spcBef>
                <a:spcPts val="705"/>
              </a:spcBef>
            </a:pPr>
            <a:r>
              <a:rPr sz="1129" dirty="0">
                <a:latin typeface="Times New Roman"/>
                <a:cs typeface="Times New Roman"/>
              </a:rPr>
              <a:t>Evaluate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on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test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set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using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precision,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recall,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and</a:t>
            </a:r>
            <a:r>
              <a:rPr sz="1129" spc="27" dirty="0">
                <a:latin typeface="Times New Roman"/>
                <a:cs typeface="Times New Roman"/>
              </a:rPr>
              <a:t> </a:t>
            </a:r>
            <a:r>
              <a:rPr sz="1129" spc="-19" dirty="0">
                <a:latin typeface="Times New Roman"/>
                <a:cs typeface="Times New Roman"/>
              </a:rPr>
              <a:t>ROC AUC</a:t>
            </a:r>
            <a:endParaRPr sz="1129" dirty="0">
              <a:latin typeface="Times New Roman"/>
              <a:cs typeface="Times New Roman"/>
            </a:endParaRPr>
          </a:p>
          <a:p>
            <a:pPr marL="9887">
              <a:spcBef>
                <a:spcPts val="817"/>
              </a:spcBef>
            </a:pPr>
            <a:r>
              <a:rPr sz="1129" dirty="0">
                <a:latin typeface="Times New Roman"/>
                <a:cs typeface="Times New Roman"/>
              </a:rPr>
              <a:t>Compare</a:t>
            </a:r>
            <a:r>
              <a:rPr sz="1129" spc="19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results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across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all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5</a:t>
            </a:r>
            <a:r>
              <a:rPr sz="1129" spc="23" dirty="0">
                <a:latin typeface="Times New Roman"/>
                <a:cs typeface="Times New Roman"/>
              </a:rPr>
              <a:t> </a:t>
            </a:r>
            <a:r>
              <a:rPr sz="1129" spc="-8" dirty="0">
                <a:latin typeface="Times New Roman"/>
                <a:cs typeface="Times New Roman"/>
              </a:rPr>
              <a:t>waves</a:t>
            </a:r>
            <a:endParaRPr sz="1129" dirty="0">
              <a:latin typeface="Times New Roman"/>
              <a:cs typeface="Times New Roman"/>
            </a:endParaRPr>
          </a:p>
          <a:p>
            <a:pPr marR="277329" algn="ctr">
              <a:spcBef>
                <a:spcPts val="740"/>
              </a:spcBef>
            </a:pPr>
            <a:r>
              <a:rPr sz="1479" spc="-8" dirty="0">
                <a:solidFill>
                  <a:srgbClr val="2B3D4F"/>
                </a:solidFill>
                <a:latin typeface="Times New Roman"/>
                <a:cs typeface="Times New Roman"/>
              </a:rPr>
              <a:t>Multi-</a:t>
            </a:r>
            <a:r>
              <a:rPr sz="1479" dirty="0">
                <a:solidFill>
                  <a:srgbClr val="2B3D4F"/>
                </a:solidFill>
                <a:latin typeface="Times New Roman"/>
                <a:cs typeface="Times New Roman"/>
              </a:rPr>
              <a:t>Class</a:t>
            </a:r>
            <a:r>
              <a:rPr sz="1479" spc="-27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479" dirty="0">
                <a:solidFill>
                  <a:srgbClr val="2B3D4F"/>
                </a:solidFill>
                <a:latin typeface="Times New Roman"/>
                <a:cs typeface="Times New Roman"/>
              </a:rPr>
              <a:t>Classification</a:t>
            </a:r>
            <a:r>
              <a:rPr sz="1479" spc="-27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479" spc="-8" dirty="0">
                <a:solidFill>
                  <a:srgbClr val="2B3D4F"/>
                </a:solidFill>
                <a:latin typeface="Times New Roman"/>
                <a:cs typeface="Times New Roman"/>
              </a:rPr>
              <a:t>Stage:</a:t>
            </a:r>
            <a:endParaRPr sz="1479" dirty="0">
              <a:latin typeface="Times New Roman"/>
              <a:cs typeface="Times New Roman"/>
            </a:endParaRPr>
          </a:p>
          <a:p>
            <a:pPr marL="88487" marR="589757">
              <a:lnSpc>
                <a:spcPts val="2172"/>
              </a:lnSpc>
              <a:spcBef>
                <a:spcPts val="195"/>
              </a:spcBef>
            </a:pPr>
            <a:r>
              <a:rPr sz="1129" dirty="0">
                <a:latin typeface="Times New Roman"/>
                <a:cs typeface="Times New Roman"/>
              </a:rPr>
              <a:t>Use</a:t>
            </a:r>
            <a:r>
              <a:rPr sz="1129" spc="27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only</a:t>
            </a:r>
            <a:r>
              <a:rPr sz="1129" spc="27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transactions</a:t>
            </a:r>
            <a:r>
              <a:rPr sz="1129" spc="27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predicted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as</a:t>
            </a:r>
            <a:r>
              <a:rPr sz="1129" spc="27" dirty="0">
                <a:latin typeface="Times New Roman"/>
                <a:cs typeface="Times New Roman"/>
              </a:rPr>
              <a:t> </a:t>
            </a:r>
            <a:r>
              <a:rPr sz="1129" spc="-8" dirty="0">
                <a:latin typeface="Times New Roman"/>
                <a:cs typeface="Times New Roman"/>
              </a:rPr>
              <a:t>suspicious </a:t>
            </a:r>
            <a:r>
              <a:rPr sz="1129" dirty="0">
                <a:latin typeface="Times New Roman"/>
                <a:cs typeface="Times New Roman"/>
              </a:rPr>
              <a:t>Retrain</a:t>
            </a:r>
            <a:r>
              <a:rPr sz="1129" spc="35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Random</a:t>
            </a:r>
            <a:r>
              <a:rPr sz="1129" spc="35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Forest,</a:t>
            </a:r>
            <a:r>
              <a:rPr sz="1129" spc="39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XGBoost,</a:t>
            </a:r>
            <a:r>
              <a:rPr sz="1129" spc="35" dirty="0">
                <a:latin typeface="Times New Roman"/>
                <a:cs typeface="Times New Roman"/>
              </a:rPr>
              <a:t> </a:t>
            </a:r>
            <a:r>
              <a:rPr sz="1129" spc="-19" dirty="0">
                <a:latin typeface="Times New Roman"/>
                <a:cs typeface="Times New Roman"/>
              </a:rPr>
              <a:t>GBM</a:t>
            </a:r>
            <a:endParaRPr sz="1129" dirty="0">
              <a:latin typeface="Times New Roman"/>
              <a:cs typeface="Times New Roman"/>
            </a:endParaRPr>
          </a:p>
          <a:p>
            <a:pPr marL="88487">
              <a:spcBef>
                <a:spcPts val="607"/>
              </a:spcBef>
            </a:pPr>
            <a:r>
              <a:rPr sz="1129" dirty="0">
                <a:latin typeface="Times New Roman"/>
                <a:cs typeface="Times New Roman"/>
              </a:rPr>
              <a:t>Evaluate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prediction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accuracy</a:t>
            </a:r>
            <a:r>
              <a:rPr sz="1129" spc="35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for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dirty="0">
                <a:latin typeface="Times New Roman"/>
                <a:cs typeface="Times New Roman"/>
              </a:rPr>
              <a:t>scenario</a:t>
            </a:r>
            <a:r>
              <a:rPr sz="1129" spc="31" dirty="0">
                <a:latin typeface="Times New Roman"/>
                <a:cs typeface="Times New Roman"/>
              </a:rPr>
              <a:t> </a:t>
            </a:r>
            <a:r>
              <a:rPr sz="1129" spc="-8" dirty="0">
                <a:latin typeface="Times New Roman"/>
                <a:cs typeface="Times New Roman"/>
              </a:rPr>
              <a:t>classification</a:t>
            </a:r>
            <a:endParaRPr sz="1129" dirty="0">
              <a:latin typeface="Times New Roman"/>
              <a:cs typeface="Times New Roman"/>
            </a:endParaRPr>
          </a:p>
        </p:txBody>
      </p:sp>
      <p:grpSp>
        <p:nvGrpSpPr>
          <p:cNvPr id="41" name="object 8">
            <a:extLst>
              <a:ext uri="{FF2B5EF4-FFF2-40B4-BE49-F238E27FC236}">
                <a16:creationId xmlns:a16="http://schemas.microsoft.com/office/drawing/2014/main" id="{900CB126-70D7-4F31-9CA4-6278ECEED712}"/>
              </a:ext>
            </a:extLst>
          </p:cNvPr>
          <p:cNvGrpSpPr/>
          <p:nvPr/>
        </p:nvGrpSpPr>
        <p:grpSpPr>
          <a:xfrm>
            <a:off x="4529643" y="1431184"/>
            <a:ext cx="4056965" cy="4179065"/>
            <a:chOff x="5818631" y="888872"/>
            <a:chExt cx="5211445" cy="5368290"/>
          </a:xfrm>
        </p:grpSpPr>
        <p:sp>
          <p:nvSpPr>
            <p:cNvPr id="42" name="object 9">
              <a:extLst>
                <a:ext uri="{FF2B5EF4-FFF2-40B4-BE49-F238E27FC236}">
                  <a16:creationId xmlns:a16="http://schemas.microsoft.com/office/drawing/2014/main" id="{987C9909-D85A-49F7-B2EE-49AD2F0DEE64}"/>
                </a:ext>
              </a:extLst>
            </p:cNvPr>
            <p:cNvSpPr/>
            <p:nvPr/>
          </p:nvSpPr>
          <p:spPr>
            <a:xfrm>
              <a:off x="5818631" y="888872"/>
              <a:ext cx="5211445" cy="5368290"/>
            </a:xfrm>
            <a:custGeom>
              <a:avLst/>
              <a:gdLst/>
              <a:ahLst/>
              <a:cxnLst/>
              <a:rect l="l" t="t" r="r" b="b"/>
              <a:pathLst>
                <a:path w="5211445" h="5368290">
                  <a:moveTo>
                    <a:pt x="119637" y="5368099"/>
                  </a:moveTo>
                  <a:lnTo>
                    <a:pt x="0" y="5368099"/>
                  </a:lnTo>
                  <a:lnTo>
                    <a:pt x="0" y="0"/>
                  </a:lnTo>
                  <a:lnTo>
                    <a:pt x="119633" y="0"/>
                  </a:lnTo>
                  <a:lnTo>
                    <a:pt x="112854" y="1348"/>
                  </a:lnTo>
                  <a:lnTo>
                    <a:pt x="99830" y="6742"/>
                  </a:lnTo>
                  <a:lnTo>
                    <a:pt x="74881" y="39321"/>
                  </a:lnTo>
                  <a:lnTo>
                    <a:pt x="73532" y="46101"/>
                  </a:lnTo>
                  <a:lnTo>
                    <a:pt x="73532" y="5321997"/>
                  </a:lnTo>
                  <a:lnTo>
                    <a:pt x="94083" y="5357515"/>
                  </a:lnTo>
                  <a:lnTo>
                    <a:pt x="112854" y="5366750"/>
                  </a:lnTo>
                  <a:lnTo>
                    <a:pt x="119637" y="5368099"/>
                  </a:lnTo>
                  <a:close/>
                </a:path>
                <a:path w="5211445" h="5368290">
                  <a:moveTo>
                    <a:pt x="5211317" y="46104"/>
                  </a:moveTo>
                  <a:lnTo>
                    <a:pt x="5190765" y="10583"/>
                  </a:lnTo>
                  <a:lnTo>
                    <a:pt x="5165215" y="0"/>
                  </a:lnTo>
                  <a:lnTo>
                    <a:pt x="5211317" y="0"/>
                  </a:lnTo>
                  <a:lnTo>
                    <a:pt x="5211317" y="46104"/>
                  </a:lnTo>
                  <a:close/>
                </a:path>
                <a:path w="5211445" h="5368290">
                  <a:moveTo>
                    <a:pt x="5211317" y="5368099"/>
                  </a:moveTo>
                  <a:lnTo>
                    <a:pt x="5165212" y="5368099"/>
                  </a:lnTo>
                  <a:lnTo>
                    <a:pt x="5171994" y="5366750"/>
                  </a:lnTo>
                  <a:lnTo>
                    <a:pt x="5185017" y="5361355"/>
                  </a:lnTo>
                  <a:lnTo>
                    <a:pt x="5209968" y="5328777"/>
                  </a:lnTo>
                  <a:lnTo>
                    <a:pt x="5211317" y="5321997"/>
                  </a:lnTo>
                  <a:lnTo>
                    <a:pt x="5211317" y="53680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0">
              <a:extLst>
                <a:ext uri="{FF2B5EF4-FFF2-40B4-BE49-F238E27FC236}">
                  <a16:creationId xmlns:a16="http://schemas.microsoft.com/office/drawing/2014/main" id="{2EA29890-49FC-4F94-8146-306F7B6CC133}"/>
                </a:ext>
              </a:extLst>
            </p:cNvPr>
            <p:cNvSpPr/>
            <p:nvPr/>
          </p:nvSpPr>
          <p:spPr>
            <a:xfrm>
              <a:off x="5892164" y="888872"/>
              <a:ext cx="5137785" cy="5368290"/>
            </a:xfrm>
            <a:custGeom>
              <a:avLst/>
              <a:gdLst/>
              <a:ahLst/>
              <a:cxnLst/>
              <a:rect l="l" t="t" r="r" b="b"/>
              <a:pathLst>
                <a:path w="5137784" h="5368290">
                  <a:moveTo>
                    <a:pt x="5088124" y="5368099"/>
                  </a:moveTo>
                  <a:lnTo>
                    <a:pt x="49659" y="5368099"/>
                  </a:lnTo>
                  <a:lnTo>
                    <a:pt x="46203" y="5367758"/>
                  </a:lnTo>
                  <a:lnTo>
                    <a:pt x="10896" y="5347379"/>
                  </a:lnTo>
                  <a:lnTo>
                    <a:pt x="0" y="5318439"/>
                  </a:lnTo>
                  <a:lnTo>
                    <a:pt x="0" y="5314949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088124" y="0"/>
                  </a:lnTo>
                  <a:lnTo>
                    <a:pt x="5124685" y="18034"/>
                  </a:lnTo>
                  <a:lnTo>
                    <a:pt x="5137783" y="49659"/>
                  </a:lnTo>
                  <a:lnTo>
                    <a:pt x="5137783" y="5318439"/>
                  </a:lnTo>
                  <a:lnTo>
                    <a:pt x="5119748" y="5354999"/>
                  </a:lnTo>
                  <a:lnTo>
                    <a:pt x="5091580" y="5367758"/>
                  </a:lnTo>
                  <a:lnTo>
                    <a:pt x="5088124" y="5368099"/>
                  </a:lnTo>
                  <a:close/>
                </a:path>
              </a:pathLst>
            </a:custGeom>
            <a:solidFill>
              <a:srgbClr val="FFFFFF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1">
              <a:extLst>
                <a:ext uri="{FF2B5EF4-FFF2-40B4-BE49-F238E27FC236}">
                  <a16:creationId xmlns:a16="http://schemas.microsoft.com/office/drawing/2014/main" id="{63DD8B86-0E97-4005-B585-35D6BF37F751}"/>
                </a:ext>
              </a:extLst>
            </p:cNvPr>
            <p:cNvSpPr/>
            <p:nvPr/>
          </p:nvSpPr>
          <p:spPr>
            <a:xfrm>
              <a:off x="6078187" y="1074895"/>
              <a:ext cx="4766310" cy="4996180"/>
            </a:xfrm>
            <a:custGeom>
              <a:avLst/>
              <a:gdLst/>
              <a:ahLst/>
              <a:cxnLst/>
              <a:rect l="l" t="t" r="r" b="b"/>
              <a:pathLst>
                <a:path w="4766309" h="4996180">
                  <a:moveTo>
                    <a:pt x="0" y="1390745"/>
                  </a:moveTo>
                  <a:lnTo>
                    <a:pt x="0" y="44291"/>
                  </a:lnTo>
                  <a:lnTo>
                    <a:pt x="0" y="38417"/>
                  </a:lnTo>
                  <a:lnTo>
                    <a:pt x="1123" y="32767"/>
                  </a:lnTo>
                  <a:lnTo>
                    <a:pt x="3371" y="27341"/>
                  </a:lnTo>
                  <a:lnTo>
                    <a:pt x="5618" y="21915"/>
                  </a:lnTo>
                  <a:lnTo>
                    <a:pt x="8819" y="17125"/>
                  </a:lnTo>
                  <a:lnTo>
                    <a:pt x="12972" y="12972"/>
                  </a:lnTo>
                  <a:lnTo>
                    <a:pt x="17125" y="8819"/>
                  </a:lnTo>
                  <a:lnTo>
                    <a:pt x="21914" y="5619"/>
                  </a:lnTo>
                  <a:lnTo>
                    <a:pt x="27341" y="3371"/>
                  </a:lnTo>
                  <a:lnTo>
                    <a:pt x="32768" y="1123"/>
                  </a:lnTo>
                  <a:lnTo>
                    <a:pt x="38417" y="0"/>
                  </a:lnTo>
                  <a:lnTo>
                    <a:pt x="44291" y="0"/>
                  </a:lnTo>
                  <a:lnTo>
                    <a:pt x="4721447" y="0"/>
                  </a:lnTo>
                  <a:lnTo>
                    <a:pt x="4727320" y="0"/>
                  </a:lnTo>
                  <a:lnTo>
                    <a:pt x="4732969" y="1123"/>
                  </a:lnTo>
                  <a:lnTo>
                    <a:pt x="4738396" y="3371"/>
                  </a:lnTo>
                  <a:lnTo>
                    <a:pt x="4743822" y="5618"/>
                  </a:lnTo>
                  <a:lnTo>
                    <a:pt x="4748613" y="8819"/>
                  </a:lnTo>
                  <a:lnTo>
                    <a:pt x="4752766" y="12972"/>
                  </a:lnTo>
                  <a:lnTo>
                    <a:pt x="4756919" y="17125"/>
                  </a:lnTo>
                  <a:lnTo>
                    <a:pt x="4760119" y="21915"/>
                  </a:lnTo>
                  <a:lnTo>
                    <a:pt x="4762366" y="27341"/>
                  </a:lnTo>
                  <a:lnTo>
                    <a:pt x="4764614" y="32767"/>
                  </a:lnTo>
                  <a:lnTo>
                    <a:pt x="4765738" y="38417"/>
                  </a:lnTo>
                  <a:lnTo>
                    <a:pt x="4765739" y="44291"/>
                  </a:lnTo>
                  <a:lnTo>
                    <a:pt x="4765739" y="1390745"/>
                  </a:lnTo>
                  <a:lnTo>
                    <a:pt x="4765738" y="1396618"/>
                  </a:lnTo>
                  <a:lnTo>
                    <a:pt x="4764614" y="1402268"/>
                  </a:lnTo>
                  <a:lnTo>
                    <a:pt x="4762366" y="1407694"/>
                  </a:lnTo>
                  <a:lnTo>
                    <a:pt x="4760119" y="1413120"/>
                  </a:lnTo>
                  <a:lnTo>
                    <a:pt x="4727320" y="1435036"/>
                  </a:lnTo>
                  <a:lnTo>
                    <a:pt x="4721447" y="1435036"/>
                  </a:lnTo>
                  <a:lnTo>
                    <a:pt x="44291" y="1435036"/>
                  </a:lnTo>
                  <a:lnTo>
                    <a:pt x="38417" y="1435036"/>
                  </a:lnTo>
                  <a:lnTo>
                    <a:pt x="32768" y="1433912"/>
                  </a:lnTo>
                  <a:lnTo>
                    <a:pt x="27341" y="1431664"/>
                  </a:lnTo>
                  <a:lnTo>
                    <a:pt x="21914" y="1429416"/>
                  </a:lnTo>
                  <a:lnTo>
                    <a:pt x="0" y="1396618"/>
                  </a:lnTo>
                  <a:lnTo>
                    <a:pt x="0" y="1390745"/>
                  </a:lnTo>
                </a:path>
                <a:path w="4766309" h="4996180">
                  <a:moveTo>
                    <a:pt x="0" y="3321843"/>
                  </a:moveTo>
                  <a:lnTo>
                    <a:pt x="0" y="1674209"/>
                  </a:lnTo>
                  <a:lnTo>
                    <a:pt x="0" y="1668335"/>
                  </a:lnTo>
                  <a:lnTo>
                    <a:pt x="1123" y="1662685"/>
                  </a:lnTo>
                  <a:lnTo>
                    <a:pt x="3371" y="1657259"/>
                  </a:lnTo>
                  <a:lnTo>
                    <a:pt x="5618" y="1651833"/>
                  </a:lnTo>
                  <a:lnTo>
                    <a:pt x="8819" y="1647043"/>
                  </a:lnTo>
                  <a:lnTo>
                    <a:pt x="12972" y="1642890"/>
                  </a:lnTo>
                  <a:lnTo>
                    <a:pt x="17125" y="1638737"/>
                  </a:lnTo>
                  <a:lnTo>
                    <a:pt x="21914" y="1635536"/>
                  </a:lnTo>
                  <a:lnTo>
                    <a:pt x="27341" y="1633289"/>
                  </a:lnTo>
                  <a:lnTo>
                    <a:pt x="32768" y="1631041"/>
                  </a:lnTo>
                  <a:lnTo>
                    <a:pt x="38417" y="1629918"/>
                  </a:lnTo>
                  <a:lnTo>
                    <a:pt x="44291" y="1629918"/>
                  </a:lnTo>
                  <a:lnTo>
                    <a:pt x="4721447" y="1629918"/>
                  </a:lnTo>
                  <a:lnTo>
                    <a:pt x="4727320" y="1629918"/>
                  </a:lnTo>
                  <a:lnTo>
                    <a:pt x="4732969" y="1631041"/>
                  </a:lnTo>
                  <a:lnTo>
                    <a:pt x="4738396" y="1633289"/>
                  </a:lnTo>
                  <a:lnTo>
                    <a:pt x="4743822" y="1635536"/>
                  </a:lnTo>
                  <a:lnTo>
                    <a:pt x="4748613" y="1638737"/>
                  </a:lnTo>
                  <a:lnTo>
                    <a:pt x="4752766" y="1642890"/>
                  </a:lnTo>
                  <a:lnTo>
                    <a:pt x="4756919" y="1647043"/>
                  </a:lnTo>
                  <a:lnTo>
                    <a:pt x="4760119" y="1651833"/>
                  </a:lnTo>
                  <a:lnTo>
                    <a:pt x="4762366" y="1657259"/>
                  </a:lnTo>
                  <a:lnTo>
                    <a:pt x="4764614" y="1662685"/>
                  </a:lnTo>
                  <a:lnTo>
                    <a:pt x="4765738" y="1668335"/>
                  </a:lnTo>
                  <a:lnTo>
                    <a:pt x="4765739" y="1674209"/>
                  </a:lnTo>
                  <a:lnTo>
                    <a:pt x="4765739" y="3321843"/>
                  </a:lnTo>
                  <a:lnTo>
                    <a:pt x="4765738" y="3327716"/>
                  </a:lnTo>
                  <a:lnTo>
                    <a:pt x="4764614" y="3333366"/>
                  </a:lnTo>
                  <a:lnTo>
                    <a:pt x="4762366" y="3338792"/>
                  </a:lnTo>
                  <a:lnTo>
                    <a:pt x="4760119" y="3344219"/>
                  </a:lnTo>
                  <a:lnTo>
                    <a:pt x="4727320" y="3366134"/>
                  </a:lnTo>
                  <a:lnTo>
                    <a:pt x="4721447" y="3366135"/>
                  </a:lnTo>
                  <a:lnTo>
                    <a:pt x="44291" y="3366135"/>
                  </a:lnTo>
                  <a:lnTo>
                    <a:pt x="38417" y="3366134"/>
                  </a:lnTo>
                  <a:lnTo>
                    <a:pt x="32768" y="3365011"/>
                  </a:lnTo>
                  <a:lnTo>
                    <a:pt x="27341" y="3362763"/>
                  </a:lnTo>
                  <a:lnTo>
                    <a:pt x="21914" y="3360515"/>
                  </a:lnTo>
                  <a:lnTo>
                    <a:pt x="0" y="3327716"/>
                  </a:lnTo>
                  <a:lnTo>
                    <a:pt x="0" y="3321843"/>
                  </a:lnTo>
                </a:path>
                <a:path w="4766309" h="4996180">
                  <a:moveTo>
                    <a:pt x="0" y="4951761"/>
                  </a:moveTo>
                  <a:lnTo>
                    <a:pt x="0" y="3605307"/>
                  </a:lnTo>
                  <a:lnTo>
                    <a:pt x="0" y="3599434"/>
                  </a:lnTo>
                  <a:lnTo>
                    <a:pt x="1123" y="3593784"/>
                  </a:lnTo>
                  <a:lnTo>
                    <a:pt x="3371" y="3588357"/>
                  </a:lnTo>
                  <a:lnTo>
                    <a:pt x="5618" y="3582931"/>
                  </a:lnTo>
                  <a:lnTo>
                    <a:pt x="8819" y="3578141"/>
                  </a:lnTo>
                  <a:lnTo>
                    <a:pt x="12972" y="3573989"/>
                  </a:lnTo>
                  <a:lnTo>
                    <a:pt x="17125" y="3569835"/>
                  </a:lnTo>
                  <a:lnTo>
                    <a:pt x="21914" y="3566635"/>
                  </a:lnTo>
                  <a:lnTo>
                    <a:pt x="27341" y="3564387"/>
                  </a:lnTo>
                  <a:lnTo>
                    <a:pt x="32768" y="3562140"/>
                  </a:lnTo>
                  <a:lnTo>
                    <a:pt x="38417" y="3561016"/>
                  </a:lnTo>
                  <a:lnTo>
                    <a:pt x="44291" y="3561016"/>
                  </a:lnTo>
                  <a:lnTo>
                    <a:pt x="4721447" y="3561016"/>
                  </a:lnTo>
                  <a:lnTo>
                    <a:pt x="4727320" y="3561016"/>
                  </a:lnTo>
                  <a:lnTo>
                    <a:pt x="4732969" y="3562140"/>
                  </a:lnTo>
                  <a:lnTo>
                    <a:pt x="4738396" y="3564387"/>
                  </a:lnTo>
                  <a:lnTo>
                    <a:pt x="4743822" y="3566635"/>
                  </a:lnTo>
                  <a:lnTo>
                    <a:pt x="4748613" y="3569835"/>
                  </a:lnTo>
                  <a:lnTo>
                    <a:pt x="4752766" y="3573989"/>
                  </a:lnTo>
                  <a:lnTo>
                    <a:pt x="4756919" y="3578141"/>
                  </a:lnTo>
                  <a:lnTo>
                    <a:pt x="4760119" y="3582931"/>
                  </a:lnTo>
                  <a:lnTo>
                    <a:pt x="4762366" y="3588357"/>
                  </a:lnTo>
                  <a:lnTo>
                    <a:pt x="4764614" y="3593784"/>
                  </a:lnTo>
                  <a:lnTo>
                    <a:pt x="4765738" y="3599434"/>
                  </a:lnTo>
                  <a:lnTo>
                    <a:pt x="4765739" y="3605307"/>
                  </a:lnTo>
                  <a:lnTo>
                    <a:pt x="4765739" y="4951761"/>
                  </a:lnTo>
                  <a:lnTo>
                    <a:pt x="4765738" y="4957635"/>
                  </a:lnTo>
                  <a:lnTo>
                    <a:pt x="4764614" y="4963284"/>
                  </a:lnTo>
                  <a:lnTo>
                    <a:pt x="4762366" y="4968711"/>
                  </a:lnTo>
                  <a:lnTo>
                    <a:pt x="4760119" y="4974137"/>
                  </a:lnTo>
                  <a:lnTo>
                    <a:pt x="4738396" y="4992681"/>
                  </a:lnTo>
                  <a:lnTo>
                    <a:pt x="4732969" y="4994929"/>
                  </a:lnTo>
                  <a:lnTo>
                    <a:pt x="4727320" y="4996053"/>
                  </a:lnTo>
                  <a:lnTo>
                    <a:pt x="4721447" y="4996053"/>
                  </a:lnTo>
                  <a:lnTo>
                    <a:pt x="44291" y="4996053"/>
                  </a:lnTo>
                  <a:lnTo>
                    <a:pt x="38417" y="4996053"/>
                  </a:lnTo>
                  <a:lnTo>
                    <a:pt x="32768" y="4994929"/>
                  </a:lnTo>
                  <a:lnTo>
                    <a:pt x="27341" y="4992681"/>
                  </a:lnTo>
                  <a:lnTo>
                    <a:pt x="21914" y="4990433"/>
                  </a:lnTo>
                  <a:lnTo>
                    <a:pt x="0" y="4957635"/>
                  </a:lnTo>
                  <a:lnTo>
                    <a:pt x="0" y="4951761"/>
                  </a:lnTo>
                </a:path>
              </a:pathLst>
            </a:custGeom>
            <a:ln w="17716">
              <a:solidFill>
                <a:srgbClr val="2B3D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2">
              <a:extLst>
                <a:ext uri="{FF2B5EF4-FFF2-40B4-BE49-F238E27FC236}">
                  <a16:creationId xmlns:a16="http://schemas.microsoft.com/office/drawing/2014/main" id="{DC2AE2DE-F594-4915-B786-340FAB70A723}"/>
                </a:ext>
              </a:extLst>
            </p:cNvPr>
            <p:cNvSpPr/>
            <p:nvPr/>
          </p:nvSpPr>
          <p:spPr>
            <a:xfrm>
              <a:off x="6219919" y="5309139"/>
              <a:ext cx="4482465" cy="487680"/>
            </a:xfrm>
            <a:custGeom>
              <a:avLst/>
              <a:gdLst/>
              <a:ahLst/>
              <a:cxnLst/>
              <a:rect l="l" t="t" r="r" b="b"/>
              <a:pathLst>
                <a:path w="4482465" h="487679">
                  <a:moveTo>
                    <a:pt x="4443856" y="487203"/>
                  </a:moveTo>
                  <a:lnTo>
                    <a:pt x="38417" y="487203"/>
                  </a:lnTo>
                  <a:lnTo>
                    <a:pt x="32768" y="486079"/>
                  </a:lnTo>
                  <a:lnTo>
                    <a:pt x="1123" y="454434"/>
                  </a:lnTo>
                  <a:lnTo>
                    <a:pt x="0" y="448785"/>
                  </a:lnTo>
                  <a:lnTo>
                    <a:pt x="0" y="442912"/>
                  </a:lnTo>
                  <a:lnTo>
                    <a:pt x="0" y="38417"/>
                  </a:lnTo>
                  <a:lnTo>
                    <a:pt x="21914" y="5618"/>
                  </a:lnTo>
                  <a:lnTo>
                    <a:pt x="38417" y="0"/>
                  </a:lnTo>
                  <a:lnTo>
                    <a:pt x="4443856" y="0"/>
                  </a:lnTo>
                  <a:lnTo>
                    <a:pt x="4476655" y="21914"/>
                  </a:lnTo>
                  <a:lnTo>
                    <a:pt x="4482274" y="38417"/>
                  </a:lnTo>
                  <a:lnTo>
                    <a:pt x="4482274" y="448785"/>
                  </a:lnTo>
                  <a:lnTo>
                    <a:pt x="4460358" y="481583"/>
                  </a:lnTo>
                  <a:lnTo>
                    <a:pt x="4449506" y="486079"/>
                  </a:lnTo>
                  <a:lnTo>
                    <a:pt x="4443856" y="487203"/>
                  </a:lnTo>
                  <a:close/>
                </a:path>
              </a:pathLst>
            </a:custGeom>
            <a:solidFill>
              <a:srgbClr val="2B3D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3">
              <a:extLst>
                <a:ext uri="{FF2B5EF4-FFF2-40B4-BE49-F238E27FC236}">
                  <a16:creationId xmlns:a16="http://schemas.microsoft.com/office/drawing/2014/main" id="{89BD5791-09A1-440E-B3C7-089CCAD6F903}"/>
                </a:ext>
              </a:extLst>
            </p:cNvPr>
            <p:cNvSpPr/>
            <p:nvPr/>
          </p:nvSpPr>
          <p:spPr>
            <a:xfrm>
              <a:off x="6219914" y="1739264"/>
              <a:ext cx="4482465" cy="496570"/>
            </a:xfrm>
            <a:custGeom>
              <a:avLst/>
              <a:gdLst/>
              <a:ahLst/>
              <a:cxnLst/>
              <a:rect l="l" t="t" r="r" b="b"/>
              <a:pathLst>
                <a:path w="4482465" h="496569">
                  <a:moveTo>
                    <a:pt x="894676" y="38417"/>
                  </a:moveTo>
                  <a:lnTo>
                    <a:pt x="872769" y="5626"/>
                  </a:lnTo>
                  <a:lnTo>
                    <a:pt x="856259" y="0"/>
                  </a:lnTo>
                  <a:lnTo>
                    <a:pt x="38417" y="0"/>
                  </a:lnTo>
                  <a:lnTo>
                    <a:pt x="5613" y="21920"/>
                  </a:lnTo>
                  <a:lnTo>
                    <a:pt x="0" y="38417"/>
                  </a:lnTo>
                  <a:lnTo>
                    <a:pt x="0" y="451777"/>
                  </a:lnTo>
                  <a:lnTo>
                    <a:pt x="0" y="457644"/>
                  </a:lnTo>
                  <a:lnTo>
                    <a:pt x="21920" y="490448"/>
                  </a:lnTo>
                  <a:lnTo>
                    <a:pt x="38417" y="496062"/>
                  </a:lnTo>
                  <a:lnTo>
                    <a:pt x="856259" y="496062"/>
                  </a:lnTo>
                  <a:lnTo>
                    <a:pt x="889063" y="474154"/>
                  </a:lnTo>
                  <a:lnTo>
                    <a:pt x="894676" y="457644"/>
                  </a:lnTo>
                  <a:lnTo>
                    <a:pt x="894676" y="38417"/>
                  </a:lnTo>
                  <a:close/>
                </a:path>
                <a:path w="4482465" h="496569">
                  <a:moveTo>
                    <a:pt x="3587585" y="38417"/>
                  </a:moveTo>
                  <a:lnTo>
                    <a:pt x="3565677" y="5626"/>
                  </a:lnTo>
                  <a:lnTo>
                    <a:pt x="3549167" y="0"/>
                  </a:lnTo>
                  <a:lnTo>
                    <a:pt x="2731325" y="0"/>
                  </a:lnTo>
                  <a:lnTo>
                    <a:pt x="2698521" y="21920"/>
                  </a:lnTo>
                  <a:lnTo>
                    <a:pt x="2692908" y="38417"/>
                  </a:lnTo>
                  <a:lnTo>
                    <a:pt x="2691777" y="32778"/>
                  </a:lnTo>
                  <a:lnTo>
                    <a:pt x="2660142" y="1130"/>
                  </a:lnTo>
                  <a:lnTo>
                    <a:pt x="2654490" y="0"/>
                  </a:lnTo>
                  <a:lnTo>
                    <a:pt x="1827784" y="0"/>
                  </a:lnTo>
                  <a:lnTo>
                    <a:pt x="1794979" y="21920"/>
                  </a:lnTo>
                  <a:lnTo>
                    <a:pt x="1789366" y="38417"/>
                  </a:lnTo>
                  <a:lnTo>
                    <a:pt x="1788248" y="32778"/>
                  </a:lnTo>
                  <a:lnTo>
                    <a:pt x="1756600" y="1130"/>
                  </a:lnTo>
                  <a:lnTo>
                    <a:pt x="1750949" y="0"/>
                  </a:lnTo>
                  <a:lnTo>
                    <a:pt x="933094" y="0"/>
                  </a:lnTo>
                  <a:lnTo>
                    <a:pt x="900303" y="21920"/>
                  </a:lnTo>
                  <a:lnTo>
                    <a:pt x="894676" y="38417"/>
                  </a:lnTo>
                  <a:lnTo>
                    <a:pt x="894689" y="451777"/>
                  </a:lnTo>
                  <a:lnTo>
                    <a:pt x="894676" y="457644"/>
                  </a:lnTo>
                  <a:lnTo>
                    <a:pt x="916597" y="490448"/>
                  </a:lnTo>
                  <a:lnTo>
                    <a:pt x="933094" y="496062"/>
                  </a:lnTo>
                  <a:lnTo>
                    <a:pt x="1750949" y="496062"/>
                  </a:lnTo>
                  <a:lnTo>
                    <a:pt x="1783753" y="474154"/>
                  </a:lnTo>
                  <a:lnTo>
                    <a:pt x="1789366" y="457644"/>
                  </a:lnTo>
                  <a:lnTo>
                    <a:pt x="1790484" y="463296"/>
                  </a:lnTo>
                  <a:lnTo>
                    <a:pt x="1822132" y="494944"/>
                  </a:lnTo>
                  <a:lnTo>
                    <a:pt x="1827784" y="496062"/>
                  </a:lnTo>
                  <a:lnTo>
                    <a:pt x="2654490" y="496062"/>
                  </a:lnTo>
                  <a:lnTo>
                    <a:pt x="2687282" y="474154"/>
                  </a:lnTo>
                  <a:lnTo>
                    <a:pt x="2692908" y="457644"/>
                  </a:lnTo>
                  <a:lnTo>
                    <a:pt x="2694025" y="463296"/>
                  </a:lnTo>
                  <a:lnTo>
                    <a:pt x="2725674" y="494944"/>
                  </a:lnTo>
                  <a:lnTo>
                    <a:pt x="2731325" y="496062"/>
                  </a:lnTo>
                  <a:lnTo>
                    <a:pt x="3549167" y="496062"/>
                  </a:lnTo>
                  <a:lnTo>
                    <a:pt x="3581971" y="474154"/>
                  </a:lnTo>
                  <a:lnTo>
                    <a:pt x="3587585" y="457644"/>
                  </a:lnTo>
                  <a:lnTo>
                    <a:pt x="3587585" y="38417"/>
                  </a:lnTo>
                  <a:close/>
                </a:path>
                <a:path w="4482465" h="496569">
                  <a:moveTo>
                    <a:pt x="4482274" y="38417"/>
                  </a:moveTo>
                  <a:lnTo>
                    <a:pt x="4460354" y="5626"/>
                  </a:lnTo>
                  <a:lnTo>
                    <a:pt x="4443857" y="0"/>
                  </a:lnTo>
                  <a:lnTo>
                    <a:pt x="3626002" y="0"/>
                  </a:lnTo>
                  <a:lnTo>
                    <a:pt x="3593211" y="21920"/>
                  </a:lnTo>
                  <a:lnTo>
                    <a:pt x="3587585" y="38417"/>
                  </a:lnTo>
                  <a:lnTo>
                    <a:pt x="3587597" y="451777"/>
                  </a:lnTo>
                  <a:lnTo>
                    <a:pt x="3587585" y="457644"/>
                  </a:lnTo>
                  <a:lnTo>
                    <a:pt x="3609505" y="490448"/>
                  </a:lnTo>
                  <a:lnTo>
                    <a:pt x="3626002" y="496062"/>
                  </a:lnTo>
                  <a:lnTo>
                    <a:pt x="4443857" y="496062"/>
                  </a:lnTo>
                  <a:lnTo>
                    <a:pt x="4476661" y="474154"/>
                  </a:lnTo>
                  <a:lnTo>
                    <a:pt x="4482274" y="457644"/>
                  </a:lnTo>
                  <a:lnTo>
                    <a:pt x="4482274" y="38417"/>
                  </a:lnTo>
                  <a:close/>
                </a:path>
              </a:pathLst>
            </a:custGeom>
            <a:solidFill>
              <a:srgbClr val="3398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14">
            <a:extLst>
              <a:ext uri="{FF2B5EF4-FFF2-40B4-BE49-F238E27FC236}">
                <a16:creationId xmlns:a16="http://schemas.microsoft.com/office/drawing/2014/main" id="{4C9DF5F7-93CF-4F06-BFC6-D28803484072}"/>
              </a:ext>
            </a:extLst>
          </p:cNvPr>
          <p:cNvSpPr txBox="1"/>
          <p:nvPr/>
        </p:nvSpPr>
        <p:spPr>
          <a:xfrm>
            <a:off x="4901646" y="1655138"/>
            <a:ext cx="3370341" cy="729746"/>
          </a:xfrm>
          <a:prstGeom prst="rect">
            <a:avLst/>
          </a:prstGeom>
        </p:spPr>
        <p:txBody>
          <a:bodyPr vert="horz" wrap="square" lIns="0" tIns="9392" rIns="0" bIns="0" rtlCol="0">
            <a:spAutoFit/>
          </a:bodyPr>
          <a:lstStyle/>
          <a:p>
            <a:pPr algn="ctr">
              <a:spcBef>
                <a:spcPts val="74"/>
              </a:spcBef>
            </a:pPr>
            <a:r>
              <a:rPr sz="1907" dirty="0">
                <a:solidFill>
                  <a:srgbClr val="2B3D4F"/>
                </a:solidFill>
                <a:latin typeface="Times New Roman"/>
                <a:cs typeface="Times New Roman"/>
              </a:rPr>
              <a:t>Data</a:t>
            </a:r>
            <a:r>
              <a:rPr sz="1907" spc="-86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907" spc="-31" dirty="0">
                <a:solidFill>
                  <a:srgbClr val="2B3D4F"/>
                </a:solidFill>
                <a:latin typeface="Times New Roman"/>
                <a:cs typeface="Times New Roman"/>
              </a:rPr>
              <a:t>Waves</a:t>
            </a:r>
            <a:r>
              <a:rPr sz="1907" spc="-54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907" spc="-8" dirty="0">
                <a:solidFill>
                  <a:srgbClr val="2B3D4F"/>
                </a:solidFill>
                <a:latin typeface="Times New Roman"/>
                <a:cs typeface="Times New Roman"/>
              </a:rPr>
              <a:t>(1-</a:t>
            </a:r>
            <a:r>
              <a:rPr sz="1907" spc="-19" dirty="0">
                <a:solidFill>
                  <a:srgbClr val="2B3D4F"/>
                </a:solidFill>
                <a:latin typeface="Times New Roman"/>
                <a:cs typeface="Times New Roman"/>
              </a:rPr>
              <a:t>5)</a:t>
            </a:r>
            <a:endParaRPr sz="1907">
              <a:latin typeface="Times New Roman"/>
              <a:cs typeface="Times New Roman"/>
            </a:endParaRPr>
          </a:p>
          <a:p>
            <a:pPr algn="ctr">
              <a:spcBef>
                <a:spcPts val="1600"/>
              </a:spcBef>
              <a:tabLst>
                <a:tab pos="697524" algn="l"/>
                <a:tab pos="1395543" algn="l"/>
                <a:tab pos="2093562" algn="l"/>
                <a:tab pos="2791580" algn="l"/>
              </a:tabLst>
            </a:pPr>
            <a:r>
              <a:rPr sz="1440" dirty="0">
                <a:solidFill>
                  <a:srgbClr val="FFFFFF"/>
                </a:solidFill>
                <a:latin typeface="Times New Roman"/>
                <a:cs typeface="Times New Roman"/>
              </a:rPr>
              <a:t>Wave</a:t>
            </a:r>
            <a:r>
              <a:rPr sz="1440" spc="-8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40" spc="-39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440" dirty="0">
                <a:solidFill>
                  <a:srgbClr val="FFFFFF"/>
                </a:solidFill>
                <a:latin typeface="Times New Roman"/>
                <a:cs typeface="Times New Roman"/>
              </a:rPr>
              <a:t>	Wave</a:t>
            </a:r>
            <a:r>
              <a:rPr sz="1440" spc="-8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40" spc="-47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440" dirty="0">
                <a:solidFill>
                  <a:srgbClr val="FFFFFF"/>
                </a:solidFill>
                <a:latin typeface="Times New Roman"/>
                <a:cs typeface="Times New Roman"/>
              </a:rPr>
              <a:t>	Wave</a:t>
            </a:r>
            <a:r>
              <a:rPr sz="1440" spc="-8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40" spc="-39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1440" dirty="0">
                <a:solidFill>
                  <a:srgbClr val="FFFFFF"/>
                </a:solidFill>
                <a:latin typeface="Times New Roman"/>
                <a:cs typeface="Times New Roman"/>
              </a:rPr>
              <a:t>	Wave</a:t>
            </a:r>
            <a:r>
              <a:rPr sz="1440" spc="-8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40" spc="-39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1440" dirty="0">
                <a:solidFill>
                  <a:srgbClr val="FFFFFF"/>
                </a:solidFill>
                <a:latin typeface="Times New Roman"/>
                <a:cs typeface="Times New Roman"/>
              </a:rPr>
              <a:t>	Wave</a:t>
            </a:r>
            <a:r>
              <a:rPr sz="1440" spc="-8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40" spc="-39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440">
              <a:latin typeface="Times New Roman"/>
              <a:cs typeface="Times New Roman"/>
            </a:endParaRPr>
          </a:p>
        </p:txBody>
      </p:sp>
      <p:sp>
        <p:nvSpPr>
          <p:cNvPr id="48" name="object 15">
            <a:extLst>
              <a:ext uri="{FF2B5EF4-FFF2-40B4-BE49-F238E27FC236}">
                <a16:creationId xmlns:a16="http://schemas.microsoft.com/office/drawing/2014/main" id="{2A57181B-69BC-4A9E-9B4B-31A10E4D462D}"/>
              </a:ext>
            </a:extLst>
          </p:cNvPr>
          <p:cNvSpPr/>
          <p:nvPr/>
        </p:nvSpPr>
        <p:spPr>
          <a:xfrm>
            <a:off x="4862713" y="3362036"/>
            <a:ext cx="3441524" cy="620878"/>
          </a:xfrm>
          <a:custGeom>
            <a:avLst/>
            <a:gdLst/>
            <a:ahLst/>
            <a:cxnLst/>
            <a:rect l="l" t="t" r="r" b="b"/>
            <a:pathLst>
              <a:path w="4420870" h="797560">
                <a:moveTo>
                  <a:pt x="1435036" y="38417"/>
                </a:moveTo>
                <a:lnTo>
                  <a:pt x="1413129" y="5626"/>
                </a:lnTo>
                <a:lnTo>
                  <a:pt x="1396619" y="0"/>
                </a:lnTo>
                <a:lnTo>
                  <a:pt x="38430" y="0"/>
                </a:lnTo>
                <a:lnTo>
                  <a:pt x="5626" y="21920"/>
                </a:lnTo>
                <a:lnTo>
                  <a:pt x="0" y="38417"/>
                </a:lnTo>
                <a:lnTo>
                  <a:pt x="12" y="752957"/>
                </a:lnTo>
                <a:lnTo>
                  <a:pt x="0" y="758825"/>
                </a:lnTo>
                <a:lnTo>
                  <a:pt x="21920" y="791629"/>
                </a:lnTo>
                <a:lnTo>
                  <a:pt x="38430" y="797242"/>
                </a:lnTo>
                <a:lnTo>
                  <a:pt x="1396619" y="797242"/>
                </a:lnTo>
                <a:lnTo>
                  <a:pt x="1429423" y="775335"/>
                </a:lnTo>
                <a:lnTo>
                  <a:pt x="1435036" y="758825"/>
                </a:lnTo>
                <a:lnTo>
                  <a:pt x="1435036" y="38417"/>
                </a:lnTo>
                <a:close/>
              </a:path>
              <a:path w="4420870" h="797560">
                <a:moveTo>
                  <a:pt x="2932087" y="38417"/>
                </a:moveTo>
                <a:lnTo>
                  <a:pt x="2910167" y="5626"/>
                </a:lnTo>
                <a:lnTo>
                  <a:pt x="2893669" y="0"/>
                </a:lnTo>
                <a:lnTo>
                  <a:pt x="1535468" y="0"/>
                </a:lnTo>
                <a:lnTo>
                  <a:pt x="1502664" y="21920"/>
                </a:lnTo>
                <a:lnTo>
                  <a:pt x="1497050" y="38417"/>
                </a:lnTo>
                <a:lnTo>
                  <a:pt x="1497050" y="752957"/>
                </a:lnTo>
                <a:lnTo>
                  <a:pt x="1497050" y="758825"/>
                </a:lnTo>
                <a:lnTo>
                  <a:pt x="1518970" y="791629"/>
                </a:lnTo>
                <a:lnTo>
                  <a:pt x="1535468" y="797242"/>
                </a:lnTo>
                <a:lnTo>
                  <a:pt x="2893669" y="797242"/>
                </a:lnTo>
                <a:lnTo>
                  <a:pt x="2926473" y="775335"/>
                </a:lnTo>
                <a:lnTo>
                  <a:pt x="2932087" y="758825"/>
                </a:lnTo>
                <a:lnTo>
                  <a:pt x="2932087" y="38417"/>
                </a:lnTo>
                <a:close/>
              </a:path>
              <a:path w="4420870" h="797560">
                <a:moveTo>
                  <a:pt x="4420273" y="38417"/>
                </a:moveTo>
                <a:lnTo>
                  <a:pt x="4398353" y="5626"/>
                </a:lnTo>
                <a:lnTo>
                  <a:pt x="4381855" y="0"/>
                </a:lnTo>
                <a:lnTo>
                  <a:pt x="3032518" y="0"/>
                </a:lnTo>
                <a:lnTo>
                  <a:pt x="2999714" y="21920"/>
                </a:lnTo>
                <a:lnTo>
                  <a:pt x="2994088" y="38417"/>
                </a:lnTo>
                <a:lnTo>
                  <a:pt x="2994101" y="752957"/>
                </a:lnTo>
                <a:lnTo>
                  <a:pt x="2994088" y="758825"/>
                </a:lnTo>
                <a:lnTo>
                  <a:pt x="3016008" y="791629"/>
                </a:lnTo>
                <a:lnTo>
                  <a:pt x="3032518" y="797242"/>
                </a:lnTo>
                <a:lnTo>
                  <a:pt x="4381855" y="797242"/>
                </a:lnTo>
                <a:lnTo>
                  <a:pt x="4414647" y="775335"/>
                </a:lnTo>
                <a:lnTo>
                  <a:pt x="4420273" y="758825"/>
                </a:lnTo>
                <a:lnTo>
                  <a:pt x="4420273" y="38417"/>
                </a:lnTo>
                <a:close/>
              </a:path>
            </a:pathLst>
          </a:custGeom>
          <a:solidFill>
            <a:srgbClr val="334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6">
            <a:extLst>
              <a:ext uri="{FF2B5EF4-FFF2-40B4-BE49-F238E27FC236}">
                <a16:creationId xmlns:a16="http://schemas.microsoft.com/office/drawing/2014/main" id="{828C1BCE-826D-4441-907E-4640183D14CA}"/>
              </a:ext>
            </a:extLst>
          </p:cNvPr>
          <p:cNvSpPr txBox="1"/>
          <p:nvPr/>
        </p:nvSpPr>
        <p:spPr>
          <a:xfrm>
            <a:off x="5098071" y="2923984"/>
            <a:ext cx="2873539" cy="2274591"/>
          </a:xfrm>
          <a:prstGeom prst="rect">
            <a:avLst/>
          </a:prstGeom>
        </p:spPr>
        <p:txBody>
          <a:bodyPr vert="horz" wrap="square" lIns="0" tIns="9392" rIns="0" bIns="0" rtlCol="0">
            <a:spAutoFit/>
          </a:bodyPr>
          <a:lstStyle/>
          <a:p>
            <a:pPr marL="103319" algn="ctr">
              <a:spcBef>
                <a:spcPts val="74"/>
              </a:spcBef>
            </a:pPr>
            <a:r>
              <a:rPr sz="1907" dirty="0">
                <a:solidFill>
                  <a:srgbClr val="2B3D4F"/>
                </a:solidFill>
                <a:latin typeface="Times New Roman"/>
                <a:cs typeface="Times New Roman"/>
              </a:rPr>
              <a:t>Binary</a:t>
            </a:r>
            <a:r>
              <a:rPr sz="1907" spc="-66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907" spc="-8" dirty="0">
                <a:solidFill>
                  <a:srgbClr val="2B3D4F"/>
                </a:solidFill>
                <a:latin typeface="Times New Roman"/>
                <a:cs typeface="Times New Roman"/>
              </a:rPr>
              <a:t>Classification</a:t>
            </a:r>
            <a:endParaRPr sz="1907">
              <a:latin typeface="Times New Roman"/>
              <a:cs typeface="Times New Roman"/>
            </a:endParaRPr>
          </a:p>
          <a:p>
            <a:pPr marL="92443" marR="3955" indent="-83050">
              <a:lnSpc>
                <a:spcPct val="110000"/>
              </a:lnSpc>
              <a:spcBef>
                <a:spcPts val="1429"/>
              </a:spcBef>
              <a:tabLst>
                <a:tab pos="1136505" algn="l"/>
                <a:tab pos="2439111" algn="l"/>
              </a:tabLst>
            </a:pPr>
            <a:r>
              <a:rPr sz="1440" spc="-8" dirty="0">
                <a:solidFill>
                  <a:srgbClr val="FFFFFF"/>
                </a:solidFill>
                <a:latin typeface="Times New Roman"/>
                <a:cs typeface="Times New Roman"/>
              </a:rPr>
              <a:t>Random</a:t>
            </a:r>
            <a:r>
              <a:rPr sz="144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440" spc="-8" dirty="0">
                <a:solidFill>
                  <a:srgbClr val="FFFFFF"/>
                </a:solidFill>
                <a:latin typeface="Times New Roman"/>
                <a:cs typeface="Times New Roman"/>
              </a:rPr>
              <a:t>XGBoost</a:t>
            </a:r>
            <a:r>
              <a:rPr sz="144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440" spc="-19" dirty="0">
                <a:solidFill>
                  <a:srgbClr val="FFFFFF"/>
                </a:solidFill>
                <a:latin typeface="Times New Roman"/>
                <a:cs typeface="Times New Roman"/>
              </a:rPr>
              <a:t>GBM </a:t>
            </a:r>
            <a:r>
              <a:rPr sz="1440" spc="-8" dirty="0">
                <a:solidFill>
                  <a:srgbClr val="FFFFFF"/>
                </a:solidFill>
                <a:latin typeface="Times New Roman"/>
                <a:cs typeface="Times New Roman"/>
              </a:rPr>
              <a:t>Forest</a:t>
            </a:r>
            <a:endParaRPr sz="144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40">
              <a:latin typeface="Times New Roman"/>
              <a:cs typeface="Times New Roman"/>
            </a:endParaRPr>
          </a:p>
          <a:p>
            <a:pPr>
              <a:spcBef>
                <a:spcPts val="1008"/>
              </a:spcBef>
            </a:pPr>
            <a:endParaRPr sz="1440">
              <a:latin typeface="Times New Roman"/>
              <a:cs typeface="Times New Roman"/>
            </a:endParaRPr>
          </a:p>
          <a:p>
            <a:pPr marL="103319" algn="ctr"/>
            <a:r>
              <a:rPr sz="1907" spc="-8" dirty="0">
                <a:solidFill>
                  <a:srgbClr val="2B3D4F"/>
                </a:solidFill>
                <a:latin typeface="Times New Roman"/>
                <a:cs typeface="Times New Roman"/>
              </a:rPr>
              <a:t>Multi-</a:t>
            </a:r>
            <a:r>
              <a:rPr sz="1907" dirty="0">
                <a:solidFill>
                  <a:srgbClr val="2B3D4F"/>
                </a:solidFill>
                <a:latin typeface="Times New Roman"/>
                <a:cs typeface="Times New Roman"/>
              </a:rPr>
              <a:t>Class</a:t>
            </a:r>
            <a:r>
              <a:rPr sz="1907" spc="-27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907" spc="-8" dirty="0">
                <a:solidFill>
                  <a:srgbClr val="2B3D4F"/>
                </a:solidFill>
                <a:latin typeface="Times New Roman"/>
                <a:cs typeface="Times New Roman"/>
              </a:rPr>
              <a:t>Classification</a:t>
            </a:r>
            <a:endParaRPr sz="1907">
              <a:latin typeface="Times New Roman"/>
              <a:cs typeface="Times New Roman"/>
            </a:endParaRPr>
          </a:p>
          <a:p>
            <a:pPr marL="103319" algn="ctr">
              <a:spcBef>
                <a:spcPts val="1654"/>
              </a:spcBef>
            </a:pPr>
            <a:r>
              <a:rPr sz="144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440" spc="-4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40" dirty="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sz="1440" spc="-1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40" spc="-8" dirty="0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endParaRPr sz="1440">
              <a:latin typeface="Times New Roman"/>
              <a:cs typeface="Times New Roman"/>
            </a:endParaRPr>
          </a:p>
        </p:txBody>
      </p:sp>
      <p:sp>
        <p:nvSpPr>
          <p:cNvPr id="50" name="object 2">
            <a:extLst>
              <a:ext uri="{FF2B5EF4-FFF2-40B4-BE49-F238E27FC236}">
                <a16:creationId xmlns:a16="http://schemas.microsoft.com/office/drawing/2014/main" id="{1917A5D1-B13B-47A9-B90C-600A7280B56A}"/>
              </a:ext>
            </a:extLst>
          </p:cNvPr>
          <p:cNvSpPr/>
          <p:nvPr/>
        </p:nvSpPr>
        <p:spPr>
          <a:xfrm>
            <a:off x="3273970" y="645428"/>
            <a:ext cx="2344607" cy="13841"/>
          </a:xfrm>
          <a:custGeom>
            <a:avLst/>
            <a:gdLst/>
            <a:ahLst/>
            <a:cxnLst/>
            <a:rect l="l" t="t" r="r" b="b"/>
            <a:pathLst>
              <a:path w="3011804" h="17779">
                <a:moveTo>
                  <a:pt x="3011804" y="17716"/>
                </a:moveTo>
                <a:lnTo>
                  <a:pt x="0" y="17716"/>
                </a:lnTo>
                <a:lnTo>
                  <a:pt x="0" y="0"/>
                </a:lnTo>
                <a:lnTo>
                  <a:pt x="3011804" y="0"/>
                </a:lnTo>
                <a:lnTo>
                  <a:pt x="3011804" y="17716"/>
                </a:lnTo>
                <a:close/>
              </a:path>
            </a:pathLst>
          </a:custGeom>
          <a:solidFill>
            <a:srgbClr val="66AA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2069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8942" y="239782"/>
            <a:ext cx="4456556" cy="371936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200211">
              <a:spcBef>
                <a:spcPts val="97"/>
              </a:spcBef>
            </a:pPr>
            <a:r>
              <a:rPr dirty="0"/>
              <a:t>Explainable</a:t>
            </a:r>
            <a:r>
              <a:rPr spc="-117" dirty="0"/>
              <a:t> </a:t>
            </a:r>
            <a:r>
              <a:rPr dirty="0"/>
              <a:t>AI</a:t>
            </a:r>
            <a:r>
              <a:rPr spc="23" dirty="0"/>
              <a:t> </a:t>
            </a:r>
            <a:r>
              <a:rPr spc="-8" dirty="0"/>
              <a:t>Implementation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1428" y="1507039"/>
            <a:ext cx="4187468" cy="3910149"/>
            <a:chOff x="400049" y="986313"/>
            <a:chExt cx="5379085" cy="5022850"/>
          </a:xfrm>
        </p:grpSpPr>
        <p:sp>
          <p:nvSpPr>
            <p:cNvPr id="5" name="object 5"/>
            <p:cNvSpPr/>
            <p:nvPr/>
          </p:nvSpPr>
          <p:spPr>
            <a:xfrm>
              <a:off x="400049" y="986313"/>
              <a:ext cx="5379085" cy="5022850"/>
            </a:xfrm>
            <a:custGeom>
              <a:avLst/>
              <a:gdLst/>
              <a:ahLst/>
              <a:cxnLst/>
              <a:rect l="l" t="t" r="r" b="b"/>
              <a:pathLst>
                <a:path w="5379085" h="502285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379085" h="5022850">
                  <a:moveTo>
                    <a:pt x="5378957" y="5022627"/>
                  </a:moveTo>
                  <a:lnTo>
                    <a:pt x="5268846" y="5022627"/>
                  </a:lnTo>
                  <a:lnTo>
                    <a:pt x="5275627" y="5021278"/>
                  </a:lnTo>
                  <a:lnTo>
                    <a:pt x="5288650" y="5015883"/>
                  </a:lnTo>
                  <a:lnTo>
                    <a:pt x="5313600" y="4983305"/>
                  </a:lnTo>
                  <a:lnTo>
                    <a:pt x="5314949" y="4976525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378957" y="0"/>
                  </a:lnTo>
                  <a:lnTo>
                    <a:pt x="5378957" y="5022627"/>
                  </a:lnTo>
                  <a:close/>
                </a:path>
                <a:path w="5379085" h="5022850">
                  <a:moveTo>
                    <a:pt x="46102" y="5022627"/>
                  </a:moveTo>
                  <a:lnTo>
                    <a:pt x="0" y="5022627"/>
                  </a:lnTo>
                  <a:lnTo>
                    <a:pt x="0" y="4976526"/>
                  </a:lnTo>
                  <a:lnTo>
                    <a:pt x="1348" y="4983305"/>
                  </a:lnTo>
                  <a:lnTo>
                    <a:pt x="6742" y="4996328"/>
                  </a:lnTo>
                  <a:lnTo>
                    <a:pt x="10583" y="5002076"/>
                  </a:lnTo>
                  <a:lnTo>
                    <a:pt x="20550" y="5012043"/>
                  </a:lnTo>
                  <a:lnTo>
                    <a:pt x="26298" y="5015883"/>
                  </a:lnTo>
                  <a:lnTo>
                    <a:pt x="39321" y="5021278"/>
                  </a:lnTo>
                  <a:lnTo>
                    <a:pt x="46102" y="502262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986313"/>
              <a:ext cx="5314950" cy="5022850"/>
            </a:xfrm>
            <a:custGeom>
              <a:avLst/>
              <a:gdLst/>
              <a:ahLst/>
              <a:cxnLst/>
              <a:rect l="l" t="t" r="r" b="b"/>
              <a:pathLst>
                <a:path w="5314950" h="5022850">
                  <a:moveTo>
                    <a:pt x="5265290" y="5022627"/>
                  </a:moveTo>
                  <a:lnTo>
                    <a:pt x="49659" y="5022627"/>
                  </a:lnTo>
                  <a:lnTo>
                    <a:pt x="46203" y="5022286"/>
                  </a:lnTo>
                  <a:lnTo>
                    <a:pt x="10896" y="5001907"/>
                  </a:lnTo>
                  <a:lnTo>
                    <a:pt x="0" y="4972968"/>
                  </a:lnTo>
                  <a:lnTo>
                    <a:pt x="0" y="4969478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4972968"/>
                  </a:lnTo>
                  <a:lnTo>
                    <a:pt x="5296914" y="5009527"/>
                  </a:lnTo>
                  <a:lnTo>
                    <a:pt x="5268746" y="5022286"/>
                  </a:lnTo>
                  <a:lnTo>
                    <a:pt x="5265290" y="5022627"/>
                  </a:lnTo>
                  <a:close/>
                </a:path>
              </a:pathLst>
            </a:custGeom>
            <a:solidFill>
              <a:srgbClr val="F5F5F5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65295" y="1593695"/>
            <a:ext cx="1029689" cy="160203"/>
          </a:xfrm>
          <a:prstGeom prst="rect">
            <a:avLst/>
          </a:prstGeom>
        </p:spPr>
        <p:txBody>
          <a:bodyPr vert="horz" wrap="square" lIns="0" tIns="10381" rIns="0" bIns="0" rtlCol="0">
            <a:spAutoFit/>
          </a:bodyPr>
          <a:lstStyle/>
          <a:p>
            <a:pPr marL="9887">
              <a:spcBef>
                <a:spcPts val="82"/>
              </a:spcBef>
            </a:pPr>
            <a:r>
              <a:rPr sz="973" dirty="0">
                <a:solidFill>
                  <a:srgbClr val="373C3C"/>
                </a:solidFill>
                <a:latin typeface="Times New Roman"/>
                <a:cs typeface="Times New Roman"/>
              </a:rPr>
              <a:t>Why</a:t>
            </a:r>
            <a:r>
              <a:rPr sz="973" spc="-4" dirty="0">
                <a:solidFill>
                  <a:srgbClr val="373C3C"/>
                </a:solidFill>
                <a:latin typeface="Times New Roman"/>
                <a:cs typeface="Times New Roman"/>
              </a:rPr>
              <a:t> </a:t>
            </a:r>
            <a:r>
              <a:rPr sz="973" dirty="0">
                <a:solidFill>
                  <a:srgbClr val="373C3C"/>
                </a:solidFill>
                <a:latin typeface="Times New Roman"/>
                <a:cs typeface="Times New Roman"/>
              </a:rPr>
              <a:t>XAI</a:t>
            </a:r>
            <a:r>
              <a:rPr sz="973" spc="-4" dirty="0">
                <a:solidFill>
                  <a:srgbClr val="373C3C"/>
                </a:solidFill>
                <a:latin typeface="Times New Roman"/>
                <a:cs typeface="Times New Roman"/>
              </a:rPr>
              <a:t> </a:t>
            </a:r>
            <a:r>
              <a:rPr sz="973" dirty="0">
                <a:solidFill>
                  <a:srgbClr val="373C3C"/>
                </a:solidFill>
                <a:latin typeface="Times New Roman"/>
                <a:cs typeface="Times New Roman"/>
              </a:rPr>
              <a:t>is </a:t>
            </a:r>
            <a:r>
              <a:rPr sz="973" spc="-8" dirty="0">
                <a:solidFill>
                  <a:srgbClr val="373C3C"/>
                </a:solidFill>
                <a:latin typeface="Times New Roman"/>
                <a:cs typeface="Times New Roman"/>
              </a:rPr>
              <a:t>crucial:</a:t>
            </a:r>
            <a:endParaRPr sz="973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4489" y="1975965"/>
            <a:ext cx="731114" cy="3110323"/>
          </a:xfrm>
          <a:custGeom>
            <a:avLst/>
            <a:gdLst/>
            <a:ahLst/>
            <a:cxnLst/>
            <a:rect l="l" t="t" r="r" b="b"/>
            <a:pathLst>
              <a:path w="939164" h="3995420">
                <a:moveTo>
                  <a:pt x="44297" y="854824"/>
                </a:moveTo>
                <a:lnTo>
                  <a:pt x="25082" y="832675"/>
                </a:lnTo>
                <a:lnTo>
                  <a:pt x="19215" y="832675"/>
                </a:lnTo>
                <a:lnTo>
                  <a:pt x="0" y="851877"/>
                </a:lnTo>
                <a:lnTo>
                  <a:pt x="0" y="857758"/>
                </a:lnTo>
                <a:lnTo>
                  <a:pt x="19215" y="876960"/>
                </a:lnTo>
                <a:lnTo>
                  <a:pt x="25082" y="876960"/>
                </a:lnTo>
                <a:lnTo>
                  <a:pt x="44297" y="854824"/>
                </a:lnTo>
                <a:close/>
              </a:path>
              <a:path w="939164" h="3995420">
                <a:moveTo>
                  <a:pt x="44297" y="553643"/>
                </a:moveTo>
                <a:lnTo>
                  <a:pt x="25082" y="531495"/>
                </a:lnTo>
                <a:lnTo>
                  <a:pt x="19215" y="531495"/>
                </a:lnTo>
                <a:lnTo>
                  <a:pt x="0" y="550697"/>
                </a:lnTo>
                <a:lnTo>
                  <a:pt x="0" y="556577"/>
                </a:lnTo>
                <a:lnTo>
                  <a:pt x="19215" y="575779"/>
                </a:lnTo>
                <a:lnTo>
                  <a:pt x="25082" y="575779"/>
                </a:lnTo>
                <a:lnTo>
                  <a:pt x="44297" y="553643"/>
                </a:lnTo>
                <a:close/>
              </a:path>
              <a:path w="939164" h="3995420">
                <a:moveTo>
                  <a:pt x="44297" y="22148"/>
                </a:moveTo>
                <a:lnTo>
                  <a:pt x="25082" y="0"/>
                </a:lnTo>
                <a:lnTo>
                  <a:pt x="19215" y="0"/>
                </a:lnTo>
                <a:lnTo>
                  <a:pt x="0" y="19202"/>
                </a:lnTo>
                <a:lnTo>
                  <a:pt x="0" y="25082"/>
                </a:lnTo>
                <a:lnTo>
                  <a:pt x="19215" y="44284"/>
                </a:lnTo>
                <a:lnTo>
                  <a:pt x="25082" y="44284"/>
                </a:lnTo>
                <a:lnTo>
                  <a:pt x="44297" y="22148"/>
                </a:lnTo>
                <a:close/>
              </a:path>
              <a:path w="939164" h="3995420">
                <a:moveTo>
                  <a:pt x="265747" y="2561526"/>
                </a:moveTo>
                <a:lnTo>
                  <a:pt x="246532" y="2542311"/>
                </a:lnTo>
                <a:lnTo>
                  <a:pt x="240665" y="2542311"/>
                </a:lnTo>
                <a:lnTo>
                  <a:pt x="221449" y="2561526"/>
                </a:lnTo>
                <a:lnTo>
                  <a:pt x="221449" y="2567394"/>
                </a:lnTo>
                <a:lnTo>
                  <a:pt x="240665" y="2586609"/>
                </a:lnTo>
                <a:lnTo>
                  <a:pt x="246532" y="2586609"/>
                </a:lnTo>
                <a:lnTo>
                  <a:pt x="265747" y="2567394"/>
                </a:lnTo>
                <a:lnTo>
                  <a:pt x="265747" y="2564460"/>
                </a:lnTo>
                <a:lnTo>
                  <a:pt x="265747" y="2561526"/>
                </a:lnTo>
                <a:close/>
              </a:path>
              <a:path w="939164" h="3995420">
                <a:moveTo>
                  <a:pt x="265747" y="2260346"/>
                </a:moveTo>
                <a:lnTo>
                  <a:pt x="246532" y="2241131"/>
                </a:lnTo>
                <a:lnTo>
                  <a:pt x="240665" y="2241131"/>
                </a:lnTo>
                <a:lnTo>
                  <a:pt x="221449" y="2260346"/>
                </a:lnTo>
                <a:lnTo>
                  <a:pt x="221449" y="2266213"/>
                </a:lnTo>
                <a:lnTo>
                  <a:pt x="240665" y="2285428"/>
                </a:lnTo>
                <a:lnTo>
                  <a:pt x="246532" y="2285428"/>
                </a:lnTo>
                <a:lnTo>
                  <a:pt x="265747" y="2266213"/>
                </a:lnTo>
                <a:lnTo>
                  <a:pt x="265747" y="2263279"/>
                </a:lnTo>
                <a:lnTo>
                  <a:pt x="265747" y="2260346"/>
                </a:lnTo>
                <a:close/>
              </a:path>
              <a:path w="939164" h="3995420">
                <a:moveTo>
                  <a:pt x="265747" y="1959165"/>
                </a:moveTo>
                <a:lnTo>
                  <a:pt x="246532" y="1939950"/>
                </a:lnTo>
                <a:lnTo>
                  <a:pt x="240665" y="1939950"/>
                </a:lnTo>
                <a:lnTo>
                  <a:pt x="221449" y="1959165"/>
                </a:lnTo>
                <a:lnTo>
                  <a:pt x="221449" y="1965032"/>
                </a:lnTo>
                <a:lnTo>
                  <a:pt x="240665" y="1984248"/>
                </a:lnTo>
                <a:lnTo>
                  <a:pt x="246532" y="1984248"/>
                </a:lnTo>
                <a:lnTo>
                  <a:pt x="265747" y="1965032"/>
                </a:lnTo>
                <a:lnTo>
                  <a:pt x="265747" y="1962099"/>
                </a:lnTo>
                <a:lnTo>
                  <a:pt x="265747" y="1959165"/>
                </a:lnTo>
                <a:close/>
              </a:path>
              <a:path w="939164" h="3995420">
                <a:moveTo>
                  <a:pt x="265747" y="1657985"/>
                </a:moveTo>
                <a:lnTo>
                  <a:pt x="246532" y="1638769"/>
                </a:lnTo>
                <a:lnTo>
                  <a:pt x="240665" y="1638769"/>
                </a:lnTo>
                <a:lnTo>
                  <a:pt x="221449" y="1657985"/>
                </a:lnTo>
                <a:lnTo>
                  <a:pt x="221449" y="1663852"/>
                </a:lnTo>
                <a:lnTo>
                  <a:pt x="240665" y="1683067"/>
                </a:lnTo>
                <a:lnTo>
                  <a:pt x="246532" y="1683067"/>
                </a:lnTo>
                <a:lnTo>
                  <a:pt x="265747" y="1663852"/>
                </a:lnTo>
                <a:lnTo>
                  <a:pt x="265747" y="1660918"/>
                </a:lnTo>
                <a:lnTo>
                  <a:pt x="265747" y="1657985"/>
                </a:lnTo>
                <a:close/>
              </a:path>
              <a:path w="939164" h="3995420">
                <a:moveTo>
                  <a:pt x="938974" y="3969982"/>
                </a:moveTo>
                <a:lnTo>
                  <a:pt x="919759" y="3950779"/>
                </a:lnTo>
                <a:lnTo>
                  <a:pt x="913892" y="3950779"/>
                </a:lnTo>
                <a:lnTo>
                  <a:pt x="894676" y="3969982"/>
                </a:lnTo>
                <a:lnTo>
                  <a:pt x="894676" y="3975862"/>
                </a:lnTo>
                <a:lnTo>
                  <a:pt x="913892" y="3995064"/>
                </a:lnTo>
                <a:lnTo>
                  <a:pt x="919759" y="3995064"/>
                </a:lnTo>
                <a:lnTo>
                  <a:pt x="938974" y="3975862"/>
                </a:lnTo>
                <a:lnTo>
                  <a:pt x="938974" y="3972928"/>
                </a:lnTo>
                <a:lnTo>
                  <a:pt x="938974" y="3969982"/>
                </a:lnTo>
                <a:close/>
              </a:path>
              <a:path w="939164" h="3995420">
                <a:moveTo>
                  <a:pt x="938974" y="3668801"/>
                </a:moveTo>
                <a:lnTo>
                  <a:pt x="919759" y="3649599"/>
                </a:lnTo>
                <a:lnTo>
                  <a:pt x="913892" y="3649599"/>
                </a:lnTo>
                <a:lnTo>
                  <a:pt x="894676" y="3668801"/>
                </a:lnTo>
                <a:lnTo>
                  <a:pt x="894676" y="3674681"/>
                </a:lnTo>
                <a:lnTo>
                  <a:pt x="913892" y="3693884"/>
                </a:lnTo>
                <a:lnTo>
                  <a:pt x="919759" y="3693884"/>
                </a:lnTo>
                <a:lnTo>
                  <a:pt x="938974" y="3674681"/>
                </a:lnTo>
                <a:lnTo>
                  <a:pt x="938974" y="3671747"/>
                </a:lnTo>
                <a:lnTo>
                  <a:pt x="938974" y="3668801"/>
                </a:lnTo>
                <a:close/>
              </a:path>
              <a:path w="939164" h="3995420">
                <a:moveTo>
                  <a:pt x="938974" y="3367621"/>
                </a:moveTo>
                <a:lnTo>
                  <a:pt x="919759" y="3348418"/>
                </a:lnTo>
                <a:lnTo>
                  <a:pt x="913892" y="3348418"/>
                </a:lnTo>
                <a:lnTo>
                  <a:pt x="894676" y="3367621"/>
                </a:lnTo>
                <a:lnTo>
                  <a:pt x="894676" y="3373501"/>
                </a:lnTo>
                <a:lnTo>
                  <a:pt x="913892" y="3392703"/>
                </a:lnTo>
                <a:lnTo>
                  <a:pt x="919759" y="3392703"/>
                </a:lnTo>
                <a:lnTo>
                  <a:pt x="938974" y="3373501"/>
                </a:lnTo>
                <a:lnTo>
                  <a:pt x="938974" y="3370567"/>
                </a:lnTo>
                <a:lnTo>
                  <a:pt x="938974" y="3367621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1838" y="1859877"/>
            <a:ext cx="2599681" cy="850740"/>
          </a:xfrm>
          <a:prstGeom prst="rect">
            <a:avLst/>
          </a:prstGeom>
        </p:spPr>
        <p:txBody>
          <a:bodyPr vert="horz" wrap="square" lIns="0" tIns="9392" rIns="0" bIns="0" rtlCol="0">
            <a:spAutoFit/>
          </a:bodyPr>
          <a:lstStyle/>
          <a:p>
            <a:pPr marL="9887" marR="3955">
              <a:lnSpc>
                <a:spcPct val="120900"/>
              </a:lnSpc>
              <a:spcBef>
                <a:spcPts val="74"/>
              </a:spcBef>
            </a:pP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Regulatory compliance requirements (GDPR, </a:t>
            </a:r>
            <a:r>
              <a:rPr sz="973" spc="-31" dirty="0">
                <a:solidFill>
                  <a:srgbClr val="333333"/>
                </a:solidFill>
                <a:latin typeface="Times New Roman"/>
                <a:cs typeface="Times New Roman"/>
              </a:rPr>
              <a:t>FATF </a:t>
            </a: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recommendations)</a:t>
            </a:r>
            <a:endParaRPr sz="973">
              <a:latin typeface="Times New Roman"/>
              <a:cs typeface="Times New Roman"/>
            </a:endParaRPr>
          </a:p>
          <a:p>
            <a:pPr marL="9887">
              <a:spcBef>
                <a:spcPts val="681"/>
              </a:spcBef>
            </a:pP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Building trust in automated </a:t>
            </a: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systems</a:t>
            </a:r>
            <a:endParaRPr sz="973">
              <a:latin typeface="Times New Roman"/>
              <a:cs typeface="Times New Roman"/>
            </a:endParaRPr>
          </a:p>
          <a:p>
            <a:pPr marL="9887">
              <a:spcBef>
                <a:spcPts val="677"/>
              </a:spcBef>
            </a:pP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Enabling human oversight and decision </a:t>
            </a: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validation</a:t>
            </a:r>
            <a:endParaRPr sz="97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5421" y="2862541"/>
            <a:ext cx="1429602" cy="160203"/>
          </a:xfrm>
          <a:prstGeom prst="rect">
            <a:avLst/>
          </a:prstGeom>
        </p:spPr>
        <p:txBody>
          <a:bodyPr vert="horz" wrap="square" lIns="0" tIns="10381" rIns="0" bIns="0" rtlCol="0">
            <a:spAutoFit/>
          </a:bodyPr>
          <a:lstStyle/>
          <a:p>
            <a:pPr marL="9887">
              <a:spcBef>
                <a:spcPts val="82"/>
              </a:spcBef>
            </a:pPr>
            <a:r>
              <a:rPr sz="973" dirty="0">
                <a:solidFill>
                  <a:srgbClr val="373C3C"/>
                </a:solidFill>
                <a:latin typeface="Times New Roman"/>
                <a:cs typeface="Times New Roman"/>
              </a:rPr>
              <a:t>Implementation </a:t>
            </a:r>
            <a:r>
              <a:rPr sz="973" spc="-8" dirty="0">
                <a:solidFill>
                  <a:srgbClr val="373C3C"/>
                </a:solidFill>
                <a:latin typeface="Times New Roman"/>
                <a:cs typeface="Times New Roman"/>
              </a:rPr>
              <a:t>approaches:</a:t>
            </a:r>
            <a:endParaRPr sz="97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1003" y="3080451"/>
            <a:ext cx="3198314" cy="925760"/>
          </a:xfrm>
          <a:prstGeom prst="rect">
            <a:avLst/>
          </a:prstGeom>
        </p:spPr>
        <p:txBody>
          <a:bodyPr vert="horz" wrap="square" lIns="0" tIns="9392" rIns="0" bIns="0" rtlCol="0">
            <a:spAutoFit/>
          </a:bodyPr>
          <a:lstStyle/>
          <a:p>
            <a:pPr marL="9887" marR="3955">
              <a:lnSpc>
                <a:spcPct val="158100"/>
              </a:lnSpc>
              <a:spcBef>
                <a:spcPts val="74"/>
              </a:spcBef>
            </a:pP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SHapley</a:t>
            </a:r>
            <a:r>
              <a:rPr sz="973" spc="-5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Additive Explanations (SHAP) for result </a:t>
            </a: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interpretation </a:t>
            </a: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Feature importance </a:t>
            </a: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visualization</a:t>
            </a:r>
            <a:endParaRPr sz="973" dirty="0">
              <a:latin typeface="Times New Roman"/>
              <a:cs typeface="Times New Roman"/>
            </a:endParaRPr>
          </a:p>
          <a:p>
            <a:pPr marL="9887" marR="942721">
              <a:lnSpc>
                <a:spcPct val="158100"/>
              </a:lnSpc>
            </a:pP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Transaction-</a:t>
            </a: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specific</a:t>
            </a:r>
            <a:r>
              <a:rPr sz="973" spc="1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risk</a:t>
            </a:r>
            <a:r>
              <a:rPr sz="973" spc="1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factor</a:t>
            </a:r>
            <a:r>
              <a:rPr sz="973" spc="1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identification </a:t>
            </a: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Transparent</a:t>
            </a:r>
            <a:r>
              <a:rPr sz="973" spc="-12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decision</a:t>
            </a:r>
            <a:r>
              <a:rPr sz="973" spc="-12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path</a:t>
            </a:r>
            <a:r>
              <a:rPr sz="973" spc="-12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documentation</a:t>
            </a:r>
            <a:endParaRPr sz="973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4292" y="4193450"/>
            <a:ext cx="1692091" cy="160203"/>
          </a:xfrm>
          <a:prstGeom prst="rect">
            <a:avLst/>
          </a:prstGeom>
        </p:spPr>
        <p:txBody>
          <a:bodyPr vert="horz" wrap="square" lIns="0" tIns="10381" rIns="0" bIns="0" rtlCol="0">
            <a:spAutoFit/>
          </a:bodyPr>
          <a:lstStyle/>
          <a:p>
            <a:pPr marL="9887">
              <a:spcBef>
                <a:spcPts val="82"/>
              </a:spcBef>
            </a:pPr>
            <a:r>
              <a:rPr sz="973" dirty="0">
                <a:solidFill>
                  <a:srgbClr val="373C3C"/>
                </a:solidFill>
                <a:latin typeface="Times New Roman"/>
                <a:cs typeface="Times New Roman"/>
              </a:rPr>
              <a:t>Benefits for financial </a:t>
            </a:r>
            <a:r>
              <a:rPr sz="973" spc="-8" dirty="0">
                <a:solidFill>
                  <a:srgbClr val="373C3C"/>
                </a:solidFill>
                <a:latin typeface="Times New Roman"/>
                <a:cs typeface="Times New Roman"/>
              </a:rPr>
              <a:t>institutions:</a:t>
            </a:r>
            <a:endParaRPr sz="97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4983" y="4411360"/>
            <a:ext cx="2150335" cy="689222"/>
          </a:xfrm>
          <a:prstGeom prst="rect">
            <a:avLst/>
          </a:prstGeom>
        </p:spPr>
        <p:txBody>
          <a:bodyPr vert="horz" wrap="square" lIns="0" tIns="9392" rIns="0" bIns="0" rtlCol="0">
            <a:spAutoFit/>
          </a:bodyPr>
          <a:lstStyle/>
          <a:p>
            <a:pPr marL="9887" marR="3955">
              <a:lnSpc>
                <a:spcPct val="158100"/>
              </a:lnSpc>
              <a:spcBef>
                <a:spcPts val="74"/>
              </a:spcBef>
            </a:pP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Defensible decisions for </a:t>
            </a: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regulators </a:t>
            </a: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Actionable insights for investigation </a:t>
            </a: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teams </a:t>
            </a:r>
            <a:r>
              <a:rPr sz="973" dirty="0">
                <a:solidFill>
                  <a:srgbClr val="333333"/>
                </a:solidFill>
                <a:latin typeface="Times New Roman"/>
                <a:cs typeface="Times New Roman"/>
              </a:rPr>
              <a:t>Continuous model </a:t>
            </a:r>
            <a:r>
              <a:rPr sz="973" spc="-8" dirty="0">
                <a:solidFill>
                  <a:srgbClr val="333333"/>
                </a:solidFill>
                <a:latin typeface="Times New Roman"/>
                <a:cs typeface="Times New Roman"/>
              </a:rPr>
              <a:t>improvement</a:t>
            </a:r>
            <a:endParaRPr sz="973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36761" y="1507039"/>
            <a:ext cx="4050045" cy="3910149"/>
            <a:chOff x="5827775" y="986313"/>
            <a:chExt cx="5202555" cy="5022850"/>
          </a:xfrm>
        </p:grpSpPr>
        <p:sp>
          <p:nvSpPr>
            <p:cNvPr id="15" name="object 15"/>
            <p:cNvSpPr/>
            <p:nvPr/>
          </p:nvSpPr>
          <p:spPr>
            <a:xfrm>
              <a:off x="5827775" y="986313"/>
              <a:ext cx="110489" cy="5022850"/>
            </a:xfrm>
            <a:custGeom>
              <a:avLst/>
              <a:gdLst/>
              <a:ahLst/>
              <a:cxnLst/>
              <a:rect l="l" t="t" r="r" b="b"/>
              <a:pathLst>
                <a:path w="110489" h="5022850">
                  <a:moveTo>
                    <a:pt x="110491" y="5022627"/>
                  </a:moveTo>
                  <a:lnTo>
                    <a:pt x="0" y="5022627"/>
                  </a:lnTo>
                  <a:lnTo>
                    <a:pt x="0" y="0"/>
                  </a:lnTo>
                  <a:lnTo>
                    <a:pt x="110489" y="0"/>
                  </a:lnTo>
                  <a:lnTo>
                    <a:pt x="103710" y="1348"/>
                  </a:lnTo>
                  <a:lnTo>
                    <a:pt x="90686" y="6742"/>
                  </a:lnTo>
                  <a:lnTo>
                    <a:pt x="65737" y="39321"/>
                  </a:lnTo>
                  <a:lnTo>
                    <a:pt x="64388" y="46101"/>
                  </a:lnTo>
                  <a:lnTo>
                    <a:pt x="64388" y="4976525"/>
                  </a:lnTo>
                  <a:lnTo>
                    <a:pt x="84939" y="5012043"/>
                  </a:lnTo>
                  <a:lnTo>
                    <a:pt x="103710" y="5021278"/>
                  </a:lnTo>
                  <a:lnTo>
                    <a:pt x="110491" y="502262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92164" y="986313"/>
              <a:ext cx="5137785" cy="5022850"/>
            </a:xfrm>
            <a:custGeom>
              <a:avLst/>
              <a:gdLst/>
              <a:ahLst/>
              <a:cxnLst/>
              <a:rect l="l" t="t" r="r" b="b"/>
              <a:pathLst>
                <a:path w="5137784" h="5022850">
                  <a:moveTo>
                    <a:pt x="5137785" y="5022627"/>
                  </a:moveTo>
                  <a:lnTo>
                    <a:pt x="49659" y="5022627"/>
                  </a:lnTo>
                  <a:lnTo>
                    <a:pt x="46203" y="5022286"/>
                  </a:lnTo>
                  <a:lnTo>
                    <a:pt x="10896" y="5001907"/>
                  </a:lnTo>
                  <a:lnTo>
                    <a:pt x="0" y="4972968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5022627"/>
                  </a:lnTo>
                  <a:close/>
                </a:path>
              </a:pathLst>
            </a:custGeom>
            <a:solidFill>
              <a:srgbClr val="0066CC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33896" y="1562099"/>
              <a:ext cx="4996180" cy="4278630"/>
            </a:xfrm>
            <a:custGeom>
              <a:avLst/>
              <a:gdLst/>
              <a:ahLst/>
              <a:cxnLst/>
              <a:rect l="l" t="t" r="r" b="b"/>
              <a:pathLst>
                <a:path w="4996180" h="4278630">
                  <a:moveTo>
                    <a:pt x="4993068" y="4278534"/>
                  </a:moveTo>
                  <a:lnTo>
                    <a:pt x="38418" y="4278534"/>
                  </a:lnTo>
                  <a:lnTo>
                    <a:pt x="32768" y="4277410"/>
                  </a:lnTo>
                  <a:lnTo>
                    <a:pt x="1124" y="4245766"/>
                  </a:lnTo>
                  <a:lnTo>
                    <a:pt x="0" y="4240116"/>
                  </a:lnTo>
                  <a:lnTo>
                    <a:pt x="0" y="38417"/>
                  </a:lnTo>
                  <a:lnTo>
                    <a:pt x="21915" y="5618"/>
                  </a:lnTo>
                  <a:lnTo>
                    <a:pt x="38418" y="0"/>
                  </a:lnTo>
                  <a:lnTo>
                    <a:pt x="4993068" y="0"/>
                  </a:lnTo>
                  <a:lnTo>
                    <a:pt x="4996053" y="593"/>
                  </a:lnTo>
                  <a:lnTo>
                    <a:pt x="4996053" y="4277940"/>
                  </a:lnTo>
                  <a:lnTo>
                    <a:pt x="4993068" y="4278534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6770" y="1694973"/>
              <a:ext cx="4765737" cy="26574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66770" y="4622625"/>
              <a:ext cx="4766310" cy="0"/>
            </a:xfrm>
            <a:custGeom>
              <a:avLst/>
              <a:gdLst/>
              <a:ahLst/>
              <a:cxnLst/>
              <a:rect l="l" t="t" r="r" b="b"/>
              <a:pathLst>
                <a:path w="4766309">
                  <a:moveTo>
                    <a:pt x="0" y="0"/>
                  </a:moveTo>
                  <a:lnTo>
                    <a:pt x="4765738" y="0"/>
                  </a:lnTo>
                </a:path>
              </a:pathLst>
            </a:custGeom>
            <a:ln w="8858">
              <a:solidFill>
                <a:srgbClr val="CCCCC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774194" y="1593695"/>
            <a:ext cx="1763275" cy="209726"/>
          </a:xfrm>
          <a:prstGeom prst="rect">
            <a:avLst/>
          </a:prstGeom>
        </p:spPr>
        <p:txBody>
          <a:bodyPr vert="horz" wrap="square" lIns="0" tIns="11864" rIns="0" bIns="0" rtlCol="0">
            <a:spAutoFit/>
          </a:bodyPr>
          <a:lstStyle/>
          <a:p>
            <a:pPr marL="9887">
              <a:spcBef>
                <a:spcPts val="93"/>
              </a:spcBef>
            </a:pPr>
            <a:r>
              <a:rPr sz="1285" dirty="0">
                <a:solidFill>
                  <a:srgbClr val="373C3C"/>
                </a:solidFill>
                <a:latin typeface="Times New Roman"/>
                <a:cs typeface="Times New Roman"/>
              </a:rPr>
              <a:t>SHAP</a:t>
            </a:r>
            <a:r>
              <a:rPr sz="1285" spc="-66" dirty="0">
                <a:solidFill>
                  <a:srgbClr val="373C3C"/>
                </a:solidFill>
                <a:latin typeface="Times New Roman"/>
                <a:cs typeface="Times New Roman"/>
              </a:rPr>
              <a:t> </a:t>
            </a:r>
            <a:r>
              <a:rPr sz="1285" spc="-23" dirty="0">
                <a:solidFill>
                  <a:srgbClr val="373C3C"/>
                </a:solidFill>
                <a:latin typeface="Times New Roman"/>
                <a:cs typeface="Times New Roman"/>
              </a:rPr>
              <a:t>Value</a:t>
            </a:r>
            <a:r>
              <a:rPr sz="1285" spc="-16" dirty="0">
                <a:solidFill>
                  <a:srgbClr val="373C3C"/>
                </a:solidFill>
                <a:latin typeface="Times New Roman"/>
                <a:cs typeface="Times New Roman"/>
              </a:rPr>
              <a:t> </a:t>
            </a:r>
            <a:r>
              <a:rPr sz="1285" spc="-8" dirty="0">
                <a:solidFill>
                  <a:srgbClr val="373C3C"/>
                </a:solidFill>
                <a:latin typeface="Times New Roman"/>
                <a:cs typeface="Times New Roman"/>
              </a:rPr>
              <a:t>Visualization</a:t>
            </a:r>
            <a:endParaRPr sz="128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90773" y="2319213"/>
            <a:ext cx="787962" cy="149710"/>
          </a:xfrm>
          <a:prstGeom prst="rect">
            <a:avLst/>
          </a:prstGeom>
        </p:spPr>
        <p:txBody>
          <a:bodyPr vert="horz" wrap="square" lIns="0" tIns="11864" rIns="0" bIns="0" rtlCol="0">
            <a:spAutoFit/>
          </a:bodyPr>
          <a:lstStyle/>
          <a:p>
            <a:pPr marL="9887">
              <a:spcBef>
                <a:spcPts val="93"/>
              </a:spcBef>
            </a:pPr>
            <a:r>
              <a:rPr sz="895" dirty="0">
                <a:solidFill>
                  <a:srgbClr val="CC3333"/>
                </a:solidFill>
                <a:latin typeface="Times New Roman"/>
                <a:cs typeface="Times New Roman"/>
              </a:rPr>
              <a:t>Negative</a:t>
            </a:r>
            <a:r>
              <a:rPr sz="895" spc="4" dirty="0">
                <a:solidFill>
                  <a:srgbClr val="CC3333"/>
                </a:solidFill>
                <a:latin typeface="Times New Roman"/>
                <a:cs typeface="Times New Roman"/>
              </a:rPr>
              <a:t> </a:t>
            </a:r>
            <a:r>
              <a:rPr sz="895" spc="-8" dirty="0">
                <a:solidFill>
                  <a:srgbClr val="CC3333"/>
                </a:solidFill>
                <a:latin typeface="Times New Roman"/>
                <a:cs typeface="Times New Roman"/>
              </a:rPr>
              <a:t>Impact</a:t>
            </a:r>
            <a:endParaRPr sz="89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0448" y="2319213"/>
            <a:ext cx="535359" cy="149710"/>
          </a:xfrm>
          <a:prstGeom prst="rect">
            <a:avLst/>
          </a:prstGeom>
        </p:spPr>
        <p:txBody>
          <a:bodyPr vert="horz" wrap="square" lIns="0" tIns="11864" rIns="0" bIns="0" rtlCol="0">
            <a:spAutoFit/>
          </a:bodyPr>
          <a:lstStyle/>
          <a:p>
            <a:pPr marL="9887">
              <a:spcBef>
                <a:spcPts val="93"/>
              </a:spcBef>
            </a:pPr>
            <a:r>
              <a:rPr sz="895" dirty="0">
                <a:solidFill>
                  <a:srgbClr val="333333"/>
                </a:solidFill>
                <a:latin typeface="Times New Roman"/>
                <a:cs typeface="Times New Roman"/>
              </a:rPr>
              <a:t>Base</a:t>
            </a:r>
            <a:r>
              <a:rPr sz="895" spc="-12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895" spc="-8" dirty="0">
                <a:solidFill>
                  <a:srgbClr val="333333"/>
                </a:solidFill>
                <a:latin typeface="Times New Roman"/>
                <a:cs typeface="Times New Roman"/>
              </a:rPr>
              <a:t>Value</a:t>
            </a:r>
            <a:endParaRPr sz="895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77561" y="2319213"/>
            <a:ext cx="742978" cy="149710"/>
          </a:xfrm>
          <a:prstGeom prst="rect">
            <a:avLst/>
          </a:prstGeom>
        </p:spPr>
        <p:txBody>
          <a:bodyPr vert="horz" wrap="square" lIns="0" tIns="11864" rIns="0" bIns="0" rtlCol="0">
            <a:spAutoFit/>
          </a:bodyPr>
          <a:lstStyle/>
          <a:p>
            <a:pPr marL="9887">
              <a:spcBef>
                <a:spcPts val="93"/>
              </a:spcBef>
            </a:pPr>
            <a:r>
              <a:rPr sz="895" dirty="0">
                <a:solidFill>
                  <a:srgbClr val="0066CC"/>
                </a:solidFill>
                <a:latin typeface="Times New Roman"/>
                <a:cs typeface="Times New Roman"/>
              </a:rPr>
              <a:t>Positive</a:t>
            </a:r>
            <a:r>
              <a:rPr sz="895" spc="-4" dirty="0">
                <a:solidFill>
                  <a:srgbClr val="0066CC"/>
                </a:solidFill>
                <a:latin typeface="Times New Roman"/>
                <a:cs typeface="Times New Roman"/>
              </a:rPr>
              <a:t> </a:t>
            </a:r>
            <a:r>
              <a:rPr sz="895" spc="-8" dirty="0">
                <a:solidFill>
                  <a:srgbClr val="0066CC"/>
                </a:solidFill>
                <a:latin typeface="Times New Roman"/>
                <a:cs typeface="Times New Roman"/>
              </a:rPr>
              <a:t>Impact</a:t>
            </a:r>
            <a:endParaRPr sz="895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52238" y="2968970"/>
            <a:ext cx="1717302" cy="1165630"/>
            <a:chOff x="8159877" y="2864262"/>
            <a:chExt cx="2205990" cy="1497330"/>
          </a:xfrm>
        </p:grpSpPr>
        <p:sp>
          <p:nvSpPr>
            <p:cNvPr id="25" name="object 25"/>
            <p:cNvSpPr/>
            <p:nvPr/>
          </p:nvSpPr>
          <p:spPr>
            <a:xfrm>
              <a:off x="8159864" y="2864268"/>
              <a:ext cx="2205990" cy="452120"/>
            </a:xfrm>
            <a:custGeom>
              <a:avLst/>
              <a:gdLst/>
              <a:ahLst/>
              <a:cxnLst/>
              <a:rect l="l" t="t" r="r" b="b"/>
              <a:pathLst>
                <a:path w="2205990" h="452120">
                  <a:moveTo>
                    <a:pt x="2205710" y="360832"/>
                  </a:moveTo>
                  <a:lnTo>
                    <a:pt x="2190343" y="345465"/>
                  </a:lnTo>
                  <a:lnTo>
                    <a:pt x="15379" y="345465"/>
                  </a:lnTo>
                  <a:lnTo>
                    <a:pt x="0" y="360832"/>
                  </a:lnTo>
                  <a:lnTo>
                    <a:pt x="12" y="434047"/>
                  </a:lnTo>
                  <a:lnTo>
                    <a:pt x="0" y="436397"/>
                  </a:lnTo>
                  <a:lnTo>
                    <a:pt x="15379" y="451764"/>
                  </a:lnTo>
                  <a:lnTo>
                    <a:pt x="2190343" y="451764"/>
                  </a:lnTo>
                  <a:lnTo>
                    <a:pt x="2205710" y="436397"/>
                  </a:lnTo>
                  <a:lnTo>
                    <a:pt x="2205710" y="360832"/>
                  </a:lnTo>
                  <a:close/>
                </a:path>
                <a:path w="2205990" h="452120">
                  <a:moveTo>
                    <a:pt x="2205710" y="15367"/>
                  </a:moveTo>
                  <a:lnTo>
                    <a:pt x="2190343" y="0"/>
                  </a:lnTo>
                  <a:lnTo>
                    <a:pt x="15379" y="0"/>
                  </a:lnTo>
                  <a:lnTo>
                    <a:pt x="0" y="15367"/>
                  </a:lnTo>
                  <a:lnTo>
                    <a:pt x="12" y="88582"/>
                  </a:lnTo>
                  <a:lnTo>
                    <a:pt x="0" y="90932"/>
                  </a:lnTo>
                  <a:lnTo>
                    <a:pt x="15379" y="106299"/>
                  </a:lnTo>
                  <a:lnTo>
                    <a:pt x="2190343" y="106299"/>
                  </a:lnTo>
                  <a:lnTo>
                    <a:pt x="2205710" y="90932"/>
                  </a:lnTo>
                  <a:lnTo>
                    <a:pt x="2205710" y="15367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59877" y="3564064"/>
              <a:ext cx="2205990" cy="106680"/>
            </a:xfrm>
            <a:custGeom>
              <a:avLst/>
              <a:gdLst/>
              <a:ahLst/>
              <a:cxnLst/>
              <a:rect l="l" t="t" r="r" b="b"/>
              <a:pathLst>
                <a:path w="2205990" h="106679">
                  <a:moveTo>
                    <a:pt x="2190338" y="106298"/>
                  </a:moveTo>
                  <a:lnTo>
                    <a:pt x="15367" y="106298"/>
                  </a:lnTo>
                  <a:lnTo>
                    <a:pt x="13107" y="105848"/>
                  </a:lnTo>
                  <a:lnTo>
                    <a:pt x="0" y="90931"/>
                  </a:lnTo>
                  <a:lnTo>
                    <a:pt x="0" y="88582"/>
                  </a:lnTo>
                  <a:lnTo>
                    <a:pt x="0" y="15366"/>
                  </a:lnTo>
                  <a:lnTo>
                    <a:pt x="15367" y="0"/>
                  </a:lnTo>
                  <a:lnTo>
                    <a:pt x="2190338" y="0"/>
                  </a:lnTo>
                  <a:lnTo>
                    <a:pt x="2205703" y="15366"/>
                  </a:lnTo>
                  <a:lnTo>
                    <a:pt x="2205703" y="90931"/>
                  </a:lnTo>
                  <a:lnTo>
                    <a:pt x="2192596" y="105848"/>
                  </a:lnTo>
                  <a:lnTo>
                    <a:pt x="2190338" y="106298"/>
                  </a:lnTo>
                  <a:close/>
                </a:path>
              </a:pathLst>
            </a:custGeom>
            <a:solidFill>
              <a:srgbClr val="CC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59877" y="3909535"/>
              <a:ext cx="2205990" cy="106680"/>
            </a:xfrm>
            <a:custGeom>
              <a:avLst/>
              <a:gdLst/>
              <a:ahLst/>
              <a:cxnLst/>
              <a:rect l="l" t="t" r="r" b="b"/>
              <a:pathLst>
                <a:path w="2205990" h="106679">
                  <a:moveTo>
                    <a:pt x="2190338" y="106298"/>
                  </a:moveTo>
                  <a:lnTo>
                    <a:pt x="15367" y="106298"/>
                  </a:lnTo>
                  <a:lnTo>
                    <a:pt x="13107" y="105849"/>
                  </a:lnTo>
                  <a:lnTo>
                    <a:pt x="0" y="90931"/>
                  </a:lnTo>
                  <a:lnTo>
                    <a:pt x="0" y="88582"/>
                  </a:lnTo>
                  <a:lnTo>
                    <a:pt x="0" y="15367"/>
                  </a:lnTo>
                  <a:lnTo>
                    <a:pt x="15367" y="0"/>
                  </a:lnTo>
                  <a:lnTo>
                    <a:pt x="2190338" y="0"/>
                  </a:lnTo>
                  <a:lnTo>
                    <a:pt x="2205703" y="15367"/>
                  </a:lnTo>
                  <a:lnTo>
                    <a:pt x="2205703" y="90931"/>
                  </a:lnTo>
                  <a:lnTo>
                    <a:pt x="2192596" y="105849"/>
                  </a:lnTo>
                  <a:lnTo>
                    <a:pt x="2190338" y="106298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59877" y="4255007"/>
              <a:ext cx="2205990" cy="106680"/>
            </a:xfrm>
            <a:custGeom>
              <a:avLst/>
              <a:gdLst/>
              <a:ahLst/>
              <a:cxnLst/>
              <a:rect l="l" t="t" r="r" b="b"/>
              <a:pathLst>
                <a:path w="2205990" h="106679">
                  <a:moveTo>
                    <a:pt x="2190338" y="106298"/>
                  </a:moveTo>
                  <a:lnTo>
                    <a:pt x="15367" y="106298"/>
                  </a:lnTo>
                  <a:lnTo>
                    <a:pt x="13107" y="105848"/>
                  </a:lnTo>
                  <a:lnTo>
                    <a:pt x="0" y="90931"/>
                  </a:lnTo>
                  <a:lnTo>
                    <a:pt x="0" y="88582"/>
                  </a:lnTo>
                  <a:lnTo>
                    <a:pt x="0" y="15366"/>
                  </a:lnTo>
                  <a:lnTo>
                    <a:pt x="15367" y="0"/>
                  </a:lnTo>
                  <a:lnTo>
                    <a:pt x="2190338" y="0"/>
                  </a:lnTo>
                  <a:lnTo>
                    <a:pt x="2205703" y="15366"/>
                  </a:lnTo>
                  <a:lnTo>
                    <a:pt x="2205703" y="90931"/>
                  </a:lnTo>
                  <a:lnTo>
                    <a:pt x="2192596" y="105848"/>
                  </a:lnTo>
                  <a:lnTo>
                    <a:pt x="2190338" y="106298"/>
                  </a:lnTo>
                  <a:close/>
                </a:path>
              </a:pathLst>
            </a:custGeom>
            <a:solidFill>
              <a:srgbClr val="CC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790773" y="2509470"/>
            <a:ext cx="1503257" cy="1656595"/>
          </a:xfrm>
          <a:prstGeom prst="rect">
            <a:avLst/>
          </a:prstGeom>
        </p:spPr>
        <p:txBody>
          <a:bodyPr vert="horz" wrap="square" lIns="0" tIns="25705" rIns="0" bIns="0" rtlCol="0">
            <a:spAutoFit/>
          </a:bodyPr>
          <a:lstStyle/>
          <a:p>
            <a:pPr marL="9887" marR="3955">
              <a:lnSpc>
                <a:spcPct val="139500"/>
              </a:lnSpc>
              <a:spcBef>
                <a:spcPts val="202"/>
              </a:spcBef>
            </a:pPr>
            <a:r>
              <a:rPr sz="1285" b="1" dirty="0">
                <a:solidFill>
                  <a:srgbClr val="333333"/>
                </a:solidFill>
                <a:latin typeface="Times New Roman"/>
                <a:cs typeface="Times New Roman"/>
              </a:rPr>
              <a:t>Feature</a:t>
            </a:r>
            <a:r>
              <a:rPr sz="1285" b="1" spc="12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85" b="1" spc="-8" dirty="0">
                <a:solidFill>
                  <a:srgbClr val="333333"/>
                </a:solidFill>
                <a:latin typeface="Times New Roman"/>
                <a:cs typeface="Times New Roman"/>
              </a:rPr>
              <a:t>Importance: </a:t>
            </a:r>
            <a:r>
              <a:rPr sz="1285" spc="-8" dirty="0">
                <a:solidFill>
                  <a:srgbClr val="333333"/>
                </a:solidFill>
                <a:latin typeface="Times New Roman"/>
                <a:cs typeface="Times New Roman"/>
              </a:rPr>
              <a:t>Transaction_Amount Country_Risk_Score Transaction_Freque… Description_Keyw… Beneficiary_History</a:t>
            </a:r>
            <a:endParaRPr sz="1285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29790" y="2819787"/>
            <a:ext cx="402879" cy="1379868"/>
          </a:xfrm>
          <a:prstGeom prst="rect">
            <a:avLst/>
          </a:prstGeom>
        </p:spPr>
        <p:txBody>
          <a:bodyPr vert="horz" wrap="square" lIns="0" tIns="82553" rIns="0" bIns="0" rtlCol="0">
            <a:spAutoFit/>
          </a:bodyPr>
          <a:lstStyle/>
          <a:p>
            <a:pPr marL="9887">
              <a:spcBef>
                <a:spcPts val="650"/>
              </a:spcBef>
            </a:pPr>
            <a:r>
              <a:rPr sz="1285" spc="-8" dirty="0">
                <a:solidFill>
                  <a:srgbClr val="0066CC"/>
                </a:solidFill>
                <a:latin typeface="Times New Roman"/>
                <a:cs typeface="Times New Roman"/>
              </a:rPr>
              <a:t>+0.42</a:t>
            </a:r>
            <a:endParaRPr sz="1285">
              <a:latin typeface="Times New Roman"/>
              <a:cs typeface="Times New Roman"/>
            </a:endParaRPr>
          </a:p>
          <a:p>
            <a:pPr marL="9887">
              <a:spcBef>
                <a:spcPts val="576"/>
              </a:spcBef>
            </a:pPr>
            <a:r>
              <a:rPr sz="1285" spc="-8" dirty="0">
                <a:solidFill>
                  <a:srgbClr val="0066CC"/>
                </a:solidFill>
                <a:latin typeface="Times New Roman"/>
                <a:cs typeface="Times New Roman"/>
              </a:rPr>
              <a:t>+0.38</a:t>
            </a:r>
            <a:endParaRPr sz="1285">
              <a:latin typeface="Times New Roman"/>
              <a:cs typeface="Times New Roman"/>
            </a:endParaRPr>
          </a:p>
          <a:p>
            <a:pPr marL="35593">
              <a:spcBef>
                <a:spcPts val="576"/>
              </a:spcBef>
            </a:pPr>
            <a:r>
              <a:rPr sz="1285" dirty="0">
                <a:solidFill>
                  <a:srgbClr val="CC3333"/>
                </a:solidFill>
                <a:latin typeface="Times New Roman"/>
                <a:cs typeface="Times New Roman"/>
              </a:rPr>
              <a:t>-</a:t>
            </a:r>
            <a:r>
              <a:rPr sz="1285" spc="-16" dirty="0">
                <a:solidFill>
                  <a:srgbClr val="CC3333"/>
                </a:solidFill>
                <a:latin typeface="Times New Roman"/>
                <a:cs typeface="Times New Roman"/>
              </a:rPr>
              <a:t>0.27</a:t>
            </a:r>
            <a:endParaRPr sz="1285">
              <a:latin typeface="Times New Roman"/>
              <a:cs typeface="Times New Roman"/>
            </a:endParaRPr>
          </a:p>
          <a:p>
            <a:pPr marL="9887">
              <a:spcBef>
                <a:spcPts val="576"/>
              </a:spcBef>
            </a:pPr>
            <a:r>
              <a:rPr sz="1285" spc="-8" dirty="0">
                <a:solidFill>
                  <a:srgbClr val="0066CC"/>
                </a:solidFill>
                <a:latin typeface="Times New Roman"/>
                <a:cs typeface="Times New Roman"/>
              </a:rPr>
              <a:t>+0.25</a:t>
            </a:r>
            <a:endParaRPr sz="1285">
              <a:latin typeface="Times New Roman"/>
              <a:cs typeface="Times New Roman"/>
            </a:endParaRPr>
          </a:p>
          <a:p>
            <a:pPr marL="35593">
              <a:spcBef>
                <a:spcPts val="576"/>
              </a:spcBef>
            </a:pPr>
            <a:r>
              <a:rPr sz="1285" dirty="0">
                <a:solidFill>
                  <a:srgbClr val="CC3333"/>
                </a:solidFill>
                <a:latin typeface="Times New Roman"/>
                <a:cs typeface="Times New Roman"/>
              </a:rPr>
              <a:t>-</a:t>
            </a:r>
            <a:r>
              <a:rPr sz="1285" spc="-16" dirty="0">
                <a:solidFill>
                  <a:srgbClr val="CC3333"/>
                </a:solidFill>
                <a:latin typeface="Times New Roman"/>
                <a:cs typeface="Times New Roman"/>
              </a:rPr>
              <a:t>0.19</a:t>
            </a:r>
            <a:endParaRPr sz="1285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35933" y="4564449"/>
            <a:ext cx="1639692" cy="169724"/>
          </a:xfrm>
          <a:prstGeom prst="rect">
            <a:avLst/>
          </a:prstGeom>
        </p:spPr>
        <p:txBody>
          <a:bodyPr vert="horz" wrap="square" lIns="0" tIns="13841" rIns="0" bIns="0" rtlCol="0">
            <a:spAutoFit/>
          </a:bodyPr>
          <a:lstStyle/>
          <a:p>
            <a:pPr marL="9887">
              <a:spcBef>
                <a:spcPts val="109"/>
              </a:spcBef>
            </a:pPr>
            <a:r>
              <a:rPr sz="1012" b="1" dirty="0">
                <a:solidFill>
                  <a:srgbClr val="333333"/>
                </a:solidFill>
                <a:latin typeface="Times New Roman"/>
                <a:cs typeface="Times New Roman"/>
              </a:rPr>
              <a:t>Transaction</a:t>
            </a:r>
            <a:r>
              <a:rPr sz="1012" b="1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012" b="1" dirty="0">
                <a:solidFill>
                  <a:srgbClr val="333333"/>
                </a:solidFill>
                <a:latin typeface="Times New Roman"/>
                <a:cs typeface="Times New Roman"/>
              </a:rPr>
              <a:t>Risk</a:t>
            </a:r>
            <a:r>
              <a:rPr sz="1012" b="1" spc="3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012" b="1" dirty="0">
                <a:solidFill>
                  <a:srgbClr val="333333"/>
                </a:solidFill>
                <a:latin typeface="Times New Roman"/>
                <a:cs typeface="Times New Roman"/>
              </a:rPr>
              <a:t>Score:</a:t>
            </a:r>
            <a:r>
              <a:rPr sz="1012" b="1" spc="3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012" b="1" spc="-16" dirty="0">
                <a:solidFill>
                  <a:srgbClr val="333333"/>
                </a:solidFill>
                <a:latin typeface="Times New Roman"/>
                <a:cs typeface="Times New Roman"/>
              </a:rPr>
              <a:t>0.87</a:t>
            </a:r>
            <a:endParaRPr sz="1012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97584" y="4877593"/>
            <a:ext cx="1916517" cy="149710"/>
          </a:xfrm>
          <a:prstGeom prst="rect">
            <a:avLst/>
          </a:prstGeom>
        </p:spPr>
        <p:txBody>
          <a:bodyPr vert="horz" wrap="square" lIns="0" tIns="11864" rIns="0" bIns="0" rtlCol="0">
            <a:spAutoFit/>
          </a:bodyPr>
          <a:lstStyle/>
          <a:p>
            <a:pPr marL="9887">
              <a:spcBef>
                <a:spcPts val="93"/>
              </a:spcBef>
            </a:pPr>
            <a:r>
              <a:rPr sz="895" dirty="0">
                <a:solidFill>
                  <a:srgbClr val="CC3333"/>
                </a:solidFill>
                <a:latin typeface="Times New Roman"/>
                <a:cs typeface="Times New Roman"/>
              </a:rPr>
              <a:t>High Risk -</a:t>
            </a:r>
            <a:r>
              <a:rPr sz="895" spc="4" dirty="0">
                <a:solidFill>
                  <a:srgbClr val="CC3333"/>
                </a:solidFill>
                <a:latin typeface="Times New Roman"/>
                <a:cs typeface="Times New Roman"/>
              </a:rPr>
              <a:t> </a:t>
            </a:r>
            <a:r>
              <a:rPr sz="895" dirty="0">
                <a:solidFill>
                  <a:srgbClr val="CC3333"/>
                </a:solidFill>
                <a:latin typeface="Times New Roman"/>
                <a:cs typeface="Times New Roman"/>
              </a:rPr>
              <a:t>Investigation </a:t>
            </a:r>
            <a:r>
              <a:rPr sz="895" spc="-8" dirty="0">
                <a:solidFill>
                  <a:srgbClr val="CC3333"/>
                </a:solidFill>
                <a:latin typeface="Times New Roman"/>
                <a:cs typeface="Times New Roman"/>
              </a:rPr>
              <a:t>Recommended</a:t>
            </a:r>
            <a:endParaRPr sz="895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xfrm>
            <a:off x="0" y="739222"/>
            <a:ext cx="0" cy="540748"/>
          </a:xfrm>
          <a:prstGeom prst="rect">
            <a:avLst/>
          </a:prstGeom>
        </p:spPr>
        <p:txBody>
          <a:bodyPr vert="horz" wrap="square" lIns="0" tIns="1483" rIns="0" bIns="0" rtlCol="0">
            <a:spAutoFit/>
          </a:bodyPr>
          <a:lstStyle/>
          <a:p>
            <a:pPr marL="29661">
              <a:spcBef>
                <a:spcPts val="12"/>
              </a:spcBef>
            </a:pPr>
            <a:fld id="{81D60167-4931-47E6-BA6A-407CBD079E47}" type="slidenum">
              <a:rPr dirty="0"/>
              <a:pPr marL="29661">
                <a:spcBef>
                  <a:spcPts val="12"/>
                </a:spcBef>
              </a:pPr>
              <a:t>9</a:t>
            </a:fld>
            <a:r>
              <a:rPr spc="175" dirty="0"/>
              <a:t> </a:t>
            </a:r>
            <a:r>
              <a:rPr dirty="0"/>
              <a:t>/</a:t>
            </a:r>
            <a:r>
              <a:rPr spc="175" dirty="0"/>
              <a:t> </a:t>
            </a:r>
            <a:r>
              <a:rPr spc="-19" dirty="0"/>
              <a:t>17</a:t>
            </a:r>
          </a:p>
        </p:txBody>
      </p:sp>
      <p:sp>
        <p:nvSpPr>
          <p:cNvPr id="46" name="Slide Number Placeholder 17">
            <a:extLst>
              <a:ext uri="{FF2B5EF4-FFF2-40B4-BE49-F238E27FC236}">
                <a16:creationId xmlns:a16="http://schemas.microsoft.com/office/drawing/2014/main" id="{DECBF9B7-668A-411E-8162-B21652817A09}"/>
              </a:ext>
            </a:extLst>
          </p:cNvPr>
          <p:cNvSpPr txBox="1">
            <a:spLocks/>
          </p:cNvSpPr>
          <p:nvPr/>
        </p:nvSpPr>
        <p:spPr>
          <a:xfrm>
            <a:off x="8315829" y="6491053"/>
            <a:ext cx="582109" cy="202485"/>
          </a:xfrm>
          <a:prstGeom prst="rect">
            <a:avLst/>
          </a:prstGeom>
          <a:solidFill>
            <a:srgbClr val="2683C6"/>
          </a:solidFill>
        </p:spPr>
        <p:txBody>
          <a:bodyPr anchor="ctr"/>
          <a:lstStyle>
            <a:defPPr>
              <a:defRPr kern="0"/>
            </a:defPPr>
            <a:lvl1pPr algn="r">
              <a:defRPr sz="1246" b="1"/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D8618-F20C-406E-B464-04F15D14577A}" type="slidenum">
              <a:rPr kumimoji="0" lang="en-GB" sz="1246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46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7" name="Date Placeholder 2">
            <a:extLst>
              <a:ext uri="{FF2B5EF4-FFF2-40B4-BE49-F238E27FC236}">
                <a16:creationId xmlns:a16="http://schemas.microsoft.com/office/drawing/2014/main" id="{2CE18FEC-2A9A-4697-9FD7-40D5AB684AA5}"/>
              </a:ext>
            </a:extLst>
          </p:cNvPr>
          <p:cNvSpPr txBox="1">
            <a:spLocks/>
          </p:cNvSpPr>
          <p:nvPr/>
        </p:nvSpPr>
        <p:spPr>
          <a:xfrm>
            <a:off x="1807" y="6491576"/>
            <a:ext cx="1138936" cy="201963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defPPr>
              <a:defRPr kern="0"/>
            </a:defPPr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DDF110-EE35-4A7F-B214-B856D7B1D9E6}" type="datetime5">
              <a:rPr kumimoji="0" lang="en-GB" sz="985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7-Jan-26</a:t>
            </a:fld>
            <a:endParaRPr kumimoji="0" lang="en-GB" sz="98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 Placeholder 15">
            <a:extLst>
              <a:ext uri="{FF2B5EF4-FFF2-40B4-BE49-F238E27FC236}">
                <a16:creationId xmlns:a16="http://schemas.microsoft.com/office/drawing/2014/main" id="{F26A35A3-9C46-4DE8-9AE0-F2E9A9F9563D}"/>
              </a:ext>
            </a:extLst>
          </p:cNvPr>
          <p:cNvSpPr txBox="1">
            <a:spLocks/>
          </p:cNvSpPr>
          <p:nvPr/>
        </p:nvSpPr>
        <p:spPr>
          <a:xfrm>
            <a:off x="1140743" y="6492099"/>
            <a:ext cx="3524483" cy="201440"/>
          </a:xfrm>
          <a:prstGeom prst="rect">
            <a:avLst/>
          </a:prstGeom>
          <a:solidFill>
            <a:srgbClr val="003366"/>
          </a:solidFill>
        </p:spPr>
        <p:txBody>
          <a:bodyPr wrap="square" lIns="0" tIns="0" rIns="0" bIns="0"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93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1186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6779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2372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779651">
              <a:defRPr>
                <a:latin typeface="+mn-lt"/>
                <a:ea typeface="+mn-ea"/>
                <a:cs typeface="+mn-cs"/>
              </a:defRPr>
            </a:lvl6pPr>
            <a:lvl7pPr marL="2135581">
              <a:defRPr>
                <a:latin typeface="+mn-lt"/>
                <a:ea typeface="+mn-ea"/>
                <a:cs typeface="+mn-cs"/>
              </a:defRPr>
            </a:lvl7pPr>
            <a:lvl8pPr marL="2491511">
              <a:defRPr>
                <a:latin typeface="+mn-lt"/>
                <a:ea typeface="+mn-ea"/>
                <a:cs typeface="+mn-cs"/>
              </a:defRPr>
            </a:lvl8pPr>
            <a:lvl9pPr marL="2847442">
              <a:defRPr>
                <a:latin typeface="+mn-lt"/>
                <a:ea typeface="+mn-ea"/>
                <a:cs typeface="+mn-cs"/>
              </a:defRPr>
            </a:lvl9pPr>
          </a:lstStyle>
          <a:p>
            <a:pPr marL="168367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4381" algn="l"/>
              </a:tabLst>
              <a:defRPr/>
            </a:pPr>
            <a:r>
              <a:rPr kumimoji="0" lang="en-GB" sz="985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Natalja Krjuckova</a:t>
            </a:r>
            <a:endParaRPr kumimoji="0" lang="en-GB" sz="985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F723DC4F-EAE8-4D38-9C4D-770740B4BFB6}"/>
              </a:ext>
            </a:extLst>
          </p:cNvPr>
          <p:cNvSpPr txBox="1">
            <a:spLocks/>
          </p:cNvSpPr>
          <p:nvPr/>
        </p:nvSpPr>
        <p:spPr>
          <a:xfrm>
            <a:off x="4676829" y="6491576"/>
            <a:ext cx="3669327" cy="201440"/>
          </a:xfrm>
          <a:prstGeom prst="rect">
            <a:avLst/>
          </a:prstGeom>
          <a:solidFill>
            <a:srgbClr val="2683C6"/>
          </a:solidFill>
        </p:spPr>
        <p:txBody>
          <a:bodyPr wrap="square" lIns="0" tIns="0" rIns="0" bIns="0" anchor="ctr" anchorCtr="0">
            <a:noAutofit/>
          </a:bodyPr>
          <a:lstStyle>
            <a:lvl1pPr marL="216271" indent="0" algn="r">
              <a:lnSpc>
                <a:spcPct val="100000"/>
              </a:lnSpc>
              <a:buNone/>
              <a:tabLst>
                <a:tab pos="223996" algn="l"/>
              </a:tabLst>
              <a:defRPr sz="126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16271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3996" algn="l"/>
              </a:tabLst>
              <a:defRPr/>
            </a:pPr>
            <a:r>
              <a:rPr kumimoji="0" lang="en-GB" sz="985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RaTSiF</a:t>
            </a:r>
            <a:r>
              <a:rPr kumimoji="0" lang="en-GB" sz="9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Riga, Latvia</a:t>
            </a:r>
          </a:p>
        </p:txBody>
      </p:sp>
      <p:sp>
        <p:nvSpPr>
          <p:cNvPr id="50" name="object 2">
            <a:extLst>
              <a:ext uri="{FF2B5EF4-FFF2-40B4-BE49-F238E27FC236}">
                <a16:creationId xmlns:a16="http://schemas.microsoft.com/office/drawing/2014/main" id="{6A3F8D92-68E2-44EC-BFE1-71AC3E939014}"/>
              </a:ext>
            </a:extLst>
          </p:cNvPr>
          <p:cNvSpPr/>
          <p:nvPr/>
        </p:nvSpPr>
        <p:spPr>
          <a:xfrm>
            <a:off x="3273970" y="645428"/>
            <a:ext cx="2344607" cy="13841"/>
          </a:xfrm>
          <a:custGeom>
            <a:avLst/>
            <a:gdLst/>
            <a:ahLst/>
            <a:cxnLst/>
            <a:rect l="l" t="t" r="r" b="b"/>
            <a:pathLst>
              <a:path w="3011804" h="17779">
                <a:moveTo>
                  <a:pt x="3011804" y="17716"/>
                </a:moveTo>
                <a:lnTo>
                  <a:pt x="0" y="17716"/>
                </a:lnTo>
                <a:lnTo>
                  <a:pt x="0" y="0"/>
                </a:lnTo>
                <a:lnTo>
                  <a:pt x="3011804" y="0"/>
                </a:lnTo>
                <a:lnTo>
                  <a:pt x="3011804" y="17716"/>
                </a:lnTo>
                <a:close/>
              </a:path>
            </a:pathLst>
          </a:custGeom>
          <a:solidFill>
            <a:srgbClr val="66AA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4369" y="272152"/>
            <a:ext cx="6082293" cy="371936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1347591">
              <a:spcBef>
                <a:spcPts val="97"/>
              </a:spcBef>
            </a:pPr>
            <a:r>
              <a:rPr lang="en-US" dirty="0"/>
              <a:t>Research Progress</a:t>
            </a:r>
            <a:endParaRPr spc="-8" dirty="0"/>
          </a:p>
        </p:txBody>
      </p:sp>
      <p:sp>
        <p:nvSpPr>
          <p:cNvPr id="9" name="Slide Number Placeholder 17">
            <a:extLst>
              <a:ext uri="{FF2B5EF4-FFF2-40B4-BE49-F238E27FC236}">
                <a16:creationId xmlns:a16="http://schemas.microsoft.com/office/drawing/2014/main" id="{9DCE7AED-1FA3-43F0-8162-4025DF17B5F7}"/>
              </a:ext>
            </a:extLst>
          </p:cNvPr>
          <p:cNvSpPr txBox="1">
            <a:spLocks/>
          </p:cNvSpPr>
          <p:nvPr/>
        </p:nvSpPr>
        <p:spPr>
          <a:xfrm>
            <a:off x="8315829" y="6491053"/>
            <a:ext cx="582109" cy="20248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defPPr>
              <a:defRPr kern="0"/>
            </a:defPPr>
            <a:lvl1pPr algn="r">
              <a:defRPr sz="1246" b="1"/>
            </a:lvl1pPr>
          </a:lstStyle>
          <a:p>
            <a:fld id="{CC7D8618-F20C-406E-B464-04F15D14577A}" type="slidenum">
              <a:rPr lang="en-GB" smtClean="0">
                <a:solidFill>
                  <a:schemeClr val="bg1"/>
                </a:solidFill>
              </a:rPr>
              <a:pPr/>
              <a:t>10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FB49734D-B600-4FC1-ADDA-5614E3FFD440}"/>
              </a:ext>
            </a:extLst>
          </p:cNvPr>
          <p:cNvSpPr txBox="1">
            <a:spLocks/>
          </p:cNvSpPr>
          <p:nvPr/>
        </p:nvSpPr>
        <p:spPr>
          <a:xfrm>
            <a:off x="1807" y="6491576"/>
            <a:ext cx="1138936" cy="201963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defPPr>
              <a:defRPr kern="0"/>
            </a:defPPr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7DDF110-EE35-4A7F-B214-B856D7B1D9E6}" type="datetime5">
              <a:rPr lang="en-GB" smtClean="0"/>
              <a:pPr/>
              <a:t>7-Jan-26</a:t>
            </a:fld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ABC4A7E-B363-4205-A380-29757F1B8F1F}"/>
              </a:ext>
            </a:extLst>
          </p:cNvPr>
          <p:cNvSpPr txBox="1">
            <a:spLocks/>
          </p:cNvSpPr>
          <p:nvPr/>
        </p:nvSpPr>
        <p:spPr>
          <a:xfrm>
            <a:off x="1140743" y="6492099"/>
            <a:ext cx="3524483" cy="201440"/>
          </a:xfrm>
          <a:prstGeom prst="rect">
            <a:avLst/>
          </a:prstGeom>
          <a:solidFill>
            <a:srgbClr val="003366"/>
          </a:solidFill>
        </p:spPr>
        <p:txBody>
          <a:bodyPr wrap="square" lIns="0" tIns="0" rIns="0" bIns="0"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93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1186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6779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2372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779651">
              <a:defRPr>
                <a:latin typeface="+mn-lt"/>
                <a:ea typeface="+mn-ea"/>
                <a:cs typeface="+mn-cs"/>
              </a:defRPr>
            </a:lvl6pPr>
            <a:lvl7pPr marL="2135581">
              <a:defRPr>
                <a:latin typeface="+mn-lt"/>
                <a:ea typeface="+mn-ea"/>
                <a:cs typeface="+mn-cs"/>
              </a:defRPr>
            </a:lvl7pPr>
            <a:lvl8pPr marL="2491511">
              <a:defRPr>
                <a:latin typeface="+mn-lt"/>
                <a:ea typeface="+mn-ea"/>
                <a:cs typeface="+mn-cs"/>
              </a:defRPr>
            </a:lvl8pPr>
            <a:lvl9pPr marL="2847442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Natalja Krjuckova</a:t>
            </a:r>
            <a:endParaRPr lang="en-GB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63DC89B9-697E-4317-89E7-873E8D57C780}"/>
              </a:ext>
            </a:extLst>
          </p:cNvPr>
          <p:cNvSpPr txBox="1">
            <a:spLocks/>
          </p:cNvSpPr>
          <p:nvPr/>
        </p:nvSpPr>
        <p:spPr>
          <a:xfrm>
            <a:off x="4676829" y="6491576"/>
            <a:ext cx="3669327" cy="20144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216271" indent="0" algn="r">
              <a:lnSpc>
                <a:spcPct val="100000"/>
              </a:lnSpc>
              <a:buNone/>
              <a:tabLst>
                <a:tab pos="223996" algn="l"/>
              </a:tabLst>
              <a:defRPr sz="126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 sz="985" dirty="0" err="1"/>
              <a:t>RaTSiF</a:t>
            </a:r>
            <a:r>
              <a:rPr lang="en-GB" sz="985" dirty="0"/>
              <a:t>, Riga, Latvia</a:t>
            </a:r>
          </a:p>
        </p:txBody>
      </p:sp>
      <p:grpSp>
        <p:nvGrpSpPr>
          <p:cNvPr id="26" name="object 3">
            <a:extLst>
              <a:ext uri="{FF2B5EF4-FFF2-40B4-BE49-F238E27FC236}">
                <a16:creationId xmlns:a16="http://schemas.microsoft.com/office/drawing/2014/main" id="{E704C781-4A5D-4125-8839-131E967FF3EF}"/>
              </a:ext>
            </a:extLst>
          </p:cNvPr>
          <p:cNvGrpSpPr/>
          <p:nvPr/>
        </p:nvGrpSpPr>
        <p:grpSpPr>
          <a:xfrm>
            <a:off x="345972" y="1418473"/>
            <a:ext cx="4114802" cy="4137541"/>
            <a:chOff x="502919" y="915447"/>
            <a:chExt cx="5285740" cy="5314950"/>
          </a:xfrm>
        </p:grpSpPr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451D4579-1EEE-4281-957D-2E77602C0641}"/>
                </a:ext>
              </a:extLst>
            </p:cNvPr>
            <p:cNvSpPr/>
            <p:nvPr/>
          </p:nvSpPr>
          <p:spPr>
            <a:xfrm>
              <a:off x="502919" y="915447"/>
              <a:ext cx="5285740" cy="5314950"/>
            </a:xfrm>
            <a:custGeom>
              <a:avLst/>
              <a:gdLst/>
              <a:ahLst/>
              <a:cxnLst/>
              <a:rect l="l" t="t" r="r" b="b"/>
              <a:pathLst>
                <a:path w="5285740" h="5314950">
                  <a:moveTo>
                    <a:pt x="120399" y="5314949"/>
                  </a:moveTo>
                  <a:lnTo>
                    <a:pt x="0" y="5314949"/>
                  </a:lnTo>
                  <a:lnTo>
                    <a:pt x="0" y="0"/>
                  </a:lnTo>
                  <a:lnTo>
                    <a:pt x="120396" y="0"/>
                  </a:lnTo>
                  <a:lnTo>
                    <a:pt x="113616" y="1348"/>
                  </a:lnTo>
                  <a:lnTo>
                    <a:pt x="100593" y="6742"/>
                  </a:lnTo>
                  <a:lnTo>
                    <a:pt x="75643" y="39321"/>
                  </a:lnTo>
                  <a:lnTo>
                    <a:pt x="74294" y="46101"/>
                  </a:lnTo>
                  <a:lnTo>
                    <a:pt x="74294" y="5268848"/>
                  </a:lnTo>
                  <a:lnTo>
                    <a:pt x="94845" y="5304365"/>
                  </a:lnTo>
                  <a:lnTo>
                    <a:pt x="113616" y="5313600"/>
                  </a:lnTo>
                  <a:lnTo>
                    <a:pt x="120399" y="5314949"/>
                  </a:lnTo>
                  <a:close/>
                </a:path>
                <a:path w="5285740" h="5314950">
                  <a:moveTo>
                    <a:pt x="5285231" y="5314949"/>
                  </a:moveTo>
                  <a:lnTo>
                    <a:pt x="5165974" y="5314949"/>
                  </a:lnTo>
                  <a:lnTo>
                    <a:pt x="5172757" y="5313600"/>
                  </a:lnTo>
                  <a:lnTo>
                    <a:pt x="5185780" y="5308206"/>
                  </a:lnTo>
                  <a:lnTo>
                    <a:pt x="5210730" y="5275627"/>
                  </a:lnTo>
                  <a:lnTo>
                    <a:pt x="5212079" y="5268848"/>
                  </a:lnTo>
                  <a:lnTo>
                    <a:pt x="5212079" y="46101"/>
                  </a:lnTo>
                  <a:lnTo>
                    <a:pt x="5191528" y="10583"/>
                  </a:lnTo>
                  <a:lnTo>
                    <a:pt x="5165977" y="0"/>
                  </a:lnTo>
                  <a:lnTo>
                    <a:pt x="5285231" y="0"/>
                  </a:lnTo>
                  <a:lnTo>
                    <a:pt x="5285231" y="53149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6863E1F7-C57B-4A5C-B3A5-C1C7F8FF38C6}"/>
                </a:ext>
              </a:extLst>
            </p:cNvPr>
            <p:cNvSpPr/>
            <p:nvPr/>
          </p:nvSpPr>
          <p:spPr>
            <a:xfrm>
              <a:off x="577214" y="915447"/>
              <a:ext cx="5137785" cy="5314950"/>
            </a:xfrm>
            <a:custGeom>
              <a:avLst/>
              <a:gdLst/>
              <a:ahLst/>
              <a:cxnLst/>
              <a:rect l="l" t="t" r="r" b="b"/>
              <a:pathLst>
                <a:path w="5137785" h="5314950">
                  <a:moveTo>
                    <a:pt x="5088125" y="5314949"/>
                  </a:moveTo>
                  <a:lnTo>
                    <a:pt x="49659" y="5314949"/>
                  </a:lnTo>
                  <a:lnTo>
                    <a:pt x="46203" y="5314608"/>
                  </a:lnTo>
                  <a:lnTo>
                    <a:pt x="10896" y="5294229"/>
                  </a:lnTo>
                  <a:lnTo>
                    <a:pt x="0" y="5265289"/>
                  </a:lnTo>
                  <a:lnTo>
                    <a:pt x="0" y="5261800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088125" y="0"/>
                  </a:lnTo>
                  <a:lnTo>
                    <a:pt x="5124685" y="18034"/>
                  </a:lnTo>
                  <a:lnTo>
                    <a:pt x="5137784" y="49659"/>
                  </a:lnTo>
                  <a:lnTo>
                    <a:pt x="5137784" y="5265289"/>
                  </a:lnTo>
                  <a:lnTo>
                    <a:pt x="5119749" y="5301849"/>
                  </a:lnTo>
                  <a:lnTo>
                    <a:pt x="5091581" y="5314608"/>
                  </a:lnTo>
                  <a:lnTo>
                    <a:pt x="5088125" y="5314949"/>
                  </a:lnTo>
                  <a:close/>
                </a:path>
              </a:pathLst>
            </a:custGeom>
            <a:solidFill>
              <a:srgbClr val="FFFFFF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E2ADF772-F0CB-4B1A-BC60-6FE06AAD59EA}"/>
                </a:ext>
              </a:extLst>
            </p:cNvPr>
            <p:cNvSpPr/>
            <p:nvPr/>
          </p:nvSpPr>
          <p:spPr>
            <a:xfrm>
              <a:off x="1152994" y="2217610"/>
              <a:ext cx="124460" cy="3569970"/>
            </a:xfrm>
            <a:custGeom>
              <a:avLst/>
              <a:gdLst/>
              <a:ahLst/>
              <a:cxnLst/>
              <a:rect l="l" t="t" r="r" b="b"/>
              <a:pathLst>
                <a:path w="124459" h="3569970">
                  <a:moveTo>
                    <a:pt x="62014" y="3538880"/>
                  </a:moveTo>
                  <a:lnTo>
                    <a:pt x="35115" y="3507867"/>
                  </a:lnTo>
                  <a:lnTo>
                    <a:pt x="26898" y="3507867"/>
                  </a:lnTo>
                  <a:lnTo>
                    <a:pt x="0" y="3534765"/>
                  </a:lnTo>
                  <a:lnTo>
                    <a:pt x="0" y="3542982"/>
                  </a:lnTo>
                  <a:lnTo>
                    <a:pt x="26898" y="3569881"/>
                  </a:lnTo>
                  <a:lnTo>
                    <a:pt x="35115" y="3569881"/>
                  </a:lnTo>
                  <a:lnTo>
                    <a:pt x="62014" y="3538880"/>
                  </a:lnTo>
                  <a:close/>
                </a:path>
                <a:path w="124459" h="3569970">
                  <a:moveTo>
                    <a:pt x="62014" y="3140252"/>
                  </a:moveTo>
                  <a:lnTo>
                    <a:pt x="35115" y="3109252"/>
                  </a:lnTo>
                  <a:lnTo>
                    <a:pt x="26898" y="3109252"/>
                  </a:lnTo>
                  <a:lnTo>
                    <a:pt x="0" y="3136138"/>
                  </a:lnTo>
                  <a:lnTo>
                    <a:pt x="0" y="3144367"/>
                  </a:lnTo>
                  <a:lnTo>
                    <a:pt x="26898" y="3171253"/>
                  </a:lnTo>
                  <a:lnTo>
                    <a:pt x="35115" y="3171253"/>
                  </a:lnTo>
                  <a:lnTo>
                    <a:pt x="62014" y="3140252"/>
                  </a:lnTo>
                  <a:close/>
                </a:path>
                <a:path w="124459" h="3569970">
                  <a:moveTo>
                    <a:pt x="62014" y="2732773"/>
                  </a:moveTo>
                  <a:lnTo>
                    <a:pt x="35115" y="2701772"/>
                  </a:lnTo>
                  <a:lnTo>
                    <a:pt x="26898" y="2701772"/>
                  </a:lnTo>
                  <a:lnTo>
                    <a:pt x="0" y="2728658"/>
                  </a:lnTo>
                  <a:lnTo>
                    <a:pt x="0" y="2736888"/>
                  </a:lnTo>
                  <a:lnTo>
                    <a:pt x="26898" y="2763774"/>
                  </a:lnTo>
                  <a:lnTo>
                    <a:pt x="35115" y="2763774"/>
                  </a:lnTo>
                  <a:lnTo>
                    <a:pt x="62014" y="2732773"/>
                  </a:lnTo>
                  <a:close/>
                </a:path>
                <a:path w="124459" h="3569970">
                  <a:moveTo>
                    <a:pt x="62014" y="2325293"/>
                  </a:moveTo>
                  <a:lnTo>
                    <a:pt x="35115" y="2294293"/>
                  </a:lnTo>
                  <a:lnTo>
                    <a:pt x="26898" y="2294293"/>
                  </a:lnTo>
                  <a:lnTo>
                    <a:pt x="0" y="2321179"/>
                  </a:lnTo>
                  <a:lnTo>
                    <a:pt x="0" y="2329408"/>
                  </a:lnTo>
                  <a:lnTo>
                    <a:pt x="26898" y="2356294"/>
                  </a:lnTo>
                  <a:lnTo>
                    <a:pt x="35115" y="2356294"/>
                  </a:lnTo>
                  <a:lnTo>
                    <a:pt x="62014" y="2325293"/>
                  </a:lnTo>
                  <a:close/>
                </a:path>
                <a:path w="124459" h="3569970">
                  <a:moveTo>
                    <a:pt x="124015" y="1231620"/>
                  </a:moveTo>
                  <a:lnTo>
                    <a:pt x="97116" y="1204722"/>
                  </a:lnTo>
                  <a:lnTo>
                    <a:pt x="88900" y="1204722"/>
                  </a:lnTo>
                  <a:lnTo>
                    <a:pt x="62001" y="1231620"/>
                  </a:lnTo>
                  <a:lnTo>
                    <a:pt x="62001" y="1239837"/>
                  </a:lnTo>
                  <a:lnTo>
                    <a:pt x="88900" y="1266736"/>
                  </a:lnTo>
                  <a:lnTo>
                    <a:pt x="97116" y="1266736"/>
                  </a:lnTo>
                  <a:lnTo>
                    <a:pt x="124015" y="1239837"/>
                  </a:lnTo>
                  <a:lnTo>
                    <a:pt x="124015" y="1235735"/>
                  </a:lnTo>
                  <a:lnTo>
                    <a:pt x="124015" y="1231620"/>
                  </a:lnTo>
                  <a:close/>
                </a:path>
                <a:path w="124459" h="3569970">
                  <a:moveTo>
                    <a:pt x="124015" y="832993"/>
                  </a:moveTo>
                  <a:lnTo>
                    <a:pt x="97116" y="806107"/>
                  </a:lnTo>
                  <a:lnTo>
                    <a:pt x="88900" y="806107"/>
                  </a:lnTo>
                  <a:lnTo>
                    <a:pt x="62001" y="832993"/>
                  </a:lnTo>
                  <a:lnTo>
                    <a:pt x="62001" y="841222"/>
                  </a:lnTo>
                  <a:lnTo>
                    <a:pt x="88900" y="868108"/>
                  </a:lnTo>
                  <a:lnTo>
                    <a:pt x="97116" y="868108"/>
                  </a:lnTo>
                  <a:lnTo>
                    <a:pt x="124015" y="841222"/>
                  </a:lnTo>
                  <a:lnTo>
                    <a:pt x="124015" y="837107"/>
                  </a:lnTo>
                  <a:lnTo>
                    <a:pt x="124015" y="832993"/>
                  </a:lnTo>
                  <a:close/>
                </a:path>
                <a:path w="124459" h="3569970">
                  <a:moveTo>
                    <a:pt x="124015" y="425513"/>
                  </a:moveTo>
                  <a:lnTo>
                    <a:pt x="97116" y="398627"/>
                  </a:lnTo>
                  <a:lnTo>
                    <a:pt x="88900" y="398627"/>
                  </a:lnTo>
                  <a:lnTo>
                    <a:pt x="62001" y="425513"/>
                  </a:lnTo>
                  <a:lnTo>
                    <a:pt x="62001" y="433743"/>
                  </a:lnTo>
                  <a:lnTo>
                    <a:pt x="88900" y="460629"/>
                  </a:lnTo>
                  <a:lnTo>
                    <a:pt x="97116" y="460629"/>
                  </a:lnTo>
                  <a:lnTo>
                    <a:pt x="124015" y="433743"/>
                  </a:lnTo>
                  <a:lnTo>
                    <a:pt x="124015" y="429628"/>
                  </a:lnTo>
                  <a:lnTo>
                    <a:pt x="124015" y="425513"/>
                  </a:lnTo>
                  <a:close/>
                </a:path>
                <a:path w="124459" h="3569970">
                  <a:moveTo>
                    <a:pt x="124015" y="26898"/>
                  </a:moveTo>
                  <a:lnTo>
                    <a:pt x="97116" y="0"/>
                  </a:lnTo>
                  <a:lnTo>
                    <a:pt x="88900" y="0"/>
                  </a:lnTo>
                  <a:lnTo>
                    <a:pt x="62001" y="26898"/>
                  </a:lnTo>
                  <a:lnTo>
                    <a:pt x="62001" y="35115"/>
                  </a:lnTo>
                  <a:lnTo>
                    <a:pt x="88900" y="62014"/>
                  </a:lnTo>
                  <a:lnTo>
                    <a:pt x="97116" y="62014"/>
                  </a:lnTo>
                  <a:lnTo>
                    <a:pt x="124015" y="35115"/>
                  </a:lnTo>
                  <a:lnTo>
                    <a:pt x="124015" y="31013"/>
                  </a:lnTo>
                  <a:lnTo>
                    <a:pt x="124015" y="268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7">
            <a:extLst>
              <a:ext uri="{FF2B5EF4-FFF2-40B4-BE49-F238E27FC236}">
                <a16:creationId xmlns:a16="http://schemas.microsoft.com/office/drawing/2014/main" id="{83DA52BC-7D79-4180-A7DF-26B3969891FB}"/>
              </a:ext>
            </a:extLst>
          </p:cNvPr>
          <p:cNvSpPr txBox="1"/>
          <p:nvPr/>
        </p:nvSpPr>
        <p:spPr>
          <a:xfrm>
            <a:off x="1035416" y="1564733"/>
            <a:ext cx="3241321" cy="3733177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673301">
              <a:spcBef>
                <a:spcPts val="97"/>
              </a:spcBef>
            </a:pPr>
            <a:r>
              <a:rPr sz="1674" dirty="0">
                <a:solidFill>
                  <a:srgbClr val="2B3D4F"/>
                </a:solidFill>
                <a:latin typeface="Times New Roman"/>
                <a:cs typeface="Times New Roman"/>
              </a:rPr>
              <a:t>Completed</a:t>
            </a:r>
            <a:r>
              <a:rPr sz="1674" spc="-8" dirty="0">
                <a:solidFill>
                  <a:srgbClr val="2B3D4F"/>
                </a:solidFill>
                <a:latin typeface="Times New Roman"/>
                <a:cs typeface="Times New Roman"/>
              </a:rPr>
              <a:t> </a:t>
            </a:r>
            <a:r>
              <a:rPr sz="1674" spc="-16" dirty="0">
                <a:solidFill>
                  <a:srgbClr val="2B3D4F"/>
                </a:solidFill>
                <a:latin typeface="Times New Roman"/>
                <a:cs typeface="Times New Roman"/>
              </a:rPr>
              <a:t>Tasks</a:t>
            </a:r>
            <a:endParaRPr sz="1674" dirty="0">
              <a:latin typeface="Times New Roman"/>
              <a:cs typeface="Times New Roman"/>
            </a:endParaRPr>
          </a:p>
          <a:p>
            <a:pPr marL="596677">
              <a:spcBef>
                <a:spcPts val="1421"/>
              </a:spcBef>
            </a:pPr>
            <a:r>
              <a:rPr lang="en-US" sz="1400" b="1" i="0" dirty="0">
                <a:solidFill>
                  <a:srgbClr val="2ECC71"/>
                </a:solidFill>
                <a:effectLst/>
                <a:latin typeface="Palatino Linotype" panose="02040502050505030304" pitchFamily="18" charset="0"/>
              </a:rPr>
              <a:t>✓ </a:t>
            </a:r>
            <a:r>
              <a:rPr sz="1285" b="1" dirty="0">
                <a:latin typeface="Times New Roman"/>
                <a:cs typeface="Times New Roman"/>
              </a:rPr>
              <a:t>Synthetic</a:t>
            </a:r>
            <a:r>
              <a:rPr sz="1285" b="1" spc="39" dirty="0">
                <a:latin typeface="Times New Roman"/>
                <a:cs typeface="Times New Roman"/>
              </a:rPr>
              <a:t> </a:t>
            </a:r>
            <a:r>
              <a:rPr sz="1285" b="1" dirty="0">
                <a:latin typeface="Times New Roman"/>
                <a:cs typeface="Times New Roman"/>
              </a:rPr>
              <a:t>Data</a:t>
            </a:r>
            <a:r>
              <a:rPr sz="1285" b="1" spc="43" dirty="0">
                <a:latin typeface="Times New Roman"/>
                <a:cs typeface="Times New Roman"/>
              </a:rPr>
              <a:t> </a:t>
            </a:r>
            <a:r>
              <a:rPr sz="1285" b="1" spc="-8" dirty="0">
                <a:latin typeface="Times New Roman"/>
                <a:cs typeface="Times New Roman"/>
              </a:rPr>
              <a:t>Generation</a:t>
            </a:r>
            <a:endParaRPr sz="1285" dirty="0">
              <a:latin typeface="Times New Roman"/>
              <a:cs typeface="Times New Roman"/>
            </a:endParaRPr>
          </a:p>
          <a:p>
            <a:pPr marL="53390" marR="46963">
              <a:lnSpc>
                <a:spcPct val="159700"/>
              </a:lnSpc>
              <a:spcBef>
                <a:spcPts val="416"/>
              </a:spcBef>
            </a:pPr>
            <a:r>
              <a:rPr sz="1285" dirty="0">
                <a:latin typeface="Times New Roman"/>
                <a:cs typeface="Times New Roman"/>
              </a:rPr>
              <a:t>Created</a:t>
            </a:r>
            <a:r>
              <a:rPr sz="1285" spc="31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dataset</a:t>
            </a:r>
            <a:r>
              <a:rPr sz="1285" spc="35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with</a:t>
            </a:r>
            <a:r>
              <a:rPr sz="1285" spc="31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35</a:t>
            </a:r>
            <a:r>
              <a:rPr sz="1285" spc="35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distinct</a:t>
            </a:r>
            <a:r>
              <a:rPr sz="1285" spc="31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fraud</a:t>
            </a:r>
            <a:r>
              <a:rPr sz="1285" spc="35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scenarios </a:t>
            </a:r>
            <a:r>
              <a:rPr sz="1285" dirty="0">
                <a:latin typeface="Times New Roman"/>
                <a:cs typeface="Times New Roman"/>
              </a:rPr>
              <a:t>Implemented</a:t>
            </a:r>
            <a:r>
              <a:rPr sz="1285" spc="43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realistic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transaction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patterns </a:t>
            </a:r>
            <a:r>
              <a:rPr sz="1285" dirty="0">
                <a:latin typeface="Times New Roman"/>
                <a:cs typeface="Times New Roman"/>
              </a:rPr>
              <a:t>Established</a:t>
            </a:r>
            <a:r>
              <a:rPr sz="1285" spc="51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1-5%</a:t>
            </a:r>
            <a:r>
              <a:rPr sz="1285" spc="54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suspicious</a:t>
            </a:r>
            <a:r>
              <a:rPr sz="1285" spc="54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transaction</a:t>
            </a:r>
            <a:r>
              <a:rPr sz="1285" spc="51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ratio </a:t>
            </a:r>
            <a:r>
              <a:rPr sz="1285" dirty="0">
                <a:latin typeface="Times New Roman"/>
                <a:cs typeface="Times New Roman"/>
              </a:rPr>
              <a:t>Incorporated</a:t>
            </a:r>
            <a:r>
              <a:rPr sz="1285" spc="43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country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risk</a:t>
            </a:r>
            <a:r>
              <a:rPr sz="1285" spc="43" dirty="0">
                <a:latin typeface="Times New Roman"/>
                <a:cs typeface="Times New Roman"/>
              </a:rPr>
              <a:t> </a:t>
            </a:r>
            <a:r>
              <a:rPr sz="1285" spc="-16" dirty="0">
                <a:latin typeface="Times New Roman"/>
                <a:cs typeface="Times New Roman"/>
              </a:rPr>
              <a:t>data</a:t>
            </a:r>
            <a:endParaRPr sz="1285" dirty="0">
              <a:latin typeface="Times New Roman"/>
              <a:cs typeface="Times New Roman"/>
            </a:endParaRPr>
          </a:p>
          <a:p>
            <a:pPr>
              <a:spcBef>
                <a:spcPts val="837"/>
              </a:spcBef>
            </a:pPr>
            <a:endParaRPr sz="1285" dirty="0">
              <a:latin typeface="Times New Roman"/>
              <a:cs typeface="Times New Roman"/>
            </a:endParaRPr>
          </a:p>
          <a:p>
            <a:pPr marL="9887" indent="473585"/>
            <a:r>
              <a:rPr lang="en-US" sz="1400" b="1" i="0" dirty="0">
                <a:solidFill>
                  <a:srgbClr val="2ECC71"/>
                </a:solidFill>
                <a:effectLst/>
                <a:latin typeface="Palatino Linotype" panose="02040502050505030304" pitchFamily="18" charset="0"/>
              </a:rPr>
              <a:t>✓ </a:t>
            </a:r>
            <a:r>
              <a:rPr sz="1285" b="1" dirty="0">
                <a:latin typeface="Times New Roman"/>
                <a:cs typeface="Times New Roman"/>
              </a:rPr>
              <a:t>Data</a:t>
            </a:r>
            <a:r>
              <a:rPr sz="1285" b="1" spc="27" dirty="0">
                <a:latin typeface="Times New Roman"/>
                <a:cs typeface="Times New Roman"/>
              </a:rPr>
              <a:t> </a:t>
            </a:r>
            <a:r>
              <a:rPr sz="1285" b="1" dirty="0">
                <a:latin typeface="Times New Roman"/>
                <a:cs typeface="Times New Roman"/>
              </a:rPr>
              <a:t>Preparation</a:t>
            </a:r>
            <a:r>
              <a:rPr sz="1285" b="1" spc="31" dirty="0">
                <a:latin typeface="Times New Roman"/>
                <a:cs typeface="Times New Roman"/>
              </a:rPr>
              <a:t> </a:t>
            </a:r>
            <a:r>
              <a:rPr sz="1285" b="1" spc="-8" dirty="0">
                <a:latin typeface="Times New Roman"/>
                <a:cs typeface="Times New Roman"/>
              </a:rPr>
              <a:t>Framework</a:t>
            </a:r>
            <a:endParaRPr sz="1285" dirty="0">
              <a:latin typeface="Times New Roman"/>
              <a:cs typeface="Times New Roman"/>
            </a:endParaRPr>
          </a:p>
          <a:p>
            <a:pPr marL="9887" marR="3955">
              <a:lnSpc>
                <a:spcPct val="160900"/>
              </a:lnSpc>
              <a:spcBef>
                <a:spcPts val="343"/>
              </a:spcBef>
            </a:pPr>
            <a:r>
              <a:rPr sz="1285" dirty="0">
                <a:latin typeface="Times New Roman"/>
                <a:cs typeface="Times New Roman"/>
              </a:rPr>
              <a:t>Developed</a:t>
            </a:r>
            <a:r>
              <a:rPr sz="1285" spc="54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feature</a:t>
            </a:r>
            <a:r>
              <a:rPr sz="1285" spc="54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engineering</a:t>
            </a:r>
            <a:r>
              <a:rPr sz="1285" spc="54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pipeline </a:t>
            </a:r>
            <a:r>
              <a:rPr sz="1285" dirty="0">
                <a:latin typeface="Times New Roman"/>
                <a:cs typeface="Times New Roman"/>
              </a:rPr>
              <a:t>Implemented</a:t>
            </a:r>
            <a:r>
              <a:rPr sz="1285" spc="54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text</a:t>
            </a:r>
            <a:r>
              <a:rPr sz="1285" spc="58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vectorization</a:t>
            </a:r>
            <a:r>
              <a:rPr sz="1285" spc="54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(TF-</a:t>
            </a:r>
            <a:r>
              <a:rPr sz="1285" spc="-16" dirty="0">
                <a:latin typeface="Times New Roman"/>
                <a:cs typeface="Times New Roman"/>
              </a:rPr>
              <a:t>IDF) </a:t>
            </a:r>
            <a:r>
              <a:rPr sz="1285" dirty="0">
                <a:latin typeface="Times New Roman"/>
                <a:cs typeface="Times New Roman"/>
              </a:rPr>
              <a:t>Created</a:t>
            </a:r>
            <a:r>
              <a:rPr sz="1285" spc="43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temporal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features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from</a:t>
            </a:r>
            <a:r>
              <a:rPr sz="1285" spc="43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transaction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dates </a:t>
            </a:r>
            <a:r>
              <a:rPr sz="1285" dirty="0">
                <a:latin typeface="Times New Roman"/>
                <a:cs typeface="Times New Roman"/>
              </a:rPr>
              <a:t>Applied</a:t>
            </a:r>
            <a:r>
              <a:rPr sz="1285" spc="35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SMOTE</a:t>
            </a:r>
            <a:r>
              <a:rPr sz="1285" spc="35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to</a:t>
            </a:r>
            <a:r>
              <a:rPr sz="1285" spc="35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address</a:t>
            </a:r>
            <a:r>
              <a:rPr sz="1285" spc="35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class</a:t>
            </a:r>
            <a:r>
              <a:rPr sz="1285" spc="35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imbalance</a:t>
            </a:r>
            <a:endParaRPr sz="1285" dirty="0">
              <a:latin typeface="Times New Roman"/>
              <a:cs typeface="Times New Roman"/>
            </a:endParaRPr>
          </a:p>
        </p:txBody>
      </p:sp>
      <p:grpSp>
        <p:nvGrpSpPr>
          <p:cNvPr id="31" name="object 8">
            <a:extLst>
              <a:ext uri="{FF2B5EF4-FFF2-40B4-BE49-F238E27FC236}">
                <a16:creationId xmlns:a16="http://schemas.microsoft.com/office/drawing/2014/main" id="{77F4F8B6-59CE-4BA3-9FEB-BDA69A2908FF}"/>
              </a:ext>
            </a:extLst>
          </p:cNvPr>
          <p:cNvGrpSpPr/>
          <p:nvPr/>
        </p:nvGrpSpPr>
        <p:grpSpPr>
          <a:xfrm>
            <a:off x="4522580" y="1418473"/>
            <a:ext cx="4056965" cy="4137541"/>
            <a:chOff x="5818631" y="915447"/>
            <a:chExt cx="5211445" cy="5314950"/>
          </a:xfrm>
        </p:grpSpPr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50FFF5A7-C54D-46D1-B91B-5D360C0E1BFE}"/>
                </a:ext>
              </a:extLst>
            </p:cNvPr>
            <p:cNvSpPr/>
            <p:nvPr/>
          </p:nvSpPr>
          <p:spPr>
            <a:xfrm>
              <a:off x="5818631" y="915447"/>
              <a:ext cx="5211445" cy="5314950"/>
            </a:xfrm>
            <a:custGeom>
              <a:avLst/>
              <a:gdLst/>
              <a:ahLst/>
              <a:cxnLst/>
              <a:rect l="l" t="t" r="r" b="b"/>
              <a:pathLst>
                <a:path w="5211445" h="5314950">
                  <a:moveTo>
                    <a:pt x="119637" y="5314949"/>
                  </a:moveTo>
                  <a:lnTo>
                    <a:pt x="0" y="5314949"/>
                  </a:lnTo>
                  <a:lnTo>
                    <a:pt x="0" y="0"/>
                  </a:lnTo>
                  <a:lnTo>
                    <a:pt x="119633" y="0"/>
                  </a:lnTo>
                  <a:lnTo>
                    <a:pt x="112854" y="1348"/>
                  </a:lnTo>
                  <a:lnTo>
                    <a:pt x="99830" y="6742"/>
                  </a:lnTo>
                  <a:lnTo>
                    <a:pt x="74881" y="39321"/>
                  </a:lnTo>
                  <a:lnTo>
                    <a:pt x="73532" y="46101"/>
                  </a:lnTo>
                  <a:lnTo>
                    <a:pt x="73532" y="5268848"/>
                  </a:lnTo>
                  <a:lnTo>
                    <a:pt x="94083" y="5304365"/>
                  </a:lnTo>
                  <a:lnTo>
                    <a:pt x="112854" y="5313600"/>
                  </a:lnTo>
                  <a:lnTo>
                    <a:pt x="119637" y="5314949"/>
                  </a:lnTo>
                  <a:close/>
                </a:path>
                <a:path w="5211445" h="5314950">
                  <a:moveTo>
                    <a:pt x="5211317" y="46104"/>
                  </a:moveTo>
                  <a:lnTo>
                    <a:pt x="5190765" y="10583"/>
                  </a:lnTo>
                  <a:lnTo>
                    <a:pt x="5165215" y="0"/>
                  </a:lnTo>
                  <a:lnTo>
                    <a:pt x="5211317" y="0"/>
                  </a:lnTo>
                  <a:lnTo>
                    <a:pt x="5211317" y="46104"/>
                  </a:lnTo>
                  <a:close/>
                </a:path>
                <a:path w="5211445" h="5314950">
                  <a:moveTo>
                    <a:pt x="5211317" y="5314949"/>
                  </a:moveTo>
                  <a:lnTo>
                    <a:pt x="5165212" y="5314949"/>
                  </a:lnTo>
                  <a:lnTo>
                    <a:pt x="5171994" y="5313600"/>
                  </a:lnTo>
                  <a:lnTo>
                    <a:pt x="5185017" y="5308206"/>
                  </a:lnTo>
                  <a:lnTo>
                    <a:pt x="5209968" y="5275627"/>
                  </a:lnTo>
                  <a:lnTo>
                    <a:pt x="5211317" y="5268848"/>
                  </a:lnTo>
                  <a:lnTo>
                    <a:pt x="5211317" y="53149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DD144175-BF28-4736-8D4E-E6B63CC8C75E}"/>
                </a:ext>
              </a:extLst>
            </p:cNvPr>
            <p:cNvSpPr/>
            <p:nvPr/>
          </p:nvSpPr>
          <p:spPr>
            <a:xfrm>
              <a:off x="5892164" y="915447"/>
              <a:ext cx="5137785" cy="5314950"/>
            </a:xfrm>
            <a:custGeom>
              <a:avLst/>
              <a:gdLst/>
              <a:ahLst/>
              <a:cxnLst/>
              <a:rect l="l" t="t" r="r" b="b"/>
              <a:pathLst>
                <a:path w="5137784" h="5314950">
                  <a:moveTo>
                    <a:pt x="5088124" y="5314949"/>
                  </a:moveTo>
                  <a:lnTo>
                    <a:pt x="49659" y="5314949"/>
                  </a:lnTo>
                  <a:lnTo>
                    <a:pt x="46203" y="5314608"/>
                  </a:lnTo>
                  <a:lnTo>
                    <a:pt x="10896" y="5294229"/>
                  </a:lnTo>
                  <a:lnTo>
                    <a:pt x="0" y="5265289"/>
                  </a:lnTo>
                  <a:lnTo>
                    <a:pt x="0" y="5261800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088124" y="0"/>
                  </a:lnTo>
                  <a:lnTo>
                    <a:pt x="5124685" y="18034"/>
                  </a:lnTo>
                  <a:lnTo>
                    <a:pt x="5137783" y="49659"/>
                  </a:lnTo>
                  <a:lnTo>
                    <a:pt x="5137783" y="5265289"/>
                  </a:lnTo>
                  <a:lnTo>
                    <a:pt x="5119748" y="5301849"/>
                  </a:lnTo>
                  <a:lnTo>
                    <a:pt x="5091580" y="5314608"/>
                  </a:lnTo>
                  <a:lnTo>
                    <a:pt x="5088124" y="5314949"/>
                  </a:lnTo>
                  <a:close/>
                </a:path>
              </a:pathLst>
            </a:custGeom>
            <a:solidFill>
              <a:srgbClr val="FFFFFF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303FB54A-95A6-4F96-B94B-EFC46F652A73}"/>
                </a:ext>
              </a:extLst>
            </p:cNvPr>
            <p:cNvSpPr/>
            <p:nvPr/>
          </p:nvSpPr>
          <p:spPr>
            <a:xfrm>
              <a:off x="6459080" y="2217610"/>
              <a:ext cx="337185" cy="3569970"/>
            </a:xfrm>
            <a:custGeom>
              <a:avLst/>
              <a:gdLst/>
              <a:ahLst/>
              <a:cxnLst/>
              <a:rect l="l" t="t" r="r" b="b"/>
              <a:pathLst>
                <a:path w="337184" h="3569970">
                  <a:moveTo>
                    <a:pt x="62014" y="3534765"/>
                  </a:moveTo>
                  <a:lnTo>
                    <a:pt x="35115" y="3507867"/>
                  </a:lnTo>
                  <a:lnTo>
                    <a:pt x="26898" y="3507867"/>
                  </a:lnTo>
                  <a:lnTo>
                    <a:pt x="0" y="3534765"/>
                  </a:lnTo>
                  <a:lnTo>
                    <a:pt x="0" y="3542982"/>
                  </a:lnTo>
                  <a:lnTo>
                    <a:pt x="26898" y="3569881"/>
                  </a:lnTo>
                  <a:lnTo>
                    <a:pt x="35115" y="3569881"/>
                  </a:lnTo>
                  <a:lnTo>
                    <a:pt x="62014" y="3542982"/>
                  </a:lnTo>
                  <a:lnTo>
                    <a:pt x="62014" y="3538880"/>
                  </a:lnTo>
                  <a:lnTo>
                    <a:pt x="62014" y="3534765"/>
                  </a:lnTo>
                  <a:close/>
                </a:path>
                <a:path w="337184" h="3569970">
                  <a:moveTo>
                    <a:pt x="62014" y="3136138"/>
                  </a:moveTo>
                  <a:lnTo>
                    <a:pt x="35115" y="3109252"/>
                  </a:lnTo>
                  <a:lnTo>
                    <a:pt x="26898" y="3109252"/>
                  </a:lnTo>
                  <a:lnTo>
                    <a:pt x="0" y="3136138"/>
                  </a:lnTo>
                  <a:lnTo>
                    <a:pt x="0" y="3144367"/>
                  </a:lnTo>
                  <a:lnTo>
                    <a:pt x="26898" y="3171253"/>
                  </a:lnTo>
                  <a:lnTo>
                    <a:pt x="35115" y="3171253"/>
                  </a:lnTo>
                  <a:lnTo>
                    <a:pt x="62014" y="3144367"/>
                  </a:lnTo>
                  <a:lnTo>
                    <a:pt x="62014" y="3140252"/>
                  </a:lnTo>
                  <a:lnTo>
                    <a:pt x="62014" y="3136138"/>
                  </a:lnTo>
                  <a:close/>
                </a:path>
                <a:path w="337184" h="3569970">
                  <a:moveTo>
                    <a:pt x="62014" y="2728658"/>
                  </a:moveTo>
                  <a:lnTo>
                    <a:pt x="35115" y="2701772"/>
                  </a:lnTo>
                  <a:lnTo>
                    <a:pt x="26898" y="2701772"/>
                  </a:lnTo>
                  <a:lnTo>
                    <a:pt x="0" y="2728658"/>
                  </a:lnTo>
                  <a:lnTo>
                    <a:pt x="0" y="2736888"/>
                  </a:lnTo>
                  <a:lnTo>
                    <a:pt x="26898" y="2763774"/>
                  </a:lnTo>
                  <a:lnTo>
                    <a:pt x="35115" y="2763774"/>
                  </a:lnTo>
                  <a:lnTo>
                    <a:pt x="62014" y="2736888"/>
                  </a:lnTo>
                  <a:lnTo>
                    <a:pt x="62014" y="2732773"/>
                  </a:lnTo>
                  <a:lnTo>
                    <a:pt x="62014" y="2728658"/>
                  </a:lnTo>
                  <a:close/>
                </a:path>
                <a:path w="337184" h="3569970">
                  <a:moveTo>
                    <a:pt x="62014" y="2321179"/>
                  </a:moveTo>
                  <a:lnTo>
                    <a:pt x="35115" y="2294293"/>
                  </a:lnTo>
                  <a:lnTo>
                    <a:pt x="26898" y="2294293"/>
                  </a:lnTo>
                  <a:lnTo>
                    <a:pt x="0" y="2321179"/>
                  </a:lnTo>
                  <a:lnTo>
                    <a:pt x="0" y="2329408"/>
                  </a:lnTo>
                  <a:lnTo>
                    <a:pt x="26898" y="2356294"/>
                  </a:lnTo>
                  <a:lnTo>
                    <a:pt x="35115" y="2356294"/>
                  </a:lnTo>
                  <a:lnTo>
                    <a:pt x="62014" y="2329408"/>
                  </a:lnTo>
                  <a:lnTo>
                    <a:pt x="62014" y="2325293"/>
                  </a:lnTo>
                  <a:lnTo>
                    <a:pt x="62014" y="2321179"/>
                  </a:lnTo>
                  <a:close/>
                </a:path>
                <a:path w="337184" h="3569970">
                  <a:moveTo>
                    <a:pt x="336626" y="1235735"/>
                  </a:moveTo>
                  <a:lnTo>
                    <a:pt x="309727" y="1204722"/>
                  </a:lnTo>
                  <a:lnTo>
                    <a:pt x="301510" y="1204722"/>
                  </a:lnTo>
                  <a:lnTo>
                    <a:pt x="274612" y="1231620"/>
                  </a:lnTo>
                  <a:lnTo>
                    <a:pt x="274612" y="1239837"/>
                  </a:lnTo>
                  <a:lnTo>
                    <a:pt x="301510" y="1266736"/>
                  </a:lnTo>
                  <a:lnTo>
                    <a:pt x="309727" y="1266736"/>
                  </a:lnTo>
                  <a:lnTo>
                    <a:pt x="336626" y="1235735"/>
                  </a:lnTo>
                  <a:close/>
                </a:path>
                <a:path w="337184" h="3569970">
                  <a:moveTo>
                    <a:pt x="336626" y="837107"/>
                  </a:moveTo>
                  <a:lnTo>
                    <a:pt x="309727" y="806107"/>
                  </a:lnTo>
                  <a:lnTo>
                    <a:pt x="301510" y="806107"/>
                  </a:lnTo>
                  <a:lnTo>
                    <a:pt x="274612" y="832993"/>
                  </a:lnTo>
                  <a:lnTo>
                    <a:pt x="274612" y="841222"/>
                  </a:lnTo>
                  <a:lnTo>
                    <a:pt x="301510" y="868108"/>
                  </a:lnTo>
                  <a:lnTo>
                    <a:pt x="309727" y="868108"/>
                  </a:lnTo>
                  <a:lnTo>
                    <a:pt x="336626" y="837107"/>
                  </a:lnTo>
                  <a:close/>
                </a:path>
                <a:path w="337184" h="3569970">
                  <a:moveTo>
                    <a:pt x="336626" y="429628"/>
                  </a:moveTo>
                  <a:lnTo>
                    <a:pt x="309727" y="398627"/>
                  </a:lnTo>
                  <a:lnTo>
                    <a:pt x="301510" y="398627"/>
                  </a:lnTo>
                  <a:lnTo>
                    <a:pt x="274612" y="425513"/>
                  </a:lnTo>
                  <a:lnTo>
                    <a:pt x="274612" y="433743"/>
                  </a:lnTo>
                  <a:lnTo>
                    <a:pt x="301510" y="460629"/>
                  </a:lnTo>
                  <a:lnTo>
                    <a:pt x="309727" y="460629"/>
                  </a:lnTo>
                  <a:lnTo>
                    <a:pt x="336626" y="429628"/>
                  </a:lnTo>
                  <a:close/>
                </a:path>
                <a:path w="337184" h="3569970">
                  <a:moveTo>
                    <a:pt x="336626" y="31013"/>
                  </a:moveTo>
                  <a:lnTo>
                    <a:pt x="309727" y="0"/>
                  </a:lnTo>
                  <a:lnTo>
                    <a:pt x="301510" y="0"/>
                  </a:lnTo>
                  <a:lnTo>
                    <a:pt x="274612" y="26898"/>
                  </a:lnTo>
                  <a:lnTo>
                    <a:pt x="274612" y="35115"/>
                  </a:lnTo>
                  <a:lnTo>
                    <a:pt x="301510" y="62014"/>
                  </a:lnTo>
                  <a:lnTo>
                    <a:pt x="309727" y="62014"/>
                  </a:lnTo>
                  <a:lnTo>
                    <a:pt x="336626" y="310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12">
            <a:extLst>
              <a:ext uri="{FF2B5EF4-FFF2-40B4-BE49-F238E27FC236}">
                <a16:creationId xmlns:a16="http://schemas.microsoft.com/office/drawing/2014/main" id="{9711099B-395E-49BB-B506-2FE4A19D365C}"/>
              </a:ext>
            </a:extLst>
          </p:cNvPr>
          <p:cNvSpPr txBox="1"/>
          <p:nvPr/>
        </p:nvSpPr>
        <p:spPr>
          <a:xfrm>
            <a:off x="5152396" y="1579127"/>
            <a:ext cx="3255656" cy="3740487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656493">
              <a:spcBef>
                <a:spcPts val="97"/>
              </a:spcBef>
            </a:pPr>
            <a:r>
              <a:rPr sz="1674" dirty="0">
                <a:solidFill>
                  <a:srgbClr val="2B3D4F"/>
                </a:solidFill>
                <a:latin typeface="Times New Roman"/>
                <a:cs typeface="Times New Roman"/>
              </a:rPr>
              <a:t>In-Progress </a:t>
            </a:r>
            <a:r>
              <a:rPr sz="1674" spc="-16" dirty="0">
                <a:solidFill>
                  <a:srgbClr val="2B3D4F"/>
                </a:solidFill>
                <a:latin typeface="Times New Roman"/>
                <a:cs typeface="Times New Roman"/>
              </a:rPr>
              <a:t>Tasks</a:t>
            </a:r>
            <a:endParaRPr sz="1674" dirty="0">
              <a:latin typeface="Times New Roman"/>
              <a:cs typeface="Times New Roman"/>
            </a:endParaRPr>
          </a:p>
          <a:p>
            <a:pPr marL="223445" indent="332696">
              <a:spcBef>
                <a:spcPts val="1421"/>
              </a:spcBef>
            </a:pPr>
            <a:r>
              <a:rPr lang="en-US" sz="1400" b="1" i="0" dirty="0">
                <a:solidFill>
                  <a:srgbClr val="F39C12"/>
                </a:solidFill>
                <a:effectLst/>
                <a:latin typeface="Palatino Linotype" panose="02040502050505030304" pitchFamily="18" charset="0"/>
              </a:rPr>
              <a:t>⟳</a:t>
            </a:r>
            <a:r>
              <a:rPr lang="en-US" sz="1285" b="1" dirty="0">
                <a:latin typeface="Times New Roman"/>
                <a:cs typeface="Times New Roman"/>
              </a:rPr>
              <a:t> </a:t>
            </a:r>
            <a:r>
              <a:rPr sz="1285" b="1" dirty="0">
                <a:latin typeface="Times New Roman"/>
                <a:cs typeface="Times New Roman"/>
              </a:rPr>
              <a:t>Model</a:t>
            </a:r>
            <a:r>
              <a:rPr sz="1285" b="1" spc="-39" dirty="0">
                <a:latin typeface="Times New Roman"/>
                <a:cs typeface="Times New Roman"/>
              </a:rPr>
              <a:t> </a:t>
            </a:r>
            <a:r>
              <a:rPr sz="1285" b="1" dirty="0">
                <a:latin typeface="Times New Roman"/>
                <a:cs typeface="Times New Roman"/>
              </a:rPr>
              <a:t>Training</a:t>
            </a:r>
            <a:r>
              <a:rPr sz="1285" b="1" spc="-4" dirty="0">
                <a:latin typeface="Times New Roman"/>
                <a:cs typeface="Times New Roman"/>
              </a:rPr>
              <a:t> </a:t>
            </a:r>
            <a:r>
              <a:rPr sz="1285" b="1" spc="-8" dirty="0">
                <a:latin typeface="Times New Roman"/>
                <a:cs typeface="Times New Roman"/>
              </a:rPr>
              <a:t>Framework</a:t>
            </a:r>
            <a:endParaRPr sz="1285" dirty="0">
              <a:latin typeface="Times New Roman"/>
              <a:cs typeface="Times New Roman"/>
            </a:endParaRPr>
          </a:p>
          <a:p>
            <a:pPr marL="223445" marR="667863">
              <a:lnSpc>
                <a:spcPct val="158500"/>
              </a:lnSpc>
              <a:spcBef>
                <a:spcPts val="436"/>
              </a:spcBef>
            </a:pPr>
            <a:r>
              <a:rPr sz="1285" dirty="0">
                <a:latin typeface="Times New Roman"/>
                <a:cs typeface="Times New Roman"/>
              </a:rPr>
              <a:t>Designed</a:t>
            </a:r>
            <a:r>
              <a:rPr sz="1285" spc="43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5-wave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training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approach </a:t>
            </a:r>
            <a:r>
              <a:rPr sz="1285" dirty="0">
                <a:latin typeface="Times New Roman"/>
                <a:cs typeface="Times New Roman"/>
              </a:rPr>
              <a:t>Initial</a:t>
            </a:r>
            <a:r>
              <a:rPr sz="1285" spc="27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model</a:t>
            </a:r>
            <a:r>
              <a:rPr sz="1285" spc="27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training</a:t>
            </a:r>
            <a:r>
              <a:rPr sz="1285" spc="27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completed</a:t>
            </a:r>
            <a:endParaRPr sz="1285" dirty="0">
              <a:latin typeface="Times New Roman"/>
              <a:cs typeface="Times New Roman"/>
            </a:endParaRPr>
          </a:p>
          <a:p>
            <a:pPr marL="223445" marR="217513">
              <a:lnSpc>
                <a:spcPct val="158500"/>
              </a:lnSpc>
              <a:spcBef>
                <a:spcPts val="54"/>
              </a:spcBef>
            </a:pPr>
            <a:r>
              <a:rPr sz="1285" dirty="0">
                <a:latin typeface="Times New Roman"/>
                <a:cs typeface="Times New Roman"/>
              </a:rPr>
              <a:t>Performance</a:t>
            </a:r>
            <a:r>
              <a:rPr sz="1285" spc="51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metrics</a:t>
            </a:r>
            <a:r>
              <a:rPr sz="1285" spc="51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require</a:t>
            </a:r>
            <a:r>
              <a:rPr sz="1285" spc="51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improvement </a:t>
            </a:r>
            <a:r>
              <a:rPr sz="1285" dirty="0">
                <a:latin typeface="Times New Roman"/>
                <a:cs typeface="Times New Roman"/>
              </a:rPr>
              <a:t>Hyperparameter</a:t>
            </a:r>
            <a:r>
              <a:rPr sz="1285" spc="78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optimization</a:t>
            </a:r>
            <a:r>
              <a:rPr sz="1285" spc="78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ongoing</a:t>
            </a:r>
            <a:endParaRPr sz="1285" dirty="0">
              <a:latin typeface="Times New Roman"/>
              <a:cs typeface="Times New Roman"/>
            </a:endParaRPr>
          </a:p>
          <a:p>
            <a:pPr>
              <a:spcBef>
                <a:spcPts val="837"/>
              </a:spcBef>
            </a:pPr>
            <a:endParaRPr sz="1285" dirty="0">
              <a:latin typeface="Times New Roman"/>
              <a:cs typeface="Times New Roman"/>
            </a:endParaRPr>
          </a:p>
          <a:p>
            <a:pPr marR="156708" algn="ctr"/>
            <a:r>
              <a:rPr lang="en-US" sz="1400" b="1" i="0" dirty="0">
                <a:solidFill>
                  <a:srgbClr val="F39C12"/>
                </a:solidFill>
                <a:effectLst/>
                <a:latin typeface="Palatino Linotype" panose="02040502050505030304" pitchFamily="18" charset="0"/>
              </a:rPr>
              <a:t>⟳ </a:t>
            </a:r>
            <a:r>
              <a:rPr sz="1285" b="1" dirty="0">
                <a:latin typeface="Times New Roman"/>
                <a:cs typeface="Times New Roman"/>
              </a:rPr>
              <a:t>Explainable</a:t>
            </a:r>
            <a:r>
              <a:rPr sz="1285" b="1" spc="-39" dirty="0">
                <a:latin typeface="Times New Roman"/>
                <a:cs typeface="Times New Roman"/>
              </a:rPr>
              <a:t> </a:t>
            </a:r>
            <a:r>
              <a:rPr sz="1285" b="1" dirty="0">
                <a:latin typeface="Times New Roman"/>
                <a:cs typeface="Times New Roman"/>
              </a:rPr>
              <a:t>AI</a:t>
            </a:r>
            <a:r>
              <a:rPr sz="1285" b="1" spc="51" dirty="0">
                <a:latin typeface="Times New Roman"/>
                <a:cs typeface="Times New Roman"/>
              </a:rPr>
              <a:t> </a:t>
            </a:r>
            <a:r>
              <a:rPr sz="1285" b="1" spc="-8" dirty="0">
                <a:latin typeface="Times New Roman"/>
                <a:cs typeface="Times New Roman"/>
              </a:rPr>
              <a:t>Implementation</a:t>
            </a:r>
            <a:endParaRPr sz="1285" dirty="0">
              <a:latin typeface="Times New Roman"/>
              <a:cs typeface="Times New Roman"/>
            </a:endParaRPr>
          </a:p>
          <a:p>
            <a:pPr marL="9887">
              <a:spcBef>
                <a:spcPts val="1281"/>
              </a:spcBef>
            </a:pPr>
            <a:r>
              <a:rPr sz="1285" dirty="0">
                <a:latin typeface="Times New Roman"/>
                <a:cs typeface="Times New Roman"/>
              </a:rPr>
              <a:t>SHAP</a:t>
            </a:r>
            <a:r>
              <a:rPr sz="1285" spc="-8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framework</a:t>
            </a:r>
            <a:r>
              <a:rPr sz="1285" spc="51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selection</a:t>
            </a:r>
            <a:r>
              <a:rPr lang="en-US" sz="1285" dirty="0">
                <a:latin typeface="Times New Roman"/>
                <a:cs typeface="Times New Roman"/>
              </a:rPr>
              <a:t> in progress</a:t>
            </a:r>
            <a:endParaRPr sz="1285" dirty="0">
              <a:latin typeface="Times New Roman"/>
              <a:cs typeface="Times New Roman"/>
            </a:endParaRPr>
          </a:p>
          <a:p>
            <a:pPr marL="9887" marR="3955">
              <a:lnSpc>
                <a:spcPct val="160300"/>
              </a:lnSpc>
              <a:spcBef>
                <a:spcPts val="27"/>
              </a:spcBef>
            </a:pPr>
            <a:r>
              <a:rPr sz="1285" dirty="0">
                <a:latin typeface="Times New Roman"/>
                <a:cs typeface="Times New Roman"/>
              </a:rPr>
              <a:t>Feature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importance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visualization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in</a:t>
            </a:r>
            <a:r>
              <a:rPr sz="1285" spc="47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development </a:t>
            </a:r>
            <a:r>
              <a:rPr sz="1285" dirty="0">
                <a:latin typeface="Times New Roman"/>
                <a:cs typeface="Times New Roman"/>
              </a:rPr>
              <a:t>Transaction</a:t>
            </a:r>
            <a:r>
              <a:rPr sz="1285" spc="16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risk</a:t>
            </a:r>
            <a:r>
              <a:rPr sz="1285" spc="19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factor</a:t>
            </a:r>
            <a:r>
              <a:rPr sz="1285" spc="16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identification</a:t>
            </a:r>
            <a:r>
              <a:rPr sz="1285" spc="19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planned </a:t>
            </a:r>
            <a:r>
              <a:rPr sz="1285" dirty="0">
                <a:latin typeface="Times New Roman"/>
                <a:cs typeface="Times New Roman"/>
              </a:rPr>
              <a:t>Integration</a:t>
            </a:r>
            <a:r>
              <a:rPr sz="1285" spc="39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with</a:t>
            </a:r>
            <a:r>
              <a:rPr sz="1285" spc="43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model</a:t>
            </a:r>
            <a:r>
              <a:rPr sz="1285" spc="39" dirty="0">
                <a:latin typeface="Times New Roman"/>
                <a:cs typeface="Times New Roman"/>
              </a:rPr>
              <a:t> </a:t>
            </a:r>
            <a:r>
              <a:rPr sz="1285" dirty="0">
                <a:latin typeface="Times New Roman"/>
                <a:cs typeface="Times New Roman"/>
              </a:rPr>
              <a:t>outputs</a:t>
            </a:r>
            <a:r>
              <a:rPr sz="1285" spc="43" dirty="0">
                <a:latin typeface="Times New Roman"/>
                <a:cs typeface="Times New Roman"/>
              </a:rPr>
              <a:t> </a:t>
            </a:r>
            <a:r>
              <a:rPr sz="1285" spc="-8" dirty="0">
                <a:latin typeface="Times New Roman"/>
                <a:cs typeface="Times New Roman"/>
              </a:rPr>
              <a:t>pending</a:t>
            </a:r>
            <a:endParaRPr sz="1285" dirty="0">
              <a:latin typeface="Times New Roman"/>
              <a:cs typeface="Times New Roman"/>
            </a:endParaRPr>
          </a:p>
        </p:txBody>
      </p:sp>
      <p:sp>
        <p:nvSpPr>
          <p:cNvPr id="36" name="object 2">
            <a:extLst>
              <a:ext uri="{FF2B5EF4-FFF2-40B4-BE49-F238E27FC236}">
                <a16:creationId xmlns:a16="http://schemas.microsoft.com/office/drawing/2014/main" id="{D628AAF6-D872-4BB4-8A54-00A98E0172BE}"/>
              </a:ext>
            </a:extLst>
          </p:cNvPr>
          <p:cNvSpPr/>
          <p:nvPr/>
        </p:nvSpPr>
        <p:spPr>
          <a:xfrm>
            <a:off x="3273970" y="645428"/>
            <a:ext cx="2344607" cy="13841"/>
          </a:xfrm>
          <a:custGeom>
            <a:avLst/>
            <a:gdLst/>
            <a:ahLst/>
            <a:cxnLst/>
            <a:rect l="l" t="t" r="r" b="b"/>
            <a:pathLst>
              <a:path w="3011804" h="17779">
                <a:moveTo>
                  <a:pt x="3011804" y="17716"/>
                </a:moveTo>
                <a:lnTo>
                  <a:pt x="0" y="17716"/>
                </a:lnTo>
                <a:lnTo>
                  <a:pt x="0" y="0"/>
                </a:lnTo>
                <a:lnTo>
                  <a:pt x="3011804" y="0"/>
                </a:lnTo>
                <a:lnTo>
                  <a:pt x="3011804" y="17716"/>
                </a:lnTo>
                <a:close/>
              </a:path>
            </a:pathLst>
          </a:custGeom>
          <a:solidFill>
            <a:srgbClr val="66AA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8169" y="218611"/>
            <a:ext cx="4097447" cy="371936"/>
          </a:xfrm>
          <a:prstGeom prst="rect">
            <a:avLst/>
          </a:prstGeom>
        </p:spPr>
        <p:txBody>
          <a:bodyPr vert="horz" wrap="square" lIns="0" tIns="12358" rIns="0" bIns="0" rtlCol="0">
            <a:spAutoFit/>
          </a:bodyPr>
          <a:lstStyle/>
          <a:p>
            <a:pPr marL="1143426">
              <a:spcBef>
                <a:spcPts val="97"/>
              </a:spcBef>
            </a:pPr>
            <a:r>
              <a:rPr dirty="0"/>
              <a:t>Conclusion</a:t>
            </a:r>
            <a:r>
              <a:rPr spc="27" dirty="0"/>
              <a:t> </a:t>
            </a:r>
            <a:r>
              <a:rPr dirty="0"/>
              <a:t>and</a:t>
            </a:r>
            <a:r>
              <a:rPr spc="27" dirty="0"/>
              <a:t> </a:t>
            </a:r>
            <a:r>
              <a:rPr spc="-8" dirty="0"/>
              <a:t>Impact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1427" y="1140967"/>
            <a:ext cx="8275082" cy="4558157"/>
            <a:chOff x="400049" y="1659540"/>
            <a:chExt cx="10629900" cy="3667760"/>
          </a:xfrm>
        </p:grpSpPr>
        <p:sp>
          <p:nvSpPr>
            <p:cNvPr id="5" name="object 5"/>
            <p:cNvSpPr/>
            <p:nvPr/>
          </p:nvSpPr>
          <p:spPr>
            <a:xfrm>
              <a:off x="400049" y="1659540"/>
              <a:ext cx="10629900" cy="3667760"/>
            </a:xfrm>
            <a:custGeom>
              <a:avLst/>
              <a:gdLst/>
              <a:ahLst/>
              <a:cxnLst/>
              <a:rect l="l" t="t" r="r" b="b"/>
              <a:pathLst>
                <a:path w="10629900" h="366776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10629900" h="3667760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w="10629900" h="3667760">
                  <a:moveTo>
                    <a:pt x="10629899" y="3667315"/>
                  </a:moveTo>
                  <a:lnTo>
                    <a:pt x="10583794" y="3667315"/>
                  </a:lnTo>
                  <a:lnTo>
                    <a:pt x="10590576" y="3665966"/>
                  </a:lnTo>
                  <a:lnTo>
                    <a:pt x="10603599" y="3660571"/>
                  </a:lnTo>
                  <a:lnTo>
                    <a:pt x="10628550" y="3627992"/>
                  </a:lnTo>
                  <a:lnTo>
                    <a:pt x="10629899" y="3621213"/>
                  </a:lnTo>
                  <a:lnTo>
                    <a:pt x="10629899" y="3667315"/>
                  </a:lnTo>
                  <a:close/>
                </a:path>
                <a:path w="10629900" h="3667760">
                  <a:moveTo>
                    <a:pt x="46104" y="3667315"/>
                  </a:moveTo>
                  <a:lnTo>
                    <a:pt x="0" y="3667315"/>
                  </a:lnTo>
                  <a:lnTo>
                    <a:pt x="0" y="3621213"/>
                  </a:lnTo>
                  <a:lnTo>
                    <a:pt x="1348" y="3627992"/>
                  </a:lnTo>
                  <a:lnTo>
                    <a:pt x="6742" y="3641016"/>
                  </a:lnTo>
                  <a:lnTo>
                    <a:pt x="10583" y="3646764"/>
                  </a:lnTo>
                  <a:lnTo>
                    <a:pt x="20550" y="3656731"/>
                  </a:lnTo>
                  <a:lnTo>
                    <a:pt x="26298" y="3660571"/>
                  </a:lnTo>
                  <a:lnTo>
                    <a:pt x="39321" y="3665966"/>
                  </a:lnTo>
                  <a:lnTo>
                    <a:pt x="46104" y="366731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1659540"/>
              <a:ext cx="10629900" cy="3667760"/>
            </a:xfrm>
            <a:custGeom>
              <a:avLst/>
              <a:gdLst/>
              <a:ahLst/>
              <a:cxnLst/>
              <a:rect l="l" t="t" r="r" b="b"/>
              <a:pathLst>
                <a:path w="10629900" h="3667760">
                  <a:moveTo>
                    <a:pt x="10580239" y="3667314"/>
                  </a:moveTo>
                  <a:lnTo>
                    <a:pt x="49659" y="3667314"/>
                  </a:lnTo>
                  <a:lnTo>
                    <a:pt x="46203" y="3666974"/>
                  </a:lnTo>
                  <a:lnTo>
                    <a:pt x="10896" y="3646595"/>
                  </a:lnTo>
                  <a:lnTo>
                    <a:pt x="0" y="3617655"/>
                  </a:lnTo>
                  <a:lnTo>
                    <a:pt x="0" y="3614165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3617655"/>
                  </a:lnTo>
                  <a:lnTo>
                    <a:pt x="10611863" y="3654215"/>
                  </a:lnTo>
                  <a:lnTo>
                    <a:pt x="10583695" y="3666974"/>
                  </a:lnTo>
                  <a:lnTo>
                    <a:pt x="10580239" y="3667314"/>
                  </a:lnTo>
                  <a:close/>
                </a:path>
              </a:pathLst>
            </a:custGeom>
            <a:solidFill>
              <a:srgbClr val="F5F5F5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0853" y="1660525"/>
            <a:ext cx="8111952" cy="3094944"/>
          </a:xfrm>
          <a:prstGeom prst="rect">
            <a:avLst/>
          </a:prstGeom>
        </p:spPr>
        <p:txBody>
          <a:bodyPr vert="horz" wrap="square" lIns="0" tIns="9392" rIns="0" bIns="0" rtlCol="0">
            <a:spAutoFit/>
          </a:bodyPr>
          <a:lstStyle/>
          <a:p>
            <a:pPr marL="9887" marR="3955">
              <a:lnSpc>
                <a:spcPct val="158000"/>
              </a:lnSpc>
              <a:spcBef>
                <a:spcPts val="74"/>
              </a:spcBef>
            </a:pPr>
            <a:r>
              <a:rPr lang="en-US" dirty="0">
                <a:solidFill>
                  <a:srgbClr val="373C3C"/>
                </a:solidFill>
                <a:latin typeface="Times New Roman"/>
                <a:cs typeface="Times New Roman"/>
              </a:rPr>
              <a:t>Automated risk-scoring system enhances financial institutions' ability </a:t>
            </a:r>
            <a:r>
              <a:rPr lang="en-US" spc="-19" dirty="0">
                <a:solidFill>
                  <a:srgbClr val="373C3C"/>
                </a:solidFill>
                <a:latin typeface="Times New Roman"/>
                <a:cs typeface="Times New Roman"/>
              </a:rPr>
              <a:t>to:</a:t>
            </a:r>
            <a:endParaRPr lang="en-US" dirty="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pPr marL="276835" marR="3955" indent="-266948">
              <a:lnSpc>
                <a:spcPct val="158000"/>
              </a:lnSpc>
              <a:spcBef>
                <a:spcPts val="74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/>
                <a:cs typeface="Times New Roman"/>
              </a:rPr>
              <a:t>Identify potential money laundering </a:t>
            </a:r>
          </a:p>
          <a:p>
            <a:pPr marL="276835" marR="3955" indent="-266948">
              <a:lnSpc>
                <a:spcPct val="158000"/>
              </a:lnSpc>
              <a:spcBef>
                <a:spcPts val="74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/>
                <a:cs typeface="Times New Roman"/>
              </a:rPr>
              <a:t>Reduce false positives</a:t>
            </a:r>
          </a:p>
          <a:p>
            <a:pPr marL="276835" marR="3955" indent="-266948">
              <a:lnSpc>
                <a:spcPct val="158000"/>
              </a:lnSpc>
              <a:spcBef>
                <a:spcPts val="74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/>
                <a:cs typeface="Times New Roman"/>
              </a:rPr>
              <a:t>Improve compliance with regulations </a:t>
            </a:r>
          </a:p>
          <a:p>
            <a:pPr marL="276835" marR="3955" indent="-266948">
              <a:lnSpc>
                <a:spcPct val="158000"/>
              </a:lnSpc>
              <a:spcBef>
                <a:spcPts val="74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/>
                <a:cs typeface="Times New Roman"/>
              </a:rPr>
              <a:t>Make better fraud prevention decisions</a:t>
            </a:r>
          </a:p>
          <a:p>
            <a:pPr marL="276835" marR="3955" indent="-266948">
              <a:lnSpc>
                <a:spcPct val="158000"/>
              </a:lnSpc>
              <a:spcBef>
                <a:spcPts val="74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/>
                <a:cs typeface="Times New Roman"/>
              </a:rPr>
              <a:t>System adaptability ensures relevance across different financial contexts</a:t>
            </a:r>
          </a:p>
          <a:p>
            <a:pPr marL="276835" marR="3955" indent="-266948">
              <a:lnSpc>
                <a:spcPct val="158000"/>
              </a:lnSpc>
              <a:spcBef>
                <a:spcPts val="74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Times New Roman"/>
                <a:cs typeface="Times New Roman"/>
              </a:rPr>
              <a:t>Explainable AI ensures transparency and trust</a:t>
            </a:r>
          </a:p>
        </p:txBody>
      </p:sp>
      <p:sp>
        <p:nvSpPr>
          <p:cNvPr id="14" name="Slide Number Placeholder 17">
            <a:extLst>
              <a:ext uri="{FF2B5EF4-FFF2-40B4-BE49-F238E27FC236}">
                <a16:creationId xmlns:a16="http://schemas.microsoft.com/office/drawing/2014/main" id="{8E2F1362-280E-4938-B1B4-281823C2E7D3}"/>
              </a:ext>
            </a:extLst>
          </p:cNvPr>
          <p:cNvSpPr txBox="1">
            <a:spLocks/>
          </p:cNvSpPr>
          <p:nvPr/>
        </p:nvSpPr>
        <p:spPr>
          <a:xfrm>
            <a:off x="8315829" y="6491053"/>
            <a:ext cx="582109" cy="20248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defPPr>
              <a:defRPr kern="0"/>
            </a:defPPr>
            <a:lvl1pPr algn="r">
              <a:defRPr sz="1246" b="1"/>
            </a:lvl1pPr>
          </a:lstStyle>
          <a:p>
            <a:fld id="{CC7D8618-F20C-406E-B464-04F15D14577A}" type="slidenum">
              <a:rPr lang="en-GB" smtClean="0">
                <a:solidFill>
                  <a:schemeClr val="bg1"/>
                </a:solidFill>
              </a:rPr>
              <a:pPr/>
              <a:t>11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3BD8AFBE-10F1-4C4E-91B0-A2DDDA5B89DA}"/>
              </a:ext>
            </a:extLst>
          </p:cNvPr>
          <p:cNvSpPr txBox="1">
            <a:spLocks/>
          </p:cNvSpPr>
          <p:nvPr/>
        </p:nvSpPr>
        <p:spPr>
          <a:xfrm>
            <a:off x="1807" y="6491576"/>
            <a:ext cx="1138936" cy="201963"/>
          </a:xfrm>
          <a:prstGeom prst="rect">
            <a:avLst/>
          </a:prstGeom>
          <a:solidFill>
            <a:srgbClr val="003366"/>
          </a:solidFill>
        </p:spPr>
        <p:txBody>
          <a:bodyPr anchor="ctr"/>
          <a:lstStyle>
            <a:defPPr>
              <a:defRPr kern="0"/>
            </a:defPPr>
            <a:lvl1pPr algn="l">
              <a:defRPr lang="en-US" sz="985" b="0" i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7DDF110-EE35-4A7F-B214-B856D7B1D9E6}" type="datetime5">
              <a:rPr lang="en-GB" smtClean="0"/>
              <a:pPr/>
              <a:t>7-Jan-26</a:t>
            </a:fld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6F21E02-6418-4A9A-8DEC-77B9DC5BE4D3}"/>
              </a:ext>
            </a:extLst>
          </p:cNvPr>
          <p:cNvSpPr txBox="1">
            <a:spLocks/>
          </p:cNvSpPr>
          <p:nvPr/>
        </p:nvSpPr>
        <p:spPr>
          <a:xfrm>
            <a:off x="1140743" y="6492099"/>
            <a:ext cx="3524483" cy="201440"/>
          </a:xfrm>
          <a:prstGeom prst="rect">
            <a:avLst/>
          </a:prstGeom>
          <a:solidFill>
            <a:srgbClr val="003366"/>
          </a:solidFill>
        </p:spPr>
        <p:txBody>
          <a:bodyPr wrap="square" lIns="0" tIns="0" rIns="0" bIns="0" anchor="ctr" anchorCtr="0">
            <a:noAutofit/>
          </a:bodyPr>
          <a:lstStyle>
            <a:lvl1pPr marL="168367" indent="0" algn="r">
              <a:lnSpc>
                <a:spcPct val="100000"/>
              </a:lnSpc>
              <a:buNone/>
              <a:tabLst>
                <a:tab pos="174381" algn="l"/>
              </a:tabLst>
              <a:defRPr sz="98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93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11860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6779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23721">
              <a:defRPr sz="98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779651">
              <a:defRPr>
                <a:latin typeface="+mn-lt"/>
                <a:ea typeface="+mn-ea"/>
                <a:cs typeface="+mn-cs"/>
              </a:defRPr>
            </a:lvl6pPr>
            <a:lvl7pPr marL="2135581">
              <a:defRPr>
                <a:latin typeface="+mn-lt"/>
                <a:ea typeface="+mn-ea"/>
                <a:cs typeface="+mn-cs"/>
              </a:defRPr>
            </a:lvl7pPr>
            <a:lvl8pPr marL="2491511">
              <a:defRPr>
                <a:latin typeface="+mn-lt"/>
                <a:ea typeface="+mn-ea"/>
                <a:cs typeface="+mn-cs"/>
              </a:defRPr>
            </a:lvl8pPr>
            <a:lvl9pPr marL="2847442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Natalja Krjuckova</a:t>
            </a:r>
            <a:endParaRPr lang="en-GB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41AD59C-A406-4189-A62A-2765910109E2}"/>
              </a:ext>
            </a:extLst>
          </p:cNvPr>
          <p:cNvSpPr txBox="1">
            <a:spLocks/>
          </p:cNvSpPr>
          <p:nvPr/>
        </p:nvSpPr>
        <p:spPr>
          <a:xfrm>
            <a:off x="4676829" y="6491576"/>
            <a:ext cx="3669327" cy="20144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anchor="ctr" anchorCtr="0">
            <a:noAutofit/>
          </a:bodyPr>
          <a:lstStyle>
            <a:lvl1pPr marL="216271" indent="0" algn="r">
              <a:lnSpc>
                <a:spcPct val="100000"/>
              </a:lnSpc>
              <a:buNone/>
              <a:tabLst>
                <a:tab pos="223996" algn="l"/>
              </a:tabLst>
              <a:defRPr sz="1265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265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GB" sz="985" dirty="0" err="1"/>
              <a:t>RaTSiF</a:t>
            </a:r>
            <a:r>
              <a:rPr lang="en-GB" sz="985" dirty="0"/>
              <a:t>, Riga, Latvia</a:t>
            </a: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4CACEF41-C987-42A4-9CCE-29351C64786C}"/>
              </a:ext>
            </a:extLst>
          </p:cNvPr>
          <p:cNvSpPr/>
          <p:nvPr/>
        </p:nvSpPr>
        <p:spPr>
          <a:xfrm>
            <a:off x="3273970" y="645428"/>
            <a:ext cx="2344607" cy="13841"/>
          </a:xfrm>
          <a:custGeom>
            <a:avLst/>
            <a:gdLst/>
            <a:ahLst/>
            <a:cxnLst/>
            <a:rect l="l" t="t" r="r" b="b"/>
            <a:pathLst>
              <a:path w="3011804" h="17779">
                <a:moveTo>
                  <a:pt x="3011804" y="17716"/>
                </a:moveTo>
                <a:lnTo>
                  <a:pt x="0" y="17716"/>
                </a:lnTo>
                <a:lnTo>
                  <a:pt x="0" y="0"/>
                </a:lnTo>
                <a:lnTo>
                  <a:pt x="3011804" y="0"/>
                </a:lnTo>
                <a:lnTo>
                  <a:pt x="3011804" y="17716"/>
                </a:lnTo>
                <a:close/>
              </a:path>
            </a:pathLst>
          </a:custGeom>
          <a:solidFill>
            <a:srgbClr val="66AA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55918" y="4701275"/>
            <a:ext cx="8067463" cy="109596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3252807" marR="3955" indent="-3243414" defTabSz="711860">
              <a:lnSpc>
                <a:spcPct val="100699"/>
              </a:lnSpc>
              <a:spcBef>
                <a:spcPts val="66"/>
              </a:spcBef>
              <a:defRPr/>
            </a:pPr>
            <a:r>
              <a:rPr lang="en-US" sz="1246" dirty="0">
                <a:solidFill>
                  <a:prstClr val="black"/>
                </a:solidFill>
                <a:latin typeface="Times New Roman"/>
                <a:cs typeface="Times New Roman"/>
              </a:rPr>
              <a:t>Natalja Krjuckova</a:t>
            </a:r>
          </a:p>
          <a:p>
            <a:pPr marL="3252807" marR="3955" indent="-3243414" defTabSz="711860">
              <a:lnSpc>
                <a:spcPct val="100699"/>
              </a:lnSpc>
              <a:spcBef>
                <a:spcPts val="66"/>
              </a:spcBef>
              <a:defRPr/>
            </a:pPr>
            <a:r>
              <a:rPr lang="en-US" sz="1246" dirty="0">
                <a:solidFill>
                  <a:prstClr val="black"/>
                </a:solidFill>
                <a:latin typeface="Times New Roman"/>
                <a:cs typeface="Times New Roman"/>
              </a:rPr>
              <a:t>Transport and Telecommunication Institute (TSI)</a:t>
            </a:r>
          </a:p>
          <a:p>
            <a:pPr marL="3252807" marR="3955" indent="-3243414" defTabSz="711860">
              <a:lnSpc>
                <a:spcPct val="100699"/>
              </a:lnSpc>
              <a:spcBef>
                <a:spcPts val="66"/>
              </a:spcBef>
              <a:defRPr/>
            </a:pPr>
            <a:r>
              <a:rPr lang="en-US" sz="1246" dirty="0">
                <a:solidFill>
                  <a:prstClr val="black"/>
                </a:solidFill>
                <a:latin typeface="Times New Roman"/>
                <a:cs typeface="Times New Roman"/>
              </a:rPr>
              <a:t>Supervised by: </a:t>
            </a:r>
            <a:r>
              <a:rPr lang="en-US" sz="1246" dirty="0" err="1">
                <a:solidFill>
                  <a:prstClr val="black"/>
                </a:solidFill>
                <a:latin typeface="Times New Roman"/>
                <a:cs typeface="Times New Roman"/>
              </a:rPr>
              <a:t>Dr.Sc.Eng</a:t>
            </a:r>
            <a:r>
              <a:rPr lang="en-US" sz="1246" dirty="0">
                <a:solidFill>
                  <a:prstClr val="black"/>
                </a:solidFill>
                <a:latin typeface="Times New Roman"/>
                <a:cs typeface="Times New Roman"/>
              </a:rPr>
              <a:t>. </a:t>
            </a:r>
            <a:r>
              <a:rPr lang="en-US" sz="1246" dirty="0" err="1">
                <a:solidFill>
                  <a:prstClr val="black"/>
                </a:solidFill>
                <a:latin typeface="Times New Roman"/>
                <a:cs typeface="Times New Roman"/>
              </a:rPr>
              <a:t>Nadezda</a:t>
            </a:r>
            <a:r>
              <a:rPr lang="en-US" sz="1246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1246" dirty="0" err="1">
                <a:solidFill>
                  <a:prstClr val="black"/>
                </a:solidFill>
                <a:latin typeface="Times New Roman"/>
                <a:cs typeface="Times New Roman"/>
              </a:rPr>
              <a:t>Spiridovska</a:t>
            </a:r>
            <a:r>
              <a:rPr lang="en-US" sz="1246" dirty="0">
                <a:solidFill>
                  <a:prstClr val="black"/>
                </a:solidFill>
                <a:latin typeface="Times New Roman"/>
                <a:cs typeface="Times New Roman"/>
              </a:rPr>
              <a:t>, </a:t>
            </a:r>
            <a:r>
              <a:rPr lang="en-US" sz="1246" dirty="0" err="1">
                <a:solidFill>
                  <a:prstClr val="black"/>
                </a:solidFill>
                <a:latin typeface="Times New Roman"/>
                <a:cs typeface="Times New Roman"/>
              </a:rPr>
              <a:t>Dr.Sc.Eng</a:t>
            </a:r>
            <a:r>
              <a:rPr lang="en-US" sz="1246" dirty="0">
                <a:solidFill>
                  <a:prstClr val="black"/>
                </a:solidFill>
                <a:latin typeface="Times New Roman"/>
                <a:cs typeface="Times New Roman"/>
              </a:rPr>
              <a:t>. Jelena </a:t>
            </a:r>
            <a:r>
              <a:rPr lang="en-US" sz="1246" dirty="0" err="1">
                <a:solidFill>
                  <a:prstClr val="black"/>
                </a:solidFill>
                <a:latin typeface="Times New Roman"/>
                <a:cs typeface="Times New Roman"/>
              </a:rPr>
              <a:t>Kijonok</a:t>
            </a:r>
            <a:r>
              <a:rPr lang="en-US" sz="1246" dirty="0">
                <a:solidFill>
                  <a:prstClr val="black"/>
                </a:solidFill>
                <a:latin typeface="Times New Roman"/>
                <a:cs typeface="Times New Roman"/>
              </a:rPr>
              <a:t>. </a:t>
            </a:r>
          </a:p>
          <a:p>
            <a:pPr marL="3252807" marR="3955" indent="-3243414" defTabSz="711860">
              <a:lnSpc>
                <a:spcPct val="100699"/>
              </a:lnSpc>
              <a:spcBef>
                <a:spcPts val="66"/>
              </a:spcBef>
              <a:defRPr/>
            </a:pPr>
            <a:endParaRPr lang="en-US" sz="3192" dirty="0">
              <a:solidFill>
                <a:srgbClr val="0066CC"/>
              </a:solidFill>
              <a:latin typeface="Times New Roman"/>
              <a:cs typeface="Times New Roman"/>
            </a:endParaRPr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1AF5C7A0-406F-4F54-AE6B-EE230E63307C}"/>
              </a:ext>
            </a:extLst>
          </p:cNvPr>
          <p:cNvGrpSpPr/>
          <p:nvPr/>
        </p:nvGrpSpPr>
        <p:grpSpPr>
          <a:xfrm>
            <a:off x="118639" y="1735297"/>
            <a:ext cx="7485627" cy="2020089"/>
            <a:chOff x="400049" y="657371"/>
            <a:chExt cx="12820651" cy="4669929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617BC119-28CF-472F-9977-5DB0C7823D50}"/>
                </a:ext>
              </a:extLst>
            </p:cNvPr>
            <p:cNvSpPr/>
            <p:nvPr/>
          </p:nvSpPr>
          <p:spPr>
            <a:xfrm>
              <a:off x="2590800" y="657371"/>
              <a:ext cx="10629900" cy="3667760"/>
            </a:xfrm>
            <a:custGeom>
              <a:avLst/>
              <a:gdLst/>
              <a:ahLst/>
              <a:cxnLst/>
              <a:rect l="l" t="t" r="r" b="b"/>
              <a:pathLst>
                <a:path w="10629900" h="3667760">
                  <a:moveTo>
                    <a:pt x="10580239" y="3667314"/>
                  </a:moveTo>
                  <a:lnTo>
                    <a:pt x="49659" y="3667314"/>
                  </a:lnTo>
                  <a:lnTo>
                    <a:pt x="46203" y="3666974"/>
                  </a:lnTo>
                  <a:lnTo>
                    <a:pt x="10896" y="3646595"/>
                  </a:lnTo>
                  <a:lnTo>
                    <a:pt x="0" y="3617655"/>
                  </a:lnTo>
                  <a:lnTo>
                    <a:pt x="0" y="3614165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3617655"/>
                  </a:lnTo>
                  <a:lnTo>
                    <a:pt x="10611863" y="3654215"/>
                  </a:lnTo>
                  <a:lnTo>
                    <a:pt x="10583695" y="3666974"/>
                  </a:lnTo>
                  <a:lnTo>
                    <a:pt x="10580239" y="3667314"/>
                  </a:lnTo>
                  <a:close/>
                </a:path>
              </a:pathLst>
            </a:custGeom>
            <a:solidFill>
              <a:srgbClr val="F5F5F5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D3FB60CA-0B8B-433B-8485-94286897C79F}"/>
                </a:ext>
              </a:extLst>
            </p:cNvPr>
            <p:cNvSpPr/>
            <p:nvPr/>
          </p:nvSpPr>
          <p:spPr>
            <a:xfrm>
              <a:off x="400049" y="1659540"/>
              <a:ext cx="10629900" cy="3667760"/>
            </a:xfrm>
            <a:custGeom>
              <a:avLst/>
              <a:gdLst/>
              <a:ahLst/>
              <a:cxnLst/>
              <a:rect l="l" t="t" r="r" b="b"/>
              <a:pathLst>
                <a:path w="10629900" h="366776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10629900" h="3667760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w="10629900" h="3667760">
                  <a:moveTo>
                    <a:pt x="10629899" y="3667315"/>
                  </a:moveTo>
                  <a:lnTo>
                    <a:pt x="10583794" y="3667315"/>
                  </a:lnTo>
                  <a:lnTo>
                    <a:pt x="10590576" y="3665966"/>
                  </a:lnTo>
                  <a:lnTo>
                    <a:pt x="10603599" y="3660571"/>
                  </a:lnTo>
                  <a:lnTo>
                    <a:pt x="10628550" y="3627992"/>
                  </a:lnTo>
                  <a:lnTo>
                    <a:pt x="10629899" y="3621213"/>
                  </a:lnTo>
                  <a:lnTo>
                    <a:pt x="10629899" y="3667315"/>
                  </a:lnTo>
                  <a:close/>
                </a:path>
                <a:path w="10629900" h="3667760">
                  <a:moveTo>
                    <a:pt x="46104" y="3667315"/>
                  </a:moveTo>
                  <a:lnTo>
                    <a:pt x="0" y="3667315"/>
                  </a:lnTo>
                  <a:lnTo>
                    <a:pt x="0" y="3621213"/>
                  </a:lnTo>
                  <a:lnTo>
                    <a:pt x="1348" y="3627992"/>
                  </a:lnTo>
                  <a:lnTo>
                    <a:pt x="6742" y="3641016"/>
                  </a:lnTo>
                  <a:lnTo>
                    <a:pt x="10583" y="3646764"/>
                  </a:lnTo>
                  <a:lnTo>
                    <a:pt x="20550" y="3656731"/>
                  </a:lnTo>
                  <a:lnTo>
                    <a:pt x="26298" y="3660571"/>
                  </a:lnTo>
                  <a:lnTo>
                    <a:pt x="39321" y="3665966"/>
                  </a:lnTo>
                  <a:lnTo>
                    <a:pt x="46104" y="366731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2">
            <a:extLst>
              <a:ext uri="{FF2B5EF4-FFF2-40B4-BE49-F238E27FC236}">
                <a16:creationId xmlns:a16="http://schemas.microsoft.com/office/drawing/2014/main" id="{6D872AC5-78C4-4BEB-B314-6C98C1D625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0815" y="2031862"/>
            <a:ext cx="7296309" cy="2092032"/>
          </a:xfrm>
          <a:prstGeom prst="rect">
            <a:avLst/>
          </a:prstGeom>
        </p:spPr>
        <p:txBody>
          <a:bodyPr vert="horz" wrap="square" lIns="0" tIns="7415" rIns="0" bIns="0" rtlCol="0" anchor="ctr">
            <a:spAutoFit/>
          </a:bodyPr>
          <a:lstStyle/>
          <a:p>
            <a:pPr marL="1403947" marR="3955" indent="-1394554" algn="ctr">
              <a:lnSpc>
                <a:spcPct val="100400"/>
              </a:lnSpc>
              <a:spcBef>
                <a:spcPts val="58"/>
              </a:spcBef>
            </a:pPr>
            <a:r>
              <a:rPr lang="en-US" sz="4800" dirty="0"/>
              <a:t>Thank</a:t>
            </a:r>
            <a:r>
              <a:rPr lang="en-US" sz="4800" spc="-204" dirty="0"/>
              <a:t> </a:t>
            </a:r>
            <a:r>
              <a:rPr lang="en-US" sz="4800" spc="-450" dirty="0"/>
              <a:t>Y</a:t>
            </a:r>
            <a:r>
              <a:rPr lang="en-US" sz="4800" spc="55" dirty="0"/>
              <a:t>o</a:t>
            </a:r>
            <a:r>
              <a:rPr lang="en-US" sz="4800" spc="60" dirty="0"/>
              <a:t>u</a:t>
            </a:r>
            <a:br>
              <a:rPr lang="en-US" sz="4671" b="0" dirty="0"/>
            </a:br>
            <a:br>
              <a:rPr lang="en-US" sz="4671" b="0" dirty="0"/>
            </a:br>
            <a:endParaRPr sz="4204" u="sng" dirty="0"/>
          </a:p>
        </p:txBody>
      </p:sp>
    </p:spTree>
    <p:extLst>
      <p:ext uri="{BB962C8B-B14F-4D97-AF65-F5344CB8AC3E}">
        <p14:creationId xmlns:p14="http://schemas.microsoft.com/office/powerpoint/2010/main" val="2753749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lStat-Title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1F6F22B-A37B-4890-B89E-DCF440AC0BB8}" vid="{285A99D1-9C4A-46B3-87C0-AB6728A7CF6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trospect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Retrospect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3.xml><?xml version="1.0" encoding="utf-8"?>
<a:themeOverride xmlns:a="http://schemas.openxmlformats.org/drawingml/2006/main">
  <a:clrScheme name="Retrospect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4.xml><?xml version="1.0" encoding="utf-8"?>
<a:themeOverride xmlns:a="http://schemas.openxmlformats.org/drawingml/2006/main">
  <a:clrScheme name="Retrospect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5.xml><?xml version="1.0" encoding="utf-8"?>
<a:themeOverride xmlns:a="http://schemas.openxmlformats.org/drawingml/2006/main">
  <a:clrScheme name="Retrospect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6.xml><?xml version="1.0" encoding="utf-8"?>
<a:themeOverride xmlns:a="http://schemas.openxmlformats.org/drawingml/2006/main">
  <a:clrScheme name="Retrospect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7.xml><?xml version="1.0" encoding="utf-8"?>
<a:themeOverride xmlns:a="http://schemas.openxmlformats.org/drawingml/2006/main">
  <a:clrScheme name="Retrospect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1086</TotalTime>
  <Words>1259</Words>
  <Application>Microsoft Office PowerPoint</Application>
  <PresentationFormat>Custom</PresentationFormat>
  <Paragraphs>189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Palatino Linotype</vt:lpstr>
      <vt:lpstr>Times New Roman</vt:lpstr>
      <vt:lpstr>Office Theme</vt:lpstr>
      <vt:lpstr>RelStat-Title</vt:lpstr>
      <vt:lpstr>Automated Risk-Scoring System for Financial Institutions</vt:lpstr>
      <vt:lpstr>Research Problem</vt:lpstr>
      <vt:lpstr>Research Goal and Objectives</vt:lpstr>
      <vt:lpstr>Identified Gaps</vt:lpstr>
      <vt:lpstr>Methodology Overview</vt:lpstr>
      <vt:lpstr>Synthetic Data Creation</vt:lpstr>
      <vt:lpstr>Data Preparation Process</vt:lpstr>
      <vt:lpstr>Training Approach</vt:lpstr>
      <vt:lpstr>Explainable AI Implementation</vt:lpstr>
      <vt:lpstr>Research Progress</vt:lpstr>
      <vt:lpstr>Conclusion and Impact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Risk-Scoring System for Financial Institutions</dc:title>
  <dc:creator>T490s</dc:creator>
  <cp:lastModifiedBy>Natalja Kryuchkova</cp:lastModifiedBy>
  <cp:revision>54</cp:revision>
  <dcterms:created xsi:type="dcterms:W3CDTF">2025-04-21T16:20:43Z</dcterms:created>
  <dcterms:modified xsi:type="dcterms:W3CDTF">2026-01-07T21:30:47Z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2025-04-21T00:00:00Z</vt:filetime>
  </property>
  <property fmtid="{D5CDD505-2E9C-101B-9397-08002B2CF9AE}" pid="3" name="Creator">
    <vt:lpwstr>Decktape</vt:lpwstr>
  </property>
  <property fmtid="{D5CDD505-2E9C-101B-9397-08002B2CF9AE}" pid="4" name="LastSaved">
    <vt:filetime>2025-04-21T00:00:00Z</vt:filetime>
  </property>
  <property fmtid="{D5CDD505-2E9C-101B-9397-08002B2CF9AE}" pid="5" name="Producer">
    <vt:lpwstr>pdf-lib (https://github.com/Hopding/pdf-lib)</vt:lpwstr>
  </property>
</Properties>
</file>